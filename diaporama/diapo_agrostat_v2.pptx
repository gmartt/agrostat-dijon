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1"/>
    <p:sldMasterId id="2147483776" r:id="rId2"/>
    <p:sldMasterId id="2147483794" r:id="rId3"/>
  </p:sldMasterIdLst>
  <p:notesMasterIdLst>
    <p:notesMasterId r:id="rId23"/>
  </p:notesMasterIdLst>
  <p:sldIdLst>
    <p:sldId id="256" r:id="rId4"/>
    <p:sldId id="281" r:id="rId5"/>
    <p:sldId id="302" r:id="rId6"/>
    <p:sldId id="303" r:id="rId7"/>
    <p:sldId id="306" r:id="rId8"/>
    <p:sldId id="305" r:id="rId9"/>
    <p:sldId id="326" r:id="rId10"/>
    <p:sldId id="325" r:id="rId11"/>
    <p:sldId id="327" r:id="rId12"/>
    <p:sldId id="328" r:id="rId13"/>
    <p:sldId id="307" r:id="rId14"/>
    <p:sldId id="316" r:id="rId15"/>
    <p:sldId id="329" r:id="rId16"/>
    <p:sldId id="330" r:id="rId17"/>
    <p:sldId id="331" r:id="rId18"/>
    <p:sldId id="332" r:id="rId19"/>
    <p:sldId id="308" r:id="rId20"/>
    <p:sldId id="333" r:id="rId21"/>
    <p:sldId id="310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UGEARD Stephanie" initials="BS" lastIdx="34" clrIdx="0">
    <p:extLst>
      <p:ext uri="{19B8F6BF-5375-455C-9EA6-DF929625EA0E}">
        <p15:presenceInfo xmlns:p15="http://schemas.microsoft.com/office/powerpoint/2012/main" userId="S::Stephanie.BOUGEARD@anses.fr::30424678-3a90-4260-b90b-cbf9064ad1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A500"/>
    <a:srgbClr val="E76BF3"/>
    <a:srgbClr val="00BF7D"/>
    <a:srgbClr val="00B0F6"/>
    <a:srgbClr val="F8766D"/>
    <a:srgbClr val="FFFA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582" autoAdjust="0"/>
  </p:normalViewPr>
  <p:slideViewPr>
    <p:cSldViewPr snapToGrid="0">
      <p:cViewPr varScale="1">
        <p:scale>
          <a:sx n="76" d="100"/>
          <a:sy n="76" d="100"/>
        </p:scale>
        <p:origin x="29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8-10T15:59:21.087" idx="4">
    <p:pos x="10" y="10"/>
    <p:text/>
    <p:extLst>
      <p:ext uri="{C676402C-5697-4E1C-873F-D02D1690AC5C}">
        <p15:threadingInfo xmlns:p15="http://schemas.microsoft.com/office/powerpoint/2012/main" timeZoneBias="-120"/>
      </p:ext>
    </p:extLst>
  </p:cm>
  <p:cm authorId="1" dt="2026-08-10T16:02:39.048" idx="7">
    <p:pos x="6293" y="1115"/>
    <p:text>ici, je ne parlerai que des méthodes multiblocs prenant en compte le temps (déjà pas mal ; en 20 min, faut faire un peu compact))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8-10T16:05:35.188" idx="9">
    <p:pos x="10" y="10"/>
    <p:text>dans la partie précédente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FF4373-447A-4C7C-8653-BF00ACFF1518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735697-EA32-43CA-9B26-7C1D1AB9B7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664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Présenter la structure dans laquelle je travaille et avec qui je travaille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735697-EA32-43CA-9B26-7C1D1AB9B7D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6064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Peut-être ici mettre un peu plus en avant le contexte scientifique (première bande) et les datas (bande du bas) en faisant apparaître les blocks plus explicitement, peut-être mettre des cartes de la France en </a:t>
            </a:r>
            <a:r>
              <a:rPr lang="fr-FR" dirty="0" err="1"/>
              <a:t>ptit</a:t>
            </a:r>
            <a:r>
              <a:rPr lang="fr-FR" dirty="0"/>
              <a:t> comme on a fait et un graphe qui veut dire qu’on a des variables dans le temps. Plutôt que le cube qui fait plutôt penser au </a:t>
            </a:r>
            <a:r>
              <a:rPr lang="fr-FR" dirty="0" err="1"/>
              <a:t>three-way</a:t>
            </a:r>
            <a:r>
              <a:rPr lang="fr-FR" dirty="0"/>
              <a:t> alors que là c’est pas ce qu’on veut montrer.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634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l’instant ça on ne fait rien.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2622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4245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087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3563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Peut-être essayer d’associer le dessin au tableau </a:t>
            </a:r>
            <a:r>
              <a:rPr lang="fr-FR" dirty="0" err="1"/>
              <a:t>excel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15543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8543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Faire une petite </a:t>
            </a:r>
            <a:r>
              <a:rPr lang="fr-FR" dirty="0" err="1"/>
              <a:t>phrise</a:t>
            </a:r>
            <a:r>
              <a:rPr lang="fr-FR" dirty="0"/>
              <a:t> grisée pour les parties qu’on n’explique pas, ici on ne met pas la fPC2. Le tableau on le vire. Mettre l’histogramme du % d’inertie avec une </a:t>
            </a:r>
            <a:r>
              <a:rPr lang="fr-FR" dirty="0" err="1"/>
              <a:t>hline</a:t>
            </a:r>
            <a:r>
              <a:rPr lang="fr-FR" dirty="0"/>
              <a:t> de 70% pour montrer qu’on résume bien les variables avec les fPC1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7107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Mettre les variables sélectionnées dans chaque block. En gros, à gauche, mettre le nombre de variables par blocs au </a:t>
            </a:r>
            <a:r>
              <a:rPr lang="fr-FR" dirty="0" err="1"/>
              <a:t>débur</a:t>
            </a:r>
            <a:r>
              <a:rPr lang="fr-FR" dirty="0"/>
              <a:t>, </a:t>
            </a:r>
            <a:r>
              <a:rPr lang="fr-FR" dirty="0" err="1"/>
              <a:t>pui</a:t>
            </a:r>
            <a:r>
              <a:rPr lang="fr-FR" dirty="0"/>
              <a:t> le nombre de cluster, puis le nombre de variables dans chaque cluster, </a:t>
            </a:r>
            <a:r>
              <a:rPr lang="fr-FR" dirty="0" err="1"/>
              <a:t>pui</a:t>
            </a:r>
            <a:r>
              <a:rPr lang="fr-FR" dirty="0"/>
              <a:t> la variable finale avec son pourcentage de variance.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443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Idée: en dessous des équations, rajouter des cartes de la France avec gradient selon valeur de la VL.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7457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Idée: en dessous des équations, rajouter des cartes de la France avec gradient selon valeur de la VL.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8078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Idée: en dessous des équations, rajouter des cartes de la France avec gradient selon valeur de la VL.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7636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Ne faire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qu’une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 slide conclusion/perspective,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en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 4-5 mots. Un point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résultats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, point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méthodos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limite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 et on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en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Gill Sans MT" panose="020B0502020104020203"/>
              </a:rPr>
              <a:t>vient</a:t>
            </a:r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 aux perspectives.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5958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6974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69C29-A4D8-462D-A811-79E09AB4C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EFB59C-DD1A-401E-B443-628736394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882AFFC-F7CA-4258-9603-35316AB3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AA7CF8-24F4-41E1-B91F-90F2B0C1F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763247-BAED-4059-8901-019E098C0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294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204D-093C-4027-AA9E-C2D8079B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49891B-D264-43FB-B7C3-BA03873E6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6EDA9F-9343-48A3-BE5B-6C513516E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73968-7857-4FD8-837F-B5D0357BE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266AD8-E2D9-4DF3-B7B6-9BFF9BFF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7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2CBD63-21C3-4920-9956-EC64AAFA0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693E611-F12D-4F5D-ACAF-675658399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9F63B7-A56B-4352-876C-65BD30F1F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1C4131-49D8-4CAB-A511-74C9E764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45C55FC-67C5-45C6-AB4A-723DDAC6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3607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B0302F-6173-4D8D-A13A-5F7D79D6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BB43CC-1BA0-4130-A7BB-3A56841F8D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A76A34-7751-482E-ADB3-6C488E36E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5085D5A-68D5-4725-9FB6-8D5638303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27F5361-2E66-4C1D-BE91-7AACE82E8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B01504-3E82-4EBD-829C-18EEB0991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797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2A07BB-F355-4EC3-B844-3368E7CA0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203E27-FD40-44E4-B079-8F186F0C6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FE4120A-3FDE-46E4-A5B4-C246D7724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E5FD10-AE9A-4CE2-B92A-F01C55234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AA7E7D7-47D7-4EEA-874D-9279DA174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55913E6-A474-4B9C-8701-9B4C7EDA8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F562A0B-2209-4173-AF57-D2A4372A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E09D156-000D-4FD7-B033-E712B7C9C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6654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120330-FC40-4243-8063-6060F2BDC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A1FBD47-736B-43D8-B487-477DF5FE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65F8195-7E7D-4A88-9A6F-63C853C41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A2B1D4-FA0B-47B2-92A5-C8EC525E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55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4BC9C9-84AF-4E41-B2CF-6DCA71007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16DCA56-87E1-40D2-9D51-34B17FC92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D0FFA3-9361-41CE-817A-E4019F47C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134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B23D9A-8E1D-4238-8B8E-9748E4665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37F91F-EE24-4A30-996B-AE46F3E51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727AFE-5A47-445B-B81A-BBA7073FA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6E1991-1603-4C08-A895-49D746FB7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DDC84A-38D6-49F4-AEA0-B76CC99EA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D8F820-017B-4D87-B18A-A0F97F60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7067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B20E3-F5D6-4B27-AE45-59CDFA65C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D21D812-0B0C-4C29-994D-C6F53592BB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3AB9F53-3EAF-4FE4-9F64-B71E3F819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8A41B87-1278-417F-B1A4-71750CA8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61D6F9-56F1-46DA-9CD6-32C85F80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367C852-C39B-4675-B754-57E990A77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185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984F-5CA0-42CA-AD2D-A87FEC48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57B29B-548F-4E83-BE45-4522052CE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8E0B54-E72E-488A-9851-EBDC02F3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CD821A-01D9-42D3-ABC3-03DBBC68D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8EE6BF-0FC1-4AD4-96F3-483609D74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2087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E41A4E-59AA-42B2-99E7-5B3D192FFC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76482C-1E82-4397-8AB5-5AE0E96D8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B6BCAF-34D6-4F0C-8A6D-550237A2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BBDBE-C7B6-4D7A-A2ED-6221A3A00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D52049-4626-48FE-AB21-7962A069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2746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3330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00798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1543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99591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668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344085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08827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95980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48410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81033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235795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136190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3137254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1825868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6564312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518940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6666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53092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955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55927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55502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42586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26176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33277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98436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254013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88316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3611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135208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89307071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5624586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8371960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033635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61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C4412E-1A2B-44B3-9B57-31C1BB25A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78512F-7499-4A58-A6BA-57867A97E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97EAE5-2886-4DAC-A7B1-3CF099558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DFF76-4B2F-44E8-8C77-D53050114780}" type="datetimeFigureOut">
              <a:rPr lang="fr-FR" smtClean="0"/>
              <a:t>02/09/2026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532B03-63FA-449E-A45E-815238FC8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91CAF1-2727-428D-BA84-E1EC5012B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2101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179313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843992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  <p:sldLayoutId id="2147483803" r:id="rId9"/>
    <p:sldLayoutId id="2147483804" r:id="rId10"/>
    <p:sldLayoutId id="2147483805" r:id="rId11"/>
    <p:sldLayoutId id="2147483806" r:id="rId12"/>
    <p:sldLayoutId id="2147483807" r:id="rId13"/>
    <p:sldLayoutId id="2147483808" r:id="rId14"/>
    <p:sldLayoutId id="2147483809" r:id="rId15"/>
    <p:sldLayoutId id="2147483810" r:id="rId16"/>
    <p:sldLayoutId id="2147483811" r:id="rId17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0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46.emf"/><Relationship Id="rId4" Type="http://schemas.openxmlformats.org/officeDocument/2006/relationships/image" Target="../media/image4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49.png"/><Relationship Id="rId4" Type="http://schemas.openxmlformats.org/officeDocument/2006/relationships/image" Target="../media/image4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50.png"/><Relationship Id="rId4" Type="http://schemas.openxmlformats.org/officeDocument/2006/relationships/image" Target="../media/image4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2A1C119C-5B6C-4737-B20E-744EFDCDF095}"/>
              </a:ext>
            </a:extLst>
          </p:cNvPr>
          <p:cNvSpPr txBox="1"/>
          <p:nvPr/>
        </p:nvSpPr>
        <p:spPr>
          <a:xfrm>
            <a:off x="1634068" y="1790931"/>
            <a:ext cx="860213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Mixing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functional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multiblock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to explore One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Health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antimicrobial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resistance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in France</a:t>
            </a:r>
          </a:p>
          <a:p>
            <a:pPr algn="just"/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32BB0E1-3BD7-4ACE-9B88-D88956580B57}"/>
              </a:ext>
            </a:extLst>
          </p:cNvPr>
          <p:cNvSpPr txBox="1"/>
          <p:nvPr/>
        </p:nvSpPr>
        <p:spPr>
          <a:xfrm>
            <a:off x="2099734" y="3860800"/>
            <a:ext cx="767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Gaspard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Martet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Stéphanie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Bougeard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Claire Chauvin</a:t>
            </a:r>
            <a:b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fr-FR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Anses, Unité Epidémiologie, Santé et Bien-être (</a:t>
            </a:r>
            <a:r>
              <a:rPr lang="fr-F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EpiSaBE</a:t>
            </a:r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), Laboratoire de Ploufragan-Plouzané-Niort, France</a:t>
            </a:r>
            <a:b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gaspard.martet@anses.fr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61AC89D-C8C0-4ADD-B73E-2921D68BF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65" y="101600"/>
            <a:ext cx="1789345" cy="152183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62CAD7D6-947E-4BF8-8290-C4896009D516}"/>
              </a:ext>
            </a:extLst>
          </p:cNvPr>
          <p:cNvSpPr txBox="1"/>
          <p:nvPr/>
        </p:nvSpPr>
        <p:spPr>
          <a:xfrm>
            <a:off x="10659534" y="6333067"/>
            <a:ext cx="1371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15/07/2026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81335A3-0F69-475D-A751-D1EBE57C4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0101" y="117020"/>
            <a:ext cx="1280099" cy="142083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14F927E-F7DC-4C04-A21D-AAD0630930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2471" y="214214"/>
            <a:ext cx="1965325" cy="129660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20AC29F-CDA8-4CD3-8E4F-4E2AB2371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5" y="5327650"/>
            <a:ext cx="142875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02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05791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BD29D2-58CA-4EC7-8B43-6AC2C4A1C0AB}"/>
              </a:ext>
            </a:extLst>
          </p:cNvPr>
          <p:cNvSpPr/>
          <p:nvPr/>
        </p:nvSpPr>
        <p:spPr>
          <a:xfrm>
            <a:off x="0" y="3058088"/>
            <a:ext cx="12192000" cy="37999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F6AB0B-64D2-4CF1-8521-DD695DA07B7E}"/>
              </a:ext>
            </a:extLst>
          </p:cNvPr>
          <p:cNvSpPr/>
          <p:nvPr/>
        </p:nvSpPr>
        <p:spPr>
          <a:xfrm>
            <a:off x="0" y="0"/>
            <a:ext cx="12192000" cy="30440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5672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Scientific </a:t>
            </a:r>
            <a:r>
              <a:rPr lang="fr-FR" sz="2800" dirty="0" err="1"/>
              <a:t>context</a:t>
            </a:r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8FD304A-50C5-4B55-8CF4-401540D07A06}"/>
              </a:ext>
            </a:extLst>
          </p:cNvPr>
          <p:cNvGrpSpPr/>
          <p:nvPr/>
        </p:nvGrpSpPr>
        <p:grpSpPr>
          <a:xfrm>
            <a:off x="152761" y="720309"/>
            <a:ext cx="6886964" cy="1845106"/>
            <a:chOff x="664204" y="1117462"/>
            <a:chExt cx="6886964" cy="1845106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FBAA6594-8E17-49EB-A17C-4BC8A7333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0150" y="1117462"/>
              <a:ext cx="1740048" cy="1185553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36669E2-910F-45EE-A32C-A312E717DC5A}"/>
                </a:ext>
              </a:extLst>
            </p:cNvPr>
            <p:cNvSpPr txBox="1"/>
            <p:nvPr/>
          </p:nvSpPr>
          <p:spPr>
            <a:xfrm>
              <a:off x="664204" y="2408570"/>
              <a:ext cx="182225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 err="1"/>
                <a:t>Antimicrobial</a:t>
              </a:r>
              <a:r>
                <a:rPr lang="fr-FR" sz="1000" dirty="0"/>
                <a:t> </a:t>
              </a:r>
              <a:r>
                <a:rPr lang="fr-FR" sz="1000" dirty="0" err="1"/>
                <a:t>resistance</a:t>
              </a:r>
              <a:r>
                <a:rPr lang="fr-FR" sz="1000" dirty="0"/>
                <a:t>: </a:t>
              </a:r>
              <a:r>
                <a:rPr lang="fr-FR" sz="1000" dirty="0" err="1"/>
                <a:t>forecast</a:t>
              </a:r>
              <a:r>
                <a:rPr lang="fr-FR" sz="1000" dirty="0"/>
                <a:t> of 10 million </a:t>
              </a:r>
              <a:r>
                <a:rPr lang="fr-FR" sz="1000" dirty="0" err="1"/>
                <a:t>deaths</a:t>
              </a:r>
              <a:r>
                <a:rPr lang="fr-FR" sz="1000" dirty="0"/>
                <a:t>/</a:t>
              </a:r>
              <a:r>
                <a:rPr lang="fr-FR" sz="1000" dirty="0" err="1"/>
                <a:t>year</a:t>
              </a:r>
              <a:r>
                <a:rPr lang="fr-FR" sz="1000" dirty="0"/>
                <a:t> by 2050</a:t>
              </a: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937D2211-734F-44FC-A58B-9D4E76DAD6B4}"/>
                </a:ext>
              </a:extLst>
            </p:cNvPr>
            <p:cNvSpPr/>
            <p:nvPr/>
          </p:nvSpPr>
          <p:spPr>
            <a:xfrm>
              <a:off x="2892839" y="1655267"/>
              <a:ext cx="2286000" cy="581186"/>
            </a:xfrm>
            <a:prstGeom prst="righ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29DCC0B9-3A08-45BA-9481-BED0C7C933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54648" y="1168386"/>
              <a:ext cx="2111475" cy="1240184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73E5E830-5F11-4283-B30C-190B5316D90B}"/>
                </a:ext>
              </a:extLst>
            </p:cNvPr>
            <p:cNvSpPr txBox="1"/>
            <p:nvPr/>
          </p:nvSpPr>
          <p:spPr>
            <a:xfrm>
              <a:off x="5269601" y="2504250"/>
              <a:ext cx="228156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 err="1"/>
                <a:t>Launched</a:t>
              </a:r>
              <a:r>
                <a:rPr lang="fr-FR" sz="1050" dirty="0"/>
                <a:t> </a:t>
              </a:r>
              <a:r>
                <a:rPr lang="fr-FR" sz="900" dirty="0"/>
                <a:t>in 2021: One-</a:t>
              </a:r>
              <a:r>
                <a:rPr lang="fr-FR" sz="900" dirty="0" err="1"/>
                <a:t>Health</a:t>
              </a:r>
              <a:r>
                <a:rPr lang="fr-FR" sz="900" dirty="0"/>
                <a:t> Meta Network </a:t>
              </a:r>
              <a:r>
                <a:rPr lang="fr-FR" sz="900" dirty="0" err="1"/>
                <a:t>with</a:t>
              </a:r>
              <a:r>
                <a:rPr lang="fr-FR" sz="900" dirty="0"/>
                <a:t> 42 </a:t>
              </a:r>
              <a:r>
                <a:rPr lang="fr-FR" sz="900" dirty="0" err="1"/>
                <a:t>academic</a:t>
              </a:r>
              <a:r>
                <a:rPr lang="fr-FR" sz="900" dirty="0"/>
                <a:t> </a:t>
              </a:r>
              <a:r>
                <a:rPr lang="fr-FR" sz="900" dirty="0" err="1"/>
                <a:t>partners</a:t>
              </a:r>
              <a:r>
                <a:rPr lang="fr-FR" sz="900" dirty="0"/>
                <a:t>  </a:t>
              </a:r>
              <a:endParaRPr lang="fr-FR" sz="1050" dirty="0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DCC07026-1E06-4E9C-94DC-70C46DF21B1A}"/>
              </a:ext>
            </a:extLst>
          </p:cNvPr>
          <p:cNvGrpSpPr/>
          <p:nvPr/>
        </p:nvGrpSpPr>
        <p:grpSpPr>
          <a:xfrm>
            <a:off x="7770553" y="809771"/>
            <a:ext cx="3769993" cy="1535254"/>
            <a:chOff x="7952416" y="1034350"/>
            <a:chExt cx="3769993" cy="1535254"/>
          </a:xfrm>
        </p:grpSpPr>
        <p:pic>
          <p:nvPicPr>
            <p:cNvPr id="1026" name="Picture 2" descr="Les bactéries - Icônes animaux gratuites">
              <a:extLst>
                <a:ext uri="{FF2B5EF4-FFF2-40B4-BE49-F238E27FC236}">
                  <a16:creationId xmlns:a16="http://schemas.microsoft.com/office/drawing/2014/main" id="{27CFB3D4-881A-427A-B9F2-5A3BB40BF8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2416" y="1565024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FDB6FC1B-9A35-4067-870A-E37AB86DDD24}"/>
                </a:ext>
              </a:extLst>
            </p:cNvPr>
            <p:cNvSpPr txBox="1"/>
            <p:nvPr/>
          </p:nvSpPr>
          <p:spPr>
            <a:xfrm>
              <a:off x="7992964" y="2269800"/>
              <a:ext cx="8297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E.coli</a:t>
              </a:r>
              <a:endParaRPr lang="fr-FR" i="1" dirty="0"/>
            </a:p>
          </p:txBody>
        </p: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33481214-D620-4439-BBEC-035087A49855}"/>
                </a:ext>
              </a:extLst>
            </p:cNvPr>
            <p:cNvGrpSpPr/>
            <p:nvPr/>
          </p:nvGrpSpPr>
          <p:grpSpPr>
            <a:xfrm>
              <a:off x="10291937" y="1564245"/>
              <a:ext cx="1430472" cy="1005359"/>
              <a:chOff x="8575487" y="1931109"/>
              <a:chExt cx="1430472" cy="1005359"/>
            </a:xfrm>
          </p:grpSpPr>
          <p:pic>
            <p:nvPicPr>
              <p:cNvPr id="28" name="Picture 22" descr="Pilule - Icônes médical gratuites">
                <a:extLst>
                  <a:ext uri="{FF2B5EF4-FFF2-40B4-BE49-F238E27FC236}">
                    <a16:creationId xmlns:a16="http://schemas.microsoft.com/office/drawing/2014/main" id="{DB18191D-6033-406F-A1BB-AB4AA8CA9C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6200000" flipH="1" flipV="1">
                <a:off x="8758658" y="1931109"/>
                <a:ext cx="532065" cy="532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F5E00E1-7BE8-43B6-B7C9-45DA640D1FBF}"/>
                  </a:ext>
                </a:extLst>
              </p:cNvPr>
              <p:cNvSpPr txBox="1"/>
              <p:nvPr/>
            </p:nvSpPr>
            <p:spPr>
              <a:xfrm>
                <a:off x="8575487" y="2520970"/>
                <a:ext cx="1430472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Fluoroquinolone (FQ)</a:t>
                </a:r>
                <a:endParaRPr lang="fr-FR" sz="1400" dirty="0"/>
              </a:p>
            </p:txBody>
          </p:sp>
        </p:grpSp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A6D8431C-BEA2-4B01-85E8-443F79969C86}"/>
                </a:ext>
              </a:extLst>
            </p:cNvPr>
            <p:cNvSpPr txBox="1"/>
            <p:nvPr/>
          </p:nvSpPr>
          <p:spPr>
            <a:xfrm>
              <a:off x="8789207" y="1034350"/>
              <a:ext cx="15985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 err="1"/>
                <a:t>Primary</a:t>
              </a:r>
              <a:r>
                <a:rPr lang="fr-FR" sz="1100" b="1" dirty="0"/>
                <a:t> Care setting</a:t>
              </a:r>
              <a:endParaRPr lang="fr-FR" sz="1050" b="1" dirty="0"/>
            </a:p>
          </p:txBody>
        </p: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B5F5089A-6493-495C-8EC9-C6A931B77DFB}"/>
                </a:ext>
              </a:extLst>
            </p:cNvPr>
            <p:cNvCxnSpPr/>
            <p:nvPr/>
          </p:nvCxnSpPr>
          <p:spPr>
            <a:xfrm flipH="1">
              <a:off x="8732939" y="1830277"/>
              <a:ext cx="15589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7C772E45-87C9-464D-9342-9D2A4E7BDD35}"/>
                </a:ext>
              </a:extLst>
            </p:cNvPr>
            <p:cNvSpPr txBox="1"/>
            <p:nvPr/>
          </p:nvSpPr>
          <p:spPr>
            <a:xfrm>
              <a:off x="8822697" y="1564245"/>
              <a:ext cx="13447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 err="1">
                  <a:solidFill>
                    <a:srgbClr val="00BF7D"/>
                  </a:solidFill>
                </a:rPr>
                <a:t>Consumption</a:t>
              </a:r>
              <a:endParaRPr lang="fr-FR" sz="1000" dirty="0">
                <a:solidFill>
                  <a:srgbClr val="00BF7D"/>
                </a:solidFill>
              </a:endParaRPr>
            </a:p>
          </p:txBody>
        </p: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55524689-A1C7-473C-9C4E-D8EF6FC7C0A6}"/>
                </a:ext>
              </a:extLst>
            </p:cNvPr>
            <p:cNvCxnSpPr/>
            <p:nvPr/>
          </p:nvCxnSpPr>
          <p:spPr>
            <a:xfrm>
              <a:off x="8789207" y="2154106"/>
              <a:ext cx="14692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94D73A29-A675-4410-AC27-C928BACA1817}"/>
                </a:ext>
              </a:extLst>
            </p:cNvPr>
            <p:cNvSpPr txBox="1"/>
            <p:nvPr/>
          </p:nvSpPr>
          <p:spPr>
            <a:xfrm>
              <a:off x="8819430" y="2171389"/>
              <a:ext cx="134476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>
                  <a:solidFill>
                    <a:srgbClr val="FF0000"/>
                  </a:solidFill>
                </a:rPr>
                <a:t>Resistance</a:t>
              </a:r>
            </a:p>
          </p:txBody>
        </p: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108659E4-2BE8-4AF1-843E-66D1B58D8B80}"/>
              </a:ext>
            </a:extLst>
          </p:cNvPr>
          <p:cNvSpPr txBox="1"/>
          <p:nvPr/>
        </p:nvSpPr>
        <p:spPr>
          <a:xfrm>
            <a:off x="97008" y="3084094"/>
            <a:ext cx="5672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Data</a:t>
            </a:r>
            <a:endParaRPr lang="fr-FR" dirty="0"/>
          </a:p>
        </p:txBody>
      </p: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B74FB9DD-B133-48C5-80D7-D003CB68FDC1}"/>
              </a:ext>
            </a:extLst>
          </p:cNvPr>
          <p:cNvGrpSpPr/>
          <p:nvPr/>
        </p:nvGrpSpPr>
        <p:grpSpPr>
          <a:xfrm>
            <a:off x="0" y="3631108"/>
            <a:ext cx="12112057" cy="3165642"/>
            <a:chOff x="-37283" y="3692358"/>
            <a:chExt cx="12112057" cy="3165642"/>
          </a:xfrm>
        </p:grpSpPr>
        <p:sp>
          <p:nvSpPr>
            <p:cNvPr id="34" name="Rectangle : coins arrondis 33">
              <a:extLst>
                <a:ext uri="{FF2B5EF4-FFF2-40B4-BE49-F238E27FC236}">
                  <a16:creationId xmlns:a16="http://schemas.microsoft.com/office/drawing/2014/main" id="{B8690667-2B54-4725-929E-DDF01F09EAB5}"/>
                </a:ext>
              </a:extLst>
            </p:cNvPr>
            <p:cNvSpPr/>
            <p:nvPr/>
          </p:nvSpPr>
          <p:spPr>
            <a:xfrm>
              <a:off x="1" y="3708401"/>
              <a:ext cx="3026534" cy="3149599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6412C710-0E87-4C25-91B8-420B167A1E2A}"/>
                </a:ext>
              </a:extLst>
            </p:cNvPr>
            <p:cNvSpPr/>
            <p:nvPr/>
          </p:nvSpPr>
          <p:spPr>
            <a:xfrm>
              <a:off x="3028598" y="3692358"/>
              <a:ext cx="2812947" cy="316564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DCD3C7E7-2F70-4080-9C6E-EAE54B5F2077}"/>
                </a:ext>
              </a:extLst>
            </p:cNvPr>
            <p:cNvSpPr/>
            <p:nvPr/>
          </p:nvSpPr>
          <p:spPr>
            <a:xfrm>
              <a:off x="5853402" y="3708401"/>
              <a:ext cx="6221372" cy="3149599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021687F5-B0C6-4036-970F-D1995241BF1F}"/>
                </a:ext>
              </a:extLst>
            </p:cNvPr>
            <p:cNvGrpSpPr/>
            <p:nvPr/>
          </p:nvGrpSpPr>
          <p:grpSpPr>
            <a:xfrm>
              <a:off x="8681490" y="4054575"/>
              <a:ext cx="3074788" cy="1372437"/>
              <a:chOff x="-87747" y="2535618"/>
              <a:chExt cx="3074788" cy="1372437"/>
            </a:xfrm>
          </p:grpSpPr>
          <p:grpSp>
            <p:nvGrpSpPr>
              <p:cNvPr id="100" name="Groupe 99">
                <a:extLst>
                  <a:ext uri="{FF2B5EF4-FFF2-40B4-BE49-F238E27FC236}">
                    <a16:creationId xmlns:a16="http://schemas.microsoft.com/office/drawing/2014/main" id="{6D2075D9-B406-4AA7-BF23-8CC0075B1218}"/>
                  </a:ext>
                </a:extLst>
              </p:cNvPr>
              <p:cNvGrpSpPr/>
              <p:nvPr/>
            </p:nvGrpSpPr>
            <p:grpSpPr>
              <a:xfrm>
                <a:off x="-87747" y="2535618"/>
                <a:ext cx="2589647" cy="1257021"/>
                <a:chOff x="263620" y="369466"/>
                <a:chExt cx="2589647" cy="1257021"/>
              </a:xfrm>
            </p:grpSpPr>
            <p:sp>
              <p:nvSpPr>
                <p:cNvPr id="105" name="Organigramme : Multidocument 104">
                  <a:extLst>
                    <a:ext uri="{FF2B5EF4-FFF2-40B4-BE49-F238E27FC236}">
                      <a16:creationId xmlns:a16="http://schemas.microsoft.com/office/drawing/2014/main" id="{B1C29252-CB97-4DBC-9EC0-FEA160663FAC}"/>
                    </a:ext>
                  </a:extLst>
                </p:cNvPr>
                <p:cNvSpPr/>
                <p:nvPr/>
              </p:nvSpPr>
              <p:spPr>
                <a:xfrm>
                  <a:off x="1193800" y="745954"/>
                  <a:ext cx="1659467" cy="880533"/>
                </a:xfrm>
                <a:prstGeom prst="flowChartMultidocument">
                  <a:avLst/>
                </a:prstGeom>
                <a:solidFill>
                  <a:srgbClr val="E76BF3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800" b="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Humans</a:t>
                  </a:r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106" name="Connecteur droit avec flèche 105">
                  <a:extLst>
                    <a:ext uri="{FF2B5EF4-FFF2-40B4-BE49-F238E27FC236}">
                      <a16:creationId xmlns:a16="http://schemas.microsoft.com/office/drawing/2014/main" id="{D77E6DB0-10DD-4631-A177-B17F3FEFF082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CE65231A-ED1B-4D87-B551-360CCDCF68F3}"/>
                    </a:ext>
                  </a:extLst>
                </p:cNvPr>
                <p:cNvSpPr txBox="1"/>
                <p:nvPr/>
              </p:nvSpPr>
              <p:spPr>
                <a:xfrm>
                  <a:off x="263620" y="800301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108" name="Connecteur droit avec flèche 107">
                  <a:extLst>
                    <a:ext uri="{FF2B5EF4-FFF2-40B4-BE49-F238E27FC236}">
                      <a16:creationId xmlns:a16="http://schemas.microsoft.com/office/drawing/2014/main" id="{9F318FDB-0363-47E4-8111-D2ACE3A0C4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AB325E5-C123-4DF2-AE06-334074581F3D}"/>
                    </a:ext>
                  </a:extLst>
                </p:cNvPr>
                <p:cNvSpPr txBox="1"/>
                <p:nvPr/>
              </p:nvSpPr>
              <p:spPr>
                <a:xfrm>
                  <a:off x="1631772" y="369466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 11 variables</a:t>
                  </a:r>
                </a:p>
              </p:txBody>
            </p:sp>
          </p:grpSp>
          <p:grpSp>
            <p:nvGrpSpPr>
              <p:cNvPr id="101" name="Groupe 100">
                <a:extLst>
                  <a:ext uri="{FF2B5EF4-FFF2-40B4-BE49-F238E27FC236}">
                    <a16:creationId xmlns:a16="http://schemas.microsoft.com/office/drawing/2014/main" id="{29C74B76-F41A-4B96-A5FF-7B41FC3D8CB8}"/>
                  </a:ext>
                </a:extLst>
              </p:cNvPr>
              <p:cNvGrpSpPr/>
              <p:nvPr/>
            </p:nvGrpSpPr>
            <p:grpSpPr>
              <a:xfrm>
                <a:off x="2194557" y="3489312"/>
                <a:ext cx="792484" cy="418743"/>
                <a:chOff x="2194557" y="3489312"/>
                <a:chExt cx="792484" cy="418743"/>
              </a:xfrm>
            </p:grpSpPr>
            <p:sp>
              <p:nvSpPr>
                <p:cNvPr id="102" name="ZoneTexte 101">
                  <a:extLst>
                    <a:ext uri="{FF2B5EF4-FFF2-40B4-BE49-F238E27FC236}">
                      <a16:creationId xmlns:a16="http://schemas.microsoft.com/office/drawing/2014/main" id="{205A8BE5-AC0E-4C8D-8D11-8BE546A7FD5D}"/>
                    </a:ext>
                  </a:extLst>
                </p:cNvPr>
                <p:cNvSpPr txBox="1"/>
                <p:nvPr/>
              </p:nvSpPr>
              <p:spPr>
                <a:xfrm rot="1638250">
                  <a:off x="2194557" y="3677223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2012</a:t>
                  </a:r>
                </a:p>
              </p:txBody>
            </p:sp>
            <p:sp>
              <p:nvSpPr>
                <p:cNvPr id="103" name="ZoneTexte 102">
                  <a:extLst>
                    <a:ext uri="{FF2B5EF4-FFF2-40B4-BE49-F238E27FC236}">
                      <a16:creationId xmlns:a16="http://schemas.microsoft.com/office/drawing/2014/main" id="{98C5659B-3BE2-422E-8904-F8FD2EB1E9D4}"/>
                    </a:ext>
                  </a:extLst>
                </p:cNvPr>
                <p:cNvSpPr txBox="1"/>
                <p:nvPr/>
              </p:nvSpPr>
              <p:spPr>
                <a:xfrm rot="1638250">
                  <a:off x="2529345" y="348931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2024</a:t>
                  </a:r>
                </a:p>
              </p:txBody>
            </p:sp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5C091545-7461-48EE-B699-7115C95490D6}"/>
                    </a:ext>
                  </a:extLst>
                </p:cNvPr>
                <p:cNvSpPr txBox="1"/>
                <p:nvPr/>
              </p:nvSpPr>
              <p:spPr>
                <a:xfrm rot="1638250">
                  <a:off x="2450851" y="361674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…</a:t>
                  </a:r>
                </a:p>
              </p:txBody>
            </p:sp>
          </p:grpSp>
        </p:grp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46596305-D0E9-48D6-ABD4-814045390237}"/>
                </a:ext>
              </a:extLst>
            </p:cNvPr>
            <p:cNvGrpSpPr/>
            <p:nvPr/>
          </p:nvGrpSpPr>
          <p:grpSpPr>
            <a:xfrm>
              <a:off x="5826549" y="4082485"/>
              <a:ext cx="2873292" cy="1396993"/>
              <a:chOff x="3877183" y="398389"/>
              <a:chExt cx="2873292" cy="1396993"/>
            </a:xfrm>
          </p:grpSpPr>
          <p:grpSp>
            <p:nvGrpSpPr>
              <p:cNvPr id="90" name="Groupe 89">
                <a:extLst>
                  <a:ext uri="{FF2B5EF4-FFF2-40B4-BE49-F238E27FC236}">
                    <a16:creationId xmlns:a16="http://schemas.microsoft.com/office/drawing/2014/main" id="{3490C89F-E1FE-49CE-9C6D-924B0DEB20D6}"/>
                  </a:ext>
                </a:extLst>
              </p:cNvPr>
              <p:cNvGrpSpPr/>
              <p:nvPr/>
            </p:nvGrpSpPr>
            <p:grpSpPr>
              <a:xfrm>
                <a:off x="3877183" y="398389"/>
                <a:ext cx="2477051" cy="1257529"/>
                <a:chOff x="376216" y="368071"/>
                <a:chExt cx="2477051" cy="1257529"/>
              </a:xfrm>
            </p:grpSpPr>
            <p:sp>
              <p:nvSpPr>
                <p:cNvPr id="95" name="Organigramme : Multidocument 94">
                  <a:extLst>
                    <a:ext uri="{FF2B5EF4-FFF2-40B4-BE49-F238E27FC236}">
                      <a16:creationId xmlns:a16="http://schemas.microsoft.com/office/drawing/2014/main" id="{4B29BA2F-C988-4758-B3AA-4D933754738A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659466" cy="880533"/>
                </a:xfrm>
                <a:prstGeom prst="flowChartMultidocument">
                  <a:avLst/>
                </a:prstGeom>
                <a:solidFill>
                  <a:srgbClr val="00B0F6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Animals</a:t>
                  </a:r>
                </a:p>
              </p:txBody>
            </p:sp>
            <p:cxnSp>
              <p:nvCxnSpPr>
                <p:cNvPr id="96" name="Connecteur droit avec flèche 95">
                  <a:extLst>
                    <a:ext uri="{FF2B5EF4-FFF2-40B4-BE49-F238E27FC236}">
                      <a16:creationId xmlns:a16="http://schemas.microsoft.com/office/drawing/2014/main" id="{96079791-445D-49AB-8AA4-44C8EBB9B443}"/>
                    </a:ext>
                  </a:extLst>
                </p:cNvPr>
                <p:cNvCxnSpPr/>
                <p:nvPr/>
              </p:nvCxnSpPr>
              <p:spPr>
                <a:xfrm>
                  <a:off x="1114370" y="745067"/>
                  <a:ext cx="0" cy="821266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C2D5947B-3E9B-4EC4-948B-BDAA0682FE0C}"/>
                    </a:ext>
                  </a:extLst>
                </p:cNvPr>
                <p:cNvSpPr txBox="1"/>
                <p:nvPr/>
              </p:nvSpPr>
              <p:spPr>
                <a:xfrm>
                  <a:off x="376216" y="895563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98" name="Connecteur droit avec flèche 97">
                  <a:extLst>
                    <a:ext uri="{FF2B5EF4-FFF2-40B4-BE49-F238E27FC236}">
                      <a16:creationId xmlns:a16="http://schemas.microsoft.com/office/drawing/2014/main" id="{CC38CFE2-BC90-43F7-8ED9-348928801C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44A9DB9-B81C-4BBC-B0C1-F2A306E4B545}"/>
                    </a:ext>
                  </a:extLst>
                </p:cNvPr>
                <p:cNvSpPr txBox="1"/>
                <p:nvPr/>
              </p:nvSpPr>
              <p:spPr>
                <a:xfrm>
                  <a:off x="1515532" y="368071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 19 variables</a:t>
                  </a:r>
                </a:p>
              </p:txBody>
            </p:sp>
          </p:grpSp>
          <p:grpSp>
            <p:nvGrpSpPr>
              <p:cNvPr id="91" name="Groupe 90">
                <a:extLst>
                  <a:ext uri="{FF2B5EF4-FFF2-40B4-BE49-F238E27FC236}">
                    <a16:creationId xmlns:a16="http://schemas.microsoft.com/office/drawing/2014/main" id="{400271DC-40B9-493E-841D-C0724B90AAD6}"/>
                  </a:ext>
                </a:extLst>
              </p:cNvPr>
              <p:cNvGrpSpPr/>
              <p:nvPr/>
            </p:nvGrpSpPr>
            <p:grpSpPr>
              <a:xfrm>
                <a:off x="5957991" y="1376639"/>
                <a:ext cx="792484" cy="418743"/>
                <a:chOff x="2194557" y="3489312"/>
                <a:chExt cx="792484" cy="418743"/>
              </a:xfrm>
            </p:grpSpPr>
            <p:sp>
              <p:nvSpPr>
                <p:cNvPr id="92" name="ZoneTexte 91">
                  <a:extLst>
                    <a:ext uri="{FF2B5EF4-FFF2-40B4-BE49-F238E27FC236}">
                      <a16:creationId xmlns:a16="http://schemas.microsoft.com/office/drawing/2014/main" id="{A9D68B86-0967-44B4-A6E6-CC071691F8B5}"/>
                    </a:ext>
                  </a:extLst>
                </p:cNvPr>
                <p:cNvSpPr txBox="1"/>
                <p:nvPr/>
              </p:nvSpPr>
              <p:spPr>
                <a:xfrm rot="1638250">
                  <a:off x="2194557" y="3677223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2012</a:t>
                  </a:r>
                </a:p>
              </p:txBody>
            </p:sp>
            <p:sp>
              <p:nvSpPr>
                <p:cNvPr id="93" name="ZoneTexte 92">
                  <a:extLst>
                    <a:ext uri="{FF2B5EF4-FFF2-40B4-BE49-F238E27FC236}">
                      <a16:creationId xmlns:a16="http://schemas.microsoft.com/office/drawing/2014/main" id="{765680DC-0AC5-4FBB-98D3-357CFE0D673C}"/>
                    </a:ext>
                  </a:extLst>
                </p:cNvPr>
                <p:cNvSpPr txBox="1"/>
                <p:nvPr/>
              </p:nvSpPr>
              <p:spPr>
                <a:xfrm rot="1638250">
                  <a:off x="2529345" y="348931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2024</a:t>
                  </a:r>
                </a:p>
              </p:txBody>
            </p:sp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40A37E5B-974D-4EF7-911A-B4C2A66ABB96}"/>
                    </a:ext>
                  </a:extLst>
                </p:cNvPr>
                <p:cNvSpPr txBox="1"/>
                <p:nvPr/>
              </p:nvSpPr>
              <p:spPr>
                <a:xfrm rot="1638250">
                  <a:off x="2450851" y="361674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…</a:t>
                  </a:r>
                </a:p>
              </p:txBody>
            </p:sp>
          </p:grpSp>
        </p:grp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66315FFA-CC23-4A1E-8AA0-00153DABB045}"/>
                </a:ext>
              </a:extLst>
            </p:cNvPr>
            <p:cNvGrpSpPr/>
            <p:nvPr/>
          </p:nvGrpSpPr>
          <p:grpSpPr>
            <a:xfrm>
              <a:off x="6955713" y="5383443"/>
              <a:ext cx="3562318" cy="1345423"/>
              <a:chOff x="3430058" y="4684488"/>
              <a:chExt cx="3562318" cy="1345423"/>
            </a:xfrm>
          </p:grpSpPr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8531DD97-877D-4C23-ABED-A0DB0CB6E9D7}"/>
                  </a:ext>
                </a:extLst>
              </p:cNvPr>
              <p:cNvGrpSpPr/>
              <p:nvPr/>
            </p:nvGrpSpPr>
            <p:grpSpPr>
              <a:xfrm>
                <a:off x="3430058" y="4684488"/>
                <a:ext cx="3098799" cy="1257021"/>
                <a:chOff x="270934" y="368579"/>
                <a:chExt cx="2582333" cy="1257021"/>
              </a:xfrm>
            </p:grpSpPr>
            <p:sp>
              <p:nvSpPr>
                <p:cNvPr id="82" name="Organigramme : Multidocument 81">
                  <a:extLst>
                    <a:ext uri="{FF2B5EF4-FFF2-40B4-BE49-F238E27FC236}">
                      <a16:creationId xmlns:a16="http://schemas.microsoft.com/office/drawing/2014/main" id="{2D4EFE1D-43FB-4754-82FA-DF0C1989B4A4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659467" cy="880533"/>
                </a:xfrm>
                <a:prstGeom prst="flowChartMultidocument">
                  <a:avLst/>
                </a:prstGeom>
                <a:solidFill>
                  <a:srgbClr val="00BF7D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Environnement</a:t>
                  </a:r>
                </a:p>
              </p:txBody>
            </p:sp>
            <p:cxnSp>
              <p:nvCxnSpPr>
                <p:cNvPr id="84" name="Connecteur droit avec flèche 83">
                  <a:extLst>
                    <a:ext uri="{FF2B5EF4-FFF2-40B4-BE49-F238E27FC236}">
                      <a16:creationId xmlns:a16="http://schemas.microsoft.com/office/drawing/2014/main" id="{A24A4395-25A9-47F5-95D9-F03E26617638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87" name="ZoneTexte 86">
                  <a:extLst>
                    <a:ext uri="{FF2B5EF4-FFF2-40B4-BE49-F238E27FC236}">
                      <a16:creationId xmlns:a16="http://schemas.microsoft.com/office/drawing/2014/main" id="{F9E4F97F-3696-478A-AC13-C7920B55B9B0}"/>
                    </a:ext>
                  </a:extLst>
                </p:cNvPr>
                <p:cNvSpPr txBox="1"/>
                <p:nvPr/>
              </p:nvSpPr>
              <p:spPr>
                <a:xfrm>
                  <a:off x="270934" y="893655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88" name="Connecteur droit avec flèche 87">
                  <a:extLst>
                    <a:ext uri="{FF2B5EF4-FFF2-40B4-BE49-F238E27FC236}">
                      <a16:creationId xmlns:a16="http://schemas.microsoft.com/office/drawing/2014/main" id="{6DD710AE-5B12-4090-A746-F829ACBE4B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89" name="ZoneTexte 88">
                  <a:extLst>
                    <a:ext uri="{FF2B5EF4-FFF2-40B4-BE49-F238E27FC236}">
                      <a16:creationId xmlns:a16="http://schemas.microsoft.com/office/drawing/2014/main" id="{CC990BB5-AF29-4A8C-A514-26941E42B6FC}"/>
                    </a:ext>
                  </a:extLst>
                </p:cNvPr>
                <p:cNvSpPr txBox="1"/>
                <p:nvPr/>
              </p:nvSpPr>
              <p:spPr>
                <a:xfrm>
                  <a:off x="1663137" y="368579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 7 variables</a:t>
                  </a:r>
                </a:p>
              </p:txBody>
            </p:sp>
          </p:grpSp>
          <p:grpSp>
            <p:nvGrpSpPr>
              <p:cNvPr id="78" name="Groupe 77">
                <a:extLst>
                  <a:ext uri="{FF2B5EF4-FFF2-40B4-BE49-F238E27FC236}">
                    <a16:creationId xmlns:a16="http://schemas.microsoft.com/office/drawing/2014/main" id="{23F5DD93-1E62-48EA-BD38-B7BCD13D1D97}"/>
                  </a:ext>
                </a:extLst>
              </p:cNvPr>
              <p:cNvGrpSpPr/>
              <p:nvPr/>
            </p:nvGrpSpPr>
            <p:grpSpPr>
              <a:xfrm>
                <a:off x="6199892" y="5611168"/>
                <a:ext cx="792484" cy="418743"/>
                <a:chOff x="2194557" y="3489312"/>
                <a:chExt cx="792484" cy="418743"/>
              </a:xfrm>
            </p:grpSpPr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23CB6198-83A6-4429-AA5E-B866A74AE5CB}"/>
                    </a:ext>
                  </a:extLst>
                </p:cNvPr>
                <p:cNvSpPr txBox="1"/>
                <p:nvPr/>
              </p:nvSpPr>
              <p:spPr>
                <a:xfrm rot="1638250">
                  <a:off x="2194557" y="3677223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2012</a:t>
                  </a:r>
                </a:p>
              </p:txBody>
            </p:sp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31F767EE-405F-428A-A86F-A5290AD31F67}"/>
                    </a:ext>
                  </a:extLst>
                </p:cNvPr>
                <p:cNvSpPr txBox="1"/>
                <p:nvPr/>
              </p:nvSpPr>
              <p:spPr>
                <a:xfrm rot="1638250">
                  <a:off x="2529345" y="348931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2024</a:t>
                  </a:r>
                </a:p>
              </p:txBody>
            </p:sp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CAF431C4-E881-451D-9FC3-565C4A62608D}"/>
                    </a:ext>
                  </a:extLst>
                </p:cNvPr>
                <p:cNvSpPr txBox="1"/>
                <p:nvPr/>
              </p:nvSpPr>
              <p:spPr>
                <a:xfrm rot="1638250">
                  <a:off x="2450851" y="361674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…</a:t>
                  </a:r>
                </a:p>
              </p:txBody>
            </p:sp>
          </p:grpSp>
        </p:grpSp>
        <p:grpSp>
          <p:nvGrpSpPr>
            <p:cNvPr id="41" name="Groupe 40">
              <a:extLst>
                <a:ext uri="{FF2B5EF4-FFF2-40B4-BE49-F238E27FC236}">
                  <a16:creationId xmlns:a16="http://schemas.microsoft.com/office/drawing/2014/main" id="{4676B6E2-2E53-4732-9045-0A651DBD5D6B}"/>
                </a:ext>
              </a:extLst>
            </p:cNvPr>
            <p:cNvGrpSpPr/>
            <p:nvPr/>
          </p:nvGrpSpPr>
          <p:grpSpPr>
            <a:xfrm>
              <a:off x="3002624" y="4473846"/>
              <a:ext cx="2860515" cy="1422972"/>
              <a:chOff x="7403522" y="4353639"/>
              <a:chExt cx="2860515" cy="1422972"/>
            </a:xfrm>
          </p:grpSpPr>
          <p:grpSp>
            <p:nvGrpSpPr>
              <p:cNvPr id="64" name="Groupe 63">
                <a:extLst>
                  <a:ext uri="{FF2B5EF4-FFF2-40B4-BE49-F238E27FC236}">
                    <a16:creationId xmlns:a16="http://schemas.microsoft.com/office/drawing/2014/main" id="{1B0CDEA5-394F-4A10-920F-4FD288085D44}"/>
                  </a:ext>
                </a:extLst>
              </p:cNvPr>
              <p:cNvGrpSpPr/>
              <p:nvPr/>
            </p:nvGrpSpPr>
            <p:grpSpPr>
              <a:xfrm>
                <a:off x="7403522" y="4353639"/>
                <a:ext cx="2472886" cy="1353323"/>
                <a:chOff x="450274" y="368071"/>
                <a:chExt cx="2472886" cy="1353323"/>
              </a:xfrm>
            </p:grpSpPr>
            <p:sp>
              <p:nvSpPr>
                <p:cNvPr id="69" name="Organigramme : Multidocument 68">
                  <a:extLst>
                    <a:ext uri="{FF2B5EF4-FFF2-40B4-BE49-F238E27FC236}">
                      <a16:creationId xmlns:a16="http://schemas.microsoft.com/office/drawing/2014/main" id="{99EFAF4C-3161-48DA-8DA1-7D5643CBF58B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729360" cy="976327"/>
                </a:xfrm>
                <a:prstGeom prst="flowChartMultidocument">
                  <a:avLst/>
                </a:prstGeom>
                <a:solidFill>
                  <a:srgbClr val="A3A5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800" b="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Antimicrobial</a:t>
                  </a:r>
                  <a:r>
                    <a: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</a:t>
                  </a:r>
                  <a:r>
                    <a:rPr kumimoji="0" lang="fr-FR" sz="1800" b="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consumption</a:t>
                  </a:r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70" name="Connecteur droit avec flèche 69">
                  <a:extLst>
                    <a:ext uri="{FF2B5EF4-FFF2-40B4-BE49-F238E27FC236}">
                      <a16:creationId xmlns:a16="http://schemas.microsoft.com/office/drawing/2014/main" id="{32B7538D-6EC2-43AB-88C3-773422BE1D89}"/>
                    </a:ext>
                  </a:extLst>
                </p:cNvPr>
                <p:cNvCxnSpPr/>
                <p:nvPr/>
              </p:nvCxnSpPr>
              <p:spPr>
                <a:xfrm>
                  <a:off x="1104846" y="835999"/>
                  <a:ext cx="0" cy="821266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12D8BB70-14C5-4A1B-938F-A8B71ABB6CD1}"/>
                    </a:ext>
                  </a:extLst>
                </p:cNvPr>
                <p:cNvSpPr txBox="1"/>
                <p:nvPr/>
              </p:nvSpPr>
              <p:spPr>
                <a:xfrm>
                  <a:off x="450274" y="924713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75" name="Connecteur droit avec flèche 74">
                  <a:extLst>
                    <a:ext uri="{FF2B5EF4-FFF2-40B4-BE49-F238E27FC236}">
                      <a16:creationId xmlns:a16="http://schemas.microsoft.com/office/drawing/2014/main" id="{26096D02-C7D1-4550-9CE9-0E34B9EBEC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noFill/>
                <a:ln w="6350" cap="flat" cmpd="sng" algn="ctr">
                  <a:solidFill>
                    <a:srgbClr val="4472C4"/>
                  </a:solidFill>
                  <a:prstDash val="solid"/>
                  <a:miter lim="800000"/>
                  <a:headEnd type="triangle"/>
                  <a:tailEnd type="triangle"/>
                </a:ln>
                <a:effectLst/>
              </p:spPr>
            </p:cxnSp>
            <p:sp>
              <p:nvSpPr>
                <p:cNvPr id="76" name="ZoneTexte 75">
                  <a:extLst>
                    <a:ext uri="{FF2B5EF4-FFF2-40B4-BE49-F238E27FC236}">
                      <a16:creationId xmlns:a16="http://schemas.microsoft.com/office/drawing/2014/main" id="{5F9179B0-374F-466A-A2B8-A1558DC3C2F6}"/>
                    </a:ext>
                  </a:extLst>
                </p:cNvPr>
                <p:cNvSpPr txBox="1"/>
                <p:nvPr/>
              </p:nvSpPr>
              <p:spPr>
                <a:xfrm>
                  <a:off x="1515533" y="368071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  24 variables</a:t>
                  </a:r>
                </a:p>
              </p:txBody>
            </p:sp>
          </p:grpSp>
          <p:grpSp>
            <p:nvGrpSpPr>
              <p:cNvPr id="65" name="Groupe 64">
                <a:extLst>
                  <a:ext uri="{FF2B5EF4-FFF2-40B4-BE49-F238E27FC236}">
                    <a16:creationId xmlns:a16="http://schemas.microsoft.com/office/drawing/2014/main" id="{2D106A57-014F-469A-8771-407CABD9218C}"/>
                  </a:ext>
                </a:extLst>
              </p:cNvPr>
              <p:cNvGrpSpPr/>
              <p:nvPr/>
            </p:nvGrpSpPr>
            <p:grpSpPr>
              <a:xfrm>
                <a:off x="9592982" y="5347893"/>
                <a:ext cx="671055" cy="428718"/>
                <a:chOff x="2251218" y="3498616"/>
                <a:chExt cx="671055" cy="428718"/>
              </a:xfrm>
            </p:grpSpPr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4B8FC990-1F53-4824-9909-62FEF5EEFA63}"/>
                    </a:ext>
                  </a:extLst>
                </p:cNvPr>
                <p:cNvSpPr txBox="1"/>
                <p:nvPr/>
              </p:nvSpPr>
              <p:spPr>
                <a:xfrm rot="1638250">
                  <a:off x="2251218" y="369650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2012</a:t>
                  </a:r>
                </a:p>
              </p:txBody>
            </p:sp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A8773ACE-74F3-4CBC-8FAD-D23264DE7824}"/>
                    </a:ext>
                  </a:extLst>
                </p:cNvPr>
                <p:cNvSpPr txBox="1"/>
                <p:nvPr/>
              </p:nvSpPr>
              <p:spPr>
                <a:xfrm rot="1638250">
                  <a:off x="2464577" y="3498616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2024</a:t>
                  </a:r>
                </a:p>
              </p:txBody>
            </p:sp>
            <p:sp>
              <p:nvSpPr>
                <p:cNvPr id="68" name="ZoneTexte 67">
                  <a:extLst>
                    <a:ext uri="{FF2B5EF4-FFF2-40B4-BE49-F238E27FC236}">
                      <a16:creationId xmlns:a16="http://schemas.microsoft.com/office/drawing/2014/main" id="{86AB2498-5895-4FAF-B0D6-72D9E6011526}"/>
                    </a:ext>
                  </a:extLst>
                </p:cNvPr>
                <p:cNvSpPr txBox="1"/>
                <p:nvPr/>
              </p:nvSpPr>
              <p:spPr>
                <a:xfrm rot="1638250">
                  <a:off x="2412476" y="3606438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…</a:t>
                  </a:r>
                </a:p>
              </p:txBody>
            </p:sp>
          </p:grp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7D8F3528-08CC-43BD-835F-3333FEC5D145}"/>
                </a:ext>
              </a:extLst>
            </p:cNvPr>
            <p:cNvGrpSpPr/>
            <p:nvPr/>
          </p:nvGrpSpPr>
          <p:grpSpPr>
            <a:xfrm>
              <a:off x="-37283" y="4459481"/>
              <a:ext cx="3033803" cy="1465093"/>
              <a:chOff x="8003958" y="1652948"/>
              <a:chExt cx="3033803" cy="1465093"/>
            </a:xfrm>
          </p:grpSpPr>
          <p:grpSp>
            <p:nvGrpSpPr>
              <p:cNvPr id="52" name="Groupe 51">
                <a:extLst>
                  <a:ext uri="{FF2B5EF4-FFF2-40B4-BE49-F238E27FC236}">
                    <a16:creationId xmlns:a16="http://schemas.microsoft.com/office/drawing/2014/main" id="{4DCB7F44-709D-49C6-A0A2-3471D1E64A16}"/>
                  </a:ext>
                </a:extLst>
              </p:cNvPr>
              <p:cNvGrpSpPr/>
              <p:nvPr/>
            </p:nvGrpSpPr>
            <p:grpSpPr>
              <a:xfrm>
                <a:off x="8003958" y="2024091"/>
                <a:ext cx="2621708" cy="1020264"/>
                <a:chOff x="403011" y="623301"/>
                <a:chExt cx="2621708" cy="1020264"/>
              </a:xfrm>
              <a:solidFill>
                <a:srgbClr val="F8766D"/>
              </a:solidFill>
            </p:grpSpPr>
            <p:sp>
              <p:nvSpPr>
                <p:cNvPr id="62" name="Organigramme : Multidocument 61">
                  <a:extLst>
                    <a:ext uri="{FF2B5EF4-FFF2-40B4-BE49-F238E27FC236}">
                      <a16:creationId xmlns:a16="http://schemas.microsoft.com/office/drawing/2014/main" id="{CE531473-A659-4AA4-9A8E-D27FF5357889}"/>
                    </a:ext>
                  </a:extLst>
                </p:cNvPr>
                <p:cNvSpPr/>
                <p:nvPr/>
              </p:nvSpPr>
              <p:spPr>
                <a:xfrm>
                  <a:off x="1159933" y="623301"/>
                  <a:ext cx="1864786" cy="1020264"/>
                </a:xfrm>
                <a:prstGeom prst="flowChartMultidocument">
                  <a:avLst/>
                </a:prstGeom>
                <a:grpFill/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800" b="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Fluroquinolone</a:t>
                  </a:r>
                  <a:r>
                    <a: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Resistance</a:t>
                  </a:r>
                </a:p>
              </p:txBody>
            </p:sp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06A8A357-D326-49CB-BDAC-CD8A459AD96E}"/>
                    </a:ext>
                  </a:extLst>
                </p:cNvPr>
                <p:cNvSpPr txBox="1"/>
                <p:nvPr/>
              </p:nvSpPr>
              <p:spPr>
                <a:xfrm>
                  <a:off x="403011" y="764815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</p:grpSp>
          <p:cxnSp>
            <p:nvCxnSpPr>
              <p:cNvPr id="53" name="Connecteur droit avec flèche 52">
                <a:extLst>
                  <a:ext uri="{FF2B5EF4-FFF2-40B4-BE49-F238E27FC236}">
                    <a16:creationId xmlns:a16="http://schemas.microsoft.com/office/drawing/2014/main" id="{97C1A645-4493-4599-B120-1027691EF7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9129" y="2064018"/>
                <a:ext cx="0" cy="957550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4472C4"/>
                </a:solidFill>
                <a:prstDash val="solid"/>
                <a:miter lim="800000"/>
                <a:headEnd type="triangle"/>
                <a:tailEnd type="triangle"/>
              </a:ln>
              <a:effectLst/>
            </p:spPr>
          </p:cxnSp>
          <p:cxnSp>
            <p:nvCxnSpPr>
              <p:cNvPr id="54" name="Connecteur droit avec flèche 53">
                <a:extLst>
                  <a:ext uri="{FF2B5EF4-FFF2-40B4-BE49-F238E27FC236}">
                    <a16:creationId xmlns:a16="http://schemas.microsoft.com/office/drawing/2014/main" id="{0C0585A5-5A52-40B3-9065-F86CA11514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760880" y="1880662"/>
                <a:ext cx="1864786" cy="6837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4472C4"/>
                </a:solidFill>
                <a:prstDash val="solid"/>
                <a:miter lim="800000"/>
                <a:headEnd type="triangle"/>
                <a:tailEnd type="triangle"/>
              </a:ln>
              <a:effectLst/>
            </p:spPr>
          </p:cxnSp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81FDF9A9-0844-4CD9-91E4-362710214539}"/>
                  </a:ext>
                </a:extLst>
              </p:cNvPr>
              <p:cNvSpPr txBox="1"/>
              <p:nvPr/>
            </p:nvSpPr>
            <p:spPr>
              <a:xfrm>
                <a:off x="9365296" y="1652948"/>
                <a:ext cx="11430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1 variable</a:t>
                </a:r>
              </a:p>
            </p:txBody>
          </p: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8C4410B6-F230-49DE-ADE5-B00F80D6601C}"/>
                  </a:ext>
                </a:extLst>
              </p:cNvPr>
              <p:cNvGrpSpPr/>
              <p:nvPr/>
            </p:nvGrpSpPr>
            <p:grpSpPr>
              <a:xfrm>
                <a:off x="10279320" y="2682304"/>
                <a:ext cx="758441" cy="435737"/>
                <a:chOff x="2194005" y="3462627"/>
                <a:chExt cx="758441" cy="435737"/>
              </a:xfrm>
            </p:grpSpPr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1EFEE5D-03C5-4EB8-B7B6-30BEEC36ED6A}"/>
                    </a:ext>
                  </a:extLst>
                </p:cNvPr>
                <p:cNvSpPr txBox="1"/>
                <p:nvPr/>
              </p:nvSpPr>
              <p:spPr>
                <a:xfrm rot="1638250">
                  <a:off x="2194005" y="366753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2012</a:t>
                  </a:r>
                </a:p>
              </p:txBody>
            </p:sp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67175CC8-F515-4F1B-BA77-3E1BA8362FDD}"/>
                    </a:ext>
                  </a:extLst>
                </p:cNvPr>
                <p:cNvSpPr txBox="1"/>
                <p:nvPr/>
              </p:nvSpPr>
              <p:spPr>
                <a:xfrm rot="1638250">
                  <a:off x="2494750" y="3462627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2024</a:t>
                  </a:r>
                </a:p>
              </p:txBody>
            </p:sp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3789CAB9-9DC5-4AAF-A43D-2985A17880C0}"/>
                    </a:ext>
                  </a:extLst>
                </p:cNvPr>
                <p:cNvSpPr txBox="1"/>
                <p:nvPr/>
              </p:nvSpPr>
              <p:spPr>
                <a:xfrm rot="1638250">
                  <a:off x="2450851" y="3616742"/>
                  <a:ext cx="4576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rPr>
                    <a:t>…</a:t>
                  </a:r>
                </a:p>
              </p:txBody>
            </p:sp>
          </p:grpSp>
        </p:grp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BC16CA11-D427-4E56-B31D-7D8669217839}"/>
                </a:ext>
              </a:extLst>
            </p:cNvPr>
            <p:cNvSpPr txBox="1"/>
            <p:nvPr/>
          </p:nvSpPr>
          <p:spPr>
            <a:xfrm>
              <a:off x="8050586" y="3708401"/>
              <a:ext cx="27665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One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Health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blocks</a:t>
              </a:r>
            </a:p>
          </p:txBody>
        </p: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BEA72173-7A79-47FB-BBBC-0E42ADA966AB}"/>
                </a:ext>
              </a:extLst>
            </p:cNvPr>
            <p:cNvSpPr txBox="1"/>
            <p:nvPr/>
          </p:nvSpPr>
          <p:spPr>
            <a:xfrm>
              <a:off x="3536641" y="3828684"/>
              <a:ext cx="27665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Adjustment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block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BD63E2F9-BC03-45E8-BAFC-C1A23C374FEC}"/>
                </a:ext>
              </a:extLst>
            </p:cNvPr>
            <p:cNvSpPr txBox="1"/>
            <p:nvPr/>
          </p:nvSpPr>
          <p:spPr>
            <a:xfrm>
              <a:off x="575338" y="3837187"/>
              <a:ext cx="27665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Response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block</a:t>
              </a:r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66C74157-558F-41EE-B909-55EC1AD84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7227" y="5279892"/>
              <a:ext cx="388272" cy="42332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6052F093-73C1-4926-87DB-0D15CC3DD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72972" y="5299452"/>
              <a:ext cx="388272" cy="423324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57247D26-1FD5-46C1-8D34-663029102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007806" y="4916152"/>
              <a:ext cx="388272" cy="423324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AE6763F1-464A-4005-BA07-35261FE84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68606" y="4785624"/>
              <a:ext cx="388272" cy="423324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618B04A0-0584-4490-A01B-6F0D85940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49093" y="6145150"/>
              <a:ext cx="388272" cy="423324"/>
            </a:xfrm>
            <a:prstGeom prst="rect">
              <a:avLst/>
            </a:prstGeom>
          </p:spPr>
        </p:pic>
      </p:grpSp>
      <p:pic>
        <p:nvPicPr>
          <p:cNvPr id="18" name="Image 17">
            <a:extLst>
              <a:ext uri="{FF2B5EF4-FFF2-40B4-BE49-F238E27FC236}">
                <a16:creationId xmlns:a16="http://schemas.microsoft.com/office/drawing/2014/main" id="{A846AE2D-6661-4F6B-8A50-1124706472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1031" y="5927685"/>
            <a:ext cx="1109616" cy="70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98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State of the art of </a:t>
            </a:r>
            <a:r>
              <a:rPr lang="fr-FR" sz="2800" dirty="0" err="1"/>
              <a:t>existing</a:t>
            </a:r>
            <a:r>
              <a:rPr lang="fr-FR" sz="2800" dirty="0"/>
              <a:t> </a:t>
            </a:r>
            <a:r>
              <a:rPr lang="fr-FR" sz="2800" dirty="0" err="1"/>
              <a:t>methods</a:t>
            </a:r>
            <a:r>
              <a:rPr lang="fr-FR" sz="2800" dirty="0"/>
              <a:t> for </a:t>
            </a:r>
            <a:r>
              <a:rPr lang="fr-FR" sz="2800" dirty="0" err="1"/>
              <a:t>multiblock</a:t>
            </a:r>
            <a:r>
              <a:rPr lang="fr-FR" sz="2800" dirty="0"/>
              <a:t> and temporal data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Three-way</a:t>
            </a:r>
            <a:r>
              <a:rPr lang="fr-FR" dirty="0"/>
              <a:t> GSCA (Choi 2018)</a:t>
            </a:r>
            <a:r>
              <a:rPr lang="fr-FR" baseline="30000" dirty="0"/>
              <a:t>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aseline="30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Functional</a:t>
            </a:r>
            <a:r>
              <a:rPr lang="fr-FR" dirty="0"/>
              <a:t> GSCA (Suk 2016)</a:t>
            </a:r>
            <a:r>
              <a:rPr lang="fr-FR" baseline="30000" dirty="0"/>
              <a:t>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aseline="30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Dynamic </a:t>
            </a:r>
            <a:r>
              <a:rPr lang="fr-FR" dirty="0" err="1"/>
              <a:t>multiblock</a:t>
            </a:r>
            <a:r>
              <a:rPr lang="fr-FR" dirty="0"/>
              <a:t> Partial least square </a:t>
            </a:r>
            <a:r>
              <a:rPr lang="fr-FR" dirty="0" err="1"/>
              <a:t>regression</a:t>
            </a:r>
            <a:r>
              <a:rPr lang="fr-FR" dirty="0"/>
              <a:t> (</a:t>
            </a:r>
            <a:r>
              <a:rPr lang="fr-FR" dirty="0" err="1"/>
              <a:t>dynamic</a:t>
            </a:r>
            <a:r>
              <a:rPr lang="fr-FR" dirty="0"/>
              <a:t> Mb-PLS)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358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Scientific </a:t>
            </a:r>
            <a:r>
              <a:rPr lang="fr-FR" sz="2800" dirty="0" err="1"/>
              <a:t>Problematic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C8BC15E-4105-4180-B284-66CC3E7A6BFE}"/>
              </a:ext>
            </a:extLst>
          </p:cNvPr>
          <p:cNvSpPr txBox="1"/>
          <p:nvPr/>
        </p:nvSpPr>
        <p:spPr>
          <a:xfrm>
            <a:off x="1413933" y="2358274"/>
            <a:ext cx="893233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How can temporal and regional variations in fluoroquinolone resistance in France primary care settings be explained within a One Health framework ?</a:t>
            </a:r>
            <a:endParaRPr lang="fr-FR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34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446869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92">
            <a:extLst>
              <a:ext uri="{FF2B5EF4-FFF2-40B4-BE49-F238E27FC236}">
                <a16:creationId xmlns:a16="http://schemas.microsoft.com/office/drawing/2014/main" id="{4B480CB0-BACE-4936-A7BB-682373761CF0}"/>
              </a:ext>
            </a:extLst>
          </p:cNvPr>
          <p:cNvSpPr/>
          <p:nvPr/>
        </p:nvSpPr>
        <p:spPr>
          <a:xfrm>
            <a:off x="2372" y="751881"/>
            <a:ext cx="5890469" cy="4499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0A506B0-B965-49CB-B5C1-19118B0CFD21}"/>
              </a:ext>
            </a:extLst>
          </p:cNvPr>
          <p:cNvSpPr/>
          <p:nvPr/>
        </p:nvSpPr>
        <p:spPr>
          <a:xfrm>
            <a:off x="5878849" y="758951"/>
            <a:ext cx="3993160" cy="45193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Scientific </a:t>
            </a:r>
            <a:r>
              <a:rPr lang="fr-FR" sz="2800" dirty="0" err="1"/>
              <a:t>Problematic</a:t>
            </a:r>
            <a:endParaRPr lang="fr-FR" dirty="0"/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5CAC6EF1-C557-4A4E-86BC-EA35C1C19CE2}"/>
              </a:ext>
            </a:extLst>
          </p:cNvPr>
          <p:cNvGrpSpPr/>
          <p:nvPr/>
        </p:nvGrpSpPr>
        <p:grpSpPr>
          <a:xfrm>
            <a:off x="0" y="812065"/>
            <a:ext cx="12103686" cy="6045935"/>
            <a:chOff x="58723" y="589757"/>
            <a:chExt cx="12103686" cy="6045935"/>
          </a:xfrm>
        </p:grpSpPr>
        <p:sp>
          <p:nvSpPr>
            <p:cNvPr id="6" name="Flèche : pentagone 5">
              <a:extLst>
                <a:ext uri="{FF2B5EF4-FFF2-40B4-BE49-F238E27FC236}">
                  <a16:creationId xmlns:a16="http://schemas.microsoft.com/office/drawing/2014/main" id="{3251A447-3F5F-42E5-BD71-6B4CADE84993}"/>
                </a:ext>
              </a:extLst>
            </p:cNvPr>
            <p:cNvSpPr/>
            <p:nvPr/>
          </p:nvSpPr>
          <p:spPr>
            <a:xfrm>
              <a:off x="58723" y="973123"/>
              <a:ext cx="4504888" cy="5662569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" name="Flèche : chevron 6">
              <a:extLst>
                <a:ext uri="{FF2B5EF4-FFF2-40B4-BE49-F238E27FC236}">
                  <a16:creationId xmlns:a16="http://schemas.microsoft.com/office/drawing/2014/main" id="{7E66EFF9-88BA-4A07-BB8A-592783F5DD85}"/>
                </a:ext>
              </a:extLst>
            </p:cNvPr>
            <p:cNvSpPr/>
            <p:nvPr/>
          </p:nvSpPr>
          <p:spPr>
            <a:xfrm>
              <a:off x="2306972" y="973122"/>
              <a:ext cx="5889072" cy="5662569"/>
            </a:xfrm>
            <a:prstGeom prst="chevron">
              <a:avLst>
                <a:gd name="adj" fmla="val 39623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8" name="Flèche : chevron 7">
              <a:extLst>
                <a:ext uri="{FF2B5EF4-FFF2-40B4-BE49-F238E27FC236}">
                  <a16:creationId xmlns:a16="http://schemas.microsoft.com/office/drawing/2014/main" id="{77B13BD5-9907-48D7-8464-6B750B0272C8}"/>
                </a:ext>
              </a:extLst>
            </p:cNvPr>
            <p:cNvSpPr/>
            <p:nvPr/>
          </p:nvSpPr>
          <p:spPr>
            <a:xfrm>
              <a:off x="5939405" y="973122"/>
              <a:ext cx="6223004" cy="5662569"/>
            </a:xfrm>
            <a:prstGeom prst="chevron">
              <a:avLst>
                <a:gd name="adj" fmla="val 3962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CC7BC3C-5050-4DCC-8961-D76CE7E5E286}"/>
                </a:ext>
              </a:extLst>
            </p:cNvPr>
            <p:cNvSpPr txBox="1"/>
            <p:nvPr/>
          </p:nvSpPr>
          <p:spPr>
            <a:xfrm>
              <a:off x="304602" y="592786"/>
              <a:ext cx="5182365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First </a:t>
              </a:r>
              <a:r>
                <a:rPr lang="fr-FR" dirty="0" err="1"/>
                <a:t>Step</a:t>
              </a:r>
              <a:r>
                <a:rPr lang="fr-FR" dirty="0"/>
                <a:t>: Dimension </a:t>
              </a:r>
              <a:r>
                <a:rPr lang="fr-FR" dirty="0" err="1"/>
                <a:t>reduction</a:t>
              </a:r>
              <a:r>
                <a:rPr lang="fr-FR" dirty="0"/>
                <a:t> </a:t>
              </a: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E593DFB0-0640-4715-93C1-C2E70EDCF280}"/>
                </a:ext>
              </a:extLst>
            </p:cNvPr>
            <p:cNvSpPr txBox="1"/>
            <p:nvPr/>
          </p:nvSpPr>
          <p:spPr>
            <a:xfrm>
              <a:off x="6022478" y="589757"/>
              <a:ext cx="3837774" cy="3385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dirty="0"/>
                <a:t>Second </a:t>
              </a:r>
              <a:r>
                <a:rPr lang="fr-FR" sz="1600" dirty="0" err="1"/>
                <a:t>step</a:t>
              </a:r>
              <a:r>
                <a:rPr lang="fr-FR" sz="1600" dirty="0"/>
                <a:t>: Modeling </a:t>
              </a:r>
              <a:r>
                <a:rPr lang="fr-FR" sz="1600" dirty="0" err="1"/>
                <a:t>relationships</a:t>
              </a:r>
              <a:endParaRPr lang="fr-FR" sz="16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7CED4F-7FFC-4F1F-8587-E4F80D3BB771}"/>
                </a:ext>
              </a:extLst>
            </p:cNvPr>
            <p:cNvSpPr/>
            <p:nvPr/>
          </p:nvSpPr>
          <p:spPr>
            <a:xfrm>
              <a:off x="67111" y="4749287"/>
              <a:ext cx="444616" cy="18864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E6F27EF-7109-4B6E-92C1-445B7AE335DC}"/>
                </a:ext>
              </a:extLst>
            </p:cNvPr>
            <p:cNvSpPr/>
            <p:nvPr/>
          </p:nvSpPr>
          <p:spPr>
            <a:xfrm>
              <a:off x="67111" y="2862887"/>
              <a:ext cx="444616" cy="18864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2F79D8-1B0E-4915-B66F-505E932061D9}"/>
                </a:ext>
              </a:extLst>
            </p:cNvPr>
            <p:cNvSpPr/>
            <p:nvPr/>
          </p:nvSpPr>
          <p:spPr>
            <a:xfrm>
              <a:off x="67111" y="981511"/>
              <a:ext cx="444616" cy="18863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CB78B8C-617A-464B-8D6B-B3BF0EE5FA6E}"/>
                </a:ext>
              </a:extLst>
            </p:cNvPr>
            <p:cNvSpPr txBox="1"/>
            <p:nvPr/>
          </p:nvSpPr>
          <p:spPr>
            <a:xfrm rot="16200000">
              <a:off x="-696003" y="1682245"/>
              <a:ext cx="1970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All blocks </a:t>
              </a:r>
              <a:r>
                <a:rPr lang="fr-FR" sz="1600" dirty="0" err="1"/>
                <a:t>scale</a:t>
              </a:r>
              <a:endParaRPr lang="fr-FR" dirty="0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C1847CDE-12BF-4793-9B77-B233499F5734}"/>
                </a:ext>
              </a:extLst>
            </p:cNvPr>
            <p:cNvSpPr txBox="1"/>
            <p:nvPr/>
          </p:nvSpPr>
          <p:spPr>
            <a:xfrm rot="16200000">
              <a:off x="-669487" y="3552368"/>
              <a:ext cx="1970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One block </a:t>
              </a:r>
              <a:r>
                <a:rPr lang="fr-FR" sz="1600" dirty="0" err="1"/>
                <a:t>scale</a:t>
              </a:r>
              <a:endParaRPr lang="fr-FR" dirty="0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357FD9DE-DF42-4A2D-9C5B-0D7D06FB0805}"/>
                </a:ext>
              </a:extLst>
            </p:cNvPr>
            <p:cNvSpPr txBox="1"/>
            <p:nvPr/>
          </p:nvSpPr>
          <p:spPr>
            <a:xfrm rot="16200000">
              <a:off x="-696002" y="5475965"/>
              <a:ext cx="1970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   Variable </a:t>
              </a:r>
              <a:r>
                <a:rPr lang="fr-FR" sz="1600" dirty="0" err="1"/>
                <a:t>scale</a:t>
              </a:r>
              <a:endParaRPr lang="fr-FR" dirty="0"/>
            </a:p>
          </p:txBody>
        </p: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28818238-890D-438E-885C-3910F8D175B2}"/>
                </a:ext>
              </a:extLst>
            </p:cNvPr>
            <p:cNvCxnSpPr/>
            <p:nvPr/>
          </p:nvCxnSpPr>
          <p:spPr>
            <a:xfrm>
              <a:off x="538243" y="1376039"/>
              <a:ext cx="5672307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989EB9D6-2B1D-4D92-980A-F2A8CA4C43DB}"/>
                </a:ext>
              </a:extLst>
            </p:cNvPr>
            <p:cNvSpPr txBox="1"/>
            <p:nvPr/>
          </p:nvSpPr>
          <p:spPr>
            <a:xfrm>
              <a:off x="564757" y="1051511"/>
              <a:ext cx="21206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a) Time dimension</a:t>
              </a:r>
              <a:endParaRPr lang="fr-FR" dirty="0"/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E2D00609-2A69-4700-809C-B21A6428F2FE}"/>
                </a:ext>
              </a:extLst>
            </p:cNvPr>
            <p:cNvSpPr txBox="1"/>
            <p:nvPr/>
          </p:nvSpPr>
          <p:spPr>
            <a:xfrm>
              <a:off x="3503279" y="1020648"/>
              <a:ext cx="21206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b) Variable dimension</a:t>
              </a:r>
              <a:endParaRPr lang="fr-FR" dirty="0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6CA298A6-5E3B-4739-A949-9F281C15FE25}"/>
                </a:ext>
              </a:extLst>
            </p:cNvPr>
            <p:cNvCxnSpPr/>
            <p:nvPr/>
          </p:nvCxnSpPr>
          <p:spPr>
            <a:xfrm>
              <a:off x="511727" y="2862887"/>
              <a:ext cx="10851690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EAEE0D0B-24CD-4197-A016-04E81BFFFE30}"/>
                </a:ext>
              </a:extLst>
            </p:cNvPr>
            <p:cNvCxnSpPr/>
            <p:nvPr/>
          </p:nvCxnSpPr>
          <p:spPr>
            <a:xfrm>
              <a:off x="538243" y="4749287"/>
              <a:ext cx="10851690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Organigramme : Multidocument 21">
              <a:extLst>
                <a:ext uri="{FF2B5EF4-FFF2-40B4-BE49-F238E27FC236}">
                  <a16:creationId xmlns:a16="http://schemas.microsoft.com/office/drawing/2014/main" id="{E82D7D79-36AD-4513-AAC1-12D6ECB2BD0A}"/>
                </a:ext>
              </a:extLst>
            </p:cNvPr>
            <p:cNvSpPr/>
            <p:nvPr/>
          </p:nvSpPr>
          <p:spPr>
            <a:xfrm>
              <a:off x="883265" y="1810916"/>
              <a:ext cx="444615" cy="278634"/>
            </a:xfrm>
            <a:prstGeom prst="flowChartMultidocument">
              <a:avLst/>
            </a:prstGeom>
            <a:solidFill>
              <a:srgbClr val="F8766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Organigramme : Multidocument 22">
              <a:extLst>
                <a:ext uri="{FF2B5EF4-FFF2-40B4-BE49-F238E27FC236}">
                  <a16:creationId xmlns:a16="http://schemas.microsoft.com/office/drawing/2014/main" id="{AB5A5D10-D572-4BAB-8512-E54D1406B393}"/>
                </a:ext>
              </a:extLst>
            </p:cNvPr>
            <p:cNvSpPr/>
            <p:nvPr/>
          </p:nvSpPr>
          <p:spPr>
            <a:xfrm>
              <a:off x="872505" y="2285257"/>
              <a:ext cx="444615" cy="278634"/>
            </a:xfrm>
            <a:prstGeom prst="flowChartMultidocument">
              <a:avLst/>
            </a:prstGeom>
            <a:solidFill>
              <a:srgbClr val="00B0F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Organigramme : Multidocument 23">
              <a:extLst>
                <a:ext uri="{FF2B5EF4-FFF2-40B4-BE49-F238E27FC236}">
                  <a16:creationId xmlns:a16="http://schemas.microsoft.com/office/drawing/2014/main" id="{F5E34369-2A6A-489D-A246-A5CEFBA30E95}"/>
                </a:ext>
              </a:extLst>
            </p:cNvPr>
            <p:cNvSpPr/>
            <p:nvPr/>
          </p:nvSpPr>
          <p:spPr>
            <a:xfrm>
              <a:off x="1604255" y="1719934"/>
              <a:ext cx="444615" cy="278634"/>
            </a:xfrm>
            <a:prstGeom prst="flowChartMultidocument">
              <a:avLst/>
            </a:prstGeom>
            <a:solidFill>
              <a:srgbClr val="E76BF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Organigramme : Multidocument 24">
              <a:extLst>
                <a:ext uri="{FF2B5EF4-FFF2-40B4-BE49-F238E27FC236}">
                  <a16:creationId xmlns:a16="http://schemas.microsoft.com/office/drawing/2014/main" id="{22F2D81D-6CAC-4045-820A-0A56AB9FCCAF}"/>
                </a:ext>
              </a:extLst>
            </p:cNvPr>
            <p:cNvSpPr/>
            <p:nvPr/>
          </p:nvSpPr>
          <p:spPr>
            <a:xfrm>
              <a:off x="2137694" y="2010060"/>
              <a:ext cx="444615" cy="278634"/>
            </a:xfrm>
            <a:prstGeom prst="flowChartMultidocument">
              <a:avLst/>
            </a:prstGeom>
            <a:solidFill>
              <a:srgbClr val="00BF7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Organigramme : Multidocument 25">
              <a:extLst>
                <a:ext uri="{FF2B5EF4-FFF2-40B4-BE49-F238E27FC236}">
                  <a16:creationId xmlns:a16="http://schemas.microsoft.com/office/drawing/2014/main" id="{656EFF79-5D70-45FB-AA81-8F9B8AF4D7EC}"/>
                </a:ext>
              </a:extLst>
            </p:cNvPr>
            <p:cNvSpPr/>
            <p:nvPr/>
          </p:nvSpPr>
          <p:spPr>
            <a:xfrm>
              <a:off x="1597767" y="2368184"/>
              <a:ext cx="444615" cy="278634"/>
            </a:xfrm>
            <a:prstGeom prst="flowChartMultidocument">
              <a:avLst/>
            </a:prstGeom>
            <a:solidFill>
              <a:srgbClr val="A3A5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4466480D-F207-4462-8C18-FC17271BC9DE}"/>
                </a:ext>
              </a:extLst>
            </p:cNvPr>
            <p:cNvCxnSpPr/>
            <p:nvPr/>
          </p:nvCxnSpPr>
          <p:spPr>
            <a:xfrm>
              <a:off x="1111991" y="2777626"/>
              <a:ext cx="0" cy="40647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rganigramme : Multidocument 27">
              <a:extLst>
                <a:ext uri="{FF2B5EF4-FFF2-40B4-BE49-F238E27FC236}">
                  <a16:creationId xmlns:a16="http://schemas.microsoft.com/office/drawing/2014/main" id="{8D512C7E-45C0-4811-97CE-3130A57D492D}"/>
                </a:ext>
              </a:extLst>
            </p:cNvPr>
            <p:cNvSpPr/>
            <p:nvPr/>
          </p:nvSpPr>
          <p:spPr>
            <a:xfrm>
              <a:off x="1153152" y="3311156"/>
              <a:ext cx="1429150" cy="942254"/>
            </a:xfrm>
            <a:prstGeom prst="flowChartMultidocument">
              <a:avLst/>
            </a:prstGeom>
            <a:solidFill>
              <a:srgbClr val="00B0F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ED46785A-5BB7-43BB-B9EE-96988447D3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7120" y="3485415"/>
              <a:ext cx="631" cy="7679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17944CAA-C55C-4F88-B848-0CE85295EE98}"/>
                </a:ext>
              </a:extLst>
            </p:cNvPr>
            <p:cNvCxnSpPr>
              <a:cxnSpLocks/>
            </p:cNvCxnSpPr>
            <p:nvPr/>
          </p:nvCxnSpPr>
          <p:spPr>
            <a:xfrm>
              <a:off x="1491449" y="3466408"/>
              <a:ext cx="0" cy="7679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BF1B138C-BA21-47E5-B3C7-AED887931966}"/>
                </a:ext>
              </a:extLst>
            </p:cNvPr>
            <p:cNvCxnSpPr>
              <a:cxnSpLocks/>
            </p:cNvCxnSpPr>
            <p:nvPr/>
          </p:nvCxnSpPr>
          <p:spPr>
            <a:xfrm>
              <a:off x="2232772" y="3469810"/>
              <a:ext cx="0" cy="6249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62B36B46-7D4C-4CDA-A7E9-FAED738BF679}"/>
                </a:ext>
              </a:extLst>
            </p:cNvPr>
            <p:cNvCxnSpPr/>
            <p:nvPr/>
          </p:nvCxnSpPr>
          <p:spPr>
            <a:xfrm flipV="1">
              <a:off x="1317120" y="3311156"/>
              <a:ext cx="174329" cy="16908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05344CB-B0DD-4C51-88AF-DD7972FF4E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1449" y="3311156"/>
              <a:ext cx="143011" cy="1690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5580178A-365C-4C30-96BF-F12407C110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8619" y="3311156"/>
              <a:ext cx="143011" cy="1690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796DD32C-A201-4042-B57D-43BB73E49D79}"/>
                </a:ext>
              </a:extLst>
            </p:cNvPr>
            <p:cNvSpPr txBox="1"/>
            <p:nvPr/>
          </p:nvSpPr>
          <p:spPr>
            <a:xfrm rot="17950569">
              <a:off x="1084586" y="4359168"/>
              <a:ext cx="5002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Var 2</a:t>
              </a:r>
              <a:endParaRPr lang="fr-FR" dirty="0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364530E7-A2D0-4285-9A87-693FB158E328}"/>
                </a:ext>
              </a:extLst>
            </p:cNvPr>
            <p:cNvSpPr txBox="1"/>
            <p:nvPr/>
          </p:nvSpPr>
          <p:spPr>
            <a:xfrm rot="18204957">
              <a:off x="930465" y="4308021"/>
              <a:ext cx="5002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Var 1</a:t>
              </a:r>
              <a:endParaRPr lang="fr-FR" dirty="0"/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602C9C88-D272-43A9-B33D-B35197D4A941}"/>
                </a:ext>
              </a:extLst>
            </p:cNvPr>
            <p:cNvSpPr txBox="1"/>
            <p:nvPr/>
          </p:nvSpPr>
          <p:spPr>
            <a:xfrm rot="17950569">
              <a:off x="1980242" y="4290213"/>
              <a:ext cx="5002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Var p</a:t>
              </a:r>
              <a:endParaRPr lang="fr-FR" dirty="0"/>
            </a:p>
          </p:txBody>
        </p: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4174E1A5-086D-4FDB-B701-AE0FC40FF59F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59" y="4659820"/>
              <a:ext cx="0" cy="2984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819FCCE6-35AF-4155-9106-9092315CB6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61628" y="4672378"/>
              <a:ext cx="4146" cy="1837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4510D15D-D0E7-4D5E-B491-ACE202145C91}"/>
                </a:ext>
              </a:extLst>
            </p:cNvPr>
            <p:cNvCxnSpPr>
              <a:cxnSpLocks/>
            </p:cNvCxnSpPr>
            <p:nvPr/>
          </p:nvCxnSpPr>
          <p:spPr>
            <a:xfrm>
              <a:off x="2282529" y="4659820"/>
              <a:ext cx="0" cy="196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B31ED252-7394-4609-8E1B-457FBB542562}"/>
                </a:ext>
              </a:extLst>
            </p:cNvPr>
            <p:cNvSpPr txBox="1"/>
            <p:nvPr/>
          </p:nvSpPr>
          <p:spPr>
            <a:xfrm>
              <a:off x="785460" y="4900348"/>
              <a:ext cx="21645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err="1"/>
                <a:t>Smoothing</a:t>
              </a:r>
              <a:r>
                <a:rPr lang="fr-FR" sz="1600" dirty="0"/>
                <a:t> + </a:t>
              </a:r>
              <a:r>
                <a:rPr lang="fr-FR" sz="1600" b="1" dirty="0"/>
                <a:t>fPCA</a:t>
              </a:r>
              <a:r>
                <a:rPr lang="fr-FR" sz="1600" b="1" baseline="30000" dirty="0"/>
                <a:t>1</a:t>
              </a:r>
              <a:endParaRPr lang="fr-FR" b="1" baseline="30000" dirty="0"/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16210039-4465-40A2-A806-9BA15BE528EE}"/>
                </a:ext>
              </a:extLst>
            </p:cNvPr>
            <p:cNvSpPr txBox="1"/>
            <p:nvPr/>
          </p:nvSpPr>
          <p:spPr>
            <a:xfrm>
              <a:off x="1655493" y="3615592"/>
              <a:ext cx="669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…</a:t>
              </a:r>
            </a:p>
          </p:txBody>
        </p: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03341F09-4AD0-4A73-96C0-56F56348F1C9}"/>
                </a:ext>
              </a:extLst>
            </p:cNvPr>
            <p:cNvGrpSpPr/>
            <p:nvPr/>
          </p:nvGrpSpPr>
          <p:grpSpPr>
            <a:xfrm>
              <a:off x="1440422" y="5359658"/>
              <a:ext cx="369332" cy="1089050"/>
              <a:chOff x="1440422" y="5359658"/>
              <a:chExt cx="369332" cy="108905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D7A27E80-CED4-463E-9D8B-5E745F761DB4}"/>
                  </a:ext>
                </a:extLst>
              </p:cNvPr>
              <p:cNvSpPr/>
              <p:nvPr/>
            </p:nvSpPr>
            <p:spPr>
              <a:xfrm>
                <a:off x="1545701" y="5359658"/>
                <a:ext cx="199070" cy="621437"/>
              </a:xfrm>
              <a:prstGeom prst="rect">
                <a:avLst/>
              </a:prstGeom>
              <a:solidFill>
                <a:srgbClr val="00B0F6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A6DC120A-E35E-4341-8B5E-8F4D6670B5E8}"/>
                  </a:ext>
                </a:extLst>
              </p:cNvPr>
              <p:cNvSpPr txBox="1"/>
              <p:nvPr/>
            </p:nvSpPr>
            <p:spPr>
              <a:xfrm rot="18204957">
                <a:off x="1374985" y="6013940"/>
                <a:ext cx="5002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/>
                  <a:t>fPC1 Var 1</a:t>
                </a:r>
                <a:endParaRPr lang="fr-FR" dirty="0"/>
              </a:p>
            </p:txBody>
          </p:sp>
        </p:grp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6A908E28-CA97-4CE6-BCBB-E793BB39D5ED}"/>
                </a:ext>
              </a:extLst>
            </p:cNvPr>
            <p:cNvSpPr/>
            <p:nvPr/>
          </p:nvSpPr>
          <p:spPr>
            <a:xfrm>
              <a:off x="785844" y="2168471"/>
              <a:ext cx="628796" cy="57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45" name="Graphique 44" descr="Loupe avec un remplissage uni">
              <a:extLst>
                <a:ext uri="{FF2B5EF4-FFF2-40B4-BE49-F238E27FC236}">
                  <a16:creationId xmlns:a16="http://schemas.microsoft.com/office/drawing/2014/main" id="{052EE60D-96E2-4767-82DE-489D5BF83E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11325" y="2883493"/>
              <a:ext cx="300605" cy="300605"/>
            </a:xfrm>
            <a:prstGeom prst="rect">
              <a:avLst/>
            </a:prstGeom>
          </p:spPr>
        </p:pic>
        <p:pic>
          <p:nvPicPr>
            <p:cNvPr id="46" name="Graphique 45" descr="Loupe avec un remplissage uni">
              <a:extLst>
                <a:ext uri="{FF2B5EF4-FFF2-40B4-BE49-F238E27FC236}">
                  <a16:creationId xmlns:a16="http://schemas.microsoft.com/office/drawing/2014/main" id="{415D1A20-D937-420D-9C46-6B6CB9EB0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0585" y="4726083"/>
              <a:ext cx="260004" cy="260004"/>
            </a:xfrm>
            <a:prstGeom prst="rect">
              <a:avLst/>
            </a:prstGeom>
          </p:spPr>
        </p:pic>
        <p:cxnSp>
          <p:nvCxnSpPr>
            <p:cNvPr id="47" name="Connecteur : en angle 46">
              <a:extLst>
                <a:ext uri="{FF2B5EF4-FFF2-40B4-BE49-F238E27FC236}">
                  <a16:creationId xmlns:a16="http://schemas.microsoft.com/office/drawing/2014/main" id="{321C85AA-2C2C-43E7-9BA4-689A807EC1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2302" y="4503454"/>
              <a:ext cx="3513698" cy="1384696"/>
            </a:xfrm>
            <a:prstGeom prst="bentConnector3">
              <a:avLst>
                <a:gd name="adj1" fmla="val 9977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D29493CE-586E-462C-8D93-891CF8A013B4}"/>
                </a:ext>
              </a:extLst>
            </p:cNvPr>
            <p:cNvSpPr txBox="1"/>
            <p:nvPr/>
          </p:nvSpPr>
          <p:spPr>
            <a:xfrm>
              <a:off x="5406167" y="3567756"/>
              <a:ext cx="4590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…</a:t>
              </a:r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072348DF-14FA-4964-93BD-4ECC4AED19A4}"/>
                </a:ext>
              </a:extLst>
            </p:cNvPr>
            <p:cNvSpPr txBox="1"/>
            <p:nvPr/>
          </p:nvSpPr>
          <p:spPr>
            <a:xfrm>
              <a:off x="4241917" y="4164067"/>
              <a:ext cx="1788080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/>
                <a:t>Clustering of variable </a:t>
              </a:r>
              <a:r>
                <a:rPr lang="fr-FR" sz="1100" b="1" dirty="0" err="1"/>
                <a:t>around</a:t>
              </a:r>
              <a:r>
                <a:rPr lang="fr-FR" sz="1100" b="1" dirty="0"/>
                <a:t> latent components</a:t>
              </a:r>
              <a:r>
                <a:rPr lang="fr-FR" sz="1100" b="1" baseline="30000" dirty="0"/>
                <a:t>2</a:t>
              </a:r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93C80D6A-CC46-42C3-AB23-7556C0216303}"/>
                </a:ext>
              </a:extLst>
            </p:cNvPr>
            <p:cNvSpPr txBox="1"/>
            <p:nvPr/>
          </p:nvSpPr>
          <p:spPr>
            <a:xfrm>
              <a:off x="6535194" y="3569657"/>
              <a:ext cx="4590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…</a:t>
              </a:r>
            </a:p>
          </p:txBody>
        </p:sp>
        <p:pic>
          <p:nvPicPr>
            <p:cNvPr id="51" name="Graphique 50" descr="Coche avec un remplissage uni">
              <a:extLst>
                <a:ext uri="{FF2B5EF4-FFF2-40B4-BE49-F238E27FC236}">
                  <a16:creationId xmlns:a16="http://schemas.microsoft.com/office/drawing/2014/main" id="{88C08809-8C12-40FE-8BAD-6A16042BB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854086" y="3207218"/>
              <a:ext cx="199070" cy="199070"/>
            </a:xfrm>
            <a:prstGeom prst="rect">
              <a:avLst/>
            </a:prstGeom>
          </p:spPr>
        </p:pic>
        <p:pic>
          <p:nvPicPr>
            <p:cNvPr id="52" name="Graphique 51" descr="Coche avec un remplissage uni">
              <a:extLst>
                <a:ext uri="{FF2B5EF4-FFF2-40B4-BE49-F238E27FC236}">
                  <a16:creationId xmlns:a16="http://schemas.microsoft.com/office/drawing/2014/main" id="{E06E7B07-35AE-4141-B273-6788BA618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994354" y="3172448"/>
              <a:ext cx="199070" cy="199070"/>
            </a:xfrm>
            <a:prstGeom prst="rect">
              <a:avLst/>
            </a:prstGeom>
          </p:spPr>
        </p:pic>
        <p:pic>
          <p:nvPicPr>
            <p:cNvPr id="53" name="Graphique 52" descr="Fermer avec un remplissage uni">
              <a:extLst>
                <a:ext uri="{FF2B5EF4-FFF2-40B4-BE49-F238E27FC236}">
                  <a16:creationId xmlns:a16="http://schemas.microsoft.com/office/drawing/2014/main" id="{00E78C24-12F6-4455-8774-FF04A35E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69768" y="3210285"/>
              <a:ext cx="196003" cy="196003"/>
            </a:xfrm>
            <a:prstGeom prst="rect">
              <a:avLst/>
            </a:prstGeom>
          </p:spPr>
        </p:pic>
        <p:pic>
          <p:nvPicPr>
            <p:cNvPr id="54" name="Graphique 53" descr="Fermer avec un remplissage uni">
              <a:extLst>
                <a:ext uri="{FF2B5EF4-FFF2-40B4-BE49-F238E27FC236}">
                  <a16:creationId xmlns:a16="http://schemas.microsoft.com/office/drawing/2014/main" id="{98BC6DC1-A926-4445-99EB-A2073BE27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226391" y="3175515"/>
              <a:ext cx="196003" cy="196003"/>
            </a:xfrm>
            <a:prstGeom prst="rect">
              <a:avLst/>
            </a:prstGeom>
          </p:spPr>
        </p:pic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60C2E6B-4A1C-4964-9FF9-6DFFB8398289}"/>
                </a:ext>
              </a:extLst>
            </p:cNvPr>
            <p:cNvSpPr/>
            <p:nvPr/>
          </p:nvSpPr>
          <p:spPr>
            <a:xfrm>
              <a:off x="3932808" y="2284099"/>
              <a:ext cx="270076" cy="249604"/>
            </a:xfrm>
            <a:prstGeom prst="rect">
              <a:avLst/>
            </a:prstGeom>
            <a:solidFill>
              <a:srgbClr val="00B0F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BF1960D-F7DF-4444-9F68-A97F73F47FB8}"/>
                </a:ext>
              </a:extLst>
            </p:cNvPr>
            <p:cNvSpPr/>
            <p:nvPr/>
          </p:nvSpPr>
          <p:spPr>
            <a:xfrm>
              <a:off x="4704761" y="2416875"/>
              <a:ext cx="270076" cy="249604"/>
            </a:xfrm>
            <a:prstGeom prst="rect">
              <a:avLst/>
            </a:prstGeom>
            <a:solidFill>
              <a:srgbClr val="A3A5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032F4A2-8204-4137-B3D0-2A8709E815F7}"/>
                </a:ext>
              </a:extLst>
            </p:cNvPr>
            <p:cNvSpPr/>
            <p:nvPr/>
          </p:nvSpPr>
          <p:spPr>
            <a:xfrm>
              <a:off x="4067846" y="1756376"/>
              <a:ext cx="135038" cy="249604"/>
            </a:xfrm>
            <a:prstGeom prst="rect">
              <a:avLst/>
            </a:prstGeom>
            <a:solidFill>
              <a:srgbClr val="F8766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6DC49E5-E613-4A20-AB96-18D8C40C53B3}"/>
                </a:ext>
              </a:extLst>
            </p:cNvPr>
            <p:cNvSpPr/>
            <p:nvPr/>
          </p:nvSpPr>
          <p:spPr>
            <a:xfrm>
              <a:off x="4769685" y="1832085"/>
              <a:ext cx="270076" cy="249604"/>
            </a:xfrm>
            <a:prstGeom prst="rect">
              <a:avLst/>
            </a:prstGeom>
            <a:solidFill>
              <a:srgbClr val="E76BF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4B85CAF6-5C0B-41D9-BE3F-DD54E9163A93}"/>
                </a:ext>
              </a:extLst>
            </p:cNvPr>
            <p:cNvSpPr/>
            <p:nvPr/>
          </p:nvSpPr>
          <p:spPr>
            <a:xfrm>
              <a:off x="5443640" y="2167636"/>
              <a:ext cx="270076" cy="249604"/>
            </a:xfrm>
            <a:prstGeom prst="rect">
              <a:avLst/>
            </a:prstGeom>
            <a:solidFill>
              <a:srgbClr val="00BF7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0" name="Connecteur droit avec flèche 59">
              <a:extLst>
                <a:ext uri="{FF2B5EF4-FFF2-40B4-BE49-F238E27FC236}">
                  <a16:creationId xmlns:a16="http://schemas.microsoft.com/office/drawing/2014/main" id="{01FF0C73-564A-4474-BD64-EE396E112F6C}"/>
                </a:ext>
              </a:extLst>
            </p:cNvPr>
            <p:cNvCxnSpPr/>
            <p:nvPr/>
          </p:nvCxnSpPr>
          <p:spPr>
            <a:xfrm flipV="1">
              <a:off x="5713716" y="2632676"/>
              <a:ext cx="0" cy="46042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2696B740-FF30-4933-AC05-493B0C59A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77651" y="1998567"/>
              <a:ext cx="46994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4F41092-EFA7-48B2-A41B-C47733D95AA3}"/>
                </a:ext>
              </a:extLst>
            </p:cNvPr>
            <p:cNvSpPr txBox="1"/>
            <p:nvPr/>
          </p:nvSpPr>
          <p:spPr>
            <a:xfrm>
              <a:off x="6701315" y="1343170"/>
              <a:ext cx="17880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b="1" dirty="0"/>
                <a:t>GSCA</a:t>
              </a:r>
              <a:r>
                <a:rPr lang="fr-FR" sz="1100" b="1" baseline="30000" dirty="0"/>
                <a:t>3</a:t>
              </a:r>
            </a:p>
          </p:txBody>
        </p: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668A43B-D822-43A7-A7AD-63959ABE91F2}"/>
                </a:ext>
              </a:extLst>
            </p:cNvPr>
            <p:cNvSpPr txBox="1"/>
            <p:nvPr/>
          </p:nvSpPr>
          <p:spPr>
            <a:xfrm rot="1286468">
              <a:off x="2393676" y="4169183"/>
              <a:ext cx="6728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 err="1"/>
                <a:t>Year</a:t>
              </a:r>
              <a:r>
                <a:rPr lang="fr-FR" sz="900" dirty="0"/>
                <a:t> 1</a:t>
              </a:r>
              <a:endParaRPr lang="fr-FR" dirty="0"/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04979ABF-1EAD-4E30-87EF-742781CD3A9E}"/>
                </a:ext>
              </a:extLst>
            </p:cNvPr>
            <p:cNvSpPr txBox="1"/>
            <p:nvPr/>
          </p:nvSpPr>
          <p:spPr>
            <a:xfrm rot="1286468">
              <a:off x="2595325" y="3982856"/>
              <a:ext cx="6728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 err="1"/>
                <a:t>Year</a:t>
              </a:r>
              <a:r>
                <a:rPr lang="fr-FR" sz="900" dirty="0"/>
                <a:t> k</a:t>
              </a:r>
              <a:endParaRPr lang="fr-FR" dirty="0"/>
            </a:p>
          </p:txBody>
        </p: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FEBE75FB-EC9E-4D42-BA7E-AA4F9EE0B7BC}"/>
                </a:ext>
              </a:extLst>
            </p:cNvPr>
            <p:cNvSpPr txBox="1"/>
            <p:nvPr/>
          </p:nvSpPr>
          <p:spPr>
            <a:xfrm rot="1286468">
              <a:off x="2669006" y="4105807"/>
              <a:ext cx="6728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…</a:t>
              </a:r>
              <a:endParaRPr lang="fr-FR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58A5E48-6A4F-44D5-9CBC-A1A6F4D6BAEC}"/>
                </a:ext>
              </a:extLst>
            </p:cNvPr>
            <p:cNvSpPr/>
            <p:nvPr/>
          </p:nvSpPr>
          <p:spPr>
            <a:xfrm>
              <a:off x="4769685" y="3429000"/>
              <a:ext cx="2177906" cy="691980"/>
            </a:xfrm>
            <a:prstGeom prst="rect">
              <a:avLst/>
            </a:prstGeom>
            <a:solidFill>
              <a:srgbClr val="00B0F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9E5964DB-3933-491F-A394-6EF31734AEE3}"/>
                </a:ext>
              </a:extLst>
            </p:cNvPr>
            <p:cNvCxnSpPr/>
            <p:nvPr/>
          </p:nvCxnSpPr>
          <p:spPr>
            <a:xfrm>
              <a:off x="5013872" y="3429000"/>
              <a:ext cx="0" cy="7019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104AFA84-54C0-423C-8C32-D97CA18AD93C}"/>
                </a:ext>
              </a:extLst>
            </p:cNvPr>
            <p:cNvCxnSpPr>
              <a:cxnSpLocks/>
            </p:cNvCxnSpPr>
            <p:nvPr/>
          </p:nvCxnSpPr>
          <p:spPr>
            <a:xfrm>
              <a:off x="5265771" y="3449123"/>
              <a:ext cx="0" cy="7019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BF0E773A-917B-463E-A909-7ADA05064833}"/>
                </a:ext>
              </a:extLst>
            </p:cNvPr>
            <p:cNvCxnSpPr/>
            <p:nvPr/>
          </p:nvCxnSpPr>
          <p:spPr>
            <a:xfrm>
              <a:off x="5939405" y="3429000"/>
              <a:ext cx="0" cy="7019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onnecteur droit 69">
              <a:extLst>
                <a:ext uri="{FF2B5EF4-FFF2-40B4-BE49-F238E27FC236}">
                  <a16:creationId xmlns:a16="http://schemas.microsoft.com/office/drawing/2014/main" id="{8F9A2A9E-1D52-45F8-87B7-97B263072E7A}"/>
                </a:ext>
              </a:extLst>
            </p:cNvPr>
            <p:cNvCxnSpPr/>
            <p:nvPr/>
          </p:nvCxnSpPr>
          <p:spPr>
            <a:xfrm>
              <a:off x="6193424" y="3406288"/>
              <a:ext cx="0" cy="7019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B6AD6F34-C63C-4768-90CD-AFBEAE4AA5BC}"/>
                </a:ext>
              </a:extLst>
            </p:cNvPr>
            <p:cNvSpPr txBox="1"/>
            <p:nvPr/>
          </p:nvSpPr>
          <p:spPr>
            <a:xfrm>
              <a:off x="5429979" y="3560622"/>
              <a:ext cx="534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…</a:t>
              </a:r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30BC7FD7-8B31-4D3A-BB27-4CB5DC6D1D22}"/>
                </a:ext>
              </a:extLst>
            </p:cNvPr>
            <p:cNvSpPr txBox="1"/>
            <p:nvPr/>
          </p:nvSpPr>
          <p:spPr>
            <a:xfrm>
              <a:off x="6467072" y="3544383"/>
              <a:ext cx="534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…</a:t>
              </a:r>
            </a:p>
          </p:txBody>
        </p:sp>
        <p:cxnSp>
          <p:nvCxnSpPr>
            <p:cNvPr id="73" name="Connecteur droit 72">
              <a:extLst>
                <a:ext uri="{FF2B5EF4-FFF2-40B4-BE49-F238E27FC236}">
                  <a16:creationId xmlns:a16="http://schemas.microsoft.com/office/drawing/2014/main" id="{193710FC-2670-4BE7-A5E9-A81DF2CA81C3}"/>
                </a:ext>
              </a:extLst>
            </p:cNvPr>
            <p:cNvCxnSpPr/>
            <p:nvPr/>
          </p:nvCxnSpPr>
          <p:spPr>
            <a:xfrm>
              <a:off x="6422394" y="3429000"/>
              <a:ext cx="0" cy="7019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ZoneTexte 73">
              <a:extLst>
                <a:ext uri="{FF2B5EF4-FFF2-40B4-BE49-F238E27FC236}">
                  <a16:creationId xmlns:a16="http://schemas.microsoft.com/office/drawing/2014/main" id="{1A7BEDF6-55F9-477A-BC3E-5A12DCCBE5DE}"/>
                </a:ext>
              </a:extLst>
            </p:cNvPr>
            <p:cNvSpPr txBox="1"/>
            <p:nvPr/>
          </p:nvSpPr>
          <p:spPr>
            <a:xfrm>
              <a:off x="2115752" y="2495224"/>
              <a:ext cx="16544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3D blocks (</a:t>
              </a:r>
              <a:r>
                <a:rPr lang="fr-FR" sz="900" dirty="0" err="1"/>
                <a:t>regions</a:t>
              </a:r>
              <a:r>
                <a:rPr lang="fr-FR" sz="900" dirty="0"/>
                <a:t>*variable*time)</a:t>
              </a:r>
            </a:p>
          </p:txBody>
        </p:sp>
        <p:sp>
          <p:nvSpPr>
            <p:cNvPr id="75" name="ZoneTexte 74">
              <a:extLst>
                <a:ext uri="{FF2B5EF4-FFF2-40B4-BE49-F238E27FC236}">
                  <a16:creationId xmlns:a16="http://schemas.microsoft.com/office/drawing/2014/main" id="{1D1795C7-A616-45A5-B830-68BB4959FD13}"/>
                </a:ext>
              </a:extLst>
            </p:cNvPr>
            <p:cNvSpPr txBox="1"/>
            <p:nvPr/>
          </p:nvSpPr>
          <p:spPr>
            <a:xfrm>
              <a:off x="5725875" y="2630064"/>
              <a:ext cx="165440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2D blocks (</a:t>
              </a:r>
              <a:r>
                <a:rPr lang="fr-FR" sz="900" dirty="0" err="1"/>
                <a:t>regions</a:t>
              </a:r>
              <a:r>
                <a:rPr lang="fr-FR" sz="900" dirty="0"/>
                <a:t>*fPC1)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465BFCD-E2C0-4F0B-97C1-FAD860669415}"/>
                </a:ext>
              </a:extLst>
            </p:cNvPr>
            <p:cNvSpPr/>
            <p:nvPr/>
          </p:nvSpPr>
          <p:spPr>
            <a:xfrm>
              <a:off x="10088739" y="1898469"/>
              <a:ext cx="135038" cy="249604"/>
            </a:xfrm>
            <a:prstGeom prst="rect">
              <a:avLst/>
            </a:prstGeom>
            <a:solidFill>
              <a:srgbClr val="F8766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CB01B8E-CA9B-407A-B7F9-6026A7C70473}"/>
                </a:ext>
              </a:extLst>
            </p:cNvPr>
            <p:cNvSpPr/>
            <p:nvPr/>
          </p:nvSpPr>
          <p:spPr>
            <a:xfrm>
              <a:off x="7499646" y="1847641"/>
              <a:ext cx="270076" cy="249604"/>
            </a:xfrm>
            <a:prstGeom prst="rect">
              <a:avLst/>
            </a:prstGeom>
            <a:solidFill>
              <a:srgbClr val="E76BF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3F4F811-FC42-4BF3-9BFD-AA041DBE9D03}"/>
                </a:ext>
              </a:extLst>
            </p:cNvPr>
            <p:cNvSpPr/>
            <p:nvPr/>
          </p:nvSpPr>
          <p:spPr>
            <a:xfrm>
              <a:off x="8023290" y="2423177"/>
              <a:ext cx="270076" cy="249604"/>
            </a:xfrm>
            <a:prstGeom prst="rect">
              <a:avLst/>
            </a:prstGeom>
            <a:solidFill>
              <a:srgbClr val="00B0F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C7848DAD-DF2C-4311-B7C6-5CDCF723DA04}"/>
                </a:ext>
              </a:extLst>
            </p:cNvPr>
            <p:cNvSpPr/>
            <p:nvPr/>
          </p:nvSpPr>
          <p:spPr>
            <a:xfrm>
              <a:off x="8368605" y="1826430"/>
              <a:ext cx="270076" cy="249604"/>
            </a:xfrm>
            <a:prstGeom prst="rect">
              <a:avLst/>
            </a:prstGeom>
            <a:solidFill>
              <a:srgbClr val="00BF7D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9A2F1EF-079A-45DB-BCC5-4AA5F755D2ED}"/>
                </a:ext>
              </a:extLst>
            </p:cNvPr>
            <p:cNvSpPr/>
            <p:nvPr/>
          </p:nvSpPr>
          <p:spPr>
            <a:xfrm>
              <a:off x="9227647" y="1931788"/>
              <a:ext cx="270076" cy="249604"/>
            </a:xfrm>
            <a:prstGeom prst="rect">
              <a:avLst/>
            </a:prstGeom>
            <a:solidFill>
              <a:srgbClr val="A3A5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81" name="Connecteur droit avec flèche 80">
              <a:extLst>
                <a:ext uri="{FF2B5EF4-FFF2-40B4-BE49-F238E27FC236}">
                  <a16:creationId xmlns:a16="http://schemas.microsoft.com/office/drawing/2014/main" id="{EEAE4AB1-0CB5-4A1E-B42D-EB3DDAE30CF1}"/>
                </a:ext>
              </a:extLst>
            </p:cNvPr>
            <p:cNvCxnSpPr/>
            <p:nvPr/>
          </p:nvCxnSpPr>
          <p:spPr>
            <a:xfrm>
              <a:off x="7623313" y="2167636"/>
              <a:ext cx="318052" cy="249239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eur droit avec flèche 81">
              <a:extLst>
                <a:ext uri="{FF2B5EF4-FFF2-40B4-BE49-F238E27FC236}">
                  <a16:creationId xmlns:a16="http://schemas.microsoft.com/office/drawing/2014/main" id="{70B19FC3-123F-4A13-BF34-783B5AB60EE2}"/>
                </a:ext>
              </a:extLst>
            </p:cNvPr>
            <p:cNvCxnSpPr>
              <a:cxnSpLocks/>
            </p:cNvCxnSpPr>
            <p:nvPr/>
          </p:nvCxnSpPr>
          <p:spPr>
            <a:xfrm>
              <a:off x="7824519" y="1942882"/>
              <a:ext cx="468847" cy="508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247DD1DE-02F5-485D-AC5A-1EE101379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7194" y="2145056"/>
              <a:ext cx="210614" cy="223128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Connecteur : en angle 83">
              <a:extLst>
                <a:ext uri="{FF2B5EF4-FFF2-40B4-BE49-F238E27FC236}">
                  <a16:creationId xmlns:a16="http://schemas.microsoft.com/office/drawing/2014/main" id="{6CA8ECD1-0CD6-44C0-A8C4-B27899FDB0C4}"/>
                </a:ext>
              </a:extLst>
            </p:cNvPr>
            <p:cNvCxnSpPr>
              <a:stCxn id="77" idx="0"/>
              <a:endCxn id="76" idx="0"/>
            </p:cNvCxnSpPr>
            <p:nvPr/>
          </p:nvCxnSpPr>
          <p:spPr>
            <a:xfrm rot="16200000" flipH="1">
              <a:off x="8870057" y="612268"/>
              <a:ext cx="50828" cy="2521574"/>
            </a:xfrm>
            <a:prstGeom prst="bentConnector3">
              <a:avLst>
                <a:gd name="adj1" fmla="val -449752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eur : en angle 84">
              <a:extLst>
                <a:ext uri="{FF2B5EF4-FFF2-40B4-BE49-F238E27FC236}">
                  <a16:creationId xmlns:a16="http://schemas.microsoft.com/office/drawing/2014/main" id="{0F4A9731-462B-48D1-818C-73690769304F}"/>
                </a:ext>
              </a:extLst>
            </p:cNvPr>
            <p:cNvCxnSpPr>
              <a:cxnSpLocks/>
              <a:stCxn id="78" idx="2"/>
              <a:endCxn id="76" idx="2"/>
            </p:cNvCxnSpPr>
            <p:nvPr/>
          </p:nvCxnSpPr>
          <p:spPr>
            <a:xfrm rot="5400000" flipH="1" flipV="1">
              <a:off x="8894939" y="1411462"/>
              <a:ext cx="524708" cy="1997930"/>
            </a:xfrm>
            <a:prstGeom prst="bentConnector3">
              <a:avLst>
                <a:gd name="adj1" fmla="val -1704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Connecteur : en angle 85">
              <a:extLst>
                <a:ext uri="{FF2B5EF4-FFF2-40B4-BE49-F238E27FC236}">
                  <a16:creationId xmlns:a16="http://schemas.microsoft.com/office/drawing/2014/main" id="{F3CF17CD-59B4-4A0B-BEE6-E521BA7A7167}"/>
                </a:ext>
              </a:extLst>
            </p:cNvPr>
            <p:cNvCxnSpPr>
              <a:stCxn id="79" idx="2"/>
              <a:endCxn id="76" idx="2"/>
            </p:cNvCxnSpPr>
            <p:nvPr/>
          </p:nvCxnSpPr>
          <p:spPr>
            <a:xfrm rot="16200000" flipH="1">
              <a:off x="9293931" y="1285745"/>
              <a:ext cx="72039" cy="1652615"/>
            </a:xfrm>
            <a:prstGeom prst="bentConnector3">
              <a:avLst>
                <a:gd name="adj1" fmla="val 41732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Connecteur droit avec flèche 86">
              <a:extLst>
                <a:ext uri="{FF2B5EF4-FFF2-40B4-BE49-F238E27FC236}">
                  <a16:creationId xmlns:a16="http://schemas.microsoft.com/office/drawing/2014/main" id="{7519F058-58B2-478D-8628-3334EF0A6D3A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9521280" y="2017265"/>
              <a:ext cx="567459" cy="60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Connecteur : en arc 87">
              <a:extLst>
                <a:ext uri="{FF2B5EF4-FFF2-40B4-BE49-F238E27FC236}">
                  <a16:creationId xmlns:a16="http://schemas.microsoft.com/office/drawing/2014/main" id="{B09D0099-DF33-43A3-950E-680588EE4BA5}"/>
                </a:ext>
              </a:extLst>
            </p:cNvPr>
            <p:cNvCxnSpPr>
              <a:stCxn id="77" idx="0"/>
              <a:endCxn id="80" idx="0"/>
            </p:cNvCxnSpPr>
            <p:nvPr/>
          </p:nvCxnSpPr>
          <p:spPr>
            <a:xfrm rot="16200000" flipH="1">
              <a:off x="8456610" y="1025714"/>
              <a:ext cx="84147" cy="1728001"/>
            </a:xfrm>
            <a:prstGeom prst="curvedConnector3">
              <a:avLst>
                <a:gd name="adj1" fmla="val -27166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Connecteur droit avec flèche 88">
              <a:extLst>
                <a:ext uri="{FF2B5EF4-FFF2-40B4-BE49-F238E27FC236}">
                  <a16:creationId xmlns:a16="http://schemas.microsoft.com/office/drawing/2014/main" id="{4869A485-C644-4AA9-B2A8-C71E6CC2B5A0}"/>
                </a:ext>
              </a:extLst>
            </p:cNvPr>
            <p:cNvCxnSpPr>
              <a:cxnSpLocks/>
              <a:stCxn id="79" idx="3"/>
              <a:endCxn id="80" idx="1"/>
            </p:cNvCxnSpPr>
            <p:nvPr/>
          </p:nvCxnSpPr>
          <p:spPr>
            <a:xfrm>
              <a:off x="8638681" y="1951232"/>
              <a:ext cx="588966" cy="1053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974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How to </a:t>
            </a:r>
            <a:r>
              <a:rPr lang="fr-FR" sz="2800" dirty="0" err="1"/>
              <a:t>summarize</a:t>
            </a:r>
            <a:r>
              <a:rPr lang="fr-FR" sz="2800" dirty="0"/>
              <a:t> temporal information ? 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6394AC9-F6DF-4BD7-A871-AE2CB5EF3C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73" y="745406"/>
            <a:ext cx="4389121" cy="3511296"/>
          </a:xfrm>
          <a:prstGeom prst="rect">
            <a:avLst/>
          </a:prstGeom>
        </p:spPr>
      </p:pic>
      <p:sp>
        <p:nvSpPr>
          <p:cNvPr id="6" name="Flèche : bas 5">
            <a:extLst>
              <a:ext uri="{FF2B5EF4-FFF2-40B4-BE49-F238E27FC236}">
                <a16:creationId xmlns:a16="http://schemas.microsoft.com/office/drawing/2014/main" id="{1D143A1D-05D8-4E77-9951-AFB93A3086FC}"/>
              </a:ext>
            </a:extLst>
          </p:cNvPr>
          <p:cNvSpPr/>
          <p:nvPr/>
        </p:nvSpPr>
        <p:spPr>
          <a:xfrm rot="16200000">
            <a:off x="5063404" y="1419699"/>
            <a:ext cx="676656" cy="174565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E3ACC9B-B96C-4260-8B51-C284C6620D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7828" y="745406"/>
            <a:ext cx="4389120" cy="351129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5E80EBA-3F01-444E-B7CB-61634128CB53}"/>
              </a:ext>
            </a:extLst>
          </p:cNvPr>
          <p:cNvSpPr/>
          <p:nvPr/>
        </p:nvSpPr>
        <p:spPr>
          <a:xfrm>
            <a:off x="4709160" y="745406"/>
            <a:ext cx="1565402" cy="11108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0A4E77-26DF-4F9E-8FD2-6335972B909A}"/>
              </a:ext>
            </a:extLst>
          </p:cNvPr>
          <p:cNvSpPr txBox="1"/>
          <p:nvPr/>
        </p:nvSpPr>
        <p:spPr>
          <a:xfrm>
            <a:off x="4760301" y="769711"/>
            <a:ext cx="14739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u="sng" dirty="0"/>
              <a:t>Projection B-</a:t>
            </a:r>
            <a:r>
              <a:rPr lang="fr-FR" sz="1000" u="sng" dirty="0" err="1"/>
              <a:t>spline</a:t>
            </a:r>
            <a:r>
              <a:rPr lang="fr-FR" sz="1000" u="sng" dirty="0"/>
              <a:t> basis</a:t>
            </a:r>
            <a:br>
              <a:rPr lang="fr-FR" sz="1000" u="sng" dirty="0"/>
            </a:br>
            <a:endParaRPr lang="fr-FR" sz="1000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/>
              <a:t>Local </a:t>
            </a:r>
            <a:r>
              <a:rPr lang="fr-FR" sz="1000" dirty="0" err="1"/>
              <a:t>polynomials</a:t>
            </a:r>
            <a:endParaRPr lang="fr-F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 err="1"/>
              <a:t>Smoothed</a:t>
            </a:r>
            <a:r>
              <a:rPr lang="fr-FR" sz="1000" dirty="0"/>
              <a:t> </a:t>
            </a:r>
            <a:r>
              <a:rPr lang="fr-FR" sz="1000" dirty="0" err="1"/>
              <a:t>function</a:t>
            </a:r>
            <a:endParaRPr lang="fr-FR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7740A1-C507-4413-85C6-7ADC5F2F3083}"/>
              </a:ext>
            </a:extLst>
          </p:cNvPr>
          <p:cNvSpPr/>
          <p:nvPr/>
        </p:nvSpPr>
        <p:spPr>
          <a:xfrm>
            <a:off x="4599432" y="2834640"/>
            <a:ext cx="1929384" cy="11075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A4F0634-9881-49C2-9353-8F4DD7DE2DAB}"/>
              </a:ext>
            </a:extLst>
          </p:cNvPr>
          <p:cNvSpPr txBox="1"/>
          <p:nvPr/>
        </p:nvSpPr>
        <p:spPr>
          <a:xfrm>
            <a:off x="4660392" y="2834640"/>
            <a:ext cx="1753276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u="sng" dirty="0"/>
              <a:t>Rules</a:t>
            </a:r>
          </a:p>
          <a:p>
            <a:pPr algn="ctr"/>
            <a:endParaRPr lang="fr-FR" sz="900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900" dirty="0" err="1"/>
              <a:t>Order</a:t>
            </a:r>
            <a:r>
              <a:rPr lang="fr-FR" sz="900" dirty="0"/>
              <a:t> m : max </a:t>
            </a:r>
            <a:r>
              <a:rPr lang="fr-FR" sz="900" dirty="0" err="1"/>
              <a:t>polynomes</a:t>
            </a:r>
            <a:r>
              <a:rPr lang="fr-FR" sz="900" dirty="0"/>
              <a:t> </a:t>
            </a:r>
            <a:r>
              <a:rPr lang="fr-FR" sz="900" dirty="0" err="1"/>
              <a:t>degree</a:t>
            </a:r>
            <a:r>
              <a:rPr lang="fr-FR" sz="900" dirty="0"/>
              <a:t> = m-1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900" dirty="0"/>
              <a:t>K basis </a:t>
            </a:r>
            <a:r>
              <a:rPr lang="fr-FR" sz="900" dirty="0" err="1"/>
              <a:t>functions</a:t>
            </a:r>
            <a:r>
              <a:rPr lang="fr-FR" sz="900" dirty="0"/>
              <a:t>: </a:t>
            </a:r>
            <a:br>
              <a:rPr lang="fr-FR" sz="900" dirty="0"/>
            </a:br>
            <a:r>
              <a:rPr lang="fr-FR" sz="900" b="1" dirty="0"/>
              <a:t>m &lt; K &lt; n </a:t>
            </a:r>
            <a:br>
              <a:rPr lang="fr-FR" sz="900" dirty="0"/>
            </a:br>
            <a:r>
              <a:rPr lang="fr-FR" sz="900" dirty="0" err="1"/>
              <a:t>here</a:t>
            </a:r>
            <a:r>
              <a:rPr lang="fr-FR" sz="900" dirty="0"/>
              <a:t> K = 5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BDFF0ED-1288-4D63-A7AE-A8E3DAF6DF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2" r="8752"/>
          <a:stretch/>
        </p:blipFill>
        <p:spPr>
          <a:xfrm>
            <a:off x="1883664" y="4483034"/>
            <a:ext cx="6530769" cy="2374966"/>
          </a:xfrm>
          <a:prstGeom prst="rect">
            <a:avLst/>
          </a:prstGeom>
        </p:spPr>
      </p:pic>
      <p:sp>
        <p:nvSpPr>
          <p:cNvPr id="16" name="Flèche : virage 15">
            <a:extLst>
              <a:ext uri="{FF2B5EF4-FFF2-40B4-BE49-F238E27FC236}">
                <a16:creationId xmlns:a16="http://schemas.microsoft.com/office/drawing/2014/main" id="{8EB22C6C-8D16-40D1-B785-30DC70146809}"/>
              </a:ext>
            </a:extLst>
          </p:cNvPr>
          <p:cNvSpPr/>
          <p:nvPr/>
        </p:nvSpPr>
        <p:spPr>
          <a:xfrm rot="10800000">
            <a:off x="7607808" y="4486299"/>
            <a:ext cx="1344168" cy="1411581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F881DE-C7D0-434F-8C14-3592C9F1637A}"/>
              </a:ext>
            </a:extLst>
          </p:cNvPr>
          <p:cNvSpPr/>
          <p:nvPr/>
        </p:nvSpPr>
        <p:spPr>
          <a:xfrm>
            <a:off x="9418320" y="4983480"/>
            <a:ext cx="1865376" cy="10008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E708652-5CF4-4726-9EBB-D862CB4B2343}"/>
              </a:ext>
            </a:extLst>
          </p:cNvPr>
          <p:cNvSpPr txBox="1"/>
          <p:nvPr/>
        </p:nvSpPr>
        <p:spPr>
          <a:xfrm>
            <a:off x="9418320" y="5084064"/>
            <a:ext cx="1865376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b="1" dirty="0" err="1"/>
              <a:t>fPCA</a:t>
            </a:r>
            <a:r>
              <a:rPr lang="fr-FR" sz="1050" dirty="0"/>
              <a:t> </a:t>
            </a:r>
            <a:r>
              <a:rPr lang="fr-FR" sz="1050" dirty="0" err="1"/>
              <a:t>permits</a:t>
            </a:r>
            <a:r>
              <a:rPr lang="fr-FR" sz="1050" dirty="0"/>
              <a:t> to </a:t>
            </a:r>
            <a:r>
              <a:rPr lang="fr-FR" sz="1050" dirty="0" err="1"/>
              <a:t>summarize</a:t>
            </a:r>
            <a:r>
              <a:rPr lang="fr-FR" sz="1050" dirty="0"/>
              <a:t> the main </a:t>
            </a:r>
            <a:r>
              <a:rPr lang="fr-FR" sz="1050" dirty="0" err="1"/>
              <a:t>functional</a:t>
            </a:r>
            <a:r>
              <a:rPr lang="fr-FR" sz="1050" dirty="0"/>
              <a:t> mode of variation </a:t>
            </a:r>
            <a:r>
              <a:rPr lang="fr-FR" sz="1050" dirty="0" err="1"/>
              <a:t>into</a:t>
            </a:r>
            <a:r>
              <a:rPr lang="fr-FR" sz="1050" dirty="0"/>
              <a:t> a </a:t>
            </a:r>
            <a:r>
              <a:rPr lang="fr-FR" sz="1050" dirty="0" err="1"/>
              <a:t>vector</a:t>
            </a:r>
            <a:r>
              <a:rPr lang="fr-FR" sz="105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050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251139D3-E1B8-456F-A6EB-B0BD98F766FE}"/>
              </a:ext>
            </a:extLst>
          </p:cNvPr>
          <p:cNvGrpSpPr/>
          <p:nvPr/>
        </p:nvGrpSpPr>
        <p:grpSpPr>
          <a:xfrm>
            <a:off x="365760" y="5554451"/>
            <a:ext cx="1746504" cy="1108856"/>
            <a:chOff x="137160" y="5084064"/>
            <a:chExt cx="1746504" cy="1108856"/>
          </a:xfrm>
        </p:grpSpPr>
        <p:sp>
          <p:nvSpPr>
            <p:cNvPr id="19" name="Vague 18">
              <a:extLst>
                <a:ext uri="{FF2B5EF4-FFF2-40B4-BE49-F238E27FC236}">
                  <a16:creationId xmlns:a16="http://schemas.microsoft.com/office/drawing/2014/main" id="{3B05EBFE-F50F-4B70-BBF0-CBFF4F8CEE21}"/>
                </a:ext>
              </a:extLst>
            </p:cNvPr>
            <p:cNvSpPr/>
            <p:nvPr/>
          </p:nvSpPr>
          <p:spPr>
            <a:xfrm>
              <a:off x="137160" y="5084064"/>
              <a:ext cx="1746504" cy="1108856"/>
            </a:xfrm>
            <a:prstGeom prst="wav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B75D91C2-A1DC-4E80-90AA-69B5C220E771}"/>
                </a:ext>
              </a:extLst>
            </p:cNvPr>
            <p:cNvSpPr txBox="1"/>
            <p:nvPr/>
          </p:nvSpPr>
          <p:spPr>
            <a:xfrm>
              <a:off x="267462" y="5315326"/>
              <a:ext cx="15316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No time mode </a:t>
              </a:r>
              <a:r>
                <a:rPr lang="fr-FR" sz="900" dirty="0" err="1"/>
                <a:t>anymore</a:t>
              </a:r>
              <a:r>
                <a:rPr lang="fr-FR" sz="900" dirty="0"/>
                <a:t> </a:t>
              </a:r>
              <a:r>
                <a:rPr lang="fr-FR" sz="900" dirty="0">
                  <a:sym typeface="Wingdings" panose="05000000000000000000" pitchFamily="2" charset="2"/>
                </a:rPr>
                <a:t> </a:t>
              </a:r>
              <a:r>
                <a:rPr lang="fr-FR" sz="900" dirty="0" err="1">
                  <a:sym typeface="Wingdings" panose="05000000000000000000" pitchFamily="2" charset="2"/>
                </a:rPr>
                <a:t>vector</a:t>
              </a:r>
              <a:r>
                <a:rPr lang="fr-FR" sz="900" dirty="0">
                  <a:sym typeface="Wingdings" panose="05000000000000000000" pitchFamily="2" charset="2"/>
                </a:rPr>
                <a:t> of </a:t>
              </a:r>
              <a:r>
                <a:rPr lang="fr-FR" sz="900" b="1" dirty="0" err="1">
                  <a:sym typeface="Wingdings" panose="05000000000000000000" pitchFamily="2" charset="2"/>
                </a:rPr>
                <a:t>independant</a:t>
              </a:r>
              <a:r>
                <a:rPr lang="fr-FR" sz="900" b="1" dirty="0">
                  <a:sym typeface="Wingdings" panose="05000000000000000000" pitchFamily="2" charset="2"/>
                </a:rPr>
                <a:t> observations</a:t>
              </a:r>
              <a:endParaRPr lang="fr-FR" b="1" dirty="0"/>
            </a:p>
          </p:txBody>
        </p: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463F2A5F-EF06-4425-BBE5-CBAE1F7482F8}"/>
              </a:ext>
            </a:extLst>
          </p:cNvPr>
          <p:cNvSpPr txBox="1"/>
          <p:nvPr/>
        </p:nvSpPr>
        <p:spPr>
          <a:xfrm>
            <a:off x="1202097" y="4456545"/>
            <a:ext cx="1363134" cy="923330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98,9% of </a:t>
            </a:r>
            <a:r>
              <a:rPr lang="fr-FR" dirty="0" err="1"/>
              <a:t>explained</a:t>
            </a:r>
            <a:r>
              <a:rPr lang="fr-FR" dirty="0"/>
              <a:t> variance</a:t>
            </a:r>
          </a:p>
        </p:txBody>
      </p:sp>
    </p:spTree>
    <p:extLst>
      <p:ext uri="{BB962C8B-B14F-4D97-AF65-F5344CB8AC3E}">
        <p14:creationId xmlns:p14="http://schemas.microsoft.com/office/powerpoint/2010/main" val="1070714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How to </a:t>
            </a:r>
            <a:r>
              <a:rPr lang="fr-FR" sz="2800" dirty="0" err="1"/>
              <a:t>remove</a:t>
            </a:r>
            <a:r>
              <a:rPr lang="fr-FR" sz="2800" dirty="0"/>
              <a:t> </a:t>
            </a:r>
            <a:r>
              <a:rPr lang="fr-FR" sz="2800" dirty="0" err="1"/>
              <a:t>redundancy</a:t>
            </a:r>
            <a:r>
              <a:rPr lang="fr-FR" sz="2800" dirty="0"/>
              <a:t> </a:t>
            </a:r>
            <a:r>
              <a:rPr lang="fr-FR" sz="2800" dirty="0" err="1"/>
              <a:t>within</a:t>
            </a:r>
            <a:r>
              <a:rPr lang="fr-FR" sz="2800" dirty="0"/>
              <a:t> a block ?</a:t>
            </a:r>
            <a:endParaRPr lang="fr-FR" dirty="0"/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ADCE6214-28BE-4DC6-9782-7D71123F95F4}"/>
              </a:ext>
            </a:extLst>
          </p:cNvPr>
          <p:cNvGrpSpPr/>
          <p:nvPr/>
        </p:nvGrpSpPr>
        <p:grpSpPr>
          <a:xfrm>
            <a:off x="6620082" y="907385"/>
            <a:ext cx="3841603" cy="3193575"/>
            <a:chOff x="596802" y="990010"/>
            <a:chExt cx="3841603" cy="3193575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2CED8148-35AC-41DF-B2B3-DA6BC7FAF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802" y="1281823"/>
              <a:ext cx="3841603" cy="2901762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718BAC26-F4A2-4650-A390-79346F2D453A}"/>
                </a:ext>
              </a:extLst>
            </p:cNvPr>
            <p:cNvSpPr txBox="1"/>
            <p:nvPr/>
          </p:nvSpPr>
          <p:spPr>
            <a:xfrm>
              <a:off x="917404" y="990010"/>
              <a:ext cx="3200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Block X (K=2, p=9)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E8963C3-AF49-40DB-AD75-A5D97270EF8F}"/>
                </a:ext>
              </a:extLst>
            </p:cNvPr>
            <p:cNvSpPr txBox="1"/>
            <p:nvPr/>
          </p:nvSpPr>
          <p:spPr>
            <a:xfrm>
              <a:off x="3084649" y="1764448"/>
              <a:ext cx="53035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/>
                <a:t>fPC1</a:t>
              </a:r>
              <a:r>
                <a:rPr lang="fr-FR" sz="900" baseline="-25000" dirty="0"/>
                <a:t>1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D160FBD3-46CB-4C12-B5DF-0F382B4BB139}"/>
                </a:ext>
              </a:extLst>
            </p:cNvPr>
            <p:cNvSpPr txBox="1"/>
            <p:nvPr/>
          </p:nvSpPr>
          <p:spPr>
            <a:xfrm>
              <a:off x="3380490" y="1897392"/>
              <a:ext cx="374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b="1" dirty="0"/>
                <a:t>c</a:t>
              </a:r>
              <a:r>
                <a:rPr lang="fr-FR" sz="900" b="1" baseline="-25000" dirty="0"/>
                <a:t>1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A6B368CA-58C8-4F53-96EC-5E3A3FD30A94}"/>
                </a:ext>
              </a:extLst>
            </p:cNvPr>
            <p:cNvSpPr txBox="1"/>
            <p:nvPr/>
          </p:nvSpPr>
          <p:spPr>
            <a:xfrm>
              <a:off x="3436361" y="3452728"/>
              <a:ext cx="374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b="1" dirty="0"/>
                <a:t>c</a:t>
              </a:r>
              <a:r>
                <a:rPr lang="fr-FR" sz="900" b="1" baseline="-25000" dirty="0"/>
                <a:t>2</a:t>
              </a: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A038F85C-D7F7-45FF-8AB8-9B92D46010F4}"/>
              </a:ext>
            </a:extLst>
          </p:cNvPr>
          <p:cNvGrpSpPr/>
          <p:nvPr/>
        </p:nvGrpSpPr>
        <p:grpSpPr>
          <a:xfrm>
            <a:off x="331465" y="1276717"/>
            <a:ext cx="6235032" cy="2477841"/>
            <a:chOff x="97008" y="1087990"/>
            <a:chExt cx="6235032" cy="247784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8E0ED8-5923-4872-AFFF-0B30AA283D0C}"/>
                </a:ext>
              </a:extLst>
            </p:cNvPr>
            <p:cNvSpPr/>
            <p:nvPr/>
          </p:nvSpPr>
          <p:spPr>
            <a:xfrm>
              <a:off x="97008" y="1088136"/>
              <a:ext cx="5807909" cy="247769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A8277BE6-8A08-4262-BBB4-99235F6B4F83}"/>
                    </a:ext>
                  </a:extLst>
                </p:cNvPr>
                <p:cNvSpPr txBox="1"/>
                <p:nvPr/>
              </p:nvSpPr>
              <p:spPr>
                <a:xfrm>
                  <a:off x="223848" y="1708273"/>
                  <a:ext cx="6108192" cy="16053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800" dirty="0"/>
                    <a:t>The principle of the algorithm is to find latent variables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r>
                    <a:rPr lang="en-US" sz="1800" dirty="0"/>
                    <a:t> which maximizes the criterion </a:t>
                  </a:r>
                  <a:br>
                    <a:rPr lang="fr-FR" sz="1800" b="0" i="1" dirty="0">
                      <a:latin typeface="Cambria Math" panose="02040503050406030204" pitchFamily="18" charset="0"/>
                    </a:rPr>
                  </a:br>
                  <a14:m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𝑘𝑗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𝑐𝑜𝑣</m:t>
                                  </m:r>
                                </m:e>
                                <m: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a14:m>
                  <a:r>
                    <a:rPr lang="en-US" sz="1800" dirty="0"/>
                    <a:t> </a:t>
                  </a:r>
                  <a:br>
                    <a:rPr lang="en-US" sz="1800" dirty="0"/>
                  </a:br>
                  <a:r>
                    <a:rPr lang="en-US" sz="1800" dirty="0"/>
                    <a:t>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m:rPr>
                                  <m:sty m:val="p"/>
                                </m:rP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belong</m:t>
                              </m:r>
                              <m: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sty m:val="p"/>
                                </m:rPr>
                                <a:rPr lang="fr-FR" sz="1800" b="0" i="0" smtClean="0">
                                  <a:latin typeface="Cambria Math" panose="02040503050406030204" pitchFamily="18" charset="0"/>
                                </a:rPr>
                                <m:t>elsewhere</m:t>
                              </m:r>
                            </m:e>
                          </m:eqArr>
                        </m:e>
                      </m:d>
                    </m:oMath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A8277BE6-8A08-4262-BBB4-99235F6B4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848" y="1708273"/>
                  <a:ext cx="6108192" cy="1605311"/>
                </a:xfrm>
                <a:prstGeom prst="rect">
                  <a:avLst/>
                </a:prstGeom>
                <a:blipFill>
                  <a:blip r:embed="rId4"/>
                  <a:stretch>
                    <a:fillRect l="-599" t="-1515" b="-75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FDE2783-6AB0-4476-8179-2ECFD42475EB}"/>
                </a:ext>
              </a:extLst>
            </p:cNvPr>
            <p:cNvSpPr/>
            <p:nvPr/>
          </p:nvSpPr>
          <p:spPr>
            <a:xfrm>
              <a:off x="511890" y="2314856"/>
              <a:ext cx="3209718" cy="35112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E2A06E6A-6209-4748-9557-703B47EADA34}"/>
                </a:ext>
              </a:extLst>
            </p:cNvPr>
            <p:cNvSpPr txBox="1"/>
            <p:nvPr/>
          </p:nvSpPr>
          <p:spPr>
            <a:xfrm>
              <a:off x="338328" y="1087990"/>
              <a:ext cx="55665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Clustering of components </a:t>
              </a:r>
              <a:r>
                <a:rPr lang="fr-FR" b="1" u="sng" dirty="0" err="1"/>
                <a:t>arouns</a:t>
              </a:r>
              <a:r>
                <a:rPr lang="fr-FR" b="1" u="sng" dirty="0"/>
                <a:t> latent variables (Vigneau &amp; </a:t>
              </a:r>
              <a:r>
                <a:rPr lang="fr-FR" b="1" u="sng" dirty="0" err="1"/>
                <a:t>Qannari</a:t>
              </a:r>
              <a:r>
                <a:rPr lang="fr-FR" b="1" u="sng" dirty="0"/>
                <a:t>, 2003)</a:t>
              </a:r>
            </a:p>
          </p:txBody>
        </p:sp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6F0573B6-FFF2-489A-9196-8344A82971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465" y="4543280"/>
            <a:ext cx="2798233" cy="6662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6C61E319-A314-47E0-892A-644F15DE7ED5}"/>
              </a:ext>
            </a:extLst>
          </p:cNvPr>
          <p:cNvCxnSpPr>
            <a:cxnSpLocks/>
          </p:cNvCxnSpPr>
          <p:nvPr/>
        </p:nvCxnSpPr>
        <p:spPr>
          <a:xfrm>
            <a:off x="3129698" y="4876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pic>
        <p:nvPicPr>
          <p:cNvPr id="28" name="Image 27">
            <a:extLst>
              <a:ext uri="{FF2B5EF4-FFF2-40B4-BE49-F238E27FC236}">
                <a16:creationId xmlns:a16="http://schemas.microsoft.com/office/drawing/2014/main" id="{2F0F0824-E233-4B8A-92A2-8F69E35B71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58965" y="4549212"/>
            <a:ext cx="2654300" cy="7523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215C82BD-6193-48DB-BA59-71824B1B04F5}"/>
              </a:ext>
            </a:extLst>
          </p:cNvPr>
          <p:cNvSpPr txBox="1"/>
          <p:nvPr/>
        </p:nvSpPr>
        <p:spPr>
          <a:xfrm>
            <a:off x="3282098" y="5073732"/>
            <a:ext cx="97366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ysClr val="windowText" lastClr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Clustering of variables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around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latent component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3D426C6-48AB-4AC5-BD9F-D8855D8276B3}"/>
              </a:ext>
            </a:extLst>
          </p:cNvPr>
          <p:cNvCxnSpPr>
            <a:cxnSpLocks/>
          </p:cNvCxnSpPr>
          <p:nvPr/>
        </p:nvCxnSpPr>
        <p:spPr>
          <a:xfrm>
            <a:off x="7113265" y="4876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12AB41F8-990C-4542-B0CE-D0A24174F06A}"/>
              </a:ext>
            </a:extLst>
          </p:cNvPr>
          <p:cNvSpPr txBox="1"/>
          <p:nvPr/>
        </p:nvSpPr>
        <p:spPr>
          <a:xfrm>
            <a:off x="7385215" y="5068711"/>
            <a:ext cx="97366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ysClr val="windowText" lastClr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We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keep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only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variables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which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are the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most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relevant for us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792679F9-CD9D-4B3A-9CFE-1E23D5CA3CA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58171" y="4549539"/>
            <a:ext cx="2653200" cy="75204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4" name="Accolade ouvrante 33">
            <a:extLst>
              <a:ext uri="{FF2B5EF4-FFF2-40B4-BE49-F238E27FC236}">
                <a16:creationId xmlns:a16="http://schemas.microsoft.com/office/drawing/2014/main" id="{F035C502-945D-44E1-9195-747DE8C3674B}"/>
              </a:ext>
            </a:extLst>
          </p:cNvPr>
          <p:cNvSpPr/>
          <p:nvPr/>
        </p:nvSpPr>
        <p:spPr>
          <a:xfrm rot="16200000">
            <a:off x="5188090" y="5013539"/>
            <a:ext cx="139426" cy="896109"/>
          </a:xfrm>
          <a:prstGeom prst="lef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ccolade ouvrante 34">
            <a:extLst>
              <a:ext uri="{FF2B5EF4-FFF2-40B4-BE49-F238E27FC236}">
                <a16:creationId xmlns:a16="http://schemas.microsoft.com/office/drawing/2014/main" id="{83902582-10AA-4E32-B0DA-FCDE499473A2}"/>
              </a:ext>
            </a:extLst>
          </p:cNvPr>
          <p:cNvSpPr/>
          <p:nvPr/>
        </p:nvSpPr>
        <p:spPr>
          <a:xfrm rot="16200000">
            <a:off x="5967513" y="5131156"/>
            <a:ext cx="121764" cy="64321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B5E46621-B776-4F22-AE7C-44EC5317E9F5}"/>
              </a:ext>
            </a:extLst>
          </p:cNvPr>
          <p:cNvSpPr txBox="1"/>
          <p:nvPr/>
        </p:nvSpPr>
        <p:spPr>
          <a:xfrm>
            <a:off x="4696545" y="5617489"/>
            <a:ext cx="896110" cy="369332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Correlated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each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other</a:t>
            </a:r>
            <a:endParaRPr kumimoji="0" lang="fr-F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A8C92B43-6373-40EF-A9C6-A67D429C75F8}"/>
              </a:ext>
            </a:extLst>
          </p:cNvPr>
          <p:cNvSpPr txBox="1"/>
          <p:nvPr/>
        </p:nvSpPr>
        <p:spPr>
          <a:xfrm>
            <a:off x="5672324" y="5638428"/>
            <a:ext cx="76953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Correlated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each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other</a:t>
            </a:r>
            <a:endParaRPr kumimoji="0" lang="fr-F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38" name="Vague 37">
            <a:extLst>
              <a:ext uri="{FF2B5EF4-FFF2-40B4-BE49-F238E27FC236}">
                <a16:creationId xmlns:a16="http://schemas.microsoft.com/office/drawing/2014/main" id="{823CEEAC-8CE5-4588-9076-C25AA4F058AC}"/>
              </a:ext>
            </a:extLst>
          </p:cNvPr>
          <p:cNvSpPr/>
          <p:nvPr/>
        </p:nvSpPr>
        <p:spPr>
          <a:xfrm>
            <a:off x="8741664" y="5645291"/>
            <a:ext cx="2834640" cy="1020685"/>
          </a:xfrm>
          <a:prstGeom prst="wav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876C15-688A-4DFB-A125-13AE44A3DC77}"/>
              </a:ext>
            </a:extLst>
          </p:cNvPr>
          <p:cNvSpPr txBox="1"/>
          <p:nvPr/>
        </p:nvSpPr>
        <p:spPr>
          <a:xfrm>
            <a:off x="8858056" y="5886310"/>
            <a:ext cx="250545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u="sng" dirty="0" err="1"/>
              <a:t>Remark</a:t>
            </a:r>
            <a:r>
              <a:rPr lang="fr-FR" sz="900" u="sng" dirty="0"/>
              <a:t>:</a:t>
            </a:r>
            <a:r>
              <a:rPr lang="fr-FR" sz="900" dirty="0"/>
              <a:t> This </a:t>
            </a:r>
            <a:r>
              <a:rPr lang="fr-FR" sz="900" dirty="0" err="1"/>
              <a:t>method</a:t>
            </a:r>
            <a:r>
              <a:rPr lang="fr-FR" sz="900" dirty="0"/>
              <a:t> </a:t>
            </a:r>
            <a:r>
              <a:rPr lang="fr-FR" sz="900" dirty="0" err="1"/>
              <a:t>also</a:t>
            </a:r>
            <a:r>
              <a:rPr lang="fr-FR" sz="900" dirty="0"/>
              <a:t> permit to </a:t>
            </a:r>
            <a:r>
              <a:rPr lang="fr-FR" sz="900" dirty="0" err="1"/>
              <a:t>obtain</a:t>
            </a:r>
            <a:r>
              <a:rPr lang="fr-FR" sz="900" dirty="0"/>
              <a:t> </a:t>
            </a:r>
            <a:r>
              <a:rPr lang="fr-FR" sz="900" dirty="0" err="1"/>
              <a:t>unidimensional</a:t>
            </a:r>
            <a:r>
              <a:rPr lang="fr-FR" sz="900" dirty="0"/>
              <a:t> blocks, a </a:t>
            </a:r>
            <a:r>
              <a:rPr lang="fr-FR" sz="900" dirty="0" err="1"/>
              <a:t>necessary</a:t>
            </a:r>
            <a:r>
              <a:rPr lang="fr-FR" sz="900" dirty="0"/>
              <a:t> </a:t>
            </a:r>
            <a:r>
              <a:rPr lang="fr-FR" sz="900" dirty="0" err="1"/>
              <a:t>assumption</a:t>
            </a:r>
            <a:r>
              <a:rPr lang="fr-FR" sz="900" dirty="0"/>
              <a:t> for </a:t>
            </a:r>
            <a:r>
              <a:rPr lang="fr-FR" sz="900" dirty="0" err="1"/>
              <a:t>applying</a:t>
            </a:r>
            <a:r>
              <a:rPr lang="fr-FR" sz="900" dirty="0"/>
              <a:t> the model GSCA</a:t>
            </a:r>
            <a:endParaRPr lang="fr-FR" sz="900" u="sng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94BF5A5D-4866-479D-A7B5-94B7409BFDB6}"/>
              </a:ext>
            </a:extLst>
          </p:cNvPr>
          <p:cNvSpPr txBox="1"/>
          <p:nvPr/>
        </p:nvSpPr>
        <p:spPr>
          <a:xfrm>
            <a:off x="8887156" y="1876929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2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6B39AAEA-09A8-40D4-B4FC-92EEFE1ACD89}"/>
              </a:ext>
            </a:extLst>
          </p:cNvPr>
          <p:cNvSpPr txBox="1"/>
          <p:nvPr/>
        </p:nvSpPr>
        <p:spPr>
          <a:xfrm>
            <a:off x="9338914" y="1986850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3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9A1D092A-ED36-4836-9DFC-D98B4B1A514A}"/>
              </a:ext>
            </a:extLst>
          </p:cNvPr>
          <p:cNvSpPr txBox="1"/>
          <p:nvPr/>
        </p:nvSpPr>
        <p:spPr>
          <a:xfrm>
            <a:off x="9092507" y="3013719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4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85E8B159-4303-4F62-BFFA-87FFC7B9B7C4}"/>
              </a:ext>
            </a:extLst>
          </p:cNvPr>
          <p:cNvSpPr txBox="1"/>
          <p:nvPr/>
        </p:nvSpPr>
        <p:spPr>
          <a:xfrm>
            <a:off x="9411268" y="3236362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5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9315CB7-7D28-404D-BE76-15277197A36E}"/>
              </a:ext>
            </a:extLst>
          </p:cNvPr>
          <p:cNvSpPr txBox="1"/>
          <p:nvPr/>
        </p:nvSpPr>
        <p:spPr>
          <a:xfrm>
            <a:off x="8905738" y="3351778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6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AE1E0863-AC79-46E0-9D63-CBC408D24D78}"/>
              </a:ext>
            </a:extLst>
          </p:cNvPr>
          <p:cNvSpPr txBox="1"/>
          <p:nvPr/>
        </p:nvSpPr>
        <p:spPr>
          <a:xfrm>
            <a:off x="7135200" y="3313284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7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25519266-74B4-48C2-B62C-4319065904F3}"/>
              </a:ext>
            </a:extLst>
          </p:cNvPr>
          <p:cNvSpPr txBox="1"/>
          <p:nvPr/>
        </p:nvSpPr>
        <p:spPr>
          <a:xfrm>
            <a:off x="7216135" y="3139271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8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DD8AAEA9-132A-447B-B379-FDF63B8B5C39}"/>
              </a:ext>
            </a:extLst>
          </p:cNvPr>
          <p:cNvSpPr txBox="1"/>
          <p:nvPr/>
        </p:nvSpPr>
        <p:spPr>
          <a:xfrm>
            <a:off x="6950959" y="2910992"/>
            <a:ext cx="530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/>
              <a:t>fPC1</a:t>
            </a:r>
            <a:r>
              <a:rPr lang="fr-FR" sz="900" baseline="-25000" dirty="0"/>
              <a:t>9</a:t>
            </a:r>
          </a:p>
        </p:txBody>
      </p:sp>
      <p:sp>
        <p:nvSpPr>
          <p:cNvPr id="48" name="Accolade ouvrante 47">
            <a:extLst>
              <a:ext uri="{FF2B5EF4-FFF2-40B4-BE49-F238E27FC236}">
                <a16:creationId xmlns:a16="http://schemas.microsoft.com/office/drawing/2014/main" id="{4451749A-FFB5-4E9D-A57F-AE2D084AF748}"/>
              </a:ext>
            </a:extLst>
          </p:cNvPr>
          <p:cNvSpPr/>
          <p:nvPr/>
        </p:nvSpPr>
        <p:spPr>
          <a:xfrm rot="16200000">
            <a:off x="6674280" y="5095426"/>
            <a:ext cx="164470" cy="757374"/>
          </a:xfrm>
          <a:prstGeom prst="lef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415FF4E-0307-45E0-803B-143E62D3EDCE}"/>
              </a:ext>
            </a:extLst>
          </p:cNvPr>
          <p:cNvSpPr txBox="1"/>
          <p:nvPr/>
        </p:nvSpPr>
        <p:spPr>
          <a:xfrm>
            <a:off x="6489492" y="5633350"/>
            <a:ext cx="769535" cy="369332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Correlated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each</a:t>
            </a:r>
            <a:r>
              <a:rPr kumimoji="0" lang="fr-FR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fr-FR" sz="9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other</a:t>
            </a:r>
            <a:endParaRPr kumimoji="0" lang="fr-FR" sz="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18" name="Connecteur : en arc 17">
            <a:extLst>
              <a:ext uri="{FF2B5EF4-FFF2-40B4-BE49-F238E27FC236}">
                <a16:creationId xmlns:a16="http://schemas.microsoft.com/office/drawing/2014/main" id="{C032F8ED-436F-402D-AB59-2527391AFB02}"/>
              </a:ext>
            </a:extLst>
          </p:cNvPr>
          <p:cNvCxnSpPr>
            <a:stCxn id="36" idx="2"/>
            <a:endCxn id="49" idx="2"/>
          </p:cNvCxnSpPr>
          <p:nvPr/>
        </p:nvCxnSpPr>
        <p:spPr>
          <a:xfrm rot="16200000" flipH="1">
            <a:off x="6001500" y="5129921"/>
            <a:ext cx="15861" cy="1729660"/>
          </a:xfrm>
          <a:prstGeom prst="curvedConnector3">
            <a:avLst>
              <a:gd name="adj1" fmla="val 1541271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3786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105382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How to </a:t>
            </a:r>
            <a:r>
              <a:rPr lang="fr-FR" sz="2800" dirty="0" err="1"/>
              <a:t>modelize</a:t>
            </a:r>
            <a:r>
              <a:rPr lang="fr-FR" sz="2800" dirty="0"/>
              <a:t> </a:t>
            </a:r>
            <a:r>
              <a:rPr lang="fr-FR" sz="2800" dirty="0" err="1"/>
              <a:t>resistance</a:t>
            </a:r>
            <a:r>
              <a:rPr lang="fr-FR" sz="2800" dirty="0"/>
              <a:t> and One </a:t>
            </a:r>
            <a:r>
              <a:rPr lang="fr-FR" sz="2800" dirty="0" err="1"/>
              <a:t>Health</a:t>
            </a:r>
            <a:r>
              <a:rPr lang="fr-FR" sz="2800" dirty="0"/>
              <a:t> </a:t>
            </a:r>
            <a:r>
              <a:rPr lang="fr-FR" sz="2800" dirty="0" err="1"/>
              <a:t>relationships</a:t>
            </a:r>
            <a:r>
              <a:rPr lang="fr-FR" sz="2800" dirty="0"/>
              <a:t> ? 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5F305965-4EB2-4854-AE0B-0C017515CF40}"/>
              </a:ext>
            </a:extLst>
          </p:cNvPr>
          <p:cNvGrpSpPr/>
          <p:nvPr/>
        </p:nvGrpSpPr>
        <p:grpSpPr>
          <a:xfrm>
            <a:off x="58723" y="1000393"/>
            <a:ext cx="12074554" cy="5755048"/>
            <a:chOff x="117446" y="916503"/>
            <a:chExt cx="12074554" cy="5755048"/>
          </a:xfrm>
        </p:grpSpPr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CD9A84FB-DE36-4172-A387-BBCAE5C51855}"/>
                </a:ext>
              </a:extLst>
            </p:cNvPr>
            <p:cNvSpPr/>
            <p:nvPr/>
          </p:nvSpPr>
          <p:spPr>
            <a:xfrm>
              <a:off x="2926476" y="931178"/>
              <a:ext cx="9265524" cy="5553512"/>
            </a:xfrm>
            <a:prstGeom prst="roundRect">
              <a:avLst/>
            </a:prstGeom>
            <a:solidFill>
              <a:srgbClr val="70AD47">
                <a:lumMod val="20000"/>
                <a:lumOff val="80000"/>
              </a:srgb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264BD2A1-109E-406C-9266-15E5FB6B430E}"/>
                </a:ext>
              </a:extLst>
            </p:cNvPr>
            <p:cNvSpPr/>
            <p:nvPr/>
          </p:nvSpPr>
          <p:spPr>
            <a:xfrm>
              <a:off x="3921621" y="1478891"/>
              <a:ext cx="8142609" cy="4913520"/>
            </a:xfrm>
            <a:prstGeom prst="roundRect">
              <a:avLst/>
            </a:prstGeom>
            <a:solidFill>
              <a:srgbClr val="FFC000">
                <a:lumMod val="40000"/>
                <a:lumOff val="60000"/>
              </a:srgb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3A826E35-68EF-45B2-B1D8-056CF7784D0B}"/>
                </a:ext>
              </a:extLst>
            </p:cNvPr>
            <p:cNvSpPr/>
            <p:nvPr/>
          </p:nvSpPr>
          <p:spPr>
            <a:xfrm>
              <a:off x="5472488" y="2315985"/>
              <a:ext cx="6493443" cy="3895439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1BD555AD-21C3-4A68-80DF-B3FEA5AD16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1765" y="4004345"/>
              <a:ext cx="2755280" cy="0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B491B447-4848-4897-984A-6F53E09E9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1765" y="4330117"/>
              <a:ext cx="4613194" cy="0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FE751E39-25E0-49B9-A8FE-9A55F52B48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1765" y="4437776"/>
              <a:ext cx="6708894" cy="0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9FDD6F-FC2B-43A1-BFF2-8E2A10E9098F}"/>
                </a:ext>
              </a:extLst>
            </p:cNvPr>
            <p:cNvSpPr/>
            <p:nvPr/>
          </p:nvSpPr>
          <p:spPr>
            <a:xfrm>
              <a:off x="3162124" y="5429980"/>
              <a:ext cx="433313" cy="576538"/>
            </a:xfrm>
            <a:prstGeom prst="rect">
              <a:avLst/>
            </a:prstGeom>
            <a:solidFill>
              <a:srgbClr val="F8766D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E995FD-DE67-4813-9456-9A72192E430D}"/>
                </a:ext>
              </a:extLst>
            </p:cNvPr>
            <p:cNvSpPr/>
            <p:nvPr/>
          </p:nvSpPr>
          <p:spPr>
            <a:xfrm>
              <a:off x="3256812" y="3724709"/>
              <a:ext cx="243936" cy="855681"/>
            </a:xfrm>
            <a:prstGeom prst="rect">
              <a:avLst/>
            </a:prstGeom>
            <a:solidFill>
              <a:srgbClr val="F8766D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1E42D261-18F9-4B24-852A-AC09E484FF8B}"/>
                </a:ext>
              </a:extLst>
            </p:cNvPr>
            <p:cNvCxnSpPr/>
            <p:nvPr/>
          </p:nvCxnSpPr>
          <p:spPr>
            <a:xfrm>
              <a:off x="3500748" y="4580387"/>
              <a:ext cx="0" cy="849591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406E990-E6D0-463A-9C7E-4F7647267D72}"/>
                </a:ext>
              </a:extLst>
            </p:cNvPr>
            <p:cNvCxnSpPr/>
            <p:nvPr/>
          </p:nvCxnSpPr>
          <p:spPr>
            <a:xfrm flipV="1">
              <a:off x="3256812" y="4557521"/>
              <a:ext cx="0" cy="849591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155920A4-FB20-4FEB-A4F7-A7311A42E6E0}"/>
                    </a:ext>
                  </a:extLst>
                </p:cNvPr>
                <p:cNvSpPr txBox="1"/>
                <p:nvPr/>
              </p:nvSpPr>
              <p:spPr>
                <a:xfrm>
                  <a:off x="2926476" y="4820516"/>
                  <a:ext cx="3220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8766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8766D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155920A4-FB20-4FEB-A4F7-A7311A42E6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76" y="4820516"/>
                  <a:ext cx="32204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95E206F-B999-406D-AA26-8298E8E9C7BF}"/>
                    </a:ext>
                  </a:extLst>
                </p:cNvPr>
                <p:cNvSpPr txBox="1"/>
                <p:nvPr/>
              </p:nvSpPr>
              <p:spPr>
                <a:xfrm>
                  <a:off x="3521765" y="4856050"/>
                  <a:ext cx="3220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8766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8766D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95E206F-B999-406D-AA26-8298E8E9C7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1765" y="4856050"/>
                  <a:ext cx="32204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Accolade ouvrante 18">
              <a:extLst>
                <a:ext uri="{FF2B5EF4-FFF2-40B4-BE49-F238E27FC236}">
                  <a16:creationId xmlns:a16="http://schemas.microsoft.com/office/drawing/2014/main" id="{6118063E-AE21-42B9-8230-1C30907703B6}"/>
                </a:ext>
              </a:extLst>
            </p:cNvPr>
            <p:cNvSpPr/>
            <p:nvPr/>
          </p:nvSpPr>
          <p:spPr>
            <a:xfrm>
              <a:off x="2418144" y="4700133"/>
              <a:ext cx="274884" cy="1459690"/>
            </a:xfrm>
            <a:prstGeom prst="leftBrac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FB2B48F2-DA67-4A98-8D11-DA435BD437BA}"/>
                </a:ext>
              </a:extLst>
            </p:cNvPr>
            <p:cNvGrpSpPr/>
            <p:nvPr/>
          </p:nvGrpSpPr>
          <p:grpSpPr>
            <a:xfrm>
              <a:off x="117446" y="4700133"/>
              <a:ext cx="2108245" cy="1971418"/>
              <a:chOff x="109245" y="4546829"/>
              <a:chExt cx="2108245" cy="1971418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452D60C0-CDFF-4F65-9DEF-01573872FDCD}"/>
                  </a:ext>
                </a:extLst>
              </p:cNvPr>
              <p:cNvSpPr/>
              <p:nvPr/>
            </p:nvSpPr>
            <p:spPr>
              <a:xfrm>
                <a:off x="109245" y="4546829"/>
                <a:ext cx="2108245" cy="1971418"/>
              </a:xfrm>
              <a:prstGeom prst="rect">
                <a:avLst/>
              </a:prstGeom>
              <a:solidFill>
                <a:srgbClr val="FFC000">
                  <a:lumMod val="20000"/>
                  <a:lumOff val="80000"/>
                </a:srgb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ZoneTexte 71">
                    <a:extLst>
                      <a:ext uri="{FF2B5EF4-FFF2-40B4-BE49-F238E27FC236}">
                        <a16:creationId xmlns:a16="http://schemas.microsoft.com/office/drawing/2014/main" id="{780CF9A0-22E3-4BEE-BC32-96060494DA86}"/>
                      </a:ext>
                    </a:extLst>
                  </p:cNvPr>
                  <p:cNvSpPr txBox="1"/>
                  <p:nvPr/>
                </p:nvSpPr>
                <p:spPr>
                  <a:xfrm>
                    <a:off x="207540" y="4574292"/>
                    <a:ext cx="1903054" cy="18260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fr-FR" sz="1050" b="1" i="0" u="sng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Measurment model: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:r>
                      <a:rPr kumimoji="0" lang="fr-FR" sz="1050" b="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from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original fPC1 to latent variables (VL) and vice-versa</a:t>
                    </a:r>
                    <a:b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</a:br>
                    <a:b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</a:br>
                    <a:r>
                      <a:rPr kumimoji="0" lang="fr-FR" sz="1050" b="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example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:r>
                      <a:rPr kumimoji="0" lang="fr-FR" sz="1050" b="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with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:r>
                      <a:rPr kumimoji="0" lang="fr-FR" sz="1050" b="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srgbClr val="E76BF3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Humans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block</a:t>
                    </a: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fr-FR" sz="1050" b="0" i="0" u="sng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{"/>
                              <m:endChr m:val=""/>
                              <m:ctrlPr>
                                <a:rPr kumimoji="0" lang="fr-FR" sz="105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𝑉𝐿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𝐻𝑢𝑚𝑎𝑛𝑠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= </m:t>
                                  </m:r>
                                  <m:nary>
                                    <m:naryPr>
                                      <m:chr m:val="∑"/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𝑓𝑃𝐶</m:t>
                                          </m:r>
                                          <m: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b>
                                          <m:r>
                                            <a:rPr kumimoji="0" lang="fr-FR" sz="1050" b="0" i="1" u="none" strike="noStrike" kern="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E76BF3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  <m:e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𝑓𝑃𝐶</m:t>
                                      </m:r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𝑉𝐿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𝐻𝑢𝑚𝑎𝑛𝑠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kumimoji="0" lang="fr-FR" sz="105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72" name="ZoneTexte 71">
                    <a:extLst>
                      <a:ext uri="{FF2B5EF4-FFF2-40B4-BE49-F238E27FC236}">
                        <a16:creationId xmlns:a16="http://schemas.microsoft.com/office/drawing/2014/main" id="{780CF9A0-22E3-4BEE-BC32-96060494DA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540" y="4574292"/>
                    <a:ext cx="1903054" cy="182601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BEC4447B-BD8B-4BEB-AB4C-DC374F63E8C2}"/>
                </a:ext>
              </a:extLst>
            </p:cNvPr>
            <p:cNvSpPr txBox="1"/>
            <p:nvPr/>
          </p:nvSpPr>
          <p:spPr>
            <a:xfrm>
              <a:off x="3177511" y="3355376"/>
              <a:ext cx="4333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8766D"/>
                  </a:solidFill>
                  <a:effectLst/>
                  <a:uLnTx/>
                  <a:uFillTx/>
                  <a:latin typeface="Calibri" panose="020F0502020204030204"/>
                </a:rPr>
                <a:t>VL</a:t>
              </a:r>
            </a:p>
          </p:txBody>
        </p:sp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14941444-D4C1-45CE-A5B8-9A651B1CEA4C}"/>
                </a:ext>
              </a:extLst>
            </p:cNvPr>
            <p:cNvGrpSpPr/>
            <p:nvPr/>
          </p:nvGrpSpPr>
          <p:grpSpPr>
            <a:xfrm>
              <a:off x="4157248" y="3374562"/>
              <a:ext cx="1088464" cy="2651142"/>
              <a:chOff x="10454789" y="3355376"/>
              <a:chExt cx="1088464" cy="2651142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484EFEB-979E-4DD9-AF5A-52700755B8AA}"/>
                  </a:ext>
                </a:extLst>
              </p:cNvPr>
              <p:cNvSpPr/>
              <p:nvPr/>
            </p:nvSpPr>
            <p:spPr>
              <a:xfrm>
                <a:off x="10454789" y="5463537"/>
                <a:ext cx="1088464" cy="542981"/>
              </a:xfrm>
              <a:prstGeom prst="rect">
                <a:avLst/>
              </a:prstGeom>
              <a:solidFill>
                <a:srgbClr val="A3A500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AMC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8FD43F1-B5AC-4C8D-B929-2C1454AE3645}"/>
                  </a:ext>
                </a:extLst>
              </p:cNvPr>
              <p:cNvSpPr/>
              <p:nvPr/>
            </p:nvSpPr>
            <p:spPr>
              <a:xfrm>
                <a:off x="10877053" y="3724709"/>
                <a:ext cx="243936" cy="855680"/>
              </a:xfrm>
              <a:prstGeom prst="rect">
                <a:avLst/>
              </a:prstGeom>
              <a:solidFill>
                <a:srgbClr val="A3A500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66" name="Connecteur droit avec flèche 65">
                <a:extLst>
                  <a:ext uri="{FF2B5EF4-FFF2-40B4-BE49-F238E27FC236}">
                    <a16:creationId xmlns:a16="http://schemas.microsoft.com/office/drawing/2014/main" id="{FE149D2A-9E78-4BD3-9434-02DAAF22C551}"/>
                  </a:ext>
                </a:extLst>
              </p:cNvPr>
              <p:cNvCxnSpPr/>
              <p:nvPr/>
            </p:nvCxnSpPr>
            <p:spPr>
              <a:xfrm flipV="1">
                <a:off x="10877053" y="4557520"/>
                <a:ext cx="0" cy="849591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67" name="Connecteur droit avec flèche 66">
                <a:extLst>
                  <a:ext uri="{FF2B5EF4-FFF2-40B4-BE49-F238E27FC236}">
                    <a16:creationId xmlns:a16="http://schemas.microsoft.com/office/drawing/2014/main" id="{649873A5-1BB0-489B-B0BA-94AE0EBA7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0989" y="4597166"/>
                <a:ext cx="0" cy="849591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ZoneTexte 67">
                    <a:extLst>
                      <a:ext uri="{FF2B5EF4-FFF2-40B4-BE49-F238E27FC236}">
                        <a16:creationId xmlns:a16="http://schemas.microsoft.com/office/drawing/2014/main" id="{0A85FF1E-444D-43BB-B7D3-E35F743632DF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1198" y="4856050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A3A5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A3A500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68" name="ZoneTexte 67">
                    <a:extLst>
                      <a:ext uri="{FF2B5EF4-FFF2-40B4-BE49-F238E27FC236}">
                        <a16:creationId xmlns:a16="http://schemas.microsoft.com/office/drawing/2014/main" id="{0A85FF1E-444D-43BB-B7D3-E35F743632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1198" y="4856050"/>
                    <a:ext cx="3220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ZoneTexte 68">
                    <a:extLst>
                      <a:ext uri="{FF2B5EF4-FFF2-40B4-BE49-F238E27FC236}">
                        <a16:creationId xmlns:a16="http://schemas.microsoft.com/office/drawing/2014/main" id="{2333C63F-A4B2-4493-923D-35D10FA86C46}"/>
                      </a:ext>
                    </a:extLst>
                  </p:cNvPr>
                  <p:cNvSpPr txBox="1"/>
                  <p:nvPr/>
                </p:nvSpPr>
                <p:spPr>
                  <a:xfrm>
                    <a:off x="11137182" y="4862260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A3A5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A3A500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69" name="ZoneTexte 68">
                    <a:extLst>
                      <a:ext uri="{FF2B5EF4-FFF2-40B4-BE49-F238E27FC236}">
                        <a16:creationId xmlns:a16="http://schemas.microsoft.com/office/drawing/2014/main" id="{2333C63F-A4B2-4493-923D-35D10FA86C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37182" y="4862260"/>
                    <a:ext cx="32204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ZoneTexte 69">
                <a:extLst>
                  <a:ext uri="{FF2B5EF4-FFF2-40B4-BE49-F238E27FC236}">
                    <a16:creationId xmlns:a16="http://schemas.microsoft.com/office/drawing/2014/main" id="{CD15234C-F043-4DE7-823F-00C39ADA7E41}"/>
                  </a:ext>
                </a:extLst>
              </p:cNvPr>
              <p:cNvSpPr txBox="1"/>
              <p:nvPr/>
            </p:nvSpPr>
            <p:spPr>
              <a:xfrm>
                <a:off x="10793586" y="3355376"/>
                <a:ext cx="433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A3A500"/>
                    </a:solidFill>
                    <a:effectLst/>
                    <a:uLnTx/>
                    <a:uFillTx/>
                    <a:latin typeface="Calibri" panose="020F0502020204030204"/>
                  </a:rPr>
                  <a:t>VL</a:t>
                </a:r>
              </a:p>
            </p:txBody>
          </p:sp>
        </p:grp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DA001E08-7106-435E-A9E5-19A23BA7D54F}"/>
                </a:ext>
              </a:extLst>
            </p:cNvPr>
            <p:cNvGrpSpPr/>
            <p:nvPr/>
          </p:nvGrpSpPr>
          <p:grpSpPr>
            <a:xfrm>
              <a:off x="5802201" y="3343942"/>
              <a:ext cx="5812070" cy="2662576"/>
              <a:chOff x="4162440" y="3343943"/>
              <a:chExt cx="5812070" cy="2662576"/>
            </a:xfrm>
          </p:grpSpPr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8EBA0AC1-2C3E-4ECB-974D-86B5A8FB0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81220" y="3900881"/>
                <a:ext cx="3709678" cy="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headEnd type="triangle"/>
                <a:tailEnd type="triangle"/>
              </a:ln>
              <a:effectLst/>
            </p:spPr>
          </p:cxn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2B34D0E-C91F-4136-BB11-EAD24AD4E4A3}"/>
                  </a:ext>
                </a:extLst>
              </p:cNvPr>
              <p:cNvSpPr/>
              <p:nvPr/>
            </p:nvSpPr>
            <p:spPr>
              <a:xfrm>
                <a:off x="4162440" y="5429980"/>
                <a:ext cx="1268072" cy="576538"/>
              </a:xfrm>
              <a:prstGeom prst="rect">
                <a:avLst/>
              </a:prstGeom>
              <a:solidFill>
                <a:srgbClr val="E76BF3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Humans</a:t>
                </a:r>
                <a:endParaRPr kumimoji="0" lang="fr-FR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D4B03CF-AA29-4460-BE32-EE5C0E69D8A4}"/>
                  </a:ext>
                </a:extLst>
              </p:cNvPr>
              <p:cNvSpPr/>
              <p:nvPr/>
            </p:nvSpPr>
            <p:spPr>
              <a:xfrm>
                <a:off x="5997516" y="5463537"/>
                <a:ext cx="1335051" cy="542982"/>
              </a:xfrm>
              <a:prstGeom prst="rect">
                <a:avLst/>
              </a:prstGeom>
              <a:solidFill>
                <a:srgbClr val="00B0F6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Animals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A36ADC18-8A09-49D9-A550-25D523A774A9}"/>
                  </a:ext>
                </a:extLst>
              </p:cNvPr>
              <p:cNvSpPr/>
              <p:nvPr/>
            </p:nvSpPr>
            <p:spPr>
              <a:xfrm>
                <a:off x="7812846" y="5463537"/>
                <a:ext cx="2161664" cy="542982"/>
              </a:xfrm>
              <a:prstGeom prst="rect">
                <a:avLst/>
              </a:prstGeom>
              <a:solidFill>
                <a:srgbClr val="00BF7D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Environnement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E4A66A3-A40F-4928-A23E-2241BCAA20AE}"/>
                  </a:ext>
                </a:extLst>
              </p:cNvPr>
              <p:cNvSpPr/>
              <p:nvPr/>
            </p:nvSpPr>
            <p:spPr>
              <a:xfrm>
                <a:off x="4637284" y="3724709"/>
                <a:ext cx="243936" cy="855680"/>
              </a:xfrm>
              <a:prstGeom prst="rect">
                <a:avLst/>
              </a:prstGeom>
              <a:solidFill>
                <a:srgbClr val="E76BF3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AD6A697-C83F-4D5A-8961-8A5CD0C2BCF6}"/>
                  </a:ext>
                </a:extLst>
              </p:cNvPr>
              <p:cNvSpPr/>
              <p:nvPr/>
            </p:nvSpPr>
            <p:spPr>
              <a:xfrm>
                <a:off x="6495198" y="3724707"/>
                <a:ext cx="243936" cy="855680"/>
              </a:xfrm>
              <a:prstGeom prst="rect">
                <a:avLst/>
              </a:prstGeom>
              <a:solidFill>
                <a:srgbClr val="00B0F6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451BDB8-5598-4D99-83D0-0384329F9287}"/>
                  </a:ext>
                </a:extLst>
              </p:cNvPr>
              <p:cNvSpPr/>
              <p:nvPr/>
            </p:nvSpPr>
            <p:spPr>
              <a:xfrm>
                <a:off x="8597048" y="3724709"/>
                <a:ext cx="243936" cy="855680"/>
              </a:xfrm>
              <a:prstGeom prst="rect">
                <a:avLst/>
              </a:prstGeom>
              <a:solidFill>
                <a:srgbClr val="00BF7D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7" name="Connecteur droit avec flèche 46">
                <a:extLst>
                  <a:ext uri="{FF2B5EF4-FFF2-40B4-BE49-F238E27FC236}">
                    <a16:creationId xmlns:a16="http://schemas.microsoft.com/office/drawing/2014/main" id="{0FC64748-E76E-42F3-B454-D113DCD2AB9A}"/>
                  </a:ext>
                </a:extLst>
              </p:cNvPr>
              <p:cNvCxnSpPr/>
              <p:nvPr/>
            </p:nvCxnSpPr>
            <p:spPr>
              <a:xfrm flipV="1">
                <a:off x="4637284" y="4557521"/>
                <a:ext cx="0" cy="849591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48" name="Connecteur droit avec flèche 47">
                <a:extLst>
                  <a:ext uri="{FF2B5EF4-FFF2-40B4-BE49-F238E27FC236}">
                    <a16:creationId xmlns:a16="http://schemas.microsoft.com/office/drawing/2014/main" id="{2E96F673-C68B-4A7F-B267-A63EAD57179F}"/>
                  </a:ext>
                </a:extLst>
              </p:cNvPr>
              <p:cNvCxnSpPr/>
              <p:nvPr/>
            </p:nvCxnSpPr>
            <p:spPr>
              <a:xfrm>
                <a:off x="4881220" y="4580387"/>
                <a:ext cx="0" cy="849591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49" name="Connecteur droit avec flèche 48">
                <a:extLst>
                  <a:ext uri="{FF2B5EF4-FFF2-40B4-BE49-F238E27FC236}">
                    <a16:creationId xmlns:a16="http://schemas.microsoft.com/office/drawing/2014/main" id="{C7BC0566-BBAA-41A2-9B23-306F1530D5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39134" y="4580386"/>
                <a:ext cx="0" cy="88315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50" name="Connecteur droit avec flèche 49">
                <a:extLst>
                  <a:ext uri="{FF2B5EF4-FFF2-40B4-BE49-F238E27FC236}">
                    <a16:creationId xmlns:a16="http://schemas.microsoft.com/office/drawing/2014/main" id="{B9CCDC82-F47F-4399-943C-7D78F30837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95198" y="4546829"/>
                <a:ext cx="0" cy="899928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51" name="Connecteur droit avec flèche 50">
                <a:extLst>
                  <a:ext uri="{FF2B5EF4-FFF2-40B4-BE49-F238E27FC236}">
                    <a16:creationId xmlns:a16="http://schemas.microsoft.com/office/drawing/2014/main" id="{CD09A394-7C77-4C30-9732-9D5E5DA281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0984" y="4546828"/>
                <a:ext cx="0" cy="88315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52" name="Connecteur droit avec flèche 51">
                <a:extLst>
                  <a:ext uri="{FF2B5EF4-FFF2-40B4-BE49-F238E27FC236}">
                    <a16:creationId xmlns:a16="http://schemas.microsoft.com/office/drawing/2014/main" id="{35E0EF81-891D-4092-B98E-18A2D9A6E8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97048" y="4546830"/>
                <a:ext cx="0" cy="916706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ZoneTexte 52">
                    <a:extLst>
                      <a:ext uri="{FF2B5EF4-FFF2-40B4-BE49-F238E27FC236}">
                        <a16:creationId xmlns:a16="http://schemas.microsoft.com/office/drawing/2014/main" id="{91DBC3E8-2C9D-44FC-B8B0-62E215A4C61E}"/>
                      </a:ext>
                    </a:extLst>
                  </p:cNvPr>
                  <p:cNvSpPr txBox="1"/>
                  <p:nvPr/>
                </p:nvSpPr>
                <p:spPr>
                  <a:xfrm>
                    <a:off x="4304257" y="4825862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76BF3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E76BF3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3" name="ZoneTexte 52">
                    <a:extLst>
                      <a:ext uri="{FF2B5EF4-FFF2-40B4-BE49-F238E27FC236}">
                        <a16:creationId xmlns:a16="http://schemas.microsoft.com/office/drawing/2014/main" id="{91DBC3E8-2C9D-44FC-B8B0-62E215A4C6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04257" y="4825862"/>
                    <a:ext cx="32204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ZoneTexte 53">
                    <a:extLst>
                      <a:ext uri="{FF2B5EF4-FFF2-40B4-BE49-F238E27FC236}">
                        <a16:creationId xmlns:a16="http://schemas.microsoft.com/office/drawing/2014/main" id="{EC387F84-655A-4282-A1E1-8D7F66AC44C9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092" y="4837295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76BF3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E76BF3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4" name="ZoneTexte 53">
                    <a:extLst>
                      <a:ext uri="{FF2B5EF4-FFF2-40B4-BE49-F238E27FC236}">
                        <a16:creationId xmlns:a16="http://schemas.microsoft.com/office/drawing/2014/main" id="{EC387F84-655A-4282-A1E1-8D7F66AC4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092" y="4837295"/>
                    <a:ext cx="322049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ZoneTexte 54">
                    <a:extLst>
                      <a:ext uri="{FF2B5EF4-FFF2-40B4-BE49-F238E27FC236}">
                        <a16:creationId xmlns:a16="http://schemas.microsoft.com/office/drawing/2014/main" id="{F004F7EB-F2B5-4736-9641-621A2C01A4C0}"/>
                      </a:ext>
                    </a:extLst>
                  </p:cNvPr>
                  <p:cNvSpPr txBox="1"/>
                  <p:nvPr/>
                </p:nvSpPr>
                <p:spPr>
                  <a:xfrm>
                    <a:off x="6194964" y="4797649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B0F6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B0F6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5" name="ZoneTexte 54">
                    <a:extLst>
                      <a:ext uri="{FF2B5EF4-FFF2-40B4-BE49-F238E27FC236}">
                        <a16:creationId xmlns:a16="http://schemas.microsoft.com/office/drawing/2014/main" id="{F004F7EB-F2B5-4736-9641-621A2C01A4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4964" y="4797649"/>
                    <a:ext cx="322049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923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ZoneTexte 55">
                    <a:extLst>
                      <a:ext uri="{FF2B5EF4-FFF2-40B4-BE49-F238E27FC236}">
                        <a16:creationId xmlns:a16="http://schemas.microsoft.com/office/drawing/2014/main" id="{8CF53AD5-C0D1-45EE-B90C-BE415B9976B4}"/>
                      </a:ext>
                    </a:extLst>
                  </p:cNvPr>
                  <p:cNvSpPr txBox="1"/>
                  <p:nvPr/>
                </p:nvSpPr>
                <p:spPr>
                  <a:xfrm>
                    <a:off x="6745285" y="4796903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B0F6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B0F6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6" name="ZoneTexte 55">
                    <a:extLst>
                      <a:ext uri="{FF2B5EF4-FFF2-40B4-BE49-F238E27FC236}">
                        <a16:creationId xmlns:a16="http://schemas.microsoft.com/office/drawing/2014/main" id="{8CF53AD5-C0D1-45EE-B90C-BE415B9976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45285" y="4796903"/>
                    <a:ext cx="322049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1514F244-0677-47BF-A067-6E1FBCA5A9A7}"/>
                      </a:ext>
                    </a:extLst>
                  </p:cNvPr>
                  <p:cNvSpPr txBox="1"/>
                  <p:nvPr/>
                </p:nvSpPr>
                <p:spPr>
                  <a:xfrm>
                    <a:off x="8268849" y="4820516"/>
                    <a:ext cx="3220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BF7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BF7D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1514F244-0677-47BF-A067-6E1FBCA5A9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8849" y="4820516"/>
                    <a:ext cx="322049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3B2D0923-BCFB-4DCF-A789-32253491028B}"/>
                      </a:ext>
                    </a:extLst>
                  </p:cNvPr>
                  <p:cNvSpPr txBox="1"/>
                  <p:nvPr/>
                </p:nvSpPr>
                <p:spPr>
                  <a:xfrm>
                    <a:off x="8858115" y="4856049"/>
                    <a:ext cx="288726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fr-FR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BF7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kumimoji="0" lang="fr-FR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BF7D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3B2D0923-BCFB-4DCF-A789-3225349102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8115" y="4856049"/>
                    <a:ext cx="288726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D9B4A9AD-7E72-4390-972D-0D6BAD17D858}"/>
                  </a:ext>
                </a:extLst>
              </p:cNvPr>
              <p:cNvSpPr txBox="1"/>
              <p:nvPr/>
            </p:nvSpPr>
            <p:spPr>
              <a:xfrm>
                <a:off x="4549812" y="3365846"/>
                <a:ext cx="433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E76BF3"/>
                    </a:solidFill>
                    <a:effectLst/>
                    <a:uLnTx/>
                    <a:uFillTx/>
                    <a:latin typeface="Calibri" panose="020F0502020204030204"/>
                  </a:rPr>
                  <a:t>VL</a:t>
                </a:r>
              </a:p>
            </p:txBody>
          </p:sp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8FB92B33-7CA1-4E71-9941-DB5F9D19803A}"/>
                  </a:ext>
                </a:extLst>
              </p:cNvPr>
              <p:cNvSpPr txBox="1"/>
              <p:nvPr/>
            </p:nvSpPr>
            <p:spPr>
              <a:xfrm>
                <a:off x="6427791" y="3355376"/>
                <a:ext cx="433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B0F6"/>
                    </a:solidFill>
                    <a:effectLst/>
                    <a:uLnTx/>
                    <a:uFillTx/>
                    <a:latin typeface="Calibri" panose="020F0502020204030204"/>
                  </a:rPr>
                  <a:t>VL</a:t>
                </a:r>
              </a:p>
            </p:txBody>
          </p:sp>
          <p:sp>
            <p:nvSpPr>
              <p:cNvPr id="61" name="ZoneTexte 60">
                <a:extLst>
                  <a:ext uri="{FF2B5EF4-FFF2-40B4-BE49-F238E27FC236}">
                    <a16:creationId xmlns:a16="http://schemas.microsoft.com/office/drawing/2014/main" id="{86C6A161-9A57-4756-80A7-E31BB383E21C}"/>
                  </a:ext>
                </a:extLst>
              </p:cNvPr>
              <p:cNvSpPr txBox="1"/>
              <p:nvPr/>
            </p:nvSpPr>
            <p:spPr>
              <a:xfrm>
                <a:off x="8502361" y="3343943"/>
                <a:ext cx="4333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BF7D"/>
                    </a:solidFill>
                    <a:effectLst/>
                    <a:uLnTx/>
                    <a:uFillTx/>
                    <a:latin typeface="Calibri" panose="020F0502020204030204"/>
                  </a:rPr>
                  <a:t>VL</a:t>
                </a:r>
              </a:p>
            </p:txBody>
          </p:sp>
          <p:cxnSp>
            <p:nvCxnSpPr>
              <p:cNvPr id="62" name="Connecteur droit avec flèche 61">
                <a:extLst>
                  <a:ext uri="{FF2B5EF4-FFF2-40B4-BE49-F238E27FC236}">
                    <a16:creationId xmlns:a16="http://schemas.microsoft.com/office/drawing/2014/main" id="{A6AD85C1-9313-4DD6-B066-033A0C9FFEC5}"/>
                  </a:ext>
                </a:extLst>
              </p:cNvPr>
              <p:cNvCxnSpPr>
                <a:cxnSpLocks/>
                <a:stCxn id="44" idx="3"/>
                <a:endCxn id="45" idx="1"/>
              </p:cNvCxnSpPr>
              <p:nvPr/>
            </p:nvCxnSpPr>
            <p:spPr>
              <a:xfrm flipV="1">
                <a:off x="4881220" y="4152547"/>
                <a:ext cx="1613978" cy="2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headEnd type="triangle"/>
                <a:tailEnd type="triangle"/>
              </a:ln>
              <a:effectLst/>
            </p:spPr>
          </p:cxnSp>
          <p:cxnSp>
            <p:nvCxnSpPr>
              <p:cNvPr id="63" name="Connecteur droit avec flèche 62">
                <a:extLst>
                  <a:ext uri="{FF2B5EF4-FFF2-40B4-BE49-F238E27FC236}">
                    <a16:creationId xmlns:a16="http://schemas.microsoft.com/office/drawing/2014/main" id="{04882223-6976-439E-8389-B343BC8A24DA}"/>
                  </a:ext>
                </a:extLst>
              </p:cNvPr>
              <p:cNvCxnSpPr>
                <a:stCxn id="45" idx="3"/>
                <a:endCxn id="46" idx="1"/>
              </p:cNvCxnSpPr>
              <p:nvPr/>
            </p:nvCxnSpPr>
            <p:spPr>
              <a:xfrm>
                <a:off x="6739134" y="4152547"/>
                <a:ext cx="1857914" cy="2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solid"/>
                <a:miter lim="800000"/>
                <a:headEnd type="triangle"/>
                <a:tailEnd type="triangle"/>
              </a:ln>
              <a:effectLst/>
            </p:spPr>
          </p:cxnSp>
        </p:grpSp>
        <p:cxnSp>
          <p:nvCxnSpPr>
            <p:cNvPr id="24" name="Connecteur : en arc 23">
              <a:extLst>
                <a:ext uri="{FF2B5EF4-FFF2-40B4-BE49-F238E27FC236}">
                  <a16:creationId xmlns:a16="http://schemas.microsoft.com/office/drawing/2014/main" id="{E014EE6F-216D-4A79-8DFC-6CE1B358642D}"/>
                </a:ext>
              </a:extLst>
            </p:cNvPr>
            <p:cNvCxnSpPr>
              <a:stCxn id="46" idx="0"/>
              <a:endCxn id="70" idx="2"/>
            </p:cNvCxnSpPr>
            <p:nvPr/>
          </p:nvCxnSpPr>
          <p:spPr>
            <a:xfrm rot="16200000" flipH="1" flipV="1">
              <a:off x="7526146" y="911263"/>
              <a:ext cx="19186" cy="5646076"/>
            </a:xfrm>
            <a:prstGeom prst="curvedConnector5">
              <a:avLst>
                <a:gd name="adj1" fmla="val -5170426"/>
                <a:gd name="adj2" fmla="val 49310"/>
                <a:gd name="adj3" fmla="val -5179740"/>
              </a:avLst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23D82678-DE25-464A-9AD9-E510916B39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1766" y="4156745"/>
              <a:ext cx="1057746" cy="0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26" name="Connecteur : en arc 25">
              <a:extLst>
                <a:ext uri="{FF2B5EF4-FFF2-40B4-BE49-F238E27FC236}">
                  <a16:creationId xmlns:a16="http://schemas.microsoft.com/office/drawing/2014/main" id="{50A86387-E6B8-45C6-ACFA-3E841706D035}"/>
                </a:ext>
              </a:extLst>
            </p:cNvPr>
            <p:cNvCxnSpPr>
              <a:stCxn id="44" idx="2"/>
              <a:endCxn id="65" idx="2"/>
            </p:cNvCxnSpPr>
            <p:nvPr/>
          </p:nvCxnSpPr>
          <p:spPr>
            <a:xfrm rot="5400000">
              <a:off x="5540654" y="3741215"/>
              <a:ext cx="19187" cy="1697533"/>
            </a:xfrm>
            <a:prstGeom prst="curvedConnector3">
              <a:avLst>
                <a:gd name="adj1" fmla="val 1291432"/>
              </a:avLst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27" name="Accolade ouvrante 26">
              <a:extLst>
                <a:ext uri="{FF2B5EF4-FFF2-40B4-BE49-F238E27FC236}">
                  <a16:creationId xmlns:a16="http://schemas.microsoft.com/office/drawing/2014/main" id="{03D5932C-52CC-43A7-9F6A-0C2CBEE578E6}"/>
                </a:ext>
              </a:extLst>
            </p:cNvPr>
            <p:cNvSpPr/>
            <p:nvPr/>
          </p:nvSpPr>
          <p:spPr>
            <a:xfrm>
              <a:off x="2423234" y="2499919"/>
              <a:ext cx="269794" cy="2060004"/>
            </a:xfrm>
            <a:prstGeom prst="leftBrac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6FBAD783-56A5-4ABE-BA79-73C81409C770}"/>
                </a:ext>
              </a:extLst>
            </p:cNvPr>
            <p:cNvGrpSpPr/>
            <p:nvPr/>
          </p:nvGrpSpPr>
          <p:grpSpPr>
            <a:xfrm>
              <a:off x="127770" y="1979802"/>
              <a:ext cx="2108245" cy="2371752"/>
              <a:chOff x="109245" y="4546829"/>
              <a:chExt cx="2108245" cy="1971418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CA3B5F-D01B-4089-9F83-981CA969A2F6}"/>
                  </a:ext>
                </a:extLst>
              </p:cNvPr>
              <p:cNvSpPr/>
              <p:nvPr/>
            </p:nvSpPr>
            <p:spPr>
              <a:xfrm>
                <a:off x="109245" y="4546829"/>
                <a:ext cx="2108245" cy="1971418"/>
              </a:xfrm>
              <a:prstGeom prst="rect">
                <a:avLst/>
              </a:prstGeom>
              <a:solidFill>
                <a:srgbClr val="FFC000">
                  <a:lumMod val="20000"/>
                  <a:lumOff val="80000"/>
                </a:srgb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ZoneTexte 38">
                    <a:extLst>
                      <a:ext uri="{FF2B5EF4-FFF2-40B4-BE49-F238E27FC236}">
                        <a16:creationId xmlns:a16="http://schemas.microsoft.com/office/drawing/2014/main" id="{ED0EB8FB-685C-4E3C-A190-176F6C31C9A8}"/>
                      </a:ext>
                    </a:extLst>
                  </p:cNvPr>
                  <p:cNvSpPr txBox="1"/>
                  <p:nvPr/>
                </p:nvSpPr>
                <p:spPr>
                  <a:xfrm>
                    <a:off x="207540" y="4574292"/>
                    <a:ext cx="1903054" cy="184866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fr-FR" sz="1050" b="1" i="0" u="sng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Structural model:</a:t>
                    </a: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:r>
                      <a:rPr kumimoji="0" lang="fr-FR" sz="1050" b="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Between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latent variables (VL)</a:t>
                    </a: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fr-FR" sz="1050" b="0" i="0" u="sng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Main model: </a:t>
                    </a:r>
                    <a14:m>
                      <m:oMath xmlns:m="http://schemas.openxmlformats.org/officeDocument/2006/math"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8766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8766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A3A5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A3A5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A3A5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A3A5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A3A5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E76BF3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E76BF3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0F6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0F6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0F6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F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F6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F7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F7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</m:oMath>
                    </a14:m>
                    <a:endParaRPr kumimoji="0" lang="fr-FR" sz="105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fr-FR" sz="105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AMC </a:t>
                    </a:r>
                    <a:r>
                      <a:rPr kumimoji="0" lang="fr-FR" sz="1050" b="1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submodel</a:t>
                    </a: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:</a:t>
                    </a:r>
                    <a:r>
                      <a:rPr kumimoji="0" lang="fr-FR" sz="10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A3A5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8766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BF7D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F7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F7D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05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E76BF3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E76BF3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kumimoji="0" lang="fr-FR" sz="105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E76BF3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𝑉𝐿</m:t>
                        </m:r>
                      </m:oMath>
                    </a14:m>
                    <a:endParaRPr kumimoji="0" lang="fr-FR" sz="105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fr-FR" sz="105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One </a:t>
                    </a:r>
                    <a:r>
                      <a:rPr kumimoji="0" lang="fr-FR" sz="1050" b="1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Health</a:t>
                    </a: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 </a:t>
                    </a:r>
                    <a:r>
                      <a:rPr kumimoji="0" lang="fr-FR" sz="1050" b="1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submodels</a:t>
                    </a:r>
                    <a: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  <a:t>:</a:t>
                    </a:r>
                    <a:br>
                      <a:rPr kumimoji="0" lang="fr-F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</a:rPr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{"/>
                              <m:endChr m:val=""/>
                              <m:ctrlPr>
                                <a:rPr kumimoji="0" lang="fr-FR" sz="1050" b="1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kumimoji="0" lang="fr-FR" sz="1050" b="1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8766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= 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F7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F7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0F6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0F6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</m:e>
                                <m:e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0F6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8766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= 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F7D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F7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F7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</m:e>
                                <m:e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F7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8766D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= 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B0F6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0F6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B0F6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fr-FR" sz="1050" b="0" i="1" u="none" strike="noStrike" kern="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E76BF3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kumimoji="0" lang="fr-FR" sz="1050" b="0" i="1" u="none" strike="noStrike" kern="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E76BF3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𝑉𝐿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kumimoji="0" lang="fr-FR" sz="105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</a:endParaRPr>
                  </a:p>
                </p:txBody>
              </p:sp>
            </mc:Choice>
            <mc:Fallback xmlns="">
              <p:sp>
                <p:nvSpPr>
                  <p:cNvPr id="39" name="ZoneTexte 38">
                    <a:extLst>
                      <a:ext uri="{FF2B5EF4-FFF2-40B4-BE49-F238E27FC236}">
                        <a16:creationId xmlns:a16="http://schemas.microsoft.com/office/drawing/2014/main" id="{ED0EB8FB-685C-4E3C-A190-176F6C31C9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540" y="4574292"/>
                    <a:ext cx="1903054" cy="184866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9297" b="-7479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BBD6604D-8D9F-4C07-9453-EFB8A878C3DC}"/>
                </a:ext>
              </a:extLst>
            </p:cNvPr>
            <p:cNvSpPr txBox="1"/>
            <p:nvPr/>
          </p:nvSpPr>
          <p:spPr>
            <a:xfrm>
              <a:off x="6993644" y="2300915"/>
              <a:ext cx="3539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One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Health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submodels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endParaRP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FA6D157F-4E42-430D-AD91-B99422076C08}"/>
                </a:ext>
              </a:extLst>
            </p:cNvPr>
            <p:cNvSpPr txBox="1"/>
            <p:nvPr/>
          </p:nvSpPr>
          <p:spPr>
            <a:xfrm>
              <a:off x="5585812" y="1509194"/>
              <a:ext cx="60158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Antimicrobial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consumption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(AMC)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adjustment</a:t>
              </a: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 </a:t>
              </a:r>
              <a:r>
                <a:rPr kumimoji="0" lang="fr-FR" sz="18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Submodel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endParaRPr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E562DE49-6F79-46DC-97BF-E8E4D205DCD8}"/>
                </a:ext>
              </a:extLst>
            </p:cNvPr>
            <p:cNvSpPr txBox="1"/>
            <p:nvPr/>
          </p:nvSpPr>
          <p:spPr>
            <a:xfrm>
              <a:off x="4434681" y="916503"/>
              <a:ext cx="60158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Main model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52C5BAFA-0630-4175-AF94-33E67395D3DB}"/>
                    </a:ext>
                  </a:extLst>
                </p:cNvPr>
                <p:cNvSpPr txBox="1"/>
                <p:nvPr/>
              </p:nvSpPr>
              <p:spPr>
                <a:xfrm>
                  <a:off x="7147420" y="2786044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52C5BAFA-0630-4175-AF94-33E67395D3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7420" y="2786044"/>
                  <a:ext cx="489857" cy="369332"/>
                </a:xfrm>
                <a:prstGeom prst="rect">
                  <a:avLst/>
                </a:prstGeom>
                <a:blipFill>
                  <a:blip r:embed="rId1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55F4ED49-CBFE-4A6E-B3B4-DF00F8FA394E}"/>
                    </a:ext>
                  </a:extLst>
                </p:cNvPr>
                <p:cNvSpPr txBox="1"/>
                <p:nvPr/>
              </p:nvSpPr>
              <p:spPr>
                <a:xfrm>
                  <a:off x="8954465" y="3550208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55F4ED49-CBFE-4A6E-B3B4-DF00F8FA3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4465" y="3550208"/>
                  <a:ext cx="489857" cy="369332"/>
                </a:xfrm>
                <a:prstGeom prst="rect">
                  <a:avLst/>
                </a:prstGeom>
                <a:blipFill>
                  <a:blip r:embed="rId1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7CACB93D-61CB-4CCF-9653-6496D514D530}"/>
                    </a:ext>
                  </a:extLst>
                </p:cNvPr>
                <p:cNvSpPr txBox="1"/>
                <p:nvPr/>
              </p:nvSpPr>
              <p:spPr>
                <a:xfrm>
                  <a:off x="7102362" y="3559228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7CACB93D-61CB-4CCF-9653-6496D514D5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2362" y="3559228"/>
                  <a:ext cx="489857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D7314341-2609-4B12-9F6F-E91D9B15DF7F}"/>
                    </a:ext>
                  </a:extLst>
                </p:cNvPr>
                <p:cNvSpPr txBox="1"/>
                <p:nvPr/>
              </p:nvSpPr>
              <p:spPr>
                <a:xfrm>
                  <a:off x="5501311" y="3653242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D7314341-2609-4B12-9F6F-E91D9B15DF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1311" y="3653242"/>
                  <a:ext cx="489857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2E4F620A-9647-473D-A255-CAB5D7031060}"/>
                    </a:ext>
                  </a:extLst>
                </p:cNvPr>
                <p:cNvSpPr txBox="1"/>
                <p:nvPr/>
              </p:nvSpPr>
              <p:spPr>
                <a:xfrm>
                  <a:off x="5459319" y="4385621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2E4F620A-9647-473D-A255-CAB5D7031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319" y="4385621"/>
                  <a:ext cx="489857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2D9517F7-F56E-478D-97A5-0F044C11920B}"/>
                    </a:ext>
                  </a:extLst>
                </p:cNvPr>
                <p:cNvSpPr txBox="1"/>
                <p:nvPr/>
              </p:nvSpPr>
              <p:spPr>
                <a:xfrm>
                  <a:off x="3942638" y="3674052"/>
                  <a:ext cx="4898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endParaRPr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2D9517F7-F56E-478D-97A5-0F044C119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2638" y="3674052"/>
                  <a:ext cx="489857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A26BE326-8FB1-4DEF-9E4E-E90FB974BCAE}"/>
              </a:ext>
            </a:extLst>
          </p:cNvPr>
          <p:cNvSpPr txBox="1"/>
          <p:nvPr/>
        </p:nvSpPr>
        <p:spPr>
          <a:xfrm>
            <a:off x="1993618" y="536684"/>
            <a:ext cx="7066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 err="1"/>
              <a:t>Generalized</a:t>
            </a:r>
            <a:r>
              <a:rPr lang="fr-FR" b="1" u="sng" dirty="0"/>
              <a:t> </a:t>
            </a:r>
            <a:r>
              <a:rPr lang="fr-FR" b="1" u="sng" dirty="0" err="1"/>
              <a:t>structured</a:t>
            </a:r>
            <a:r>
              <a:rPr lang="fr-FR" b="1" u="sng" dirty="0"/>
              <a:t> component </a:t>
            </a:r>
            <a:r>
              <a:rPr lang="fr-FR" b="1" u="sng" dirty="0" err="1"/>
              <a:t>Analysis</a:t>
            </a:r>
            <a:r>
              <a:rPr lang="fr-FR" b="1" u="sng" dirty="0"/>
              <a:t> (GSCA)</a:t>
            </a:r>
            <a:r>
              <a:rPr lang="fr-FR" b="1" u="sng" baseline="30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66630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 err="1"/>
              <a:t>Results</a:t>
            </a:r>
            <a:endParaRPr lang="fr-FR" sz="5333" dirty="0"/>
          </a:p>
        </p:txBody>
      </p:sp>
    </p:spTree>
    <p:extLst>
      <p:ext uri="{BB962C8B-B14F-4D97-AF65-F5344CB8AC3E}">
        <p14:creationId xmlns:p14="http://schemas.microsoft.com/office/powerpoint/2010/main" val="1915617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70715B-8820-4C61-B44F-15CB3AA16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3041" y="4839"/>
            <a:ext cx="2301427" cy="1095807"/>
          </a:xfrm>
          <a:prstGeom prst="rect">
            <a:avLst/>
          </a:prstGeom>
        </p:spPr>
      </p:pic>
      <p:sp>
        <p:nvSpPr>
          <p:cNvPr id="96" name="ZoneTexte 95">
            <a:extLst>
              <a:ext uri="{FF2B5EF4-FFF2-40B4-BE49-F238E27FC236}">
                <a16:creationId xmlns:a16="http://schemas.microsoft.com/office/drawing/2014/main" id="{9C8D3766-14BB-4B16-9FEB-A4A588363A32}"/>
              </a:ext>
            </a:extLst>
          </p:cNvPr>
          <p:cNvSpPr txBox="1"/>
          <p:nvPr/>
        </p:nvSpPr>
        <p:spPr>
          <a:xfrm>
            <a:off x="0" y="95245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Summary</a:t>
            </a:r>
            <a:r>
              <a:rPr lang="fr-FR" sz="2800" dirty="0"/>
              <a:t> of temporal information </a:t>
            </a: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B343142-8C74-46F6-97EC-332E948A4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78203"/>
            <a:ext cx="8246378" cy="5497584"/>
          </a:xfrm>
          <a:prstGeom prst="rect">
            <a:avLst/>
          </a:prstGeom>
        </p:spPr>
      </p:pic>
      <p:grpSp>
        <p:nvGrpSpPr>
          <p:cNvPr id="100" name="Groupe 99">
            <a:extLst>
              <a:ext uri="{FF2B5EF4-FFF2-40B4-BE49-F238E27FC236}">
                <a16:creationId xmlns:a16="http://schemas.microsoft.com/office/drawing/2014/main" id="{F669AC19-F051-4201-8602-375D7C8F0570}"/>
              </a:ext>
            </a:extLst>
          </p:cNvPr>
          <p:cNvGrpSpPr/>
          <p:nvPr/>
        </p:nvGrpSpPr>
        <p:grpSpPr>
          <a:xfrm>
            <a:off x="8775340" y="3895320"/>
            <a:ext cx="2703444" cy="1909862"/>
            <a:chOff x="8716616" y="2653749"/>
            <a:chExt cx="2703444" cy="1909862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EB1FA64-CAD6-4AD1-A642-937AFCE2C869}"/>
                </a:ext>
              </a:extLst>
            </p:cNvPr>
            <p:cNvSpPr/>
            <p:nvPr/>
          </p:nvSpPr>
          <p:spPr>
            <a:xfrm>
              <a:off x="8716616" y="2653749"/>
              <a:ext cx="2703444" cy="190986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9" name="ZoneTexte 98">
              <a:extLst>
                <a:ext uri="{FF2B5EF4-FFF2-40B4-BE49-F238E27FC236}">
                  <a16:creationId xmlns:a16="http://schemas.microsoft.com/office/drawing/2014/main" id="{F202AF2D-A47A-4BAE-A51D-FAE62431C554}"/>
                </a:ext>
              </a:extLst>
            </p:cNvPr>
            <p:cNvSpPr txBox="1"/>
            <p:nvPr/>
          </p:nvSpPr>
          <p:spPr>
            <a:xfrm>
              <a:off x="8808440" y="2734811"/>
              <a:ext cx="2533476" cy="175432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The fPC1 scores </a:t>
              </a:r>
              <a:r>
                <a:rPr lang="fr-FR" dirty="0" err="1"/>
                <a:t>generally</a:t>
              </a:r>
              <a:r>
                <a:rPr lang="fr-FR" dirty="0"/>
                <a:t> </a:t>
              </a:r>
              <a:r>
                <a:rPr lang="fr-FR" dirty="0" err="1"/>
                <a:t>summarize</a:t>
              </a:r>
              <a:r>
                <a:rPr lang="fr-FR" dirty="0"/>
                <a:t> an important proportion of variation over the time (</a:t>
              </a:r>
              <a:r>
                <a:rPr lang="fr-FR" dirty="0" err="1"/>
                <a:t>above</a:t>
              </a:r>
              <a:r>
                <a:rPr lang="fr-FR" dirty="0"/>
                <a:t> 70%)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5950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70715B-8820-4C61-B44F-15CB3AA16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334779" y="4839"/>
            <a:ext cx="2297950" cy="1095807"/>
          </a:xfrm>
          <a:prstGeom prst="rect">
            <a:avLst/>
          </a:prstGeom>
        </p:spPr>
      </p:pic>
      <p:sp>
        <p:nvSpPr>
          <p:cNvPr id="96" name="ZoneTexte 95">
            <a:extLst>
              <a:ext uri="{FF2B5EF4-FFF2-40B4-BE49-F238E27FC236}">
                <a16:creationId xmlns:a16="http://schemas.microsoft.com/office/drawing/2014/main" id="{9C8D3766-14BB-4B16-9FEB-A4A588363A32}"/>
              </a:ext>
            </a:extLst>
          </p:cNvPr>
          <p:cNvSpPr txBox="1"/>
          <p:nvPr/>
        </p:nvSpPr>
        <p:spPr>
          <a:xfrm>
            <a:off x="0" y="95245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Reduction of </a:t>
            </a:r>
            <a:r>
              <a:rPr lang="fr-FR" sz="2800" dirty="0" err="1"/>
              <a:t>number</a:t>
            </a:r>
            <a:r>
              <a:rPr lang="fr-FR" sz="2800" dirty="0"/>
              <a:t> of variable 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F767418-EBCA-4754-9700-81503991BA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822" y="1570496"/>
            <a:ext cx="11824355" cy="47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13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70715B-8820-4C61-B44F-15CB3AA16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334779" y="4839"/>
            <a:ext cx="2297950" cy="1095806"/>
          </a:xfrm>
          <a:prstGeom prst="rect">
            <a:avLst/>
          </a:prstGeom>
        </p:spPr>
      </p:pic>
      <p:sp>
        <p:nvSpPr>
          <p:cNvPr id="96" name="ZoneTexte 95">
            <a:extLst>
              <a:ext uri="{FF2B5EF4-FFF2-40B4-BE49-F238E27FC236}">
                <a16:creationId xmlns:a16="http://schemas.microsoft.com/office/drawing/2014/main" id="{9C8D3766-14BB-4B16-9FEB-A4A588363A32}"/>
              </a:ext>
            </a:extLst>
          </p:cNvPr>
          <p:cNvSpPr txBox="1"/>
          <p:nvPr/>
        </p:nvSpPr>
        <p:spPr>
          <a:xfrm>
            <a:off x="0" y="95245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Modelisation</a:t>
            </a:r>
            <a:r>
              <a:rPr lang="fr-FR" sz="2800" dirty="0"/>
              <a:t> of </a:t>
            </a:r>
            <a:r>
              <a:rPr lang="fr-FR" sz="2800" dirty="0" err="1"/>
              <a:t>relationships</a:t>
            </a:r>
            <a:r>
              <a:rPr lang="fr-FR" sz="2800" dirty="0"/>
              <a:t> – </a:t>
            </a:r>
            <a:r>
              <a:rPr lang="fr-FR" sz="2800" dirty="0" err="1"/>
              <a:t>Measurment</a:t>
            </a:r>
            <a:br>
              <a:rPr lang="fr-FR" sz="2800" dirty="0"/>
            </a:br>
            <a:r>
              <a:rPr lang="fr-FR" sz="2800" dirty="0"/>
              <a:t>model GSCA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80C86DD-3E0A-4535-8E0F-B7F8D35C70EE}"/>
                  </a:ext>
                </a:extLst>
              </p:cNvPr>
              <p:cNvSpPr txBox="1"/>
              <p:nvPr/>
            </p:nvSpPr>
            <p:spPr>
              <a:xfrm>
                <a:off x="286624" y="1590035"/>
                <a:ext cx="11618751" cy="41395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br>
                  <a:rPr lang="fr-FR" sz="1100" u="sng" dirty="0"/>
                </a:br>
                <a:endParaRPr lang="fr-FR" sz="2800" u="sng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𝐴𝑀𝐶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0.6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𝐹𝑄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𝑝𝑟𝑖𝑚𝑎𝑟𝑦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𝑐𝑎𝑟𝑒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𝑠𝑒𝑡𝑡𝑖𝑛𝑔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𝑐𝑜𝑛𝑠𝑢𝑚𝑝𝑡𝑖𝑜𝑛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0.47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𝐹𝑄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𝐻𝑜𝑠𝑝𝑖𝑡𝑎𝑙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𝑐𝑜𝑛𝑠𝑢𝑚𝑝𝑡𝑖𝑜𝑛</m:t>
                      </m:r>
                      <m:r>
                        <a:rPr lang="fr-FR" sz="2000" b="0" i="1" smtClean="0">
                          <a:solidFill>
                            <a:srgbClr val="A3A5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fr-FR" sz="2800" dirty="0"/>
              </a:p>
              <a:p>
                <a:pPr algn="ctr"/>
                <a:br>
                  <a:rPr lang="fr-FR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𝐴𝑛𝑖𝑚𝑎𝑙𝑠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0.37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𝑃𝑒𝑡𝑠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𝐹𝑄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𝑟𝑒𝑠𝑖𝑠𝑡𝑎𝑛𝑐𝑒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0.13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𝑣𝑒𝑡𝑠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𝑝𝑒𝑟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0F6"/>
                          </a:solidFill>
                          <a:latin typeface="Cambria Math" panose="02040503050406030204" pitchFamily="18" charset="0"/>
                        </a:rPr>
                        <m:t>𝑝𝑒𝑡</m:t>
                      </m:r>
                    </m:oMath>
                  </m:oMathPara>
                </a14:m>
                <a:br>
                  <a:rPr lang="fr-FR" sz="2000" b="0" i="1" dirty="0">
                    <a:solidFill>
                      <a:srgbClr val="00B0F6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−0.78 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𝑓𝑃𝐶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1 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𝑙𝑖𝑣𝑒𝑠𝑡𝑜𝑐𝑘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𝑑𝑒𝑛𝑠𝑖𝑡𝑦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 −0.06 ∗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𝑓𝑃𝐶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1 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𝑙𝑖𝑣𝑒𝑠𝑡𝑜𝑐𝑘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𝐹𝑄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000" b="0" i="1" smtClean="0">
                        <a:solidFill>
                          <a:srgbClr val="00B0F6"/>
                        </a:solidFill>
                        <a:latin typeface="Cambria Math" panose="02040503050406030204" pitchFamily="18" charset="0"/>
                      </a:rPr>
                      <m:t>𝑟𝑒𝑠𝑖𝑠𝑡𝑎𝑛𝑐𝑒</m:t>
                    </m:r>
                  </m:oMath>
                </a14:m>
                <a:r>
                  <a:rPr lang="fr-FR" sz="2800" dirty="0">
                    <a:solidFill>
                      <a:srgbClr val="00B0F6"/>
                    </a:solidFill>
                  </a:rPr>
                  <a:t> </a:t>
                </a:r>
              </a:p>
              <a:p>
                <a:pPr algn="ctr"/>
                <a:endParaRPr lang="fr-FR" sz="2800" dirty="0">
                  <a:solidFill>
                    <a:srgbClr val="00B0F6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𝐸𝑛𝑣𝑖𝑟𝑜𝑛𝑚𝑒𝑛𝑡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0.65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𝑃𝑀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 2.5 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𝑝𝑟𝑜𝑝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0.73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𝑐𝑜𝑜𝑙𝑖𝑛𝑔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𝑑𝑒𝑔𝑟𝑒𝑒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00BF7D"/>
                          </a:solidFill>
                          <a:latin typeface="Cambria Math" panose="02040503050406030204" pitchFamily="18" charset="0"/>
                        </a:rPr>
                        <m:t>𝑑𝑎𝑦𝑠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2000" dirty="0"/>
              </a:p>
              <a:p>
                <a:pPr algn="ctr"/>
                <a:endParaRPr lang="fr-FR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0.66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sz="2000" b="0" i="0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𝑑𝑜𝑐𝑡𝑜𝑟𝑠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𝑝𝑒𝑟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𝑐𝑎𝑝𝑖𝑡𝑎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−0.6 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E76BF3"/>
                          </a:solidFill>
                          <a:latin typeface="Cambria Math" panose="02040503050406030204" pitchFamily="18" charset="0"/>
                        </a:rPr>
                        <m:t>𝐸𝑄𝐼</m:t>
                      </m:r>
                    </m:oMath>
                  </m:oMathPara>
                </a14:m>
                <a:endParaRPr lang="fr-FR" sz="2000" i="1" dirty="0"/>
              </a:p>
              <a:p>
                <a:pPr algn="ctr"/>
                <a:endParaRPr lang="fr-FR" sz="20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𝑓𝑃𝐶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𝐹𝑄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𝑝𝑟𝑖𝑚𝑎𝑟𝑦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𝑐𝑎𝑟𝑒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𝑠𝑒𝑡𝑡𝑖𝑛𝑔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solidFill>
                            <a:srgbClr val="F8766D"/>
                          </a:solidFill>
                          <a:latin typeface="Cambria Math" panose="02040503050406030204" pitchFamily="18" charset="0"/>
                        </a:rPr>
                        <m:t>𝑟𝑒𝑠𝑖𝑠𝑡𝑎𝑛𝑐𝑒</m:t>
                      </m:r>
                    </m:oMath>
                  </m:oMathPara>
                </a14:m>
                <a:endParaRPr lang="fr-FR" sz="2000" i="1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80C86DD-3E0A-4535-8E0F-B7F8D35C7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624" y="1590035"/>
                <a:ext cx="11618751" cy="4139595"/>
              </a:xfrm>
              <a:prstGeom prst="rect">
                <a:avLst/>
              </a:prstGeom>
              <a:blipFill>
                <a:blip r:embed="rId5"/>
                <a:stretch>
                  <a:fillRect b="-7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4854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70715B-8820-4C61-B44F-15CB3AA16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334779" y="4839"/>
            <a:ext cx="2297950" cy="1095806"/>
          </a:xfrm>
          <a:prstGeom prst="rect">
            <a:avLst/>
          </a:prstGeom>
        </p:spPr>
      </p:pic>
      <p:sp>
        <p:nvSpPr>
          <p:cNvPr id="96" name="ZoneTexte 95">
            <a:extLst>
              <a:ext uri="{FF2B5EF4-FFF2-40B4-BE49-F238E27FC236}">
                <a16:creationId xmlns:a16="http://schemas.microsoft.com/office/drawing/2014/main" id="{9C8D3766-14BB-4B16-9FEB-A4A588363A32}"/>
              </a:ext>
            </a:extLst>
          </p:cNvPr>
          <p:cNvSpPr txBox="1"/>
          <p:nvPr/>
        </p:nvSpPr>
        <p:spPr>
          <a:xfrm>
            <a:off x="0" y="95245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Modelisation</a:t>
            </a:r>
            <a:r>
              <a:rPr lang="fr-FR" sz="2800" dirty="0"/>
              <a:t> of </a:t>
            </a:r>
            <a:r>
              <a:rPr lang="fr-FR" sz="2800" dirty="0" err="1"/>
              <a:t>relationships</a:t>
            </a:r>
            <a:r>
              <a:rPr lang="fr-FR" sz="2800" dirty="0"/>
              <a:t> – Structural</a:t>
            </a:r>
            <a:br>
              <a:rPr lang="fr-FR" sz="2800" dirty="0"/>
            </a:br>
            <a:r>
              <a:rPr lang="fr-FR" sz="2800" dirty="0"/>
              <a:t>model GSCA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80C86DD-3E0A-4535-8E0F-B7F8D35C70EE}"/>
                  </a:ext>
                </a:extLst>
              </p:cNvPr>
              <p:cNvSpPr txBox="1"/>
              <p:nvPr/>
            </p:nvSpPr>
            <p:spPr>
              <a:xfrm>
                <a:off x="0" y="1539701"/>
                <a:ext cx="11618751" cy="37702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br>
                  <a:rPr lang="fr-FR" sz="1100" u="sng" dirty="0"/>
                </a:br>
                <a:endParaRPr lang="fr-FR" sz="2800" u="sng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𝐴𝑀𝐶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0.8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𝐸𝑛𝑣𝑖𝑟𝑜𝑛𝑚𝑒𝑛𝑡</m:t>
                          </m:r>
                        </m:sub>
                      </m:sSub>
                      <m:r>
                        <a:rPr lang="fr-FR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−0.13</m:t>
                      </m:r>
                      <m:r>
                        <a:rPr lang="fr-FR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</m:oMath>
                  </m:oMathPara>
                </a14:m>
                <a:endParaRPr lang="fr-FR" sz="2800" dirty="0"/>
              </a:p>
              <a:p>
                <a:pPr algn="ctr"/>
                <a:endParaRPr lang="fr-FR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𝐴𝑛𝑖𝑚𝑎𝑙𝑠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1.19</m:t>
                      </m:r>
                      <m:r>
                        <a:rPr lang="fr-FR" sz="2000">
                          <a:latin typeface="Cambria Math" panose="02040503050406030204" pitchFamily="18" charset="0"/>
                        </a:rPr>
                        <m:t> ∗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  <m:r>
                        <a:rPr lang="fr-FR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0.29</m:t>
                      </m:r>
                      <m:r>
                        <a:rPr lang="fr-FR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𝐸𝑛𝑣𝑖𝑟𝑜𝑛𝑚𝑒𝑛𝑡</m:t>
                          </m:r>
                        </m:sub>
                      </m:sSub>
                    </m:oMath>
                  </m:oMathPara>
                </a14:m>
                <a:endParaRPr lang="fr-FR" sz="3200" dirty="0">
                  <a:solidFill>
                    <a:srgbClr val="00BF7D"/>
                  </a:solidFill>
                </a:endParaRPr>
              </a:p>
              <a:p>
                <a:pPr algn="ctr"/>
                <a:br>
                  <a:rPr lang="fr-FR" sz="32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𝐸𝑛𝑣𝑖𝑟𝑜𝑛𝑚𝑒𝑛𝑡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1.28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  <m:r>
                        <a:rPr lang="fr-FR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−0.41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𝐴𝑛𝑖𝑚𝑎𝑙𝑠</m:t>
                          </m:r>
                        </m:sub>
                      </m:sSub>
                    </m:oMath>
                  </m:oMathPara>
                </a14:m>
                <a:endParaRPr lang="fr-FR" sz="2000" dirty="0"/>
              </a:p>
              <a:p>
                <a:pPr algn="ctr"/>
                <a:endParaRPr lang="fr-FR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0.58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0F6"/>
                              </a:solidFill>
                              <a:latin typeface="Cambria Math" panose="02040503050406030204" pitchFamily="18" charset="0"/>
                            </a:rPr>
                            <m:t>𝐴𝑛𝑖𝑚𝑎𝑙𝑠</m:t>
                          </m:r>
                        </m:sub>
                      </m:sSub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0.44</m:t>
                      </m:r>
                      <m:r>
                        <a:rPr lang="fr-FR" sz="20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BF7D"/>
                              </a:solidFill>
                              <a:latin typeface="Cambria Math" panose="02040503050406030204" pitchFamily="18" charset="0"/>
                            </a:rPr>
                            <m:t>𝐸𝑛𝑣𝑖𝑟𝑜𝑛𝑚𝑒𝑛𝑡</m:t>
                          </m:r>
                        </m:sub>
                      </m:sSub>
                    </m:oMath>
                  </m:oMathPara>
                </a14:m>
                <a:endParaRPr lang="fr-FR" sz="2000" i="1" dirty="0"/>
              </a:p>
              <a:p>
                <a:pPr algn="ctr"/>
                <a:endParaRPr lang="fr-FR" sz="20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F8766D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0.84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E76BF3"/>
                              </a:solidFill>
                              <a:latin typeface="Cambria Math" panose="02040503050406030204" pitchFamily="18" charset="0"/>
                            </a:rPr>
                            <m:t>𝐻𝑢𝑚𝑎𝑛𝑠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0.12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𝑉𝐿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A3A500"/>
                              </a:solidFill>
                              <a:latin typeface="Cambria Math" panose="02040503050406030204" pitchFamily="18" charset="0"/>
                            </a:rPr>
                            <m:t>𝐴𝑀𝐶</m:t>
                          </m:r>
                        </m:sub>
                      </m:sSub>
                    </m:oMath>
                  </m:oMathPara>
                </a14:m>
                <a:endParaRPr lang="fr-FR" sz="2000" i="1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80C86DD-3E0A-4535-8E0F-B7F8D35C7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539701"/>
                <a:ext cx="11618751" cy="37702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992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B4479DB3-C29D-4734-99A8-CBF2396EB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168" y="281346"/>
            <a:ext cx="8762419" cy="657181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770715B-8820-4C61-B44F-15CB3AA16C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334779" y="4839"/>
            <a:ext cx="2297950" cy="1095806"/>
          </a:xfrm>
          <a:prstGeom prst="rect">
            <a:avLst/>
          </a:prstGeom>
        </p:spPr>
      </p:pic>
      <p:sp>
        <p:nvSpPr>
          <p:cNvPr id="96" name="ZoneTexte 95">
            <a:extLst>
              <a:ext uri="{FF2B5EF4-FFF2-40B4-BE49-F238E27FC236}">
                <a16:creationId xmlns:a16="http://schemas.microsoft.com/office/drawing/2014/main" id="{9C8D3766-14BB-4B16-9FEB-A4A588363A32}"/>
              </a:ext>
            </a:extLst>
          </p:cNvPr>
          <p:cNvSpPr txBox="1"/>
          <p:nvPr/>
        </p:nvSpPr>
        <p:spPr>
          <a:xfrm>
            <a:off x="0" y="95245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Modelisation</a:t>
            </a:r>
            <a:r>
              <a:rPr lang="fr-FR" sz="2800" dirty="0"/>
              <a:t> of </a:t>
            </a:r>
            <a:r>
              <a:rPr lang="fr-FR" sz="2800" dirty="0" err="1"/>
              <a:t>relationships</a:t>
            </a:r>
            <a:r>
              <a:rPr lang="fr-FR" sz="2800" dirty="0"/>
              <a:t> – </a:t>
            </a:r>
            <a:r>
              <a:rPr lang="fr-FR" sz="2800" dirty="0" err="1"/>
              <a:t>Genaral</a:t>
            </a:r>
            <a:r>
              <a:rPr lang="fr-FR" sz="2800" dirty="0"/>
              <a:t> graphe</a:t>
            </a:r>
            <a:br>
              <a:rPr lang="fr-FR" sz="2800" dirty="0"/>
            </a:br>
            <a:r>
              <a:rPr lang="fr-FR" sz="2800" dirty="0"/>
              <a:t>GSCA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757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385702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Conclusion and Perspectives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1510ED8-944E-4063-AE07-BABA0A28AAE8}"/>
              </a:ext>
            </a:extLst>
          </p:cNvPr>
          <p:cNvSpPr txBox="1"/>
          <p:nvPr/>
        </p:nvSpPr>
        <p:spPr>
          <a:xfrm>
            <a:off x="1279321" y="1215021"/>
            <a:ext cx="1568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Conclusion</a:t>
            </a:r>
            <a:r>
              <a:rPr lang="fr-FR" b="1" dirty="0"/>
              <a:t>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D6D6698-0AC5-4875-8FBA-4C39B0BCAE49}"/>
              </a:ext>
            </a:extLst>
          </p:cNvPr>
          <p:cNvSpPr txBox="1"/>
          <p:nvPr/>
        </p:nvSpPr>
        <p:spPr>
          <a:xfrm>
            <a:off x="5461857" y="1215021"/>
            <a:ext cx="1568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Limits</a:t>
            </a:r>
            <a:r>
              <a:rPr lang="fr-FR" b="1" dirty="0"/>
              <a:t>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A6492A-FDDD-42D0-A301-2BDC643A7EB7}"/>
              </a:ext>
            </a:extLst>
          </p:cNvPr>
          <p:cNvSpPr txBox="1"/>
          <p:nvPr/>
        </p:nvSpPr>
        <p:spPr>
          <a:xfrm>
            <a:off x="8702179" y="1254333"/>
            <a:ext cx="1682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Perspectives</a:t>
            </a:r>
            <a:r>
              <a:rPr lang="fr-FR" dirty="0"/>
              <a:t>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519DD86-9A26-40FA-84FE-959B8F1FF113}"/>
              </a:ext>
            </a:extLst>
          </p:cNvPr>
          <p:cNvSpPr txBox="1"/>
          <p:nvPr/>
        </p:nvSpPr>
        <p:spPr>
          <a:xfrm>
            <a:off x="1279321" y="497972"/>
            <a:ext cx="8932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How can temporal and regional variations in fluoroquinolone resistance in France primary care settings be explained within a One Health framework ?</a:t>
            </a:r>
            <a:endParaRPr lang="fr-FR" sz="1100" dirty="0">
              <a:solidFill>
                <a:schemeClr val="accent2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E8F3CD3-5AF0-4843-8F6B-C4CD240255E1}"/>
              </a:ext>
            </a:extLst>
          </p:cNvPr>
          <p:cNvSpPr txBox="1"/>
          <p:nvPr/>
        </p:nvSpPr>
        <p:spPr>
          <a:xfrm>
            <a:off x="582181" y="1611043"/>
            <a:ext cx="3066332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 err="1"/>
              <a:t>fPCA</a:t>
            </a:r>
            <a:r>
              <a:rPr lang="fr-FR" sz="1400" dirty="0"/>
              <a:t> → </a:t>
            </a:r>
            <a:r>
              <a:rPr lang="fr-FR" sz="1400" dirty="0" err="1"/>
              <a:t>summary</a:t>
            </a:r>
            <a:r>
              <a:rPr lang="fr-FR" sz="1400" dirty="0"/>
              <a:t> of temporal dimension → </a:t>
            </a:r>
            <a:r>
              <a:rPr lang="fr-FR" sz="1400" b="1" dirty="0" err="1"/>
              <a:t>independent</a:t>
            </a:r>
            <a:r>
              <a:rPr lang="fr-FR" sz="1400" b="1" dirty="0"/>
              <a:t> observations.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Clustering of variables </a:t>
            </a:r>
            <a:r>
              <a:rPr lang="fr-FR" sz="1400" b="1" dirty="0" err="1"/>
              <a:t>around</a:t>
            </a:r>
            <a:r>
              <a:rPr lang="fr-FR" sz="1400" b="1" dirty="0"/>
              <a:t> latent component: </a:t>
            </a:r>
            <a:r>
              <a:rPr lang="fr-FR" sz="1400" dirty="0" err="1"/>
              <a:t>reduce</a:t>
            </a:r>
            <a:r>
              <a:rPr lang="fr-FR" sz="1400" dirty="0"/>
              <a:t> </a:t>
            </a:r>
            <a:r>
              <a:rPr lang="fr-FR" sz="1400" dirty="0" err="1"/>
              <a:t>redundancy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GSCA</a:t>
            </a:r>
            <a:r>
              <a:rPr lang="fr-FR" sz="1400" dirty="0"/>
              <a:t>: </a:t>
            </a:r>
            <a:r>
              <a:rPr lang="fr-FR" sz="1400" dirty="0" err="1"/>
              <a:t>modelizes</a:t>
            </a:r>
            <a:r>
              <a:rPr lang="fr-FR" sz="1400" dirty="0"/>
              <a:t> </a:t>
            </a:r>
            <a:r>
              <a:rPr lang="fr-FR" sz="1400" dirty="0" err="1"/>
              <a:t>relationships</a:t>
            </a:r>
            <a:r>
              <a:rPr lang="fr-FR" sz="1400" dirty="0"/>
              <a:t> </a:t>
            </a:r>
            <a:r>
              <a:rPr lang="fr-FR" sz="1400" dirty="0" err="1"/>
              <a:t>between</a:t>
            </a:r>
            <a:r>
              <a:rPr lang="fr-FR" sz="1400" dirty="0"/>
              <a:t> blocks. Main model + </a:t>
            </a:r>
            <a:r>
              <a:rPr lang="fr-FR" sz="1400" dirty="0" err="1"/>
              <a:t>submodels</a:t>
            </a:r>
            <a:r>
              <a:rPr lang="fr-FR" sz="1400" dirty="0"/>
              <a:t> = One </a:t>
            </a:r>
            <a:r>
              <a:rPr lang="fr-FR" sz="1400" dirty="0" err="1"/>
              <a:t>Health</a:t>
            </a:r>
            <a:r>
              <a:rPr lang="fr-FR" sz="1400" dirty="0"/>
              <a:t> </a:t>
            </a:r>
            <a:r>
              <a:rPr lang="fr-FR" sz="1400" dirty="0" err="1"/>
              <a:t>framework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FQ </a:t>
            </a:r>
            <a:r>
              <a:rPr lang="fr-FR" sz="1400" b="1" dirty="0" err="1"/>
              <a:t>resitance</a:t>
            </a:r>
            <a:r>
              <a:rPr lang="fr-FR" sz="1400" dirty="0"/>
              <a:t> </a:t>
            </a:r>
            <a:r>
              <a:rPr lang="fr-FR" sz="1400" dirty="0" err="1"/>
              <a:t>mainly</a:t>
            </a:r>
            <a:r>
              <a:rPr lang="fr-FR" sz="1400" dirty="0"/>
              <a:t> </a:t>
            </a:r>
            <a:r>
              <a:rPr lang="fr-FR" sz="1400" dirty="0" err="1"/>
              <a:t>explained</a:t>
            </a:r>
            <a:r>
              <a:rPr lang="fr-FR" sz="1400" dirty="0"/>
              <a:t> by </a:t>
            </a:r>
            <a:r>
              <a:rPr lang="fr-FR" sz="1400" dirty="0" err="1"/>
              <a:t>Humans</a:t>
            </a:r>
            <a:r>
              <a:rPr lang="fr-FR" sz="1400" dirty="0"/>
              <a:t> block </a:t>
            </a:r>
            <a:r>
              <a:rPr lang="fr-FR" sz="1400" dirty="0" err="1"/>
              <a:t>than</a:t>
            </a:r>
            <a:r>
              <a:rPr lang="fr-FR" sz="1400" dirty="0"/>
              <a:t> </a:t>
            </a:r>
            <a:r>
              <a:rPr lang="fr-FR" sz="1400" dirty="0" err="1"/>
              <a:t>consumption</a:t>
            </a:r>
            <a:r>
              <a:rPr lang="fr-FR" sz="1400" dirty="0"/>
              <a:t> block: </a:t>
            </a:r>
            <a:br>
              <a:rPr lang="fr-FR" sz="1400" dirty="0"/>
            </a:br>
            <a:r>
              <a:rPr lang="fr-FR" sz="1400" dirty="0"/>
              <a:t>EQI ↓</a:t>
            </a:r>
            <a:br>
              <a:rPr lang="fr-FR" sz="1400" dirty="0"/>
            </a:br>
            <a:r>
              <a:rPr lang="fr-FR" sz="1400" dirty="0" err="1"/>
              <a:t>doctor</a:t>
            </a:r>
            <a:r>
              <a:rPr lang="fr-FR" sz="1400" dirty="0"/>
              <a:t>/population ratio ↑</a:t>
            </a:r>
            <a:br>
              <a:rPr lang="fr-FR" sz="1400" b="1" dirty="0"/>
            </a:br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One </a:t>
            </a:r>
            <a:r>
              <a:rPr lang="fr-FR" sz="1400" b="1" dirty="0" err="1"/>
              <a:t>Health</a:t>
            </a:r>
            <a:r>
              <a:rPr lang="fr-FR" sz="1400" b="1" dirty="0"/>
              <a:t> blocks:</a:t>
            </a:r>
            <a:r>
              <a:rPr lang="fr-FR" sz="1400" dirty="0"/>
              <a:t> </a:t>
            </a:r>
            <a:r>
              <a:rPr lang="fr-FR" sz="1400" dirty="0" err="1"/>
              <a:t>common</a:t>
            </a:r>
            <a:r>
              <a:rPr lang="fr-FR" sz="1400" dirty="0"/>
              <a:t> factor: </a:t>
            </a:r>
            <a:r>
              <a:rPr lang="fr-FR" sz="1400" dirty="0" err="1"/>
              <a:t>urban</a:t>
            </a:r>
            <a:r>
              <a:rPr lang="fr-FR" sz="1400" dirty="0"/>
              <a:t>/rural </a:t>
            </a:r>
            <a:r>
              <a:rPr lang="fr-FR" sz="1400" dirty="0" err="1"/>
              <a:t>regional</a:t>
            </a:r>
            <a:r>
              <a:rPr lang="fr-FR" sz="1400" dirty="0"/>
              <a:t> gradient. </a:t>
            </a:r>
            <a:r>
              <a:rPr lang="fr-FR" sz="1400" b="1" dirty="0" err="1"/>
              <a:t>Higher</a:t>
            </a:r>
            <a:r>
              <a:rPr lang="fr-FR" sz="1400" b="1" dirty="0"/>
              <a:t> </a:t>
            </a:r>
            <a:r>
              <a:rPr lang="fr-FR" sz="1400" b="1" dirty="0" err="1"/>
              <a:t>resistance</a:t>
            </a:r>
            <a:r>
              <a:rPr lang="fr-FR" sz="1400" b="1" dirty="0"/>
              <a:t> in </a:t>
            </a:r>
            <a:r>
              <a:rPr lang="fr-FR" sz="1400" b="1" dirty="0" err="1"/>
              <a:t>urban</a:t>
            </a:r>
            <a:r>
              <a:rPr lang="fr-FR" sz="1400" b="1" dirty="0"/>
              <a:t> </a:t>
            </a:r>
            <a:r>
              <a:rPr lang="fr-FR" sz="1400" b="1" dirty="0" err="1"/>
              <a:t>regions</a:t>
            </a:r>
            <a:endParaRPr lang="fr-FR" sz="1400" b="1" dirty="0"/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D9C8C8C0-4A8C-4296-8094-60035328B236}"/>
              </a:ext>
            </a:extLst>
          </p:cNvPr>
          <p:cNvCxnSpPr>
            <a:cxnSpLocks/>
          </p:cNvCxnSpPr>
          <p:nvPr/>
        </p:nvCxnSpPr>
        <p:spPr>
          <a:xfrm>
            <a:off x="4244828" y="1254333"/>
            <a:ext cx="0" cy="5603667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07E057F1-DE02-4FAF-8C88-B12C6D598379}"/>
              </a:ext>
            </a:extLst>
          </p:cNvPr>
          <p:cNvCxnSpPr>
            <a:cxnSpLocks/>
          </p:cNvCxnSpPr>
          <p:nvPr/>
        </p:nvCxnSpPr>
        <p:spPr>
          <a:xfrm>
            <a:off x="7878660" y="1215021"/>
            <a:ext cx="0" cy="564297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FAF324C3-55BD-4329-BC20-1734B4230B71}"/>
              </a:ext>
            </a:extLst>
          </p:cNvPr>
          <p:cNvSpPr txBox="1"/>
          <p:nvPr/>
        </p:nvSpPr>
        <p:spPr>
          <a:xfrm>
            <a:off x="4539843" y="1602111"/>
            <a:ext cx="3112313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 err="1"/>
              <a:t>Only</a:t>
            </a:r>
            <a:r>
              <a:rPr lang="fr-FR" sz="1400" b="1" dirty="0"/>
              <a:t> one </a:t>
            </a:r>
            <a:r>
              <a:rPr lang="fr-FR" sz="1400" b="1" dirty="0" err="1"/>
              <a:t>fPC</a:t>
            </a:r>
            <a:r>
              <a:rPr lang="fr-FR" sz="1400" dirty="0"/>
              <a:t>: </a:t>
            </a:r>
            <a:r>
              <a:rPr lang="fr-FR" sz="1400" b="1" dirty="0" err="1"/>
              <a:t>only</a:t>
            </a:r>
            <a:r>
              <a:rPr lang="fr-FR" sz="1400" b="1" dirty="0"/>
              <a:t> main trends </a:t>
            </a:r>
            <a:r>
              <a:rPr lang="fr-FR" sz="1400" b="1" dirty="0" err="1"/>
              <a:t>considered</a:t>
            </a:r>
            <a:r>
              <a:rPr lang="fr-FR" sz="1400" dirty="0"/>
              <a:t>. </a:t>
            </a:r>
            <a:r>
              <a:rPr lang="fr-FR" sz="1400" dirty="0" err="1"/>
              <a:t>Interesting</a:t>
            </a:r>
            <a:r>
              <a:rPr lang="fr-FR" sz="1400" dirty="0"/>
              <a:t> </a:t>
            </a:r>
            <a:r>
              <a:rPr lang="fr-FR" sz="1400" dirty="0" err="1"/>
              <a:t>little</a:t>
            </a:r>
            <a:r>
              <a:rPr lang="fr-FR" sz="1400" dirty="0"/>
              <a:t> temporal variation at </a:t>
            </a:r>
            <a:r>
              <a:rPr lang="fr-FR" sz="1400" dirty="0" err="1"/>
              <a:t>some</a:t>
            </a:r>
            <a:r>
              <a:rPr lang="fr-FR" sz="1400" dirty="0"/>
              <a:t> </a:t>
            </a:r>
            <a:r>
              <a:rPr lang="fr-FR" sz="1400" dirty="0" err="1"/>
              <a:t>years</a:t>
            </a:r>
            <a:r>
              <a:rPr lang="fr-FR" sz="1400" dirty="0"/>
              <a:t> </a:t>
            </a:r>
            <a:r>
              <a:rPr lang="fr-FR" sz="1400" dirty="0" err="1"/>
              <a:t>should</a:t>
            </a:r>
            <a:r>
              <a:rPr lang="fr-FR" sz="1400" dirty="0"/>
              <a:t> </a:t>
            </a:r>
            <a:r>
              <a:rPr lang="fr-FR" sz="1400" dirty="0" err="1"/>
              <a:t>be</a:t>
            </a:r>
            <a:r>
              <a:rPr lang="fr-FR" sz="1400" dirty="0"/>
              <a:t> </a:t>
            </a:r>
            <a:r>
              <a:rPr lang="fr-FR" sz="1400" dirty="0" err="1"/>
              <a:t>included</a:t>
            </a:r>
            <a:r>
              <a:rPr lang="fr-FR" sz="1400" dirty="0"/>
              <a:t>.</a:t>
            </a:r>
            <a:br>
              <a:rPr lang="fr-FR" sz="1400" dirty="0"/>
            </a:b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Selected</a:t>
            </a:r>
            <a:r>
              <a:rPr lang="fr-FR" sz="1400" dirty="0"/>
              <a:t> variables are </a:t>
            </a:r>
            <a:r>
              <a:rPr lang="fr-FR" sz="1400" dirty="0" err="1"/>
              <a:t>correlated</a:t>
            </a:r>
            <a:r>
              <a:rPr lang="fr-FR" sz="1400" dirty="0"/>
              <a:t> to </a:t>
            </a:r>
            <a:r>
              <a:rPr lang="fr-FR" sz="1400" b="1" dirty="0" err="1"/>
              <a:t>other</a:t>
            </a:r>
            <a:r>
              <a:rPr lang="fr-FR" sz="1400" b="1" dirty="0"/>
              <a:t> variables not </a:t>
            </a:r>
            <a:r>
              <a:rPr lang="fr-FR" sz="1400" b="1" dirty="0" err="1"/>
              <a:t>considered</a:t>
            </a:r>
            <a:r>
              <a:rPr lang="fr-FR" sz="1400" b="1" dirty="0"/>
              <a:t> for </a:t>
            </a:r>
            <a:r>
              <a:rPr lang="fr-FR" sz="1400" b="1" dirty="0" err="1"/>
              <a:t>modelization</a:t>
            </a:r>
            <a:r>
              <a:rPr lang="fr-FR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Small </a:t>
            </a:r>
            <a:r>
              <a:rPr lang="fr-FR" sz="1400" b="1" dirty="0" err="1"/>
              <a:t>sample</a:t>
            </a:r>
            <a:r>
              <a:rPr lang="fr-FR" sz="1400" b="1" dirty="0"/>
              <a:t> size (n=12)</a:t>
            </a:r>
            <a:r>
              <a:rPr lang="fr-FR" sz="1400" dirty="0"/>
              <a:t>: </a:t>
            </a:r>
            <a:r>
              <a:rPr lang="fr-FR" sz="1400" dirty="0" err="1"/>
              <a:t>be</a:t>
            </a:r>
            <a:r>
              <a:rPr lang="fr-FR" sz="1400" dirty="0"/>
              <a:t> </a:t>
            </a:r>
            <a:r>
              <a:rPr lang="fr-FR" sz="1400" dirty="0" err="1"/>
              <a:t>carreful</a:t>
            </a:r>
            <a:r>
              <a:rPr lang="fr-FR" sz="1400" dirty="0"/>
              <a:t> </a:t>
            </a:r>
            <a:r>
              <a:rPr lang="fr-FR" sz="1400" dirty="0" err="1"/>
              <a:t>with</a:t>
            </a:r>
            <a:r>
              <a:rPr lang="fr-FR" sz="1400" dirty="0"/>
              <a:t> </a:t>
            </a:r>
            <a:r>
              <a:rPr lang="fr-FR" sz="1400" dirty="0" err="1"/>
              <a:t>interpretation</a:t>
            </a:r>
            <a:endParaRPr lang="fr-FR" sz="14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B294510-6F56-4B98-BD4F-A87C3ADC9C95}"/>
              </a:ext>
            </a:extLst>
          </p:cNvPr>
          <p:cNvSpPr txBox="1"/>
          <p:nvPr/>
        </p:nvSpPr>
        <p:spPr>
          <a:xfrm>
            <a:off x="8105165" y="1646421"/>
            <a:ext cx="311231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Apply </a:t>
            </a:r>
            <a:r>
              <a:rPr lang="fr-FR" sz="1400" b="1" dirty="0" err="1"/>
              <a:t>three-way</a:t>
            </a:r>
            <a:r>
              <a:rPr lang="fr-FR" sz="1400" b="1" dirty="0"/>
              <a:t> GSCA </a:t>
            </a:r>
            <a:r>
              <a:rPr lang="fr-FR" sz="1400" dirty="0"/>
              <a:t>(Choi, 2018) </a:t>
            </a:r>
            <a:r>
              <a:rPr lang="fr-FR" sz="1400" dirty="0" err="1"/>
              <a:t>with</a:t>
            </a:r>
            <a:r>
              <a:rPr lang="fr-FR" sz="1400" dirty="0"/>
              <a:t> more </a:t>
            </a:r>
            <a:r>
              <a:rPr lang="fr-FR" sz="1400" dirty="0" err="1"/>
              <a:t>than</a:t>
            </a:r>
            <a:r>
              <a:rPr lang="fr-FR" sz="1400" dirty="0"/>
              <a:t> one </a:t>
            </a:r>
            <a:r>
              <a:rPr lang="fr-FR" sz="1400" dirty="0" err="1"/>
              <a:t>fPC</a:t>
            </a:r>
            <a:r>
              <a:rPr lang="fr-FR" sz="1400" dirty="0"/>
              <a:t> or </a:t>
            </a:r>
            <a:r>
              <a:rPr lang="fr-FR" sz="1400" b="1" dirty="0" err="1"/>
              <a:t>functional</a:t>
            </a:r>
            <a:r>
              <a:rPr lang="fr-FR" sz="1400" b="1" dirty="0"/>
              <a:t> GSCA </a:t>
            </a:r>
            <a:r>
              <a:rPr lang="fr-FR" sz="1400" dirty="0"/>
              <a:t>(Suk, 2016) </a:t>
            </a:r>
            <a:r>
              <a:rPr lang="fr-FR" sz="1400" dirty="0" err="1"/>
              <a:t>directly</a:t>
            </a:r>
            <a:r>
              <a:rPr lang="fr-FR" sz="1400" dirty="0"/>
              <a:t> </a:t>
            </a:r>
            <a:r>
              <a:rPr lang="fr-FR" sz="1400" dirty="0" err="1"/>
              <a:t>with</a:t>
            </a:r>
            <a:r>
              <a:rPr lang="fr-FR" sz="1400" dirty="0"/>
              <a:t> original </a:t>
            </a:r>
            <a:r>
              <a:rPr lang="fr-FR" sz="1400" dirty="0" err="1"/>
              <a:t>functional</a:t>
            </a:r>
            <a:r>
              <a:rPr lang="fr-FR" sz="1400" dirty="0"/>
              <a:t> variables </a:t>
            </a:r>
            <a:br>
              <a:rPr lang="fr-FR" sz="1400" dirty="0"/>
            </a:b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Look at </a:t>
            </a:r>
            <a:r>
              <a:rPr lang="fr-FR" sz="1400" b="1" dirty="0" err="1"/>
              <a:t>correlation</a:t>
            </a:r>
            <a:r>
              <a:rPr lang="fr-FR" sz="1400" b="1" dirty="0"/>
              <a:t> </a:t>
            </a:r>
            <a:r>
              <a:rPr lang="fr-FR" sz="1400" b="1" dirty="0" err="1"/>
              <a:t>with</a:t>
            </a:r>
            <a:r>
              <a:rPr lang="fr-FR" sz="1400" b="1" dirty="0"/>
              <a:t> variables not </a:t>
            </a:r>
            <a:r>
              <a:rPr lang="fr-FR" sz="1400" b="1" dirty="0" err="1"/>
              <a:t>selected</a:t>
            </a:r>
            <a:r>
              <a:rPr lang="fr-FR" sz="1400" b="1" dirty="0"/>
              <a:t> </a:t>
            </a:r>
            <a:r>
              <a:rPr lang="fr-FR" sz="1400" dirty="0" err="1"/>
              <a:t>after</a:t>
            </a:r>
            <a:r>
              <a:rPr lang="fr-FR" sz="1400" dirty="0"/>
              <a:t> clustering.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Consider</a:t>
            </a:r>
            <a:r>
              <a:rPr lang="fr-FR" sz="1400" dirty="0"/>
              <a:t> </a:t>
            </a:r>
            <a:r>
              <a:rPr lang="fr-FR" sz="1400" b="1" dirty="0" err="1"/>
              <a:t>department</a:t>
            </a:r>
            <a:r>
              <a:rPr lang="fr-FR" sz="1400" b="1" dirty="0"/>
              <a:t> </a:t>
            </a:r>
            <a:r>
              <a:rPr lang="fr-FR" sz="1400" b="1" dirty="0" err="1"/>
              <a:t>scale</a:t>
            </a:r>
            <a:r>
              <a:rPr lang="fr-FR" sz="1400" dirty="0"/>
              <a:t> to </a:t>
            </a:r>
            <a:r>
              <a:rPr lang="fr-FR" sz="1400" dirty="0" err="1"/>
              <a:t>increase</a:t>
            </a:r>
            <a:r>
              <a:rPr lang="fr-FR" sz="1400" dirty="0"/>
              <a:t> </a:t>
            </a:r>
            <a:r>
              <a:rPr lang="fr-FR" sz="1400" dirty="0" err="1"/>
              <a:t>sample</a:t>
            </a:r>
            <a:r>
              <a:rPr lang="fr-FR" sz="1400" dirty="0"/>
              <a:t> size or </a:t>
            </a:r>
            <a:r>
              <a:rPr lang="fr-FR" sz="1400" dirty="0" err="1"/>
              <a:t>extand</a:t>
            </a:r>
            <a:r>
              <a:rPr lang="fr-FR" sz="1400" dirty="0"/>
              <a:t> the </a:t>
            </a:r>
            <a:r>
              <a:rPr lang="fr-FR" sz="1400" dirty="0" err="1"/>
              <a:t>method</a:t>
            </a:r>
            <a:r>
              <a:rPr lang="fr-FR" sz="1400" dirty="0"/>
              <a:t> to </a:t>
            </a:r>
            <a:r>
              <a:rPr lang="fr-FR" sz="1400" b="1" dirty="0" err="1"/>
              <a:t>european</a:t>
            </a:r>
            <a:r>
              <a:rPr lang="fr-FR" sz="1400" b="1" dirty="0"/>
              <a:t> countries 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4241E69C-4309-443A-9654-71F310CFCBA0}"/>
              </a:ext>
            </a:extLst>
          </p:cNvPr>
          <p:cNvCxnSpPr/>
          <p:nvPr/>
        </p:nvCxnSpPr>
        <p:spPr>
          <a:xfrm>
            <a:off x="4001549" y="1912690"/>
            <a:ext cx="53829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4999E1BB-00E4-441B-801C-E04AE862821B}"/>
              </a:ext>
            </a:extLst>
          </p:cNvPr>
          <p:cNvCxnSpPr>
            <a:cxnSpLocks/>
          </p:cNvCxnSpPr>
          <p:nvPr/>
        </p:nvCxnSpPr>
        <p:spPr>
          <a:xfrm flipV="1">
            <a:off x="3733101" y="2065090"/>
            <a:ext cx="959142" cy="17099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F05ECAA4-A4DA-4180-BDD7-3EACEDA7D351}"/>
              </a:ext>
            </a:extLst>
          </p:cNvPr>
          <p:cNvCxnSpPr>
            <a:cxnSpLocks/>
          </p:cNvCxnSpPr>
          <p:nvPr/>
        </p:nvCxnSpPr>
        <p:spPr>
          <a:xfrm>
            <a:off x="3733101" y="2776756"/>
            <a:ext cx="806742" cy="6522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98A68117-3418-4914-A28B-FF52B6190908}"/>
              </a:ext>
            </a:extLst>
          </p:cNvPr>
          <p:cNvCxnSpPr>
            <a:cxnSpLocks/>
          </p:cNvCxnSpPr>
          <p:nvPr/>
        </p:nvCxnSpPr>
        <p:spPr>
          <a:xfrm flipV="1">
            <a:off x="3648513" y="4311941"/>
            <a:ext cx="891330" cy="6291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AC718635-5C81-4E93-BBB9-FE2311AACAED}"/>
              </a:ext>
            </a:extLst>
          </p:cNvPr>
          <p:cNvCxnSpPr>
            <a:cxnSpLocks/>
          </p:cNvCxnSpPr>
          <p:nvPr/>
        </p:nvCxnSpPr>
        <p:spPr>
          <a:xfrm flipV="1">
            <a:off x="3733101" y="4464342"/>
            <a:ext cx="959142" cy="1617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1337DB11-AFA4-4BD7-B230-325CFD2301BE}"/>
              </a:ext>
            </a:extLst>
          </p:cNvPr>
          <p:cNvCxnSpPr>
            <a:cxnSpLocks/>
          </p:cNvCxnSpPr>
          <p:nvPr/>
        </p:nvCxnSpPr>
        <p:spPr>
          <a:xfrm>
            <a:off x="7606175" y="4134811"/>
            <a:ext cx="49899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5E363D66-D96B-4F53-883C-05C24D365371}"/>
              </a:ext>
            </a:extLst>
          </p:cNvPr>
          <p:cNvCxnSpPr>
            <a:cxnSpLocks/>
          </p:cNvCxnSpPr>
          <p:nvPr/>
        </p:nvCxnSpPr>
        <p:spPr>
          <a:xfrm>
            <a:off x="7629165" y="3200692"/>
            <a:ext cx="49899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1C2284CF-A6A2-43BD-A9F8-F2633DFB91C8}"/>
              </a:ext>
            </a:extLst>
          </p:cNvPr>
          <p:cNvCxnSpPr>
            <a:cxnSpLocks/>
          </p:cNvCxnSpPr>
          <p:nvPr/>
        </p:nvCxnSpPr>
        <p:spPr>
          <a:xfrm>
            <a:off x="7642527" y="2012252"/>
            <a:ext cx="49899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30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References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BAB974-85B4-471C-A7CB-82CA9FB46432}"/>
              </a:ext>
            </a:extLst>
          </p:cNvPr>
          <p:cNvSpPr txBox="1"/>
          <p:nvPr/>
        </p:nvSpPr>
        <p:spPr>
          <a:xfrm>
            <a:off x="465667" y="1083733"/>
            <a:ext cx="1080346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Ramsey, J. O. and Silverman, B. W. (2005).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Functional Data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Chapter 8.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Vigneau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Qannari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M. (2003).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Clustering of Variables Around Latent Components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 Communications in Statistics - Simulation and Computation, 32(4), 1131–1150.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Hwang H.,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Takane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Y. (2004).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Generalized Structured Component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fr-FR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Psychometrika</a:t>
            </a:r>
            <a:r>
              <a:rPr lang="fr-FR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Vol.69, No. 1, 81–99.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Bougeard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S., Hanafi M. (2023).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Prediction model for multiblock data with or without intermediate blocks. Estimation by PLS Path Modeling.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Choi J. Y., Hwang H. (2018).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Three-Way Generalized Structured Component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Suk H. W., Hwang H. (2016).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 Generalized Structured Component Analysis.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Psychometrika 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43822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4462</TotalTime>
  <Words>1589</Words>
  <Application>Microsoft Office PowerPoint</Application>
  <PresentationFormat>Grand écran</PresentationFormat>
  <Paragraphs>250</Paragraphs>
  <Slides>19</Slides>
  <Notes>15</Notes>
  <HiddenSlides>1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19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Gill Sans MT</vt:lpstr>
      <vt:lpstr>Marianne</vt:lpstr>
      <vt:lpstr>Thème Office</vt:lpstr>
      <vt:lpstr>1_OPÉRATEURS</vt:lpstr>
      <vt:lpstr>OPÉRATEURS</vt:lpstr>
      <vt:lpstr>Présentation PowerPoint</vt:lpstr>
      <vt:lpstr>Introduction</vt:lpstr>
      <vt:lpstr>Présentation PowerPoint</vt:lpstr>
      <vt:lpstr>Présentation PowerPoint</vt:lpstr>
      <vt:lpstr>Présentation PowerPoint</vt:lpstr>
      <vt:lpstr>Methods</vt:lpstr>
      <vt:lpstr>Présentation PowerPoint</vt:lpstr>
      <vt:lpstr>Présentation PowerPoint</vt:lpstr>
      <vt:lpstr>Présentation PowerPoint</vt:lpstr>
      <vt:lpstr>Présentation PowerPoint</vt:lpstr>
      <vt:lpstr>Results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and perspectives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MARTET Gaspard</dc:creator>
  <cp:lastModifiedBy>MARTET Gaspard</cp:lastModifiedBy>
  <cp:revision>187</cp:revision>
  <dcterms:created xsi:type="dcterms:W3CDTF">2026-07-15T12:59:48Z</dcterms:created>
  <dcterms:modified xsi:type="dcterms:W3CDTF">2026-09-02T10:08:18Z</dcterms:modified>
</cp:coreProperties>
</file>