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1"/>
    <p:sldMasterId id="2147483776" r:id="rId2"/>
    <p:sldMasterId id="2147483794" r:id="rId3"/>
  </p:sldMasterIdLst>
  <p:notesMasterIdLst>
    <p:notesMasterId r:id="rId24"/>
  </p:notesMasterIdLst>
  <p:sldIdLst>
    <p:sldId id="256" r:id="rId4"/>
    <p:sldId id="281" r:id="rId5"/>
    <p:sldId id="302" r:id="rId6"/>
    <p:sldId id="303" r:id="rId7"/>
    <p:sldId id="304" r:id="rId8"/>
    <p:sldId id="305" r:id="rId9"/>
    <p:sldId id="306" r:id="rId10"/>
    <p:sldId id="311" r:id="rId11"/>
    <p:sldId id="312" r:id="rId12"/>
    <p:sldId id="313" r:id="rId13"/>
    <p:sldId id="314" r:id="rId14"/>
    <p:sldId id="307" r:id="rId15"/>
    <p:sldId id="316" r:id="rId16"/>
    <p:sldId id="315" r:id="rId17"/>
    <p:sldId id="317" r:id="rId18"/>
    <p:sldId id="318" r:id="rId19"/>
    <p:sldId id="308" r:id="rId20"/>
    <p:sldId id="319" r:id="rId21"/>
    <p:sldId id="320" r:id="rId22"/>
    <p:sldId id="310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7D"/>
    <a:srgbClr val="FFFACC"/>
    <a:srgbClr val="00B0F6"/>
    <a:srgbClr val="F8766D"/>
    <a:srgbClr val="E76BF3"/>
    <a:srgbClr val="A3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29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FF4373-447A-4C7C-8653-BF00ACFF1518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735697-EA32-43CA-9B26-7C1D1AB9B7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6649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2634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4262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9783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4245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5108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1977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715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7084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7107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4177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2475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114000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96906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3098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6974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969C29-A4D8-462D-A811-79E09AB4C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7EFB59C-DD1A-401E-B443-628736394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882AFFC-F7CA-4258-9603-35316AB3C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AA7CF8-24F4-41E1-B91F-90F2B0C1F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763247-BAED-4059-8901-019E098C0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294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204D-093C-4027-AA9E-C2D8079B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49891B-D264-43FB-B7C3-BA03873E6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6EDA9F-9343-48A3-BE5B-6C513516E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73968-7857-4FD8-837F-B5D0357BE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266AD8-E2D9-4DF3-B7B6-9BFF9BFF6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97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2CBD63-21C3-4920-9956-EC64AAFA0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693E611-F12D-4F5D-ACAF-675658399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9F63B7-A56B-4352-876C-65BD30F1F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1C4131-49D8-4CAB-A511-74C9E7649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45C55FC-67C5-45C6-AB4A-723DDAC6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3607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B0302F-6173-4D8D-A13A-5F7D79D6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BB43CC-1BA0-4130-A7BB-3A56841F8D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A76A34-7751-482E-ADB3-6C488E36E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5085D5A-68D5-4725-9FB6-8D5638303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27F5361-2E66-4C1D-BE91-7AACE82E8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B01504-3E82-4EBD-829C-18EEB0991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7978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2A07BB-F355-4EC3-B844-3368E7CA0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203E27-FD40-44E4-B079-8F186F0C6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FE4120A-3FDE-46E4-A5B4-C246D77241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E5FD10-AE9A-4CE2-B92A-F01C55234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AA7E7D7-47D7-4EEA-874D-9279DA174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55913E6-A474-4B9C-8701-9B4C7EDA8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F562A0B-2209-4173-AF57-D2A4372A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E09D156-000D-4FD7-B033-E712B7C9C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6654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120330-FC40-4243-8063-6060F2BDC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A1FBD47-736B-43D8-B487-477DF5FE6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65F8195-7E7D-4A88-9A6F-63C853C41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A2B1D4-FA0B-47B2-92A5-C8EC525E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55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04BC9C9-84AF-4E41-B2CF-6DCA71007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16DCA56-87E1-40D2-9D51-34B17FC92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D0FFA3-9361-41CE-817A-E4019F47C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134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B23D9A-8E1D-4238-8B8E-9748E4665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37F91F-EE24-4A30-996B-AE46F3E51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727AFE-5A47-445B-B81A-BBA7073FA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6E1991-1603-4C08-A895-49D746FB7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ADDC84A-38D6-49F4-AEA0-B76CC99EA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D8F820-017B-4D87-B18A-A0F97F60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7067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7B20E3-F5D6-4B27-AE45-59CDFA65C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D21D812-0B0C-4C29-994D-C6F53592BB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3AB9F53-3EAF-4FE4-9F64-B71E3F819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8A41B87-1278-417F-B1A4-71750CA8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61D6F9-56F1-46DA-9CD6-32C85F806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367C852-C39B-4675-B754-57E990A77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185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984F-5CA0-42CA-AD2D-A87FEC481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57B29B-548F-4E83-BE45-4522052CE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8E0B54-E72E-488A-9851-EBDC02F3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CD821A-01D9-42D3-ABC3-03DBBC68D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8EE6BF-0FC1-4AD4-96F3-483609D74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2087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FE41A4E-59AA-42B2-99E7-5B3D192FFC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276482C-1E82-4397-8AB5-5AE0E96D89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B6BCAF-34D6-4F0C-8A6D-550237A23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BBDBE-C7B6-4D7A-A2ED-6221A3A00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D52049-4626-48FE-AB21-7962A069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27461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 F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 userDrawn="1"/>
        </p:nvSpPr>
        <p:spPr>
          <a:xfrm>
            <a:off x="365190" y="6059015"/>
            <a:ext cx="4569829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Connaître, évaluer, protéger</a:t>
            </a: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03330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uverture G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oneTexte 25"/>
          <p:cNvSpPr txBox="1"/>
          <p:nvPr userDrawn="1"/>
        </p:nvSpPr>
        <p:spPr>
          <a:xfrm>
            <a:off x="365190" y="6059015"/>
            <a:ext cx="4962725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Investigate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evaluate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protect</a:t>
            </a:r>
            <a:endParaRPr lang="fr-FR" sz="1947" b="1" kern="1200" cap="all" baseline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00798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Sommaire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tx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1.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accent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2.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rgbClr val="5770BE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3.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DD31BDFD-FADC-44D8-B829-1A31B7858F66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68948EC5-1067-4566-82C7-B6A31FB381EE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50" name="Forme libre : forme 49">
                <a:extLst>
                  <a:ext uri="{FF2B5EF4-FFF2-40B4-BE49-F238E27FC236}">
                    <a16:creationId xmlns:a16="http://schemas.microsoft.com/office/drawing/2014/main" id="{A9721D01-449C-4E27-8D95-CB388E166391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1" name="Forme libre : forme 50">
                <a:extLst>
                  <a:ext uri="{FF2B5EF4-FFF2-40B4-BE49-F238E27FC236}">
                    <a16:creationId xmlns:a16="http://schemas.microsoft.com/office/drawing/2014/main" id="{D4EF4E18-1600-4951-B2D3-81EA9BB0A9D0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2" name="Forme libre : forme 51">
                <a:extLst>
                  <a:ext uri="{FF2B5EF4-FFF2-40B4-BE49-F238E27FC236}">
                    <a16:creationId xmlns:a16="http://schemas.microsoft.com/office/drawing/2014/main" id="{3284962D-7A7F-4349-9250-20D40BD3FEC1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3" name="Forme libre : forme 52">
                <a:extLst>
                  <a:ext uri="{FF2B5EF4-FFF2-40B4-BE49-F238E27FC236}">
                    <a16:creationId xmlns:a16="http://schemas.microsoft.com/office/drawing/2014/main" id="{476FCF11-4108-40BC-8178-ADD787625181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4" name="Forme libre : forme 53">
                <a:extLst>
                  <a:ext uri="{FF2B5EF4-FFF2-40B4-BE49-F238E27FC236}">
                    <a16:creationId xmlns:a16="http://schemas.microsoft.com/office/drawing/2014/main" id="{D22E4527-8C28-490C-A537-25A59F3C9541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A93ACC7-0FC5-4E42-9A92-E233EF4B3BDD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45" name="Forme libre : forme 44">
                <a:extLst>
                  <a:ext uri="{FF2B5EF4-FFF2-40B4-BE49-F238E27FC236}">
                    <a16:creationId xmlns:a16="http://schemas.microsoft.com/office/drawing/2014/main" id="{57603CFD-4D04-4A34-A606-ACDAC0C83EBE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6" name="Forme libre : forme 45">
                <a:extLst>
                  <a:ext uri="{FF2B5EF4-FFF2-40B4-BE49-F238E27FC236}">
                    <a16:creationId xmlns:a16="http://schemas.microsoft.com/office/drawing/2014/main" id="{43458750-899D-4394-B830-1E9A3B51E930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7" name="Forme libre : forme 46">
                <a:extLst>
                  <a:ext uri="{FF2B5EF4-FFF2-40B4-BE49-F238E27FC236}">
                    <a16:creationId xmlns:a16="http://schemas.microsoft.com/office/drawing/2014/main" id="{091F78CC-3B11-43B4-8B6D-739240B1A3D0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8" name="Forme libre : forme 47">
                <a:extLst>
                  <a:ext uri="{FF2B5EF4-FFF2-40B4-BE49-F238E27FC236}">
                    <a16:creationId xmlns:a16="http://schemas.microsoft.com/office/drawing/2014/main" id="{25815A24-B8B0-4B4D-9625-670E8EA1BFD7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9" name="Forme libre : forme 48">
                <a:extLst>
                  <a:ext uri="{FF2B5EF4-FFF2-40B4-BE49-F238E27FC236}">
                    <a16:creationId xmlns:a16="http://schemas.microsoft.com/office/drawing/2014/main" id="{CC32A3B7-91D8-4CBD-9C74-C8A91E4E80F7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15439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chemeClr val="bg2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995918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2">
    <p:bg>
      <p:bgPr>
        <a:solidFill>
          <a:srgbClr val="FFE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rgbClr val="262626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11EC5EB1-2433-445A-90EB-40A3439D696C}"/>
              </a:ext>
            </a:extLst>
          </p:cNvPr>
          <p:cNvGrpSpPr/>
          <p:nvPr userDrawn="1"/>
        </p:nvGrpSpPr>
        <p:grpSpPr>
          <a:xfrm>
            <a:off x="6360160" y="1702960"/>
            <a:ext cx="3413760" cy="3360563"/>
            <a:chOff x="2024062" y="61912"/>
            <a:chExt cx="5097779" cy="5018340"/>
          </a:xfrm>
          <a:solidFill>
            <a:srgbClr val="FF9940"/>
          </a:solidFill>
        </p:grpSpPr>
        <p:sp>
          <p:nvSpPr>
            <p:cNvPr id="18" name="Forme libre : forme 7">
              <a:extLst>
                <a:ext uri="{FF2B5EF4-FFF2-40B4-BE49-F238E27FC236}">
                  <a16:creationId xmlns:a16="http://schemas.microsoft.com/office/drawing/2014/main" id="{980A77CA-4106-4CFD-9089-5D17008DBD8F}"/>
                </a:ext>
              </a:extLst>
            </p:cNvPr>
            <p:cNvSpPr/>
            <p:nvPr/>
          </p:nvSpPr>
          <p:spPr>
            <a:xfrm>
              <a:off x="4123409" y="3661504"/>
              <a:ext cx="726675" cy="1418748"/>
            </a:xfrm>
            <a:custGeom>
              <a:avLst/>
              <a:gdLst>
                <a:gd name="connsiteX0" fmla="*/ 5487 w 726675"/>
                <a:gd name="connsiteY0" fmla="*/ 635032 h 1418748"/>
                <a:gd name="connsiteX1" fmla="*/ 407442 w 726675"/>
                <a:gd name="connsiteY1" fmla="*/ 1418749 h 1418748"/>
                <a:gd name="connsiteX2" fmla="*/ 712242 w 726675"/>
                <a:gd name="connsiteY2" fmla="*/ 734949 h 1418748"/>
                <a:gd name="connsiteX3" fmla="*/ 617373 w 726675"/>
                <a:gd name="connsiteY3" fmla="*/ 0 h 1418748"/>
                <a:gd name="connsiteX4" fmla="*/ 5487 w 726675"/>
                <a:gd name="connsiteY4" fmla="*/ 635032 h 1418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675" h="1418748">
                  <a:moveTo>
                    <a:pt x="5487" y="635032"/>
                  </a:moveTo>
                  <a:cubicBezTo>
                    <a:pt x="-52996" y="1032129"/>
                    <a:pt x="374581" y="1391888"/>
                    <a:pt x="407442" y="1418749"/>
                  </a:cubicBezTo>
                  <a:cubicBezTo>
                    <a:pt x="565176" y="1229868"/>
                    <a:pt x="674333" y="996315"/>
                    <a:pt x="712242" y="734949"/>
                  </a:cubicBezTo>
                  <a:cubicBezTo>
                    <a:pt x="749771" y="476345"/>
                    <a:pt x="712718" y="224028"/>
                    <a:pt x="617373" y="0"/>
                  </a:cubicBezTo>
                  <a:cubicBezTo>
                    <a:pt x="586512" y="12763"/>
                    <a:pt x="64447" y="234410"/>
                    <a:pt x="5487" y="6350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0">
              <a:extLst>
                <a:ext uri="{FF2B5EF4-FFF2-40B4-BE49-F238E27FC236}">
                  <a16:creationId xmlns:a16="http://schemas.microsoft.com/office/drawing/2014/main" id="{0249ABE6-2F7B-4AA0-8FB6-54E6BF81A1B2}"/>
                </a:ext>
              </a:extLst>
            </p:cNvPr>
            <p:cNvSpPr/>
            <p:nvPr/>
          </p:nvSpPr>
          <p:spPr>
            <a:xfrm>
              <a:off x="5837681" y="2484253"/>
              <a:ext cx="1284160" cy="839943"/>
            </a:xfrm>
            <a:custGeom>
              <a:avLst/>
              <a:gdLst>
                <a:gd name="connsiteX0" fmla="*/ 414814 w 1284160"/>
                <a:gd name="connsiteY0" fmla="*/ 783012 h 839943"/>
                <a:gd name="connsiteX1" fmla="*/ 1284161 w 1284160"/>
                <a:gd name="connsiteY1" fmla="*/ 643185 h 839943"/>
                <a:gd name="connsiteX2" fmla="*/ 316992 w 1284160"/>
                <a:gd name="connsiteY2" fmla="*/ 14345 h 839943"/>
                <a:gd name="connsiteX3" fmla="*/ 0 w 1284160"/>
                <a:gd name="connsiteY3" fmla="*/ 5105 h 839943"/>
                <a:gd name="connsiteX4" fmla="*/ 414814 w 1284160"/>
                <a:gd name="connsiteY4" fmla="*/ 783012 h 839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160" h="839943">
                  <a:moveTo>
                    <a:pt x="414814" y="783012"/>
                  </a:moveTo>
                  <a:cubicBezTo>
                    <a:pt x="773430" y="960844"/>
                    <a:pt x="1246061" y="667474"/>
                    <a:pt x="1284161" y="643185"/>
                  </a:cubicBezTo>
                  <a:cubicBezTo>
                    <a:pt x="1076801" y="314096"/>
                    <a:pt x="732091" y="74447"/>
                    <a:pt x="316992" y="14345"/>
                  </a:cubicBezTo>
                  <a:cubicBezTo>
                    <a:pt x="209740" y="-1181"/>
                    <a:pt x="103537" y="-3848"/>
                    <a:pt x="0" y="5105"/>
                  </a:cubicBezTo>
                  <a:cubicBezTo>
                    <a:pt x="2572" y="39110"/>
                    <a:pt x="52292" y="603275"/>
                    <a:pt x="414814" y="783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1">
              <a:extLst>
                <a:ext uri="{FF2B5EF4-FFF2-40B4-BE49-F238E27FC236}">
                  <a16:creationId xmlns:a16="http://schemas.microsoft.com/office/drawing/2014/main" id="{CF86E031-9A54-4E6A-8774-D463D2F85038}"/>
                </a:ext>
              </a:extLst>
            </p:cNvPr>
            <p:cNvSpPr/>
            <p:nvPr/>
          </p:nvSpPr>
          <p:spPr>
            <a:xfrm>
              <a:off x="5349048" y="61912"/>
              <a:ext cx="1045824" cy="1055342"/>
            </a:xfrm>
            <a:custGeom>
              <a:avLst/>
              <a:gdLst>
                <a:gd name="connsiteX0" fmla="*/ 868775 w 1045824"/>
                <a:gd name="connsiteY0" fmla="*/ 866585 h 1055342"/>
                <a:gd name="connsiteX1" fmla="*/ 1005269 w 1045824"/>
                <a:gd name="connsiteY1" fmla="*/ 0 h 1055342"/>
                <a:gd name="connsiteX2" fmla="*/ 0 w 1045824"/>
                <a:gd name="connsiteY2" fmla="*/ 1020604 h 1055342"/>
                <a:gd name="connsiteX3" fmla="*/ 868775 w 1045824"/>
                <a:gd name="connsiteY3" fmla="*/ 866585 h 105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5824" h="1055342">
                  <a:moveTo>
                    <a:pt x="868775" y="866585"/>
                  </a:moveTo>
                  <a:cubicBezTo>
                    <a:pt x="1142714" y="586645"/>
                    <a:pt x="1021271" y="63341"/>
                    <a:pt x="1005269" y="0"/>
                  </a:cubicBezTo>
                  <a:cubicBezTo>
                    <a:pt x="516731" y="122587"/>
                    <a:pt x="119444" y="509111"/>
                    <a:pt x="0" y="1020604"/>
                  </a:cubicBezTo>
                  <a:cubicBezTo>
                    <a:pt x="24765" y="1026605"/>
                    <a:pt x="583406" y="1158145"/>
                    <a:pt x="868775" y="8665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12">
              <a:extLst>
                <a:ext uri="{FF2B5EF4-FFF2-40B4-BE49-F238E27FC236}">
                  <a16:creationId xmlns:a16="http://schemas.microsoft.com/office/drawing/2014/main" id="{C59B5725-5F9C-4F97-A8F1-326A63828549}"/>
                </a:ext>
              </a:extLst>
            </p:cNvPr>
            <p:cNvSpPr/>
            <p:nvPr/>
          </p:nvSpPr>
          <p:spPr>
            <a:xfrm>
              <a:off x="2839938" y="68103"/>
              <a:ext cx="853528" cy="1267015"/>
            </a:xfrm>
            <a:custGeom>
              <a:avLst/>
              <a:gdLst>
                <a:gd name="connsiteX0" fmla="*/ 790800 w 853528"/>
                <a:gd name="connsiteY0" fmla="*/ 397955 h 1267015"/>
                <a:gd name="connsiteX1" fmla="*/ 2702 w 853528"/>
                <a:gd name="connsiteY1" fmla="*/ 0 h 1267015"/>
                <a:gd name="connsiteX2" fmla="*/ 671738 w 853528"/>
                <a:gd name="connsiteY2" fmla="*/ 1267016 h 1267015"/>
                <a:gd name="connsiteX3" fmla="*/ 790800 w 853528"/>
                <a:gd name="connsiteY3" fmla="*/ 397955 h 126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528" h="1267015">
                  <a:moveTo>
                    <a:pt x="790800" y="397955"/>
                  </a:moveTo>
                  <a:cubicBezTo>
                    <a:pt x="599824" y="33052"/>
                    <a:pt x="17846" y="762"/>
                    <a:pt x="2702" y="0"/>
                  </a:cubicBezTo>
                  <a:cubicBezTo>
                    <a:pt x="-30160" y="524637"/>
                    <a:pt x="239303" y="1009078"/>
                    <a:pt x="671738" y="1267016"/>
                  </a:cubicBezTo>
                  <a:cubicBezTo>
                    <a:pt x="705456" y="1210723"/>
                    <a:pt x="972347" y="744855"/>
                    <a:pt x="790800" y="3979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4">
              <a:extLst>
                <a:ext uri="{FF2B5EF4-FFF2-40B4-BE49-F238E27FC236}">
                  <a16:creationId xmlns:a16="http://schemas.microsoft.com/office/drawing/2014/main" id="{FABA9E58-4B46-4EE4-97E2-26E72D584C53}"/>
                </a:ext>
              </a:extLst>
            </p:cNvPr>
            <p:cNvSpPr/>
            <p:nvPr/>
          </p:nvSpPr>
          <p:spPr>
            <a:xfrm>
              <a:off x="2024062" y="2446286"/>
              <a:ext cx="1410176" cy="729358"/>
            </a:xfrm>
            <a:custGeom>
              <a:avLst/>
              <a:gdLst>
                <a:gd name="connsiteX0" fmla="*/ 622173 w 1410176"/>
                <a:gd name="connsiteY0" fmla="*/ 7258 h 729358"/>
                <a:gd name="connsiteX1" fmla="*/ 0 w 1410176"/>
                <a:gd name="connsiteY1" fmla="*/ 634194 h 729358"/>
                <a:gd name="connsiteX2" fmla="*/ 10001 w 1410176"/>
                <a:gd name="connsiteY2" fmla="*/ 638480 h 729358"/>
                <a:gd name="connsiteX3" fmla="*/ 304705 w 1410176"/>
                <a:gd name="connsiteY3" fmla="*/ 714966 h 729358"/>
                <a:gd name="connsiteX4" fmla="*/ 1410176 w 1410176"/>
                <a:gd name="connsiteY4" fmla="*/ 387020 h 729358"/>
                <a:gd name="connsiteX5" fmla="*/ 622173 w 1410176"/>
                <a:gd name="connsiteY5" fmla="*/ 7258 h 729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0176" h="729358">
                  <a:moveTo>
                    <a:pt x="622173" y="7258"/>
                  </a:moveTo>
                  <a:cubicBezTo>
                    <a:pt x="210693" y="76981"/>
                    <a:pt x="0" y="634194"/>
                    <a:pt x="0" y="634194"/>
                  </a:cubicBezTo>
                  <a:cubicBezTo>
                    <a:pt x="3334" y="635718"/>
                    <a:pt x="6668" y="637051"/>
                    <a:pt x="10001" y="638480"/>
                  </a:cubicBezTo>
                  <a:cubicBezTo>
                    <a:pt x="103251" y="674103"/>
                    <a:pt x="201740" y="700106"/>
                    <a:pt x="304705" y="714966"/>
                  </a:cubicBezTo>
                  <a:cubicBezTo>
                    <a:pt x="719614" y="775068"/>
                    <a:pt x="1117949" y="643338"/>
                    <a:pt x="1410176" y="387020"/>
                  </a:cubicBezTo>
                  <a:cubicBezTo>
                    <a:pt x="1359884" y="329870"/>
                    <a:pt x="1003459" y="-57417"/>
                    <a:pt x="622173" y="72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5" y="6212901"/>
            <a:ext cx="1800000" cy="246221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66682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FFE800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344085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00AC8C"/>
          </a:solidFill>
        </p:grpSpPr>
        <p:sp>
          <p:nvSpPr>
            <p:cNvPr id="2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08827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994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95980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6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00AC8C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48410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e 3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FF9940"/>
          </a:solidFill>
        </p:grpSpPr>
        <p:sp>
          <p:nvSpPr>
            <p:cNvPr id="4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4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810338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E80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235795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0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5770BE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136190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 avec titre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2" y="1316765"/>
            <a:ext cx="11459060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7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2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4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13137254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text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1" y="1316765"/>
            <a:ext cx="5472731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9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1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4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21825868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7242" y="1316765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8306" y="5306484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36564312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35109" y="1316765"/>
            <a:ext cx="11299113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172" y="5306484"/>
            <a:ext cx="11270976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1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35109" y="371400"/>
            <a:ext cx="10809071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35189407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cour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5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0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36666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 F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 userDrawn="1"/>
        </p:nvSpPr>
        <p:spPr>
          <a:xfrm>
            <a:off x="365190" y="6059015"/>
            <a:ext cx="4569829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Connaître, évaluer, protéger</a:t>
            </a: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9530921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uverture G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oneTexte 25"/>
          <p:cNvSpPr txBox="1"/>
          <p:nvPr userDrawn="1"/>
        </p:nvSpPr>
        <p:spPr>
          <a:xfrm>
            <a:off x="365190" y="6059015"/>
            <a:ext cx="4962725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Investigate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evaluate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protect</a:t>
            </a:r>
            <a:endParaRPr lang="fr-FR" sz="1947" b="1" kern="1200" cap="all" baseline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5955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Sommaire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tx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1.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accent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2.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rgbClr val="5770BE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3.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DD31BDFD-FADC-44D8-B829-1A31B7858F66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68948EC5-1067-4566-82C7-B6A31FB381EE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50" name="Forme libre : forme 49">
                <a:extLst>
                  <a:ext uri="{FF2B5EF4-FFF2-40B4-BE49-F238E27FC236}">
                    <a16:creationId xmlns:a16="http://schemas.microsoft.com/office/drawing/2014/main" id="{A9721D01-449C-4E27-8D95-CB388E166391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1" name="Forme libre : forme 50">
                <a:extLst>
                  <a:ext uri="{FF2B5EF4-FFF2-40B4-BE49-F238E27FC236}">
                    <a16:creationId xmlns:a16="http://schemas.microsoft.com/office/drawing/2014/main" id="{D4EF4E18-1600-4951-B2D3-81EA9BB0A9D0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2" name="Forme libre : forme 51">
                <a:extLst>
                  <a:ext uri="{FF2B5EF4-FFF2-40B4-BE49-F238E27FC236}">
                    <a16:creationId xmlns:a16="http://schemas.microsoft.com/office/drawing/2014/main" id="{3284962D-7A7F-4349-9250-20D40BD3FEC1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3" name="Forme libre : forme 52">
                <a:extLst>
                  <a:ext uri="{FF2B5EF4-FFF2-40B4-BE49-F238E27FC236}">
                    <a16:creationId xmlns:a16="http://schemas.microsoft.com/office/drawing/2014/main" id="{476FCF11-4108-40BC-8178-ADD787625181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4" name="Forme libre : forme 53">
                <a:extLst>
                  <a:ext uri="{FF2B5EF4-FFF2-40B4-BE49-F238E27FC236}">
                    <a16:creationId xmlns:a16="http://schemas.microsoft.com/office/drawing/2014/main" id="{D22E4527-8C28-490C-A537-25A59F3C9541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A93ACC7-0FC5-4E42-9A92-E233EF4B3BDD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45" name="Forme libre : forme 44">
                <a:extLst>
                  <a:ext uri="{FF2B5EF4-FFF2-40B4-BE49-F238E27FC236}">
                    <a16:creationId xmlns:a16="http://schemas.microsoft.com/office/drawing/2014/main" id="{57603CFD-4D04-4A34-A606-ACDAC0C83EBE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6" name="Forme libre : forme 45">
                <a:extLst>
                  <a:ext uri="{FF2B5EF4-FFF2-40B4-BE49-F238E27FC236}">
                    <a16:creationId xmlns:a16="http://schemas.microsoft.com/office/drawing/2014/main" id="{43458750-899D-4394-B830-1E9A3B51E930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7" name="Forme libre : forme 46">
                <a:extLst>
                  <a:ext uri="{FF2B5EF4-FFF2-40B4-BE49-F238E27FC236}">
                    <a16:creationId xmlns:a16="http://schemas.microsoft.com/office/drawing/2014/main" id="{091F78CC-3B11-43B4-8B6D-739240B1A3D0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8" name="Forme libre : forme 47">
                <a:extLst>
                  <a:ext uri="{FF2B5EF4-FFF2-40B4-BE49-F238E27FC236}">
                    <a16:creationId xmlns:a16="http://schemas.microsoft.com/office/drawing/2014/main" id="{25815A24-B8B0-4B4D-9625-670E8EA1BFD7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9" name="Forme libre : forme 48">
                <a:extLst>
                  <a:ext uri="{FF2B5EF4-FFF2-40B4-BE49-F238E27FC236}">
                    <a16:creationId xmlns:a16="http://schemas.microsoft.com/office/drawing/2014/main" id="{CC32A3B7-91D8-4CBD-9C74-C8A91E4E80F7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55927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chemeClr val="bg2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555022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2">
    <p:bg>
      <p:bgPr>
        <a:solidFill>
          <a:srgbClr val="FFE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rgbClr val="262626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11EC5EB1-2433-445A-90EB-40A3439D696C}"/>
              </a:ext>
            </a:extLst>
          </p:cNvPr>
          <p:cNvGrpSpPr/>
          <p:nvPr userDrawn="1"/>
        </p:nvGrpSpPr>
        <p:grpSpPr>
          <a:xfrm>
            <a:off x="6360160" y="1702960"/>
            <a:ext cx="3413760" cy="3360563"/>
            <a:chOff x="2024062" y="61912"/>
            <a:chExt cx="5097779" cy="5018340"/>
          </a:xfrm>
          <a:solidFill>
            <a:srgbClr val="FF9940"/>
          </a:solidFill>
        </p:grpSpPr>
        <p:sp>
          <p:nvSpPr>
            <p:cNvPr id="18" name="Forme libre : forme 7">
              <a:extLst>
                <a:ext uri="{FF2B5EF4-FFF2-40B4-BE49-F238E27FC236}">
                  <a16:creationId xmlns:a16="http://schemas.microsoft.com/office/drawing/2014/main" id="{980A77CA-4106-4CFD-9089-5D17008DBD8F}"/>
                </a:ext>
              </a:extLst>
            </p:cNvPr>
            <p:cNvSpPr/>
            <p:nvPr/>
          </p:nvSpPr>
          <p:spPr>
            <a:xfrm>
              <a:off x="4123409" y="3661504"/>
              <a:ext cx="726675" cy="1418748"/>
            </a:xfrm>
            <a:custGeom>
              <a:avLst/>
              <a:gdLst>
                <a:gd name="connsiteX0" fmla="*/ 5487 w 726675"/>
                <a:gd name="connsiteY0" fmla="*/ 635032 h 1418748"/>
                <a:gd name="connsiteX1" fmla="*/ 407442 w 726675"/>
                <a:gd name="connsiteY1" fmla="*/ 1418749 h 1418748"/>
                <a:gd name="connsiteX2" fmla="*/ 712242 w 726675"/>
                <a:gd name="connsiteY2" fmla="*/ 734949 h 1418748"/>
                <a:gd name="connsiteX3" fmla="*/ 617373 w 726675"/>
                <a:gd name="connsiteY3" fmla="*/ 0 h 1418748"/>
                <a:gd name="connsiteX4" fmla="*/ 5487 w 726675"/>
                <a:gd name="connsiteY4" fmla="*/ 635032 h 1418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675" h="1418748">
                  <a:moveTo>
                    <a:pt x="5487" y="635032"/>
                  </a:moveTo>
                  <a:cubicBezTo>
                    <a:pt x="-52996" y="1032129"/>
                    <a:pt x="374581" y="1391888"/>
                    <a:pt x="407442" y="1418749"/>
                  </a:cubicBezTo>
                  <a:cubicBezTo>
                    <a:pt x="565176" y="1229868"/>
                    <a:pt x="674333" y="996315"/>
                    <a:pt x="712242" y="734949"/>
                  </a:cubicBezTo>
                  <a:cubicBezTo>
                    <a:pt x="749771" y="476345"/>
                    <a:pt x="712718" y="224028"/>
                    <a:pt x="617373" y="0"/>
                  </a:cubicBezTo>
                  <a:cubicBezTo>
                    <a:pt x="586512" y="12763"/>
                    <a:pt x="64447" y="234410"/>
                    <a:pt x="5487" y="6350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0">
              <a:extLst>
                <a:ext uri="{FF2B5EF4-FFF2-40B4-BE49-F238E27FC236}">
                  <a16:creationId xmlns:a16="http://schemas.microsoft.com/office/drawing/2014/main" id="{0249ABE6-2F7B-4AA0-8FB6-54E6BF81A1B2}"/>
                </a:ext>
              </a:extLst>
            </p:cNvPr>
            <p:cNvSpPr/>
            <p:nvPr/>
          </p:nvSpPr>
          <p:spPr>
            <a:xfrm>
              <a:off x="5837681" y="2484253"/>
              <a:ext cx="1284160" cy="839943"/>
            </a:xfrm>
            <a:custGeom>
              <a:avLst/>
              <a:gdLst>
                <a:gd name="connsiteX0" fmla="*/ 414814 w 1284160"/>
                <a:gd name="connsiteY0" fmla="*/ 783012 h 839943"/>
                <a:gd name="connsiteX1" fmla="*/ 1284161 w 1284160"/>
                <a:gd name="connsiteY1" fmla="*/ 643185 h 839943"/>
                <a:gd name="connsiteX2" fmla="*/ 316992 w 1284160"/>
                <a:gd name="connsiteY2" fmla="*/ 14345 h 839943"/>
                <a:gd name="connsiteX3" fmla="*/ 0 w 1284160"/>
                <a:gd name="connsiteY3" fmla="*/ 5105 h 839943"/>
                <a:gd name="connsiteX4" fmla="*/ 414814 w 1284160"/>
                <a:gd name="connsiteY4" fmla="*/ 783012 h 839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160" h="839943">
                  <a:moveTo>
                    <a:pt x="414814" y="783012"/>
                  </a:moveTo>
                  <a:cubicBezTo>
                    <a:pt x="773430" y="960844"/>
                    <a:pt x="1246061" y="667474"/>
                    <a:pt x="1284161" y="643185"/>
                  </a:cubicBezTo>
                  <a:cubicBezTo>
                    <a:pt x="1076801" y="314096"/>
                    <a:pt x="732091" y="74447"/>
                    <a:pt x="316992" y="14345"/>
                  </a:cubicBezTo>
                  <a:cubicBezTo>
                    <a:pt x="209740" y="-1181"/>
                    <a:pt x="103537" y="-3848"/>
                    <a:pt x="0" y="5105"/>
                  </a:cubicBezTo>
                  <a:cubicBezTo>
                    <a:pt x="2572" y="39110"/>
                    <a:pt x="52292" y="603275"/>
                    <a:pt x="414814" y="783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1">
              <a:extLst>
                <a:ext uri="{FF2B5EF4-FFF2-40B4-BE49-F238E27FC236}">
                  <a16:creationId xmlns:a16="http://schemas.microsoft.com/office/drawing/2014/main" id="{CF86E031-9A54-4E6A-8774-D463D2F85038}"/>
                </a:ext>
              </a:extLst>
            </p:cNvPr>
            <p:cNvSpPr/>
            <p:nvPr/>
          </p:nvSpPr>
          <p:spPr>
            <a:xfrm>
              <a:off x="5349048" y="61912"/>
              <a:ext cx="1045824" cy="1055342"/>
            </a:xfrm>
            <a:custGeom>
              <a:avLst/>
              <a:gdLst>
                <a:gd name="connsiteX0" fmla="*/ 868775 w 1045824"/>
                <a:gd name="connsiteY0" fmla="*/ 866585 h 1055342"/>
                <a:gd name="connsiteX1" fmla="*/ 1005269 w 1045824"/>
                <a:gd name="connsiteY1" fmla="*/ 0 h 1055342"/>
                <a:gd name="connsiteX2" fmla="*/ 0 w 1045824"/>
                <a:gd name="connsiteY2" fmla="*/ 1020604 h 1055342"/>
                <a:gd name="connsiteX3" fmla="*/ 868775 w 1045824"/>
                <a:gd name="connsiteY3" fmla="*/ 866585 h 105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5824" h="1055342">
                  <a:moveTo>
                    <a:pt x="868775" y="866585"/>
                  </a:moveTo>
                  <a:cubicBezTo>
                    <a:pt x="1142714" y="586645"/>
                    <a:pt x="1021271" y="63341"/>
                    <a:pt x="1005269" y="0"/>
                  </a:cubicBezTo>
                  <a:cubicBezTo>
                    <a:pt x="516731" y="122587"/>
                    <a:pt x="119444" y="509111"/>
                    <a:pt x="0" y="1020604"/>
                  </a:cubicBezTo>
                  <a:cubicBezTo>
                    <a:pt x="24765" y="1026605"/>
                    <a:pt x="583406" y="1158145"/>
                    <a:pt x="868775" y="8665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12">
              <a:extLst>
                <a:ext uri="{FF2B5EF4-FFF2-40B4-BE49-F238E27FC236}">
                  <a16:creationId xmlns:a16="http://schemas.microsoft.com/office/drawing/2014/main" id="{C59B5725-5F9C-4F97-A8F1-326A63828549}"/>
                </a:ext>
              </a:extLst>
            </p:cNvPr>
            <p:cNvSpPr/>
            <p:nvPr/>
          </p:nvSpPr>
          <p:spPr>
            <a:xfrm>
              <a:off x="2839938" y="68103"/>
              <a:ext cx="853528" cy="1267015"/>
            </a:xfrm>
            <a:custGeom>
              <a:avLst/>
              <a:gdLst>
                <a:gd name="connsiteX0" fmla="*/ 790800 w 853528"/>
                <a:gd name="connsiteY0" fmla="*/ 397955 h 1267015"/>
                <a:gd name="connsiteX1" fmla="*/ 2702 w 853528"/>
                <a:gd name="connsiteY1" fmla="*/ 0 h 1267015"/>
                <a:gd name="connsiteX2" fmla="*/ 671738 w 853528"/>
                <a:gd name="connsiteY2" fmla="*/ 1267016 h 1267015"/>
                <a:gd name="connsiteX3" fmla="*/ 790800 w 853528"/>
                <a:gd name="connsiteY3" fmla="*/ 397955 h 126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528" h="1267015">
                  <a:moveTo>
                    <a:pt x="790800" y="397955"/>
                  </a:moveTo>
                  <a:cubicBezTo>
                    <a:pt x="599824" y="33052"/>
                    <a:pt x="17846" y="762"/>
                    <a:pt x="2702" y="0"/>
                  </a:cubicBezTo>
                  <a:cubicBezTo>
                    <a:pt x="-30160" y="524637"/>
                    <a:pt x="239303" y="1009078"/>
                    <a:pt x="671738" y="1267016"/>
                  </a:cubicBezTo>
                  <a:cubicBezTo>
                    <a:pt x="705456" y="1210723"/>
                    <a:pt x="972347" y="744855"/>
                    <a:pt x="790800" y="3979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4">
              <a:extLst>
                <a:ext uri="{FF2B5EF4-FFF2-40B4-BE49-F238E27FC236}">
                  <a16:creationId xmlns:a16="http://schemas.microsoft.com/office/drawing/2014/main" id="{FABA9E58-4B46-4EE4-97E2-26E72D584C53}"/>
                </a:ext>
              </a:extLst>
            </p:cNvPr>
            <p:cNvSpPr/>
            <p:nvPr/>
          </p:nvSpPr>
          <p:spPr>
            <a:xfrm>
              <a:off x="2024062" y="2446286"/>
              <a:ext cx="1410176" cy="729358"/>
            </a:xfrm>
            <a:custGeom>
              <a:avLst/>
              <a:gdLst>
                <a:gd name="connsiteX0" fmla="*/ 622173 w 1410176"/>
                <a:gd name="connsiteY0" fmla="*/ 7258 h 729358"/>
                <a:gd name="connsiteX1" fmla="*/ 0 w 1410176"/>
                <a:gd name="connsiteY1" fmla="*/ 634194 h 729358"/>
                <a:gd name="connsiteX2" fmla="*/ 10001 w 1410176"/>
                <a:gd name="connsiteY2" fmla="*/ 638480 h 729358"/>
                <a:gd name="connsiteX3" fmla="*/ 304705 w 1410176"/>
                <a:gd name="connsiteY3" fmla="*/ 714966 h 729358"/>
                <a:gd name="connsiteX4" fmla="*/ 1410176 w 1410176"/>
                <a:gd name="connsiteY4" fmla="*/ 387020 h 729358"/>
                <a:gd name="connsiteX5" fmla="*/ 622173 w 1410176"/>
                <a:gd name="connsiteY5" fmla="*/ 7258 h 729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0176" h="729358">
                  <a:moveTo>
                    <a:pt x="622173" y="7258"/>
                  </a:moveTo>
                  <a:cubicBezTo>
                    <a:pt x="210693" y="76981"/>
                    <a:pt x="0" y="634194"/>
                    <a:pt x="0" y="634194"/>
                  </a:cubicBezTo>
                  <a:cubicBezTo>
                    <a:pt x="3334" y="635718"/>
                    <a:pt x="6668" y="637051"/>
                    <a:pt x="10001" y="638480"/>
                  </a:cubicBezTo>
                  <a:cubicBezTo>
                    <a:pt x="103251" y="674103"/>
                    <a:pt x="201740" y="700106"/>
                    <a:pt x="304705" y="714966"/>
                  </a:cubicBezTo>
                  <a:cubicBezTo>
                    <a:pt x="719614" y="775068"/>
                    <a:pt x="1117949" y="643338"/>
                    <a:pt x="1410176" y="387020"/>
                  </a:cubicBezTo>
                  <a:cubicBezTo>
                    <a:pt x="1359884" y="329870"/>
                    <a:pt x="1003459" y="-57417"/>
                    <a:pt x="622173" y="72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5" y="6212901"/>
            <a:ext cx="1800000" cy="246221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42586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FFE800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0326176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00AC8C"/>
          </a:solidFill>
        </p:grpSpPr>
        <p:sp>
          <p:nvSpPr>
            <p:cNvPr id="2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633277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994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398436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6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00AC8C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254013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e 3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FF9940"/>
          </a:solidFill>
        </p:grpSpPr>
        <p:sp>
          <p:nvSpPr>
            <p:cNvPr id="4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4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88316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E80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3611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0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5770BE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135208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 avec titre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2" y="1316765"/>
            <a:ext cx="11459060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7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2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4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89307071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text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1" y="1316765"/>
            <a:ext cx="5472731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9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1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4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25624586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7242" y="1316765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8306" y="5306484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18371960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35109" y="1316765"/>
            <a:ext cx="11299113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172" y="5306484"/>
            <a:ext cx="11270976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1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35109" y="371400"/>
            <a:ext cx="10809071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7033635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cour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5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0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161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0.xml"/><Relationship Id="rId16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1C4412E-1A2B-44B3-9B57-31C1BB25A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78512F-7499-4A58-A6BA-57867A97E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97EAE5-2886-4DAC-A7B1-3CF099558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DFF76-4B2F-44E8-8C77-D53050114780}" type="datetimeFigureOut">
              <a:rPr lang="fr-FR" smtClean="0"/>
              <a:t>07/08/2026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532B03-63FA-449E-A45E-815238FC8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91CAF1-2727-428D-BA84-E1EC5012B8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2101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1. Titre de partie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9" name="Espace réservé du numéro de diapositive 7">
            <a:extLst>
              <a:ext uri="{FF2B5EF4-FFF2-40B4-BE49-F238E27FC236}">
                <a16:creationId xmlns:a16="http://schemas.microsoft.com/office/drawing/2014/main" id="{61BB31C8-B8DD-4E0E-A877-46E83C261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8452755" y="6212901"/>
            <a:ext cx="1800000" cy="246221"/>
          </a:xfrm>
          <a:prstGeom prst="rect">
            <a:avLst/>
          </a:prstGeom>
        </p:spPr>
        <p:txBody>
          <a:bodyPr anchor="t">
            <a:spAutoFit/>
          </a:bodyPr>
          <a:lstStyle>
            <a:lvl1pPr algn="r">
              <a:defRPr sz="1000" b="0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2" name="Espace réservé du pied de page 4">
            <a:extLst>
              <a:ext uri="{FF2B5EF4-FFF2-40B4-BE49-F238E27FC236}">
                <a16:creationId xmlns:a16="http://schemas.microsoft.com/office/drawing/2014/main" id="{0D938FD0-499A-4C4D-8BFF-68F0058C3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7241" y="6213309"/>
            <a:ext cx="4114800" cy="2821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27" b="1" cap="none" spc="-13" baseline="0">
                <a:solidFill>
                  <a:schemeClr val="tx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22" name="Espace réservé de la date 1">
            <a:extLst>
              <a:ext uri="{FF2B5EF4-FFF2-40B4-BE49-F238E27FC236}">
                <a16:creationId xmlns:a16="http://schemas.microsoft.com/office/drawing/2014/main" id="{432F5AB4-B213-42ED-9F78-9A5A430019A5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266300" y="6212901"/>
            <a:ext cx="1560000" cy="28257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1000" b="1"/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</p:spTree>
    <p:extLst>
      <p:ext uri="{BB962C8B-B14F-4D97-AF65-F5344CB8AC3E}">
        <p14:creationId xmlns:p14="http://schemas.microsoft.com/office/powerpoint/2010/main" val="179313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792" r:id="rId16"/>
    <p:sldLayoutId id="2147483793" r:id="rId17"/>
  </p:sldLayoutIdLst>
  <p:hf hdr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1. Titre de partie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9" name="Espace réservé du numéro de diapositive 7">
            <a:extLst>
              <a:ext uri="{FF2B5EF4-FFF2-40B4-BE49-F238E27FC236}">
                <a16:creationId xmlns:a16="http://schemas.microsoft.com/office/drawing/2014/main" id="{61BB31C8-B8DD-4E0E-A877-46E83C261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8452755" y="6212901"/>
            <a:ext cx="1800000" cy="246221"/>
          </a:xfrm>
          <a:prstGeom prst="rect">
            <a:avLst/>
          </a:prstGeom>
        </p:spPr>
        <p:txBody>
          <a:bodyPr anchor="t">
            <a:spAutoFit/>
          </a:bodyPr>
          <a:lstStyle>
            <a:lvl1pPr algn="r">
              <a:defRPr sz="1000" b="0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2" name="Espace réservé du pied de page 4">
            <a:extLst>
              <a:ext uri="{FF2B5EF4-FFF2-40B4-BE49-F238E27FC236}">
                <a16:creationId xmlns:a16="http://schemas.microsoft.com/office/drawing/2014/main" id="{0D938FD0-499A-4C4D-8BFF-68F0058C3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7241" y="6213309"/>
            <a:ext cx="4114800" cy="2821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27" b="1" cap="none" spc="-13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22" name="Espace réservé de la date 1">
            <a:extLst>
              <a:ext uri="{FF2B5EF4-FFF2-40B4-BE49-F238E27FC236}">
                <a16:creationId xmlns:a16="http://schemas.microsoft.com/office/drawing/2014/main" id="{432F5AB4-B213-42ED-9F78-9A5A430019A5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266300" y="6212901"/>
            <a:ext cx="1560000" cy="28257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1000" b="1"/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</p:spTree>
    <p:extLst>
      <p:ext uri="{BB962C8B-B14F-4D97-AF65-F5344CB8AC3E}">
        <p14:creationId xmlns:p14="http://schemas.microsoft.com/office/powerpoint/2010/main" val="843992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798" r:id="rId4"/>
    <p:sldLayoutId id="2147483799" r:id="rId5"/>
    <p:sldLayoutId id="2147483800" r:id="rId6"/>
    <p:sldLayoutId id="2147483801" r:id="rId7"/>
    <p:sldLayoutId id="2147483802" r:id="rId8"/>
    <p:sldLayoutId id="2147483803" r:id="rId9"/>
    <p:sldLayoutId id="2147483804" r:id="rId10"/>
    <p:sldLayoutId id="2147483805" r:id="rId11"/>
    <p:sldLayoutId id="2147483806" r:id="rId12"/>
    <p:sldLayoutId id="2147483807" r:id="rId13"/>
    <p:sldLayoutId id="2147483808" r:id="rId14"/>
    <p:sldLayoutId id="2147483809" r:id="rId15"/>
    <p:sldLayoutId id="2147483810" r:id="rId16"/>
    <p:sldLayoutId id="2147483811" r:id="rId17"/>
  </p:sldLayoutIdLst>
  <p:hf sldNum="0" hdr="0" ft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png"/><Relationship Id="rId7" Type="http://schemas.openxmlformats.org/officeDocument/2006/relationships/image" Target="../media/image29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emf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35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2A1C119C-5B6C-4737-B20E-744EFDCDF095}"/>
              </a:ext>
            </a:extLst>
          </p:cNvPr>
          <p:cNvSpPr txBox="1"/>
          <p:nvPr/>
        </p:nvSpPr>
        <p:spPr>
          <a:xfrm>
            <a:off x="1634068" y="1790931"/>
            <a:ext cx="860213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Mixing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functional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multiblock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to explore One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Health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antimicrobial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resistance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in France</a:t>
            </a:r>
          </a:p>
          <a:p>
            <a:pPr algn="just"/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32BB0E1-3BD7-4ACE-9B88-D88956580B57}"/>
              </a:ext>
            </a:extLst>
          </p:cNvPr>
          <p:cNvSpPr txBox="1"/>
          <p:nvPr/>
        </p:nvSpPr>
        <p:spPr>
          <a:xfrm>
            <a:off x="2099734" y="3860800"/>
            <a:ext cx="767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Gaspard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Martet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, Stéphanie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Bougeard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, Claire Chauvin</a:t>
            </a:r>
            <a:b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fr-FR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Anses, Unité Epidémiologie, Santé et Bien-être (</a:t>
            </a:r>
            <a:r>
              <a:rPr lang="fr-FR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EpiSaBE</a:t>
            </a:r>
            <a: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), Laboratoire de Ploufragan-Plouzané-Niort, France</a:t>
            </a:r>
            <a:b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gaspard.martet@anses.fr</a:t>
            </a:r>
          </a:p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D61AC89D-C8C0-4ADD-B73E-2921D68BF7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65" y="101600"/>
            <a:ext cx="1789345" cy="1521832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62CAD7D6-947E-4BF8-8290-C4896009D516}"/>
              </a:ext>
            </a:extLst>
          </p:cNvPr>
          <p:cNvSpPr txBox="1"/>
          <p:nvPr/>
        </p:nvSpPr>
        <p:spPr>
          <a:xfrm>
            <a:off x="10659534" y="6333067"/>
            <a:ext cx="1371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15/07/2026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81335A3-0F69-475D-A751-D1EBE57C4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101" y="117020"/>
            <a:ext cx="1280099" cy="142083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14F927E-F7DC-4C04-A21D-AAD063093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471" y="214214"/>
            <a:ext cx="1965325" cy="129660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20AC29F-CDA8-4CD3-8E4F-4E2AB23717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5" y="5327650"/>
            <a:ext cx="142875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202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05791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646BEC0D-9EDA-46E5-9B61-03EC0B3EEB77}"/>
              </a:ext>
            </a:extLst>
          </p:cNvPr>
          <p:cNvSpPr/>
          <p:nvPr/>
        </p:nvSpPr>
        <p:spPr>
          <a:xfrm>
            <a:off x="8348133" y="875171"/>
            <a:ext cx="3014134" cy="2093553"/>
          </a:xfrm>
          <a:prstGeom prst="rect">
            <a:avLst/>
          </a:prstGeom>
          <a:solidFill>
            <a:srgbClr val="FFFA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5672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Context</a:t>
            </a:r>
            <a:endParaRPr lang="fr-FR" dirty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8FD304A-50C5-4B55-8CF4-401540D07A06}"/>
              </a:ext>
            </a:extLst>
          </p:cNvPr>
          <p:cNvGrpSpPr/>
          <p:nvPr/>
        </p:nvGrpSpPr>
        <p:grpSpPr>
          <a:xfrm>
            <a:off x="1" y="875171"/>
            <a:ext cx="7124772" cy="1863943"/>
            <a:chOff x="511443" y="1098625"/>
            <a:chExt cx="7124772" cy="1863943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FBAA6594-8E17-49EB-A17C-4BC8A7333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1443" y="1098625"/>
              <a:ext cx="1740048" cy="1185553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36669E2-910F-45EE-A32C-A312E717DC5A}"/>
                </a:ext>
              </a:extLst>
            </p:cNvPr>
            <p:cNvSpPr txBox="1"/>
            <p:nvPr/>
          </p:nvSpPr>
          <p:spPr>
            <a:xfrm>
              <a:off x="664204" y="2408570"/>
              <a:ext cx="182225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dirty="0"/>
                <a:t>AMR: </a:t>
              </a:r>
              <a:r>
                <a:rPr lang="fr-FR" sz="1000" dirty="0" err="1"/>
                <a:t>forecast</a:t>
              </a:r>
              <a:r>
                <a:rPr lang="fr-FR" sz="1000" dirty="0"/>
                <a:t> of 10 million </a:t>
              </a:r>
              <a:r>
                <a:rPr lang="fr-FR" sz="1000" dirty="0" err="1"/>
                <a:t>deaths</a:t>
              </a:r>
              <a:r>
                <a:rPr lang="fr-FR" sz="1000" dirty="0"/>
                <a:t>/</a:t>
              </a:r>
              <a:r>
                <a:rPr lang="fr-FR" sz="1000" dirty="0" err="1"/>
                <a:t>year</a:t>
              </a:r>
              <a:r>
                <a:rPr lang="fr-FR" sz="1000" dirty="0"/>
                <a:t> by 2050</a:t>
              </a:r>
            </a:p>
          </p:txBody>
        </p:sp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937D2211-734F-44FC-A58B-9D4E76DAD6B4}"/>
                </a:ext>
              </a:extLst>
            </p:cNvPr>
            <p:cNvSpPr/>
            <p:nvPr/>
          </p:nvSpPr>
          <p:spPr>
            <a:xfrm>
              <a:off x="2892839" y="1655267"/>
              <a:ext cx="2286000" cy="581186"/>
            </a:xfrm>
            <a:prstGeom prst="right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29DCC0B9-3A08-45BA-9481-BED0C7C933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54648" y="1168386"/>
              <a:ext cx="2111475" cy="1240184"/>
            </a:xfrm>
            <a:prstGeom prst="rect">
              <a:avLst/>
            </a:prstGeom>
          </p:spPr>
        </p:pic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73E5E830-5F11-4283-B30C-190B5316D90B}"/>
                </a:ext>
              </a:extLst>
            </p:cNvPr>
            <p:cNvSpPr txBox="1"/>
            <p:nvPr/>
          </p:nvSpPr>
          <p:spPr>
            <a:xfrm>
              <a:off x="5354648" y="2297047"/>
              <a:ext cx="228156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 err="1"/>
                <a:t>Launched</a:t>
              </a:r>
              <a:r>
                <a:rPr lang="fr-FR" sz="1050" dirty="0"/>
                <a:t> </a:t>
              </a:r>
              <a:r>
                <a:rPr lang="fr-FR" sz="900" dirty="0"/>
                <a:t>in 2021: One-</a:t>
              </a:r>
              <a:r>
                <a:rPr lang="fr-FR" sz="900" dirty="0" err="1"/>
                <a:t>Health</a:t>
              </a:r>
              <a:r>
                <a:rPr lang="fr-FR" sz="900" dirty="0"/>
                <a:t> Meta Network </a:t>
              </a:r>
              <a:r>
                <a:rPr lang="fr-FR" sz="900" dirty="0" err="1"/>
                <a:t>with</a:t>
              </a:r>
              <a:r>
                <a:rPr lang="fr-FR" sz="900" dirty="0"/>
                <a:t> 42 </a:t>
              </a:r>
              <a:r>
                <a:rPr lang="fr-FR" sz="900" dirty="0" err="1"/>
                <a:t>academic</a:t>
              </a:r>
              <a:r>
                <a:rPr lang="fr-FR" sz="900" dirty="0"/>
                <a:t> </a:t>
              </a:r>
              <a:r>
                <a:rPr lang="fr-FR" sz="900" dirty="0" err="1"/>
                <a:t>partners</a:t>
              </a:r>
              <a:r>
                <a:rPr lang="fr-FR" sz="900" dirty="0"/>
                <a:t>  </a:t>
              </a:r>
              <a:endParaRPr lang="fr-FR" sz="1050" dirty="0"/>
            </a:p>
          </p:txBody>
        </p:sp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CE0F0505-81F8-456B-AF3B-04DAA0FA3BF8}"/>
              </a:ext>
            </a:extLst>
          </p:cNvPr>
          <p:cNvGrpSpPr/>
          <p:nvPr/>
        </p:nvGrpSpPr>
        <p:grpSpPr>
          <a:xfrm>
            <a:off x="298471" y="2920999"/>
            <a:ext cx="6411562" cy="3576207"/>
            <a:chOff x="247671" y="3251199"/>
            <a:chExt cx="6411562" cy="3576207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DA5FA63-C877-4026-B80F-12C402535415}"/>
                </a:ext>
              </a:extLst>
            </p:cNvPr>
            <p:cNvSpPr/>
            <p:nvPr/>
          </p:nvSpPr>
          <p:spPr>
            <a:xfrm>
              <a:off x="247671" y="3251200"/>
              <a:ext cx="1639752" cy="356125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6" name="Picture 2" descr="Les bactéries - Icônes animaux gratuites">
              <a:extLst>
                <a:ext uri="{FF2B5EF4-FFF2-40B4-BE49-F238E27FC236}">
                  <a16:creationId xmlns:a16="http://schemas.microsoft.com/office/drawing/2014/main" id="{27CFB3D4-881A-427A-B9F2-5A3BB40BF8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2358" y="3422213"/>
              <a:ext cx="643467" cy="6434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Les bactéries - Icônes animaux gratuites">
              <a:extLst>
                <a:ext uri="{FF2B5EF4-FFF2-40B4-BE49-F238E27FC236}">
                  <a16:creationId xmlns:a16="http://schemas.microsoft.com/office/drawing/2014/main" id="{AEA8B618-E7F0-485B-8018-A5FE527E2B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2357" y="4522794"/>
              <a:ext cx="643467" cy="6434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Les bactéries - Icônes animaux gratuites">
              <a:extLst>
                <a:ext uri="{FF2B5EF4-FFF2-40B4-BE49-F238E27FC236}">
                  <a16:creationId xmlns:a16="http://schemas.microsoft.com/office/drawing/2014/main" id="{ADD9F66B-31C1-4BCE-89C9-4869B83D68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8543" y="5515951"/>
              <a:ext cx="643467" cy="6434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FDB6FC1B-9A35-4067-870A-E37AB86DDD24}"/>
                </a:ext>
              </a:extLst>
            </p:cNvPr>
            <p:cNvSpPr txBox="1"/>
            <p:nvPr/>
          </p:nvSpPr>
          <p:spPr>
            <a:xfrm>
              <a:off x="768543" y="4128448"/>
              <a:ext cx="8297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 err="1"/>
                <a:t>E.coli</a:t>
              </a:r>
              <a:endParaRPr lang="fr-FR" i="1" dirty="0"/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376FBBE6-A8F7-4345-9B4E-12D8B6D0E4AB}"/>
                </a:ext>
              </a:extLst>
            </p:cNvPr>
            <p:cNvSpPr txBox="1"/>
            <p:nvPr/>
          </p:nvSpPr>
          <p:spPr>
            <a:xfrm>
              <a:off x="552641" y="5176184"/>
              <a:ext cx="1261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 err="1"/>
                <a:t>K.pneumoniae</a:t>
              </a:r>
              <a:endParaRPr lang="fr-FR" i="1" dirty="0"/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EF594476-8D59-4C24-A6D0-DC67EDB6AE05}"/>
                </a:ext>
              </a:extLst>
            </p:cNvPr>
            <p:cNvSpPr txBox="1"/>
            <p:nvPr/>
          </p:nvSpPr>
          <p:spPr>
            <a:xfrm>
              <a:off x="732357" y="6138265"/>
              <a:ext cx="1261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 err="1"/>
                <a:t>S.aureus</a:t>
              </a:r>
              <a:endParaRPr lang="fr-FR" i="1" dirty="0"/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BABAB35B-0589-487B-BF24-09460F2EF7B9}"/>
                </a:ext>
              </a:extLst>
            </p:cNvPr>
            <p:cNvSpPr txBox="1"/>
            <p:nvPr/>
          </p:nvSpPr>
          <p:spPr>
            <a:xfrm>
              <a:off x="781242" y="6415264"/>
              <a:ext cx="1261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Etc.</a:t>
              </a:r>
            </a:p>
          </p:txBody>
        </p: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33481214-D620-4439-BBEC-035087A49855}"/>
                </a:ext>
              </a:extLst>
            </p:cNvPr>
            <p:cNvGrpSpPr/>
            <p:nvPr/>
          </p:nvGrpSpPr>
          <p:grpSpPr>
            <a:xfrm>
              <a:off x="2418217" y="3251199"/>
              <a:ext cx="1925892" cy="3561257"/>
              <a:chOff x="2418217" y="3251199"/>
              <a:chExt cx="1925892" cy="3561257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0538230-832F-4B64-9C6B-2DAA1BE36453}"/>
                  </a:ext>
                </a:extLst>
              </p:cNvPr>
              <p:cNvSpPr/>
              <p:nvPr/>
            </p:nvSpPr>
            <p:spPr>
              <a:xfrm>
                <a:off x="2418217" y="3251199"/>
                <a:ext cx="1901238" cy="356125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28" name="Picture 22" descr="Pilule - Icônes médical gratuites">
                <a:extLst>
                  <a:ext uri="{FF2B5EF4-FFF2-40B4-BE49-F238E27FC236}">
                    <a16:creationId xmlns:a16="http://schemas.microsoft.com/office/drawing/2014/main" id="{DB18191D-6033-406F-A1BB-AB4AA8CA9C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6200000" flipH="1" flipV="1">
                <a:off x="3050790" y="3369085"/>
                <a:ext cx="532065" cy="532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9F5E00E1-7BE8-43B6-B7C9-45DA640D1FBF}"/>
                  </a:ext>
                </a:extLst>
              </p:cNvPr>
              <p:cNvSpPr txBox="1"/>
              <p:nvPr/>
            </p:nvSpPr>
            <p:spPr>
              <a:xfrm>
                <a:off x="2704357" y="4038694"/>
                <a:ext cx="1430472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Fluoroquinolone (FQ)</a:t>
                </a:r>
                <a:endParaRPr lang="fr-FR" sz="1400" dirty="0"/>
              </a:p>
            </p:txBody>
          </p:sp>
          <p:pic>
            <p:nvPicPr>
              <p:cNvPr id="40" name="Picture 22" descr="Pilule - Icônes médical gratuites">
                <a:extLst>
                  <a:ext uri="{FF2B5EF4-FFF2-40B4-BE49-F238E27FC236}">
                    <a16:creationId xmlns:a16="http://schemas.microsoft.com/office/drawing/2014/main" id="{9783098C-D82E-4085-86D9-6FD4FD8013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6200000" flipH="1" flipV="1">
                <a:off x="3092881" y="4578494"/>
                <a:ext cx="532065" cy="532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3458169B-099F-4F25-AABB-470DAD65676A}"/>
                  </a:ext>
                </a:extLst>
              </p:cNvPr>
              <p:cNvSpPr txBox="1"/>
              <p:nvPr/>
            </p:nvSpPr>
            <p:spPr>
              <a:xfrm>
                <a:off x="2704357" y="5217826"/>
                <a:ext cx="1639752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 err="1"/>
                  <a:t>Third-generation</a:t>
                </a:r>
                <a:r>
                  <a:rPr lang="fr-FR" sz="1050" dirty="0"/>
                  <a:t> </a:t>
                </a:r>
                <a:r>
                  <a:rPr lang="fr-FR" sz="1050" dirty="0" err="1"/>
                  <a:t>cephalosporins</a:t>
                </a:r>
                <a:r>
                  <a:rPr lang="fr-FR" sz="1050" dirty="0"/>
                  <a:t> (C3G)</a:t>
                </a:r>
                <a:endParaRPr lang="fr-FR" sz="1400" dirty="0"/>
              </a:p>
            </p:txBody>
          </p:sp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8E650858-A3AB-4C14-959C-15562A1AE0A4}"/>
                  </a:ext>
                </a:extLst>
              </p:cNvPr>
              <p:cNvSpPr txBox="1"/>
              <p:nvPr/>
            </p:nvSpPr>
            <p:spPr>
              <a:xfrm>
                <a:off x="3041383" y="6011606"/>
                <a:ext cx="12615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Etc.</a:t>
                </a:r>
              </a:p>
            </p:txBody>
          </p:sp>
        </p:grpSp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76C35B5E-3566-4C0D-ACB5-7EF6FB7EF4DA}"/>
                </a:ext>
              </a:extLst>
            </p:cNvPr>
            <p:cNvCxnSpPr>
              <a:stCxn id="47" idx="1"/>
            </p:cNvCxnSpPr>
            <p:nvPr/>
          </p:nvCxnSpPr>
          <p:spPr>
            <a:xfrm flipH="1" flipV="1">
              <a:off x="1887423" y="5020733"/>
              <a:ext cx="530794" cy="110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AEF088FE-1D84-419D-B273-FF6D727406CA}"/>
                </a:ext>
              </a:extLst>
            </p:cNvPr>
            <p:cNvSpPr txBox="1"/>
            <p:nvPr/>
          </p:nvSpPr>
          <p:spPr>
            <a:xfrm>
              <a:off x="1924219" y="5130085"/>
              <a:ext cx="53079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dirty="0">
                  <a:solidFill>
                    <a:srgbClr val="FF0000"/>
                  </a:solidFill>
                </a:rPr>
                <a:t>AMR</a:t>
              </a:r>
              <a:endParaRPr lang="fr-FR" dirty="0">
                <a:solidFill>
                  <a:srgbClr val="FF0000"/>
                </a:solidFill>
              </a:endParaRPr>
            </a:p>
          </p:txBody>
        </p: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26480A96-4103-4302-A3BD-42212C7D8F7B}"/>
                </a:ext>
              </a:extLst>
            </p:cNvPr>
            <p:cNvGrpSpPr/>
            <p:nvPr/>
          </p:nvGrpSpPr>
          <p:grpSpPr>
            <a:xfrm>
              <a:off x="4757995" y="3266149"/>
              <a:ext cx="1901238" cy="3561257"/>
              <a:chOff x="2418217" y="3251199"/>
              <a:chExt cx="1901238" cy="356125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D42C126-C034-4908-A596-266D9221C9B6}"/>
                  </a:ext>
                </a:extLst>
              </p:cNvPr>
              <p:cNvSpPr/>
              <p:nvPr/>
            </p:nvSpPr>
            <p:spPr>
              <a:xfrm>
                <a:off x="2418217" y="3251199"/>
                <a:ext cx="1901238" cy="356125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A6D8431C-BEA2-4B01-85E8-443F79969C86}"/>
                  </a:ext>
                </a:extLst>
              </p:cNvPr>
              <p:cNvSpPr txBox="1"/>
              <p:nvPr/>
            </p:nvSpPr>
            <p:spPr>
              <a:xfrm>
                <a:off x="2616809" y="4038694"/>
                <a:ext cx="159856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dirty="0" err="1"/>
                  <a:t>Primary</a:t>
                </a:r>
                <a:r>
                  <a:rPr lang="fr-FR" sz="1100" dirty="0"/>
                  <a:t> Care setting</a:t>
                </a:r>
                <a:endParaRPr lang="fr-FR" sz="1050" dirty="0"/>
              </a:p>
            </p:txBody>
          </p:sp>
          <p:sp>
            <p:nvSpPr>
              <p:cNvPr id="58" name="ZoneTexte 57">
                <a:extLst>
                  <a:ext uri="{FF2B5EF4-FFF2-40B4-BE49-F238E27FC236}">
                    <a16:creationId xmlns:a16="http://schemas.microsoft.com/office/drawing/2014/main" id="{38712756-0948-4520-A21F-CBD78CB34DCB}"/>
                  </a:ext>
                </a:extLst>
              </p:cNvPr>
              <p:cNvSpPr txBox="1"/>
              <p:nvPr/>
            </p:nvSpPr>
            <p:spPr>
              <a:xfrm>
                <a:off x="3075845" y="5075631"/>
                <a:ext cx="68026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EHPAD</a:t>
                </a:r>
                <a:endParaRPr lang="fr-FR" sz="1400" dirty="0"/>
              </a:p>
            </p:txBody>
          </p:sp>
        </p:grpSp>
        <p:pic>
          <p:nvPicPr>
            <p:cNvPr id="60" name="Graphique 59" descr="Médical avec un remplissage uni">
              <a:extLst>
                <a:ext uri="{FF2B5EF4-FFF2-40B4-BE49-F238E27FC236}">
                  <a16:creationId xmlns:a16="http://schemas.microsoft.com/office/drawing/2014/main" id="{8975DE37-F99B-48EC-BBF5-894C7FA81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15623" y="3410434"/>
              <a:ext cx="680261" cy="680261"/>
            </a:xfrm>
            <a:prstGeom prst="rect">
              <a:avLst/>
            </a:prstGeom>
          </p:spPr>
        </p:pic>
        <p:pic>
          <p:nvPicPr>
            <p:cNvPr id="62" name="Graphique 61" descr="Médical avec un remplissage uni">
              <a:extLst>
                <a:ext uri="{FF2B5EF4-FFF2-40B4-BE49-F238E27FC236}">
                  <a16:creationId xmlns:a16="http://schemas.microsoft.com/office/drawing/2014/main" id="{29623B75-5A73-4FD4-92A7-3202D21FF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15623" y="4410320"/>
              <a:ext cx="680261" cy="680261"/>
            </a:xfrm>
            <a:prstGeom prst="rect">
              <a:avLst/>
            </a:prstGeom>
          </p:spPr>
        </p:pic>
        <p:pic>
          <p:nvPicPr>
            <p:cNvPr id="63" name="Graphique 62" descr="Médical avec un remplissage uni">
              <a:extLst>
                <a:ext uri="{FF2B5EF4-FFF2-40B4-BE49-F238E27FC236}">
                  <a16:creationId xmlns:a16="http://schemas.microsoft.com/office/drawing/2014/main" id="{0A1383D5-0B75-49AE-A63F-C92209994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41718" y="5476564"/>
              <a:ext cx="680261" cy="680261"/>
            </a:xfrm>
            <a:prstGeom prst="rect">
              <a:avLst/>
            </a:prstGeom>
          </p:spPr>
        </p:pic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AA6D4F65-548B-4E65-971C-C28B2243EFEC}"/>
                </a:ext>
              </a:extLst>
            </p:cNvPr>
            <p:cNvSpPr txBox="1"/>
            <p:nvPr/>
          </p:nvSpPr>
          <p:spPr>
            <a:xfrm>
              <a:off x="5416202" y="6161934"/>
              <a:ext cx="91674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50" dirty="0" err="1"/>
                <a:t>Hospitals</a:t>
              </a:r>
              <a:endParaRPr lang="fr-FR" sz="1400" dirty="0"/>
            </a:p>
          </p:txBody>
        </p:sp>
        <p:cxnSp>
          <p:nvCxnSpPr>
            <p:cNvPr id="65" name="Connecteur droit avec flèche 64">
              <a:extLst>
                <a:ext uri="{FF2B5EF4-FFF2-40B4-BE49-F238E27FC236}">
                  <a16:creationId xmlns:a16="http://schemas.microsoft.com/office/drawing/2014/main" id="{012EE5E7-4460-4252-ABF7-BAE892210571}"/>
                </a:ext>
              </a:extLst>
            </p:cNvPr>
            <p:cNvCxnSpPr>
              <a:stCxn id="47" idx="3"/>
              <a:endCxn id="54" idx="1"/>
            </p:cNvCxnSpPr>
            <p:nvPr/>
          </p:nvCxnSpPr>
          <p:spPr>
            <a:xfrm>
              <a:off x="4319455" y="5031828"/>
              <a:ext cx="438540" cy="149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A4F11841-89C3-4C53-B4A2-73CA91609AB4}"/>
                </a:ext>
              </a:extLst>
            </p:cNvPr>
            <p:cNvSpPr txBox="1"/>
            <p:nvPr/>
          </p:nvSpPr>
          <p:spPr>
            <a:xfrm>
              <a:off x="4285655" y="5145923"/>
              <a:ext cx="53079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dirty="0">
                  <a:solidFill>
                    <a:schemeClr val="bg2"/>
                  </a:solidFill>
                </a:rPr>
                <a:t>AMC</a:t>
              </a:r>
              <a:endParaRPr lang="fr-FR" dirty="0">
                <a:solidFill>
                  <a:schemeClr val="bg2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24BBF5C-8870-4FA3-8467-C9F74F5F4492}"/>
                </a:ext>
              </a:extLst>
            </p:cNvPr>
            <p:cNvSpPr/>
            <p:nvPr/>
          </p:nvSpPr>
          <p:spPr>
            <a:xfrm>
              <a:off x="440267" y="3369084"/>
              <a:ext cx="1241350" cy="1036363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D4CF4D30-D2A9-4037-AAFA-B6774184E26B}"/>
                </a:ext>
              </a:extLst>
            </p:cNvPr>
            <p:cNvSpPr/>
            <p:nvPr/>
          </p:nvSpPr>
          <p:spPr>
            <a:xfrm>
              <a:off x="2732949" y="3298924"/>
              <a:ext cx="1241350" cy="1223870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4264C13-857B-4B31-8DFE-1F6D550D54AD}"/>
                </a:ext>
              </a:extLst>
            </p:cNvPr>
            <p:cNvSpPr/>
            <p:nvPr/>
          </p:nvSpPr>
          <p:spPr>
            <a:xfrm>
              <a:off x="4956586" y="3365047"/>
              <a:ext cx="1598561" cy="950207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2" name="Connecteur : en arc 71">
            <a:extLst>
              <a:ext uri="{FF2B5EF4-FFF2-40B4-BE49-F238E27FC236}">
                <a16:creationId xmlns:a16="http://schemas.microsoft.com/office/drawing/2014/main" id="{31A9D45C-EC9F-4090-A313-35993E402B01}"/>
              </a:ext>
            </a:extLst>
          </p:cNvPr>
          <p:cNvCxnSpPr>
            <a:cxnSpLocks/>
            <a:stCxn id="54" idx="3"/>
          </p:cNvCxnSpPr>
          <p:nvPr/>
        </p:nvCxnSpPr>
        <p:spPr>
          <a:xfrm flipV="1">
            <a:off x="6710033" y="3852356"/>
            <a:ext cx="2365458" cy="86422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6" name="Connecteur : en arc 75">
            <a:extLst>
              <a:ext uri="{FF2B5EF4-FFF2-40B4-BE49-F238E27FC236}">
                <a16:creationId xmlns:a16="http://schemas.microsoft.com/office/drawing/2014/main" id="{02CFE82F-DA10-4E47-B34A-6ED4F25A34CD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710033" y="4716578"/>
            <a:ext cx="2484767" cy="87301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82" name="Graphique 81" descr="Base de données avec un remplissage uni">
            <a:extLst>
              <a:ext uri="{FF2B5EF4-FFF2-40B4-BE49-F238E27FC236}">
                <a16:creationId xmlns:a16="http://schemas.microsoft.com/office/drawing/2014/main" id="{253CAF9F-0961-4C78-B444-C1BA0D340E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28529" y="4318536"/>
            <a:ext cx="710191" cy="710191"/>
          </a:xfrm>
          <a:prstGeom prst="rect">
            <a:avLst/>
          </a:prstGeom>
        </p:spPr>
      </p:pic>
      <p:pic>
        <p:nvPicPr>
          <p:cNvPr id="83" name="Image 82">
            <a:extLst>
              <a:ext uri="{FF2B5EF4-FFF2-40B4-BE49-F238E27FC236}">
                <a16:creationId xmlns:a16="http://schemas.microsoft.com/office/drawing/2014/main" id="{6DC66C69-8661-4C96-B62C-595F34A2602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9279" y="3096640"/>
            <a:ext cx="1639752" cy="1793479"/>
          </a:xfrm>
          <a:prstGeom prst="rect">
            <a:avLst/>
          </a:prstGeom>
        </p:spPr>
      </p:pic>
      <p:pic>
        <p:nvPicPr>
          <p:cNvPr id="85" name="Graphique 84" descr="Calendrier journalier avec un remplissage uni">
            <a:extLst>
              <a:ext uri="{FF2B5EF4-FFF2-40B4-BE49-F238E27FC236}">
                <a16:creationId xmlns:a16="http://schemas.microsoft.com/office/drawing/2014/main" id="{2CB168C6-5334-47FA-B2D2-0FBF3EC09A5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59590" y="4938833"/>
            <a:ext cx="1196104" cy="1196104"/>
          </a:xfrm>
          <a:prstGeom prst="rect">
            <a:avLst/>
          </a:prstGeom>
        </p:spPr>
      </p:pic>
      <p:sp>
        <p:nvSpPr>
          <p:cNvPr id="86" name="ZoneTexte 85">
            <a:extLst>
              <a:ext uri="{FF2B5EF4-FFF2-40B4-BE49-F238E27FC236}">
                <a16:creationId xmlns:a16="http://schemas.microsoft.com/office/drawing/2014/main" id="{96387D1D-808E-474D-A639-9EA723301C33}"/>
              </a:ext>
            </a:extLst>
          </p:cNvPr>
          <p:cNvSpPr txBox="1"/>
          <p:nvPr/>
        </p:nvSpPr>
        <p:spPr>
          <a:xfrm>
            <a:off x="9224361" y="5374153"/>
            <a:ext cx="106757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err="1"/>
              <a:t>From</a:t>
            </a:r>
            <a:r>
              <a:rPr lang="fr-FR" sz="1100" dirty="0"/>
              <a:t> 2012 to 2024</a:t>
            </a:r>
          </a:p>
        </p:txBody>
      </p: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6E006AFD-AFD2-4FE1-BD33-B96E824426FA}"/>
              </a:ext>
            </a:extLst>
          </p:cNvPr>
          <p:cNvGrpSpPr/>
          <p:nvPr/>
        </p:nvGrpSpPr>
        <p:grpSpPr>
          <a:xfrm>
            <a:off x="8482444" y="1327242"/>
            <a:ext cx="2784381" cy="461665"/>
            <a:chOff x="8464650" y="1268403"/>
            <a:chExt cx="2784381" cy="461665"/>
          </a:xfrm>
        </p:grpSpPr>
        <p:pic>
          <p:nvPicPr>
            <p:cNvPr id="88" name="Graphique 87" descr="Base de données avec un remplissage uni">
              <a:extLst>
                <a:ext uri="{FF2B5EF4-FFF2-40B4-BE49-F238E27FC236}">
                  <a16:creationId xmlns:a16="http://schemas.microsoft.com/office/drawing/2014/main" id="{8F74261C-9BAA-4127-AEA4-5EBFE041E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64650" y="1303062"/>
              <a:ext cx="364871" cy="364871"/>
            </a:xfrm>
            <a:prstGeom prst="rect">
              <a:avLst/>
            </a:prstGeom>
          </p:spPr>
        </p:pic>
        <p:sp>
          <p:nvSpPr>
            <p:cNvPr id="87" name="ZoneTexte 86">
              <a:extLst>
                <a:ext uri="{FF2B5EF4-FFF2-40B4-BE49-F238E27FC236}">
                  <a16:creationId xmlns:a16="http://schemas.microsoft.com/office/drawing/2014/main" id="{93B266F6-DD8C-4CD7-B7B8-AB13F2740601}"/>
                </a:ext>
              </a:extLst>
            </p:cNvPr>
            <p:cNvSpPr txBox="1"/>
            <p:nvPr/>
          </p:nvSpPr>
          <p:spPr>
            <a:xfrm>
              <a:off x="8803345" y="1268403"/>
              <a:ext cx="24456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 err="1"/>
                <a:t>Humans</a:t>
              </a:r>
              <a:r>
                <a:rPr lang="fr-FR" sz="1200" dirty="0"/>
                <a:t> variables (ex : </a:t>
              </a:r>
              <a:r>
                <a:rPr lang="fr-FR" sz="1200" dirty="0" err="1"/>
                <a:t>number</a:t>
              </a:r>
              <a:r>
                <a:rPr lang="fr-FR" sz="1200" dirty="0"/>
                <a:t> of </a:t>
              </a:r>
              <a:r>
                <a:rPr lang="fr-FR" sz="1200" dirty="0" err="1"/>
                <a:t>doctors</a:t>
              </a:r>
              <a:r>
                <a:rPr lang="fr-FR" sz="1200" dirty="0"/>
                <a:t>/</a:t>
              </a:r>
              <a:r>
                <a:rPr lang="fr-FR" sz="1200" dirty="0" err="1"/>
                <a:t>livers</a:t>
              </a:r>
              <a:r>
                <a:rPr lang="fr-FR" sz="1200" dirty="0"/>
                <a:t>)</a:t>
              </a:r>
              <a:endParaRPr lang="fr-FR" dirty="0"/>
            </a:p>
          </p:txBody>
        </p:sp>
      </p:grpSp>
      <p:grpSp>
        <p:nvGrpSpPr>
          <p:cNvPr id="89" name="Groupe 88">
            <a:extLst>
              <a:ext uri="{FF2B5EF4-FFF2-40B4-BE49-F238E27FC236}">
                <a16:creationId xmlns:a16="http://schemas.microsoft.com/office/drawing/2014/main" id="{964E05BF-27FF-4DF3-8A22-F52B4F14E842}"/>
              </a:ext>
            </a:extLst>
          </p:cNvPr>
          <p:cNvGrpSpPr/>
          <p:nvPr/>
        </p:nvGrpSpPr>
        <p:grpSpPr>
          <a:xfrm>
            <a:off x="8464650" y="1828368"/>
            <a:ext cx="2802175" cy="461665"/>
            <a:chOff x="8464650" y="1828368"/>
            <a:chExt cx="2802175" cy="461665"/>
          </a:xfrm>
        </p:grpSpPr>
        <p:pic>
          <p:nvPicPr>
            <p:cNvPr id="90" name="Graphique 89" descr="Base de données avec un remplissage uni">
              <a:extLst>
                <a:ext uri="{FF2B5EF4-FFF2-40B4-BE49-F238E27FC236}">
                  <a16:creationId xmlns:a16="http://schemas.microsoft.com/office/drawing/2014/main" id="{35BB2A7F-8524-4A6C-831F-C2D1BC693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64650" y="1896138"/>
              <a:ext cx="364871" cy="364871"/>
            </a:xfrm>
            <a:prstGeom prst="rect">
              <a:avLst/>
            </a:prstGeom>
          </p:spPr>
        </p:pic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F4729194-1D5F-40D9-8DB7-5A37FE94EEBE}"/>
                </a:ext>
              </a:extLst>
            </p:cNvPr>
            <p:cNvSpPr txBox="1"/>
            <p:nvPr/>
          </p:nvSpPr>
          <p:spPr>
            <a:xfrm>
              <a:off x="8821139" y="1828368"/>
              <a:ext cx="24456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 err="1"/>
                <a:t>Environment</a:t>
              </a:r>
              <a:r>
                <a:rPr lang="fr-FR" sz="1200" dirty="0"/>
                <a:t> variables (ex : PM 2,5 mm)</a:t>
              </a:r>
            </a:p>
          </p:txBody>
        </p:sp>
      </p:grpSp>
      <p:grpSp>
        <p:nvGrpSpPr>
          <p:cNvPr id="94" name="Groupe 93">
            <a:extLst>
              <a:ext uri="{FF2B5EF4-FFF2-40B4-BE49-F238E27FC236}">
                <a16:creationId xmlns:a16="http://schemas.microsoft.com/office/drawing/2014/main" id="{AE98EC7E-482D-4405-B9E0-6A84B1BAAD68}"/>
              </a:ext>
            </a:extLst>
          </p:cNvPr>
          <p:cNvGrpSpPr/>
          <p:nvPr/>
        </p:nvGrpSpPr>
        <p:grpSpPr>
          <a:xfrm>
            <a:off x="8464650" y="2364184"/>
            <a:ext cx="2802175" cy="461665"/>
            <a:chOff x="8464650" y="1828368"/>
            <a:chExt cx="2802175" cy="461665"/>
          </a:xfrm>
        </p:grpSpPr>
        <p:pic>
          <p:nvPicPr>
            <p:cNvPr id="95" name="Graphique 94" descr="Base de données avec un remplissage uni">
              <a:extLst>
                <a:ext uri="{FF2B5EF4-FFF2-40B4-BE49-F238E27FC236}">
                  <a16:creationId xmlns:a16="http://schemas.microsoft.com/office/drawing/2014/main" id="{894245C0-DA8D-4218-90E2-ECC0750528D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64650" y="1896138"/>
              <a:ext cx="364871" cy="364871"/>
            </a:xfrm>
            <a:prstGeom prst="rect">
              <a:avLst/>
            </a:prstGeom>
          </p:spPr>
        </p:pic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61E638A4-0B57-4A17-8DE3-CD0ED4DB4FEA}"/>
                </a:ext>
              </a:extLst>
            </p:cNvPr>
            <p:cNvSpPr txBox="1"/>
            <p:nvPr/>
          </p:nvSpPr>
          <p:spPr>
            <a:xfrm>
              <a:off x="8821139" y="1828368"/>
              <a:ext cx="24456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Animals variables (ex : UGB </a:t>
              </a:r>
              <a:r>
                <a:rPr lang="fr-FR" sz="1200" dirty="0" err="1"/>
                <a:t>density</a:t>
              </a:r>
              <a:r>
                <a:rPr lang="fr-FR" sz="1200" dirty="0"/>
                <a:t> </a:t>
              </a:r>
              <a:r>
                <a:rPr lang="fr-FR" sz="1200" dirty="0" err="1"/>
                <a:t>livestock</a:t>
              </a:r>
              <a:r>
                <a:rPr lang="fr-FR" sz="1200" dirty="0"/>
                <a:t>)</a:t>
              </a:r>
            </a:p>
          </p:txBody>
        </p:sp>
      </p:grpSp>
      <p:sp>
        <p:nvSpPr>
          <p:cNvPr id="103" name="ZoneTexte 102">
            <a:extLst>
              <a:ext uri="{FF2B5EF4-FFF2-40B4-BE49-F238E27FC236}">
                <a16:creationId xmlns:a16="http://schemas.microsoft.com/office/drawing/2014/main" id="{F8D8DF67-DEDD-4B57-B763-45082AB167D9}"/>
              </a:ext>
            </a:extLst>
          </p:cNvPr>
          <p:cNvSpPr txBox="1"/>
          <p:nvPr/>
        </p:nvSpPr>
        <p:spPr>
          <a:xfrm>
            <a:off x="8664879" y="852094"/>
            <a:ext cx="248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 err="1"/>
              <a:t>Additional</a:t>
            </a:r>
            <a:r>
              <a:rPr lang="fr-FR" u="sng" dirty="0"/>
              <a:t> variables</a:t>
            </a:r>
          </a:p>
        </p:txBody>
      </p:sp>
      <p:cxnSp>
        <p:nvCxnSpPr>
          <p:cNvPr id="105" name="Connecteur : en arc 104">
            <a:extLst>
              <a:ext uri="{FF2B5EF4-FFF2-40B4-BE49-F238E27FC236}">
                <a16:creationId xmlns:a16="http://schemas.microsoft.com/office/drawing/2014/main" id="{A63FCBDC-7F14-420F-B5E1-130065C093C7}"/>
              </a:ext>
            </a:extLst>
          </p:cNvPr>
          <p:cNvCxnSpPr>
            <a:cxnSpLocks/>
            <a:stCxn id="102" idx="1"/>
          </p:cNvCxnSpPr>
          <p:nvPr/>
        </p:nvCxnSpPr>
        <p:spPr>
          <a:xfrm rot="10800000" flipH="1" flipV="1">
            <a:off x="8348133" y="1921948"/>
            <a:ext cx="298952" cy="2202044"/>
          </a:xfrm>
          <a:prstGeom prst="curvedConnector4">
            <a:avLst>
              <a:gd name="adj1" fmla="val -76467"/>
              <a:gd name="adj2" fmla="val 73768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398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State of the art of </a:t>
            </a:r>
            <a:r>
              <a:rPr lang="fr-FR" sz="2800" dirty="0" err="1"/>
              <a:t>existing</a:t>
            </a:r>
            <a:r>
              <a:rPr lang="fr-FR" sz="2800" dirty="0"/>
              <a:t> </a:t>
            </a:r>
            <a:r>
              <a:rPr lang="fr-FR" sz="2800" dirty="0" err="1"/>
              <a:t>methods</a:t>
            </a:r>
            <a:r>
              <a:rPr lang="fr-FR" sz="2800" dirty="0"/>
              <a:t> for temporal data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Linear</a:t>
            </a:r>
            <a:r>
              <a:rPr lang="fr-FR" dirty="0"/>
              <a:t> mixed model (LMM)</a:t>
            </a:r>
            <a:br>
              <a:rPr lang="fr-FR" dirty="0"/>
            </a:b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Generalized</a:t>
            </a:r>
            <a:r>
              <a:rPr lang="fr-FR" dirty="0"/>
              <a:t> </a:t>
            </a:r>
            <a:r>
              <a:rPr lang="fr-FR" dirty="0" err="1"/>
              <a:t>linear</a:t>
            </a:r>
            <a:r>
              <a:rPr lang="fr-FR" dirty="0"/>
              <a:t> mixed model (GLMM)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Generalized</a:t>
            </a:r>
            <a:r>
              <a:rPr lang="fr-FR" dirty="0"/>
              <a:t> </a:t>
            </a:r>
            <a:r>
              <a:rPr lang="fr-FR" dirty="0" err="1"/>
              <a:t>estimating</a:t>
            </a:r>
            <a:r>
              <a:rPr lang="fr-FR" dirty="0"/>
              <a:t> </a:t>
            </a:r>
            <a:r>
              <a:rPr lang="fr-FR" dirty="0" err="1"/>
              <a:t>equations</a:t>
            </a:r>
            <a:r>
              <a:rPr lang="fr-FR" dirty="0"/>
              <a:t> (GEE)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Generalized</a:t>
            </a:r>
            <a:r>
              <a:rPr lang="fr-FR" dirty="0"/>
              <a:t> Least Square (GLS)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Time </a:t>
            </a:r>
            <a:r>
              <a:rPr lang="fr-FR" dirty="0" err="1"/>
              <a:t>series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Functional</a:t>
            </a:r>
            <a:r>
              <a:rPr lang="fr-FR" dirty="0"/>
              <a:t> </a:t>
            </a:r>
            <a:r>
              <a:rPr lang="fr-FR" dirty="0" err="1"/>
              <a:t>methods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3358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Blocks of </a:t>
            </a:r>
            <a:r>
              <a:rPr lang="fr-FR" sz="2800" dirty="0" err="1"/>
              <a:t>functionnal</a:t>
            </a:r>
            <a:r>
              <a:rPr lang="fr-FR" sz="2800" dirty="0"/>
              <a:t> variables to block of </a:t>
            </a:r>
            <a:r>
              <a:rPr lang="fr-FR" sz="2800" dirty="0" err="1"/>
              <a:t>classic</a:t>
            </a:r>
            <a:r>
              <a:rPr lang="fr-FR" sz="2800" dirty="0"/>
              <a:t> variables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0BAF7120-109B-489F-B4A4-A8D5F112B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889" y="1243687"/>
            <a:ext cx="2902112" cy="2341878"/>
          </a:xfrm>
          <a:prstGeom prst="rect">
            <a:avLst/>
          </a:prstGeom>
        </p:spPr>
      </p:pic>
      <p:sp>
        <p:nvSpPr>
          <p:cNvPr id="41" name="Accolade fermante 40">
            <a:extLst>
              <a:ext uri="{FF2B5EF4-FFF2-40B4-BE49-F238E27FC236}">
                <a16:creationId xmlns:a16="http://schemas.microsoft.com/office/drawing/2014/main" id="{13B92F81-1DF3-4309-84DC-891C06C0EF55}"/>
              </a:ext>
            </a:extLst>
          </p:cNvPr>
          <p:cNvSpPr/>
          <p:nvPr/>
        </p:nvSpPr>
        <p:spPr>
          <a:xfrm>
            <a:off x="3496733" y="1329266"/>
            <a:ext cx="457200" cy="2099733"/>
          </a:xfrm>
          <a:prstGeom prst="rightBrac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26F5138-8AA5-4F5C-AA6E-E7400A724B00}"/>
              </a:ext>
            </a:extLst>
          </p:cNvPr>
          <p:cNvSpPr txBox="1"/>
          <p:nvPr/>
        </p:nvSpPr>
        <p:spPr>
          <a:xfrm>
            <a:off x="4349910" y="1243687"/>
            <a:ext cx="504613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5 blocks: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rgbClr val="F8766D"/>
                </a:solidFill>
              </a:rPr>
              <a:t>Y (AMR FQ PCS), </a:t>
            </a:r>
            <a:r>
              <a:rPr lang="fr-FR" sz="1200" dirty="0" err="1">
                <a:solidFill>
                  <a:srgbClr val="F8766D"/>
                </a:solidFill>
              </a:rPr>
              <a:t>response</a:t>
            </a:r>
            <a:r>
              <a:rPr lang="fr-FR" sz="1200" dirty="0">
                <a:solidFill>
                  <a:srgbClr val="F8766D"/>
                </a:solidFill>
              </a:rPr>
              <a:t> block, 1 variable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rgbClr val="F8766D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 err="1">
                <a:solidFill>
                  <a:srgbClr val="A3A500"/>
                </a:solidFill>
              </a:rPr>
              <a:t>Antimicrobial</a:t>
            </a:r>
            <a:r>
              <a:rPr lang="fr-FR" sz="1200" dirty="0">
                <a:solidFill>
                  <a:srgbClr val="A3A500"/>
                </a:solidFill>
              </a:rPr>
              <a:t> </a:t>
            </a:r>
            <a:r>
              <a:rPr lang="fr-FR" sz="1200" dirty="0" err="1">
                <a:solidFill>
                  <a:srgbClr val="A3A500"/>
                </a:solidFill>
              </a:rPr>
              <a:t>consumption</a:t>
            </a:r>
            <a:r>
              <a:rPr lang="fr-FR" sz="1200" dirty="0">
                <a:solidFill>
                  <a:srgbClr val="A3A500"/>
                </a:solidFill>
              </a:rPr>
              <a:t> (AMC), 21 variables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rgbClr val="A3A5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rgbClr val="00B0F6"/>
                </a:solidFill>
              </a:rPr>
              <a:t>Animals, 19 variables</a:t>
            </a:r>
            <a:r>
              <a:rPr lang="fr-FR" sz="12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 err="1">
                <a:solidFill>
                  <a:srgbClr val="00BF7D"/>
                </a:solidFill>
              </a:rPr>
              <a:t>Environment</a:t>
            </a:r>
            <a:r>
              <a:rPr lang="fr-FR" sz="1200" dirty="0">
                <a:solidFill>
                  <a:srgbClr val="00BF7D"/>
                </a:solidFill>
              </a:rPr>
              <a:t>, 7 variables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rgbClr val="00BF7D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 err="1">
                <a:solidFill>
                  <a:srgbClr val="E76BF3"/>
                </a:solidFill>
              </a:rPr>
              <a:t>Humans</a:t>
            </a:r>
            <a:r>
              <a:rPr lang="fr-FR" sz="1200" dirty="0">
                <a:solidFill>
                  <a:srgbClr val="E76BF3"/>
                </a:solidFill>
              </a:rPr>
              <a:t>, 11 variables</a:t>
            </a:r>
          </a:p>
        </p:txBody>
      </p:sp>
      <p:sp>
        <p:nvSpPr>
          <p:cNvPr id="84" name="Ellipse 83">
            <a:extLst>
              <a:ext uri="{FF2B5EF4-FFF2-40B4-BE49-F238E27FC236}">
                <a16:creationId xmlns:a16="http://schemas.microsoft.com/office/drawing/2014/main" id="{573295E4-86A9-4C09-B9D2-8BFE316F9427}"/>
              </a:ext>
            </a:extLst>
          </p:cNvPr>
          <p:cNvSpPr/>
          <p:nvPr/>
        </p:nvSpPr>
        <p:spPr>
          <a:xfrm rot="21253189">
            <a:off x="753533" y="1820333"/>
            <a:ext cx="186267" cy="1405467"/>
          </a:xfrm>
          <a:prstGeom prst="ellipse">
            <a:avLst/>
          </a:prstGeom>
          <a:noFill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87A7C39D-E892-4B50-835A-9C6532A192BD}"/>
              </a:ext>
            </a:extLst>
          </p:cNvPr>
          <p:cNvCxnSpPr>
            <a:cxnSpLocks/>
            <a:stCxn id="84" idx="4"/>
          </p:cNvCxnSpPr>
          <p:nvPr/>
        </p:nvCxnSpPr>
        <p:spPr>
          <a:xfrm>
            <a:off x="917441" y="3222227"/>
            <a:ext cx="2181360" cy="1671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7" name="ZoneTexte 86">
            <a:extLst>
              <a:ext uri="{FF2B5EF4-FFF2-40B4-BE49-F238E27FC236}">
                <a16:creationId xmlns:a16="http://schemas.microsoft.com/office/drawing/2014/main" id="{1F4E51E8-C879-4769-A42C-0C80E0EB74FF}"/>
              </a:ext>
            </a:extLst>
          </p:cNvPr>
          <p:cNvSpPr txBox="1"/>
          <p:nvPr/>
        </p:nvSpPr>
        <p:spPr>
          <a:xfrm>
            <a:off x="1360564" y="4893733"/>
            <a:ext cx="982135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fPCA</a:t>
            </a:r>
            <a:r>
              <a:rPr lang="fr-FR" sz="1200" baseline="30000" dirty="0"/>
              <a:t>1</a:t>
            </a:r>
            <a:r>
              <a:rPr lang="fr-FR" sz="1200" dirty="0"/>
              <a:t> on 1 </a:t>
            </a:r>
            <a:r>
              <a:rPr lang="fr-FR" sz="1200" dirty="0" err="1"/>
              <a:t>functional</a:t>
            </a:r>
            <a:r>
              <a:rPr lang="fr-FR" sz="1200" dirty="0"/>
              <a:t> variable</a:t>
            </a:r>
          </a:p>
        </p:txBody>
      </p:sp>
      <p:pic>
        <p:nvPicPr>
          <p:cNvPr id="97" name="Image 96">
            <a:extLst>
              <a:ext uri="{FF2B5EF4-FFF2-40B4-BE49-F238E27FC236}">
                <a16:creationId xmlns:a16="http://schemas.microsoft.com/office/drawing/2014/main" id="{4004EDBB-A1D1-4682-8E82-038C108ACF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6090" y="3541868"/>
            <a:ext cx="4115242" cy="3292194"/>
          </a:xfrm>
          <a:prstGeom prst="rect">
            <a:avLst/>
          </a:prstGeom>
        </p:spPr>
      </p:pic>
      <p:sp>
        <p:nvSpPr>
          <p:cNvPr id="100" name="Ellipse 99">
            <a:extLst>
              <a:ext uri="{FF2B5EF4-FFF2-40B4-BE49-F238E27FC236}">
                <a16:creationId xmlns:a16="http://schemas.microsoft.com/office/drawing/2014/main" id="{CEBAF543-D3DC-46BC-A8F8-003AC0E04168}"/>
              </a:ext>
            </a:extLst>
          </p:cNvPr>
          <p:cNvSpPr/>
          <p:nvPr/>
        </p:nvSpPr>
        <p:spPr>
          <a:xfrm>
            <a:off x="6096000" y="6578600"/>
            <a:ext cx="465667" cy="169333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2" name="Connecteur : en angle 101">
            <a:extLst>
              <a:ext uri="{FF2B5EF4-FFF2-40B4-BE49-F238E27FC236}">
                <a16:creationId xmlns:a16="http://schemas.microsoft.com/office/drawing/2014/main" id="{66363EBB-502F-455D-BAB0-934914082C14}"/>
              </a:ext>
            </a:extLst>
          </p:cNvPr>
          <p:cNvCxnSpPr>
            <a:cxnSpLocks/>
            <a:endCxn id="108" idx="2"/>
          </p:cNvCxnSpPr>
          <p:nvPr/>
        </p:nvCxnSpPr>
        <p:spPr>
          <a:xfrm flipV="1">
            <a:off x="6561668" y="3979333"/>
            <a:ext cx="3530601" cy="26839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7" name="ZoneTexte 106">
            <a:extLst>
              <a:ext uri="{FF2B5EF4-FFF2-40B4-BE49-F238E27FC236}">
                <a16:creationId xmlns:a16="http://schemas.microsoft.com/office/drawing/2014/main" id="{978ED333-486C-4AAF-9A0D-DF8E92989602}"/>
              </a:ext>
            </a:extLst>
          </p:cNvPr>
          <p:cNvSpPr txBox="1"/>
          <p:nvPr/>
        </p:nvSpPr>
        <p:spPr>
          <a:xfrm>
            <a:off x="8274660" y="5356518"/>
            <a:ext cx="1267274" cy="101566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err="1"/>
              <a:t>We</a:t>
            </a:r>
            <a:r>
              <a:rPr lang="fr-FR" sz="1200" dirty="0"/>
              <a:t> </a:t>
            </a:r>
            <a:r>
              <a:rPr lang="fr-FR" sz="1200" dirty="0" err="1"/>
              <a:t>perform</a:t>
            </a:r>
            <a:r>
              <a:rPr lang="fr-FR" sz="1200" dirty="0"/>
              <a:t> </a:t>
            </a:r>
            <a:r>
              <a:rPr lang="fr-FR" sz="1200" dirty="0" err="1"/>
              <a:t>fPCA</a:t>
            </a:r>
            <a:r>
              <a:rPr lang="fr-FR" sz="1200" dirty="0"/>
              <a:t> </a:t>
            </a:r>
            <a:r>
              <a:rPr lang="fr-FR" sz="1200" dirty="0" err="1"/>
              <a:t>independently</a:t>
            </a:r>
            <a:r>
              <a:rPr lang="fr-FR" sz="1200" dirty="0"/>
              <a:t> on </a:t>
            </a:r>
            <a:r>
              <a:rPr lang="fr-FR" sz="1200" dirty="0" err="1"/>
              <a:t>each</a:t>
            </a:r>
            <a:r>
              <a:rPr lang="fr-FR" sz="1200" dirty="0"/>
              <a:t> variable</a:t>
            </a:r>
          </a:p>
        </p:txBody>
      </p:sp>
      <p:graphicFrame>
        <p:nvGraphicFramePr>
          <p:cNvPr id="108" name="Tableau 108">
            <a:extLst>
              <a:ext uri="{FF2B5EF4-FFF2-40B4-BE49-F238E27FC236}">
                <a16:creationId xmlns:a16="http://schemas.microsoft.com/office/drawing/2014/main" id="{C8B04203-005B-441C-ABA6-A588E54D9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88376"/>
              </p:ext>
            </p:extLst>
          </p:nvPr>
        </p:nvGraphicFramePr>
        <p:xfrm>
          <a:off x="8238069" y="2611205"/>
          <a:ext cx="3708400" cy="136812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27100">
                  <a:extLst>
                    <a:ext uri="{9D8B030D-6E8A-4147-A177-3AD203B41FA5}">
                      <a16:colId xmlns:a16="http://schemas.microsoft.com/office/drawing/2014/main" val="4211775319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2954494330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2564078823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3576557175"/>
                    </a:ext>
                  </a:extLst>
                </a:gridCol>
              </a:tblGrid>
              <a:tr h="327675">
                <a:tc>
                  <a:txBody>
                    <a:bodyPr/>
                    <a:lstStyle/>
                    <a:p>
                      <a:r>
                        <a:rPr lang="fr-FR" sz="1200" dirty="0"/>
                        <a:t>région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fPC1_var1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fPC1_var2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805889"/>
                  </a:ext>
                </a:extLst>
              </a:tr>
              <a:tr h="327675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IDF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0871132"/>
                  </a:ext>
                </a:extLst>
              </a:tr>
              <a:tr h="327675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PACA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790916"/>
                  </a:ext>
                </a:extLst>
              </a:tr>
              <a:tr h="38510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…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50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3372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Methods</a:t>
            </a:r>
          </a:p>
        </p:txBody>
      </p:sp>
    </p:spTree>
    <p:extLst>
      <p:ext uri="{BB962C8B-B14F-4D97-AF65-F5344CB8AC3E}">
        <p14:creationId xmlns:p14="http://schemas.microsoft.com/office/powerpoint/2010/main" val="446869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Scientific </a:t>
            </a:r>
            <a:r>
              <a:rPr lang="fr-FR" sz="2800" dirty="0" err="1"/>
              <a:t>Problematic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C8BC15E-4105-4180-B284-66CC3E7A6BFE}"/>
              </a:ext>
            </a:extLst>
          </p:cNvPr>
          <p:cNvSpPr txBox="1"/>
          <p:nvPr/>
        </p:nvSpPr>
        <p:spPr>
          <a:xfrm>
            <a:off x="1413933" y="2358274"/>
            <a:ext cx="893233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How can temporal and regional variations in fluoroquinolone resistance in France primary care settings be explained within a One Health framework ?</a:t>
            </a:r>
            <a:endParaRPr lang="fr-FR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34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Functional</a:t>
            </a:r>
            <a:r>
              <a:rPr lang="fr-FR" sz="2800" dirty="0"/>
              <a:t> Principal Component Analysis</a:t>
            </a:r>
            <a:r>
              <a:rPr lang="fr-FR" sz="2800" baseline="30000" dirty="0"/>
              <a:t>1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71238A1-001B-4149-A8EC-705D1391B4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5722" y="576898"/>
            <a:ext cx="5157787" cy="523220"/>
          </a:xfrm>
        </p:spPr>
        <p:txBody>
          <a:bodyPr/>
          <a:lstStyle/>
          <a:p>
            <a:r>
              <a:rPr lang="fr-FR" dirty="0" err="1"/>
              <a:t>Classic</a:t>
            </a:r>
            <a:r>
              <a:rPr lang="fr-FR" dirty="0"/>
              <a:t>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Espace réservé du contenu 6">
                <a:extLst>
                  <a:ext uri="{FF2B5EF4-FFF2-40B4-BE49-F238E27FC236}">
                    <a16:creationId xmlns:a16="http://schemas.microsoft.com/office/drawing/2014/main" id="{DB40858F-0609-45DB-A279-DBCA7162D9F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75721" y="1165349"/>
                <a:ext cx="5157787" cy="5303183"/>
              </a:xfrm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 sz="1600" u="sng" dirty="0"/>
                  <a:t>Data: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1600" dirty="0"/>
                  <a:t> a p*1 </a:t>
                </a:r>
                <a:r>
                  <a:rPr lang="fr-FR" sz="1600" dirty="0" err="1"/>
                  <a:t>vector</a:t>
                </a:r>
                <a:r>
                  <a:rPr lang="fr-FR" sz="1600" dirty="0"/>
                  <a:t> for an </a:t>
                </a:r>
                <a:r>
                  <a:rPr lang="fr-FR" sz="1600" dirty="0" err="1"/>
                  <a:t>individual</a:t>
                </a:r>
                <a:r>
                  <a:rPr lang="fr-FR" sz="1600" dirty="0"/>
                  <a:t> i </a:t>
                </a:r>
                <a:r>
                  <a:rPr lang="fr-FR" sz="1600" dirty="0" err="1"/>
                  <a:t>with</a:t>
                </a:r>
                <a:r>
                  <a:rPr lang="fr-FR" sz="1600" dirty="0"/>
                  <a:t> p </a:t>
                </a:r>
                <a:r>
                  <a:rPr lang="fr-FR" sz="1600" dirty="0" err="1"/>
                  <a:t>numeric</a:t>
                </a:r>
                <a:r>
                  <a:rPr lang="fr-FR" sz="1600" dirty="0"/>
                  <a:t> </a:t>
                </a:r>
                <a:r>
                  <a:rPr lang="fr-FR" sz="1600" dirty="0" err="1"/>
                  <a:t>measures</a:t>
                </a:r>
                <a:r>
                  <a:rPr lang="fr-FR" sz="1600" dirty="0"/>
                  <a:t>.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fr-FR" sz="1600" dirty="0"/>
                  <a:t> is the </a:t>
                </a:r>
                <a:r>
                  <a:rPr lang="fr-FR" sz="1600" dirty="0" err="1"/>
                  <a:t>standardized</a:t>
                </a:r>
                <a:r>
                  <a:rPr lang="fr-FR" sz="1600" dirty="0"/>
                  <a:t> matrix of data.</a:t>
                </a:r>
              </a:p>
              <a:p>
                <a:r>
                  <a:rPr lang="fr-FR" sz="1600" u="sng" dirty="0" err="1"/>
                  <a:t>Scalar</a:t>
                </a:r>
                <a:r>
                  <a:rPr lang="fr-FR" sz="1600" u="sng" dirty="0"/>
                  <a:t> </a:t>
                </a:r>
                <a:r>
                  <a:rPr lang="fr-FR" sz="1600" u="sng" dirty="0" err="1"/>
                  <a:t>product</a:t>
                </a:r>
                <a:r>
                  <a:rPr lang="fr-FR" sz="1600" u="sng" dirty="0"/>
                  <a:t>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,  …,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fr-FR" sz="1600" dirty="0"/>
                  <a:t> and</a:t>
                </a:r>
                <a14:m>
                  <m:oMath xmlns:m="http://schemas.openxmlformats.org/officeDocument/2006/math">
                    <m:r>
                      <a:rPr lang="fr-FR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,  …,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fr-FR" sz="1600" b="0" i="1" baseline="3000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600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𝒙𝑻𝒚</m:t>
                    </m:r>
                  </m:oMath>
                </a14:m>
                <a:endParaRPr lang="fr-FR" sz="1600" b="1" dirty="0"/>
              </a:p>
              <a:p>
                <a:r>
                  <a:rPr lang="fr-FR" sz="1600" u="sng" dirty="0" err="1"/>
                  <a:t>Norm</a:t>
                </a:r>
                <a:r>
                  <a:rPr lang="fr-FR" sz="1600" u="sng" dirty="0"/>
                  <a:t>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,  …,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fr-FR" sz="1600" dirty="0"/>
                  <a:t>, </a:t>
                </a:r>
                <a14:m>
                  <m:oMath xmlns:m="http://schemas.openxmlformats.org/officeDocument/2006/math"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ra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sSup>
                              <m:sSupPr>
                                <m:ctrlP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fr-FR" sz="1600" b="1" u="sng" dirty="0"/>
              </a:p>
              <a:p>
                <a:r>
                  <a:rPr lang="fr-FR" sz="1600" u="sng" dirty="0" err="1"/>
                  <a:t>Principle</a:t>
                </a:r>
                <a:r>
                  <a:rPr lang="fr-FR" sz="1600" u="sng" dirty="0"/>
                  <a:t>:</a:t>
                </a:r>
                <a:r>
                  <a:rPr lang="fr-FR" sz="1600" dirty="0"/>
                  <a:t> (i) </a:t>
                </a:r>
                <a:r>
                  <a:rPr lang="fr-FR" sz="1600" dirty="0" err="1"/>
                  <a:t>Find</a:t>
                </a:r>
                <a:r>
                  <a:rPr lang="fr-FR" sz="1600" dirty="0"/>
                  <a:t> the </a:t>
                </a:r>
                <a:r>
                  <a:rPr lang="fr-FR" sz="1600" dirty="0" err="1"/>
                  <a:t>weight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vector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fr-FR" sz="1600" u="sng" dirty="0"/>
                  <a:t> </a:t>
                </a:r>
                <a:r>
                  <a:rPr lang="fr-FR" sz="1600" dirty="0"/>
                  <a:t>for which the </a:t>
                </a:r>
                <a:r>
                  <a:rPr lang="fr-FR" sz="1600" dirty="0" err="1"/>
                  <a:t>linear</a:t>
                </a:r>
                <a:r>
                  <a:rPr lang="fr-FR" sz="1600" dirty="0"/>
                  <a:t> combination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𝒋</m:t>
                            </m:r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𝒋</m:t>
                            </m:r>
                          </m:sub>
                        </m:sSub>
                      </m:e>
                    </m:nary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maximizes</a:t>
                </a:r>
                <a:r>
                  <a:rPr lang="fr-FR" sz="1600" dirty="0"/>
                  <a:t> the total variance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with</a:t>
                </a:r>
                <a:r>
                  <a:rPr lang="fr-FR" sz="1600" dirty="0"/>
                  <a:t> the </a:t>
                </a:r>
                <a:r>
                  <a:rPr lang="fr-FR" sz="1600" dirty="0" err="1"/>
                  <a:t>constraint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  <m:e>
                        <m:sSup>
                          <m:sSup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br>
                  <a:rPr lang="fr-FR" sz="1600" b="1" dirty="0"/>
                </a:br>
                <a:br>
                  <a:rPr lang="fr-FR" u="sng" dirty="0"/>
                </a:br>
                <a:r>
                  <a:rPr lang="fr-FR" sz="1600" dirty="0"/>
                  <a:t>(ii) Carry out second and </a:t>
                </a:r>
                <a:r>
                  <a:rPr lang="fr-FR" sz="1600" dirty="0" err="1"/>
                  <a:t>subsequent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steps</a:t>
                </a:r>
                <a:r>
                  <a:rPr lang="fr-FR" sz="1600" dirty="0"/>
                  <a:t>, </a:t>
                </a:r>
                <a:r>
                  <a:rPr lang="fr-FR" sz="1600" dirty="0" err="1"/>
                  <a:t>possibly</a:t>
                </a:r>
                <a:r>
                  <a:rPr lang="fr-FR" sz="1600" dirty="0"/>
                  <a:t> to a </a:t>
                </a:r>
                <a:r>
                  <a:rPr lang="fr-FR" sz="1600" dirty="0" err="1"/>
                  <a:t>limit</a:t>
                </a:r>
                <a:r>
                  <a:rPr lang="fr-FR" sz="1600" dirty="0"/>
                  <a:t> of p.  On the </a:t>
                </a:r>
                <a:r>
                  <a:rPr lang="fr-FR" sz="1600" dirty="0" err="1"/>
                  <a:t>step</a:t>
                </a:r>
                <a:r>
                  <a:rPr lang="fr-FR" sz="1600" dirty="0"/>
                  <a:t> m, </a:t>
                </a:r>
                <a:r>
                  <a:rPr lang="fr-FR" sz="1600" dirty="0" err="1"/>
                  <a:t>compute</a:t>
                </a:r>
                <a:r>
                  <a:rPr lang="fr-FR" sz="1600" dirty="0"/>
                  <a:t> a new </a:t>
                </a:r>
                <a:r>
                  <a:rPr lang="fr-FR" sz="1600" dirty="0" err="1"/>
                  <a:t>weight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vector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fr-FR" sz="1600" dirty="0"/>
                  <a:t> and new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𝒊𝒎</m:t>
                        </m:r>
                      </m:sub>
                    </m:sSub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600" dirty="0"/>
                  <a:t>. </a:t>
                </a:r>
                <a:r>
                  <a:rPr lang="fr-FR" sz="1600" dirty="0" err="1"/>
                  <a:t>Thus</a:t>
                </a:r>
                <a:r>
                  <a:rPr lang="fr-FR" sz="1600" dirty="0"/>
                  <a:t>, the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𝑖𝑚</m:t>
                        </m:r>
                      </m:sub>
                    </m:sSub>
                  </m:oMath>
                </a14:m>
                <a:r>
                  <a:rPr lang="fr-FR" sz="1600" dirty="0"/>
                  <a:t> have maximum </a:t>
                </a:r>
                <a:r>
                  <a:rPr lang="fr-FR" sz="1600" dirty="0" err="1"/>
                  <a:t>mean</a:t>
                </a:r>
                <a:r>
                  <a:rPr lang="fr-FR" sz="1600" dirty="0"/>
                  <a:t> square </a:t>
                </a:r>
                <a:r>
                  <a:rPr lang="fr-FR" sz="1600" dirty="0" err="1"/>
                  <a:t>subject</a:t>
                </a:r>
                <a:r>
                  <a:rPr lang="fr-FR" sz="1600" dirty="0"/>
                  <a:t> to the </a:t>
                </a:r>
                <a:r>
                  <a:rPr lang="fr-FR" sz="1600" dirty="0" err="1"/>
                  <a:t>constraint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fr-FR" sz="1600" dirty="0"/>
                  <a:t>, and the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additional</a:t>
                </a:r>
                <a:r>
                  <a:rPr lang="fr-FR" sz="1600" dirty="0"/>
                  <a:t> </a:t>
                </a:r>
                <a:r>
                  <a:rPr lang="fr-FR" sz="1600" dirty="0" err="1"/>
                  <a:t>orthogonality</a:t>
                </a:r>
                <a:r>
                  <a:rPr lang="fr-FR" sz="1600" dirty="0"/>
                  <a:t> </a:t>
                </a:r>
                <a:r>
                  <a:rPr lang="fr-FR" sz="1600" dirty="0" err="1"/>
                  <a:t>constraints</a:t>
                </a:r>
                <a:br>
                  <a:rPr lang="fr-FR" sz="1600" u="sng" dirty="0"/>
                </a:b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</m:d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𝑻</m:t>
                        </m:r>
                      </m:sup>
                    </m:sSup>
                    <m:sSub>
                      <m:sSub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𝒌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endParaRPr lang="fr-FR" sz="1600" b="1" i="1" dirty="0"/>
              </a:p>
            </p:txBody>
          </p:sp>
        </mc:Choice>
        <mc:Fallback xmlns="">
          <p:sp>
            <p:nvSpPr>
              <p:cNvPr id="7" name="Espace réservé du contenu 6">
                <a:extLst>
                  <a:ext uri="{FF2B5EF4-FFF2-40B4-BE49-F238E27FC236}">
                    <a16:creationId xmlns:a16="http://schemas.microsoft.com/office/drawing/2014/main" id="{DB40858F-0609-45DB-A279-DBCA7162D9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75721" y="1165349"/>
                <a:ext cx="5157787" cy="5303183"/>
              </a:xfrm>
              <a:blipFill>
                <a:blip r:embed="rId3"/>
                <a:stretch>
                  <a:fillRect l="-708" t="-68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054D9708-BDDB-4370-BEB5-DA63D7086F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576898"/>
            <a:ext cx="5183188" cy="523220"/>
          </a:xfrm>
        </p:spPr>
        <p:txBody>
          <a:bodyPr/>
          <a:lstStyle/>
          <a:p>
            <a:r>
              <a:rPr lang="fr-FR" dirty="0" err="1"/>
              <a:t>Functional</a:t>
            </a:r>
            <a:r>
              <a:rPr lang="fr-FR" dirty="0"/>
              <a:t> PCA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Espace réservé du contenu 8">
                <a:extLst>
                  <a:ext uri="{FF2B5EF4-FFF2-40B4-BE49-F238E27FC236}">
                    <a16:creationId xmlns:a16="http://schemas.microsoft.com/office/drawing/2014/main" id="{97234ECC-919C-4A2F-8F32-568A572C87D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1157942"/>
                <a:ext cx="5183188" cy="5303183"/>
              </a:xfr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r>
                  <a:rPr lang="fr-FR" sz="1600" u="sng" dirty="0"/>
                  <a:t>Data: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>
                    <a:ea typeface="Cambria Math" panose="02040503050406030204" pitchFamily="18" charset="0"/>
                  </a:rPr>
                  <a:t>an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individual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from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fr-F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l-G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 the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centered</a:t>
                </a:r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b="0" dirty="0">
                    <a:ea typeface="Cambria Math" panose="02040503050406030204" pitchFamily="18" charset="0"/>
                  </a:rPr>
                  <a:t>.</a:t>
                </a:r>
              </a:p>
              <a:p>
                <a:r>
                  <a:rPr lang="fr-FR" sz="1600" u="sng" dirty="0" err="1">
                    <a:ea typeface="Cambria Math" panose="02040503050406030204" pitchFamily="18" charset="0"/>
                  </a:rPr>
                  <a:t>Scalar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 </a:t>
                </a:r>
                <a:r>
                  <a:rPr lang="fr-FR" sz="1600" u="sng" dirty="0" err="1">
                    <a:ea typeface="Cambria Math" panose="02040503050406030204" pitchFamily="18" charset="0"/>
                  </a:rPr>
                  <a:t>product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: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fr-FR" sz="1600" b="1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</m:e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d>
                          <m:d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  <m:d>
                          <m:d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𝒅𝒕</m:t>
                        </m:r>
                      </m:e>
                    </m:nary>
                  </m:oMath>
                </a14:m>
                <a:endParaRPr lang="fr-FR" sz="1600" b="1" dirty="0">
                  <a:ea typeface="Cambria Math" panose="02040503050406030204" pitchFamily="18" charset="0"/>
                </a:endParaRPr>
              </a:p>
              <a:p>
                <a:r>
                  <a:rPr lang="fr-FR" sz="1600" u="sng" dirty="0" err="1">
                    <a:ea typeface="Cambria Math" panose="02040503050406030204" pitchFamily="18" charset="0"/>
                  </a:rPr>
                  <a:t>Norm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: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𝒇</m:t>
                    </m:r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∥=</m:t>
                    </m:r>
                    <m:rad>
                      <m:radPr>
                        <m:degHide m:val="on"/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𝒇</m:t>
                            </m:r>
                          </m:e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𝒇</m:t>
                            </m:r>
                          </m:e>
                        </m:d>
                      </m:e>
                    </m:ra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𝒂</m:t>
                            </m:r>
                          </m:sub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sup>
                          <m:e>
                            <m:d>
                              <m:dPr>
                                <m:ctrlP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𝒇</m:t>
                                </m:r>
                                <m:d>
                                  <m:dPr>
                                    <m:ctrlP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</m:e>
                            </m:d>
                            <m:r>
                              <a:rPr lang="fr-FR" sz="1600" b="1" i="1" baseline="300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e>
                        </m:nary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𝒅𝒕</m:t>
                        </m:r>
                      </m:e>
                    </m:rad>
                  </m:oMath>
                </a14:m>
                <a:endParaRPr lang="fr-FR" sz="1600" b="1" dirty="0">
                  <a:ea typeface="Cambria Math" panose="02040503050406030204" pitchFamily="18" charset="0"/>
                </a:endParaRPr>
              </a:p>
              <a:p>
                <a:r>
                  <a:rPr lang="fr-FR" sz="1600" u="sng" dirty="0" err="1">
                    <a:ea typeface="Cambria Math" panose="02040503050406030204" pitchFamily="18" charset="0"/>
                  </a:rPr>
                  <a:t>Principle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:</a:t>
                </a:r>
                <a:r>
                  <a:rPr lang="fr-FR" sz="1600" dirty="0">
                    <a:ea typeface="Cambria Math" panose="02040503050406030204" pitchFamily="18" charset="0"/>
                  </a:rPr>
                  <a:t> (i)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Find</a:t>
                </a:r>
                <a:r>
                  <a:rPr lang="fr-FR" sz="1600" dirty="0">
                    <a:ea typeface="Cambria Math" panose="02040503050406030204" pitchFamily="18" charset="0"/>
                  </a:rPr>
                  <a:t> the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weight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for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which</a:t>
                </a:r>
                <a:r>
                  <a:rPr lang="fr-FR" sz="1600" dirty="0">
                    <a:ea typeface="Cambria Math" panose="02040503050406030204" pitchFamily="18" charset="0"/>
                  </a:rPr>
                  <a:t> the first principal component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sSub>
                          <m:sSubPr>
                            <m:ctrlP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𝒅𝒕</m:t>
                        </m:r>
                      </m:e>
                    </m:nary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maximizes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fr-FR" sz="16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</m:nary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with</a:t>
                </a:r>
                <a:r>
                  <a:rPr lang="fr-FR" sz="1600" dirty="0">
                    <a:ea typeface="Cambria Math" panose="02040503050406030204" pitchFamily="18" charset="0"/>
                  </a:rPr>
                  <a:t> the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constraint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sSup>
                          <m:sSup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e>
                            </m:d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𝒅𝒕</m:t>
                        </m:r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br>
                  <a:rPr lang="fr-FR" sz="1600" dirty="0">
                    <a:ea typeface="Cambria Math" panose="02040503050406030204" pitchFamily="18" charset="0"/>
                  </a:rPr>
                </a:br>
                <a:br>
                  <a:rPr lang="fr-FR" sz="1600" dirty="0">
                    <a:ea typeface="Cambria Math" panose="02040503050406030204" pitchFamily="18" charset="0"/>
                  </a:rPr>
                </a:br>
                <a:r>
                  <a:rPr lang="fr-FR" sz="1600" dirty="0">
                    <a:ea typeface="Cambria Math" panose="02040503050406030204" pitchFamily="18" charset="0"/>
                  </a:rPr>
                  <a:t>(ii) Carry out second and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subsequent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steps</a:t>
                </a:r>
                <a:r>
                  <a:rPr lang="fr-FR" sz="1600" dirty="0">
                    <a:ea typeface="Cambria Math" panose="02040503050406030204" pitchFamily="18" charset="0"/>
                  </a:rPr>
                  <a:t>. On the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step</a:t>
                </a:r>
                <a:r>
                  <a:rPr lang="fr-FR" sz="1600" dirty="0">
                    <a:ea typeface="Cambria Math" panose="02040503050406030204" pitchFamily="18" charset="0"/>
                  </a:rPr>
                  <a:t> m,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compute</a:t>
                </a:r>
                <a:r>
                  <a:rPr lang="fr-FR" sz="1600" dirty="0">
                    <a:ea typeface="Cambria Math" panose="02040503050406030204" pitchFamily="18" charset="0"/>
                  </a:rPr>
                  <a:t> a new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weight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and new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𝒊𝒎</m:t>
                        </m:r>
                      </m:sub>
                    </m:sSub>
                    <m:r>
                      <a:rPr lang="fr-FR" sz="1600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. </a:t>
                </a:r>
                <a:r>
                  <a:rPr lang="fr-FR" sz="1600" dirty="0"/>
                  <a:t>Thus, the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𝑖𝑚</m:t>
                        </m:r>
                      </m:sub>
                    </m:sSub>
                  </m:oMath>
                </a14:m>
                <a:r>
                  <a:rPr lang="fr-FR" sz="1600" dirty="0"/>
                  <a:t> have maximum </a:t>
                </a:r>
                <a:r>
                  <a:rPr lang="fr-FR" sz="1600" dirty="0" err="1"/>
                  <a:t>mean</a:t>
                </a:r>
                <a:r>
                  <a:rPr lang="fr-FR" sz="1600" dirty="0"/>
                  <a:t> square </a:t>
                </a:r>
                <a:r>
                  <a:rPr lang="fr-FR" sz="1600" dirty="0" err="1"/>
                  <a:t>subject</a:t>
                </a:r>
                <a:r>
                  <a:rPr lang="fr-FR" sz="1600" dirty="0"/>
                  <a:t> to the </a:t>
                </a:r>
                <a:r>
                  <a:rPr lang="fr-FR" sz="1600" dirty="0" err="1"/>
                  <a:t>constraint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fr-FR" sz="1600" dirty="0"/>
                  <a:t>, and the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additional</a:t>
                </a:r>
                <a:r>
                  <a:rPr lang="fr-FR" sz="1600" dirty="0"/>
                  <a:t> </a:t>
                </a:r>
                <a:r>
                  <a:rPr lang="fr-FR" sz="1600" dirty="0" err="1"/>
                  <a:t>constraints</a:t>
                </a:r>
                <a:br>
                  <a:rPr lang="fr-FR" sz="1600" dirty="0"/>
                </a:b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𝒅𝒕</m:t>
                        </m:r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fr-FR" sz="1600" b="1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Espace réservé du contenu 8">
                <a:extLst>
                  <a:ext uri="{FF2B5EF4-FFF2-40B4-BE49-F238E27FC236}">
                    <a16:creationId xmlns:a16="http://schemas.microsoft.com/office/drawing/2014/main" id="{97234ECC-919C-4A2F-8F32-568A572C87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1157942"/>
                <a:ext cx="5183188" cy="5303183"/>
              </a:xfrm>
              <a:blipFill>
                <a:blip r:embed="rId4"/>
                <a:stretch>
                  <a:fillRect l="-2230" t="-688" r="-70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0892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Decomposition</a:t>
            </a:r>
            <a:r>
              <a:rPr lang="fr-FR" sz="2800" dirty="0"/>
              <a:t> of </a:t>
            </a:r>
            <a:r>
              <a:rPr lang="fr-FR" sz="2800" dirty="0" err="1"/>
              <a:t>functions</a:t>
            </a:r>
            <a:r>
              <a:rPr lang="fr-FR" sz="2800" dirty="0"/>
              <a:t> in B-</a:t>
            </a:r>
            <a:r>
              <a:rPr lang="fr-FR" sz="2800" dirty="0" err="1"/>
              <a:t>spline</a:t>
            </a:r>
            <a:r>
              <a:rPr lang="fr-FR" sz="2800" dirty="0"/>
              <a:t> basis</a:t>
            </a:r>
            <a:endParaRPr lang="fr-FR" sz="2800" baseline="30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4A0FF0A9-D3D9-45A8-942D-A3FF65C84014}"/>
                  </a:ext>
                </a:extLst>
              </p:cNvPr>
              <p:cNvSpPr txBox="1"/>
              <p:nvPr/>
            </p:nvSpPr>
            <p:spPr>
              <a:xfrm>
                <a:off x="276837" y="679508"/>
                <a:ext cx="10628851" cy="3706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The </a:t>
                </a:r>
                <a:r>
                  <a:rPr lang="fr-FR" sz="1600" dirty="0" err="1"/>
                  <a:t>problem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in the real life, </a:t>
                </a:r>
                <a:r>
                  <a:rPr lang="fr-FR" sz="1600" dirty="0" err="1"/>
                  <a:t>generally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don’t</a:t>
                </a:r>
                <a:r>
                  <a:rPr lang="fr-FR" sz="1600" dirty="0"/>
                  <a:t> know the expression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600" dirty="0"/>
                  <a:t>… In </a:t>
                </a:r>
                <a:r>
                  <a:rPr lang="fr-FR" sz="1600" dirty="0" err="1"/>
                  <a:t>my</a:t>
                </a:r>
                <a:r>
                  <a:rPr lang="fr-FR" sz="1600" dirty="0"/>
                  <a:t> case, a </a:t>
                </a:r>
                <a:r>
                  <a:rPr lang="fr-FR" sz="1600" dirty="0" err="1"/>
                  <a:t>functional</a:t>
                </a:r>
                <a:r>
                  <a:rPr lang="fr-FR" sz="1600" dirty="0"/>
                  <a:t> variable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observed</a:t>
                </a:r>
                <a:r>
                  <a:rPr lang="fr-FR" sz="1600" dirty="0"/>
                  <a:t> like a Time*</a:t>
                </a:r>
                <a:r>
                  <a:rPr lang="fr-FR" sz="1600" dirty="0" err="1"/>
                  <a:t>Regions</a:t>
                </a:r>
                <a:r>
                  <a:rPr lang="fr-FR" sz="1600" dirty="0"/>
                  <a:t> matrix.</a:t>
                </a:r>
                <a:br>
                  <a:rPr lang="fr-FR" sz="1600" dirty="0"/>
                </a:br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For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suppose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each</a:t>
                </a:r>
                <a:r>
                  <a:rPr lang="fr-FR" sz="1600" dirty="0"/>
                  <a:t> </a:t>
                </a:r>
                <a:r>
                  <a:rPr lang="fr-FR" sz="1600" dirty="0" err="1"/>
                  <a:t>function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=[2012, 2024]→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fr-FR" sz="1600" dirty="0"/>
                  <a:t> can </a:t>
                </a:r>
                <a:r>
                  <a:rPr lang="fr-FR" sz="1600" dirty="0" err="1"/>
                  <a:t>be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approximated</a:t>
                </a:r>
                <a:r>
                  <a:rPr lang="fr-FR" sz="1600" dirty="0"/>
                  <a:t> by a </a:t>
                </a:r>
                <a:r>
                  <a:rPr lang="fr-FR" sz="1600" dirty="0" err="1"/>
                  <a:t>linear</a:t>
                </a:r>
                <a:r>
                  <a:rPr lang="fr-FR" sz="1600" dirty="0"/>
                  <a:t> combination </a:t>
                </a:r>
                <a:r>
                  <a:rPr lang="fr-FR" sz="1600" b="1" dirty="0"/>
                  <a:t>of K basis </a:t>
                </a:r>
                <a:r>
                  <a:rPr lang="fr-FR" sz="1600" b="1" dirty="0" err="1"/>
                  <a:t>functions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6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≃</m:t>
                    </m:r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with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fr-FR" sz="1600" dirty="0"/>
                  <a:t> the coefficient </a:t>
                </a:r>
                <a:r>
                  <a:rPr lang="fr-FR" sz="1600" dirty="0" err="1"/>
                  <a:t>associated</a:t>
                </a:r>
                <a:r>
                  <a:rPr lang="fr-FR" sz="1600" dirty="0"/>
                  <a:t> to the </a:t>
                </a:r>
                <a:r>
                  <a:rPr lang="fr-FR" sz="1600" dirty="0" err="1"/>
                  <a:t>individual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fr-FR" sz="1600" i="1" dirty="0"/>
                  <a:t> </a:t>
                </a:r>
                <a:r>
                  <a:rPr lang="fr-FR" sz="1600" dirty="0"/>
                  <a:t>for the </a:t>
                </a:r>
                <a:r>
                  <a:rPr lang="fr-FR" sz="1600" dirty="0" err="1"/>
                  <a:t>spline</a:t>
                </a:r>
                <a:r>
                  <a:rPr lang="fr-FR" sz="1600" dirty="0"/>
                  <a:t> K</a:t>
                </a:r>
                <a:r>
                  <a:rPr lang="fr-FR" sz="1600" i="1" dirty="0"/>
                  <a:t>.</a:t>
                </a:r>
                <a:br>
                  <a:rPr lang="fr-FR" sz="1600" i="1" dirty="0"/>
                </a:br>
                <a:endParaRPr lang="fr-FR" sz="1600" i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A B-</a:t>
                </a:r>
                <a:r>
                  <a:rPr lang="fr-FR" sz="1600" dirty="0" err="1"/>
                  <a:t>spline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a </a:t>
                </a:r>
                <a:r>
                  <a:rPr lang="fr-FR" sz="1600" dirty="0" err="1"/>
                  <a:t>piecewise</a:t>
                </a:r>
                <a:r>
                  <a:rPr lang="fr-FR" sz="1600" dirty="0"/>
                  <a:t> polynomial </a:t>
                </a:r>
                <a:r>
                  <a:rPr lang="fr-FR" sz="1600" dirty="0" err="1"/>
                  <a:t>function</a:t>
                </a:r>
                <a:r>
                  <a:rPr lang="fr-FR" sz="1600" dirty="0"/>
                  <a:t>, </a:t>
                </a:r>
                <a:r>
                  <a:rPr lang="fr-FR" sz="1600" dirty="0" err="1"/>
                  <a:t>caracterized</a:t>
                </a:r>
                <a:r>
                  <a:rPr lang="fr-FR" sz="1600" dirty="0"/>
                  <a:t> by </a:t>
                </a:r>
                <a:r>
                  <a:rPr lang="fr-FR" sz="1600" b="1" dirty="0"/>
                  <a:t>L </a:t>
                </a:r>
                <a:r>
                  <a:rPr lang="fr-FR" sz="1600" b="1" dirty="0" err="1"/>
                  <a:t>nodes</a:t>
                </a:r>
                <a:r>
                  <a:rPr lang="fr-FR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fr-FR" sz="16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600" i="1" dirty="0"/>
                  <a:t>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fr-FR" sz="1600" i="1" dirty="0"/>
                  <a:t> …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fr-FR" sz="16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fr-FR" sz="1600" i="1" dirty="0"/>
                  <a:t>, </a:t>
                </a:r>
                <a:r>
                  <a:rPr lang="fr-FR" sz="1600" b="1" dirty="0"/>
                  <a:t>an </a:t>
                </a:r>
                <a:r>
                  <a:rPr lang="fr-FR" sz="1600" b="1" dirty="0" err="1"/>
                  <a:t>order</a:t>
                </a:r>
                <a:r>
                  <a:rPr lang="fr-FR" sz="1600" b="1" dirty="0"/>
                  <a:t> </a:t>
                </a:r>
                <a14:m>
                  <m:oMath xmlns:m="http://schemas.openxmlformats.org/officeDocument/2006/math"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fr-FR" sz="1600" i="1" dirty="0"/>
                  <a:t>, </a:t>
                </a:r>
                <a:r>
                  <a:rPr lang="fr-FR" sz="1600" dirty="0" err="1"/>
                  <a:t>where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fr-FR" sz="1600" i="1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the</a:t>
                </a:r>
                <a:r>
                  <a:rPr lang="fr-FR" sz="1600" i="1" dirty="0"/>
                  <a:t> </a:t>
                </a:r>
                <a:r>
                  <a:rPr lang="fr-FR" sz="1600" dirty="0"/>
                  <a:t>maximal </a:t>
                </a:r>
                <a:r>
                  <a:rPr lang="fr-FR" sz="1600" dirty="0" err="1"/>
                  <a:t>degree</a:t>
                </a:r>
                <a:r>
                  <a:rPr lang="fr-FR" sz="1600" dirty="0"/>
                  <a:t> of </a:t>
                </a:r>
                <a:r>
                  <a:rPr lang="fr-FR" sz="1600" dirty="0" err="1"/>
                  <a:t>polynomes</a:t>
                </a:r>
                <a:r>
                  <a:rPr lang="fr-FR" sz="1600" dirty="0"/>
                  <a:t>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fr-FR" sz="1600" dirty="0"/>
                  <a:t> in </a:t>
                </a:r>
                <a:r>
                  <a:rPr lang="fr-FR" sz="1600" dirty="0" err="1"/>
                  <a:t>our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work</a:t>
                </a:r>
                <a:r>
                  <a:rPr lang="fr-FR" sz="1600" dirty="0"/>
                  <a:t>). The </a:t>
                </a:r>
                <a:r>
                  <a:rPr lang="fr-FR" sz="1600" dirty="0" err="1"/>
                  <a:t>number</a:t>
                </a:r>
                <a:r>
                  <a:rPr lang="fr-FR" sz="1600" dirty="0"/>
                  <a:t> of basis </a:t>
                </a:r>
                <a:r>
                  <a:rPr lang="fr-FR" sz="1600" dirty="0" err="1"/>
                  <a:t>function</a:t>
                </a:r>
                <a:r>
                  <a:rPr lang="fr-FR" sz="1600" dirty="0"/>
                  <a:t> K has to </a:t>
                </a:r>
                <a:r>
                  <a:rPr lang="fr-FR" sz="1600" dirty="0" err="1"/>
                  <a:t>be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chosen</a:t>
                </a:r>
                <a:r>
                  <a:rPr lang="fr-FR" sz="1600" dirty="0"/>
                  <a:t> </a:t>
                </a:r>
                <a:r>
                  <a:rPr lang="fr-FR" sz="1600" dirty="0" err="1"/>
                  <a:t>between</a:t>
                </a:r>
                <a:r>
                  <a:rPr lang="fr-FR" sz="1600" dirty="0"/>
                  <a:t> the </a:t>
                </a:r>
                <a:r>
                  <a:rPr lang="fr-FR" sz="1600" dirty="0" err="1"/>
                  <a:t>order</a:t>
                </a:r>
                <a:r>
                  <a:rPr lang="fr-FR" sz="1600" dirty="0"/>
                  <a:t> and the </a:t>
                </a:r>
                <a:r>
                  <a:rPr lang="fr-FR" sz="1600" dirty="0" err="1"/>
                  <a:t>number</a:t>
                </a:r>
                <a:r>
                  <a:rPr lang="fr-FR" sz="1600" dirty="0"/>
                  <a:t> of </a:t>
                </a:r>
                <a:r>
                  <a:rPr lang="fr-FR" sz="1600" dirty="0" err="1"/>
                  <a:t>individuals</a:t>
                </a:r>
                <a:r>
                  <a:rPr lang="fr-FR" sz="1600" dirty="0"/>
                  <a:t>: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600" dirty="0"/>
                  <a:t>. </a:t>
                </a:r>
                <a:r>
                  <a:rPr lang="fr-FR" sz="1600" b="1" dirty="0"/>
                  <a:t>In </a:t>
                </a:r>
                <a:r>
                  <a:rPr lang="fr-FR" sz="1600" b="1" dirty="0" err="1"/>
                  <a:t>our</a:t>
                </a:r>
                <a:r>
                  <a:rPr lang="fr-FR" sz="1600" b="1" dirty="0"/>
                  <a:t> </a:t>
                </a:r>
                <a:r>
                  <a:rPr lang="fr-FR" sz="1600" b="1" dirty="0" err="1"/>
                  <a:t>work</a:t>
                </a:r>
                <a:r>
                  <a:rPr lang="fr-FR" sz="1600" b="1" dirty="0"/>
                  <a:t> </a:t>
                </a:r>
                <a:r>
                  <a:rPr lang="fr-FR" sz="1600" b="1" dirty="0" err="1"/>
                  <a:t>we</a:t>
                </a:r>
                <a:r>
                  <a:rPr lang="fr-FR" sz="1600" b="1" dirty="0"/>
                  <a:t> </a:t>
                </a:r>
                <a:r>
                  <a:rPr lang="fr-FR" sz="1600" b="1" dirty="0" err="1"/>
                  <a:t>choose</a:t>
                </a:r>
                <a:r>
                  <a:rPr lang="fr-FR" sz="1600" b="1" dirty="0"/>
                  <a:t> </a:t>
                </a:r>
                <a14:m>
                  <m:oMath xmlns:m="http://schemas.openxmlformats.org/officeDocument/2006/math"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r>
                  <a:rPr lang="fr-FR" sz="1600" b="1" dirty="0"/>
                  <a:t>.</a:t>
                </a:r>
                <a:r>
                  <a:rPr lang="fr-FR" sz="1600" dirty="0"/>
                  <a:t>  </a:t>
                </a:r>
                <a:r>
                  <a:rPr lang="fr-FR" sz="1600" i="1" dirty="0"/>
                  <a:t> </a:t>
                </a:r>
                <a:br>
                  <a:rPr lang="fr-FR" sz="1600" i="1" dirty="0"/>
                </a:br>
                <a:endParaRPr lang="fr-FR" sz="1600" i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The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fr-FR" i="1" dirty="0"/>
                  <a:t> </a:t>
                </a:r>
                <a:r>
                  <a:rPr lang="fr-FR" sz="1600" dirty="0"/>
                  <a:t>are </a:t>
                </a:r>
                <a:r>
                  <a:rPr lang="fr-FR" sz="1600" dirty="0" err="1"/>
                  <a:t>obtained</a:t>
                </a:r>
                <a:r>
                  <a:rPr lang="fr-FR" sz="1600" dirty="0"/>
                  <a:t> by </a:t>
                </a:r>
                <a:r>
                  <a:rPr lang="fr-FR" sz="1600" dirty="0" err="1"/>
                  <a:t>minimizing</a:t>
                </a:r>
                <a:r>
                  <a:rPr lang="fr-FR" sz="1600" dirty="0"/>
                  <a:t> the least square expression. Suppose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for an </a:t>
                </a:r>
                <a:r>
                  <a:rPr lang="fr-FR" sz="1600" dirty="0" err="1"/>
                  <a:t>individual</a:t>
                </a:r>
                <a:r>
                  <a:rPr lang="fr-FR" sz="1600" dirty="0"/>
                  <a:t> i,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observe the </a:t>
                </a:r>
                <a:r>
                  <a:rPr lang="fr-FR" sz="1600" dirty="0" err="1"/>
                  <a:t>following</a:t>
                </a:r>
                <a:r>
                  <a:rPr lang="fr-FR" sz="1600" dirty="0"/>
                  <a:t> pairs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600" dirty="0"/>
                  <a:t>), …,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600" dirty="0"/>
                  <a:t>),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want</a:t>
                </a:r>
                <a:r>
                  <a:rPr lang="fr-FR" sz="1600" dirty="0"/>
                  <a:t> to </a:t>
                </a:r>
                <a:r>
                  <a:rPr lang="fr-FR" sz="1600" dirty="0" err="1"/>
                  <a:t>minimize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𝑖𝑘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fr-FR" i="1" dirty="0"/>
                  <a:t>. </a:t>
                </a:r>
                <a:r>
                  <a:rPr lang="fr-FR" sz="1600" dirty="0"/>
                  <a:t>If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i="1" dirty="0"/>
                  <a:t>, </a:t>
                </a:r>
                <a:r>
                  <a:rPr lang="fr-FR" sz="1600" dirty="0" err="1"/>
                  <a:t>then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i="1" dirty="0"/>
                  <a:t>. </a:t>
                </a:r>
                <a:r>
                  <a:rPr lang="fr-FR" sz="1600" dirty="0"/>
                  <a:t>The solution of least square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given</a:t>
                </a:r>
                <a:r>
                  <a:rPr lang="fr-FR" sz="1600" dirty="0"/>
                  <a:t>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fr-FR" i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i="1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4A0FF0A9-D3D9-45A8-942D-A3FF65C84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837" y="679508"/>
                <a:ext cx="10628851" cy="3706336"/>
              </a:xfrm>
              <a:prstGeom prst="rect">
                <a:avLst/>
              </a:prstGeom>
              <a:blipFill>
                <a:blip r:embed="rId3"/>
                <a:stretch>
                  <a:fillRect l="-229" t="-49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age 17">
            <a:extLst>
              <a:ext uri="{FF2B5EF4-FFF2-40B4-BE49-F238E27FC236}">
                <a16:creationId xmlns:a16="http://schemas.microsoft.com/office/drawing/2014/main" id="{62B64440-6B0C-43AE-8DC8-E8596F781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830" y="4159357"/>
            <a:ext cx="3302170" cy="261633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2992D3AC-ACFF-47C4-A044-C1C1F360D4B1}"/>
              </a:ext>
            </a:extLst>
          </p:cNvPr>
          <p:cNvSpPr/>
          <p:nvPr/>
        </p:nvSpPr>
        <p:spPr>
          <a:xfrm>
            <a:off x="5519955" y="3748297"/>
            <a:ext cx="1711355" cy="311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35D1FFD-CFB4-4E3B-A1F5-512D95663CFA}"/>
              </a:ext>
            </a:extLst>
          </p:cNvPr>
          <p:cNvSpPr txBox="1"/>
          <p:nvPr/>
        </p:nvSpPr>
        <p:spPr>
          <a:xfrm>
            <a:off x="9541933" y="3974674"/>
            <a:ext cx="229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B-</a:t>
            </a:r>
            <a:r>
              <a:rPr lang="fr-FR" dirty="0" err="1"/>
              <a:t>spline</a:t>
            </a:r>
            <a:r>
              <a:rPr lang="fr-FR" dirty="0"/>
              <a:t> basis </a:t>
            </a:r>
            <a:r>
              <a:rPr lang="fr-FR" dirty="0" err="1"/>
              <a:t>order</a:t>
            </a:r>
            <a:r>
              <a:rPr lang="fr-FR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03A122CD-529F-4056-A108-40BD12182B57}"/>
                  </a:ext>
                </a:extLst>
              </p:cNvPr>
              <p:cNvSpPr txBox="1"/>
              <p:nvPr/>
            </p:nvSpPr>
            <p:spPr>
              <a:xfrm>
                <a:off x="327941" y="4159340"/>
                <a:ext cx="8034696" cy="22549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If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note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fr-FR" sz="1600" dirty="0"/>
                  <a:t> the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fr-FR" sz="1600" dirty="0"/>
                  <a:t> matrix </a:t>
                </a:r>
                <a:r>
                  <a:rPr lang="fr-FR" sz="1600" dirty="0" err="1"/>
                  <a:t>defined</a:t>
                </a:r>
                <a:r>
                  <a:rPr lang="fr-FR" sz="1600" dirty="0"/>
                  <a:t>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  <m:e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fr-FR" sz="1600" dirty="0"/>
                  <a:t>, and C the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fr-FR" sz="1600" dirty="0"/>
                  <a:t> matrix </a:t>
                </a:r>
                <a:r>
                  <a:rPr lang="fr-FR" sz="1600" dirty="0" err="1"/>
                  <a:t>where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each</a:t>
                </a:r>
                <a:r>
                  <a:rPr lang="fr-FR" sz="1600" dirty="0"/>
                  <a:t> </a:t>
                </a:r>
                <a:r>
                  <a:rPr lang="fr-FR" sz="1600" dirty="0" err="1"/>
                  <a:t>row</a:t>
                </a:r>
                <a:r>
                  <a:rPr lang="fr-FR" sz="1600" dirty="0"/>
                  <a:t> corresponds to coefficients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600" dirty="0"/>
                  <a:t>.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note the </a:t>
                </a:r>
                <a:r>
                  <a:rPr lang="fr-FR" sz="1600" dirty="0" err="1"/>
                  <a:t>eigenfunction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fr-FR" sz="1600" dirty="0"/>
                  <a:t> by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fr-F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fr-F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fr-FR" sz="1600" baseline="30000" dirty="0"/>
                  <a:t>  </a:t>
                </a:r>
                <a:r>
                  <a:rPr lang="fr-FR" sz="1600" dirty="0" err="1"/>
                  <a:t>Then</a:t>
                </a:r>
                <a:r>
                  <a:rPr lang="fr-FR" sz="1600" dirty="0"/>
                  <a:t> to </a:t>
                </a:r>
                <a:r>
                  <a:rPr lang="fr-FR" sz="1600" dirty="0" err="1"/>
                  <a:t>find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fr-FR" sz="1600" dirty="0"/>
                  <a:t> we </a:t>
                </a:r>
                <a:r>
                  <a:rPr lang="fr-FR" sz="1600" dirty="0" err="1"/>
                  <a:t>define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p>
                    <m:r>
                      <a:rPr lang="fr-FR" sz="1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fr-FR" sz="1600" dirty="0"/>
                  <a:t>,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have to solve </a:t>
                </a:r>
                <a:r>
                  <a:rPr lang="fr-FR" sz="1600" dirty="0" err="1"/>
                  <a:t>this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eigenequatuion</a:t>
                </a:r>
                <a:r>
                  <a:rPr lang="fr-FR" sz="1600" dirty="0"/>
                  <a:t> </a:t>
                </a:r>
                <a:r>
                  <a:rPr lang="fr-FR" sz="1600" dirty="0" err="1"/>
                  <a:t>problem</a:t>
                </a:r>
                <a:br>
                  <a:rPr lang="fr-FR" sz="1600" dirty="0"/>
                </a:br>
                <a:br>
                  <a:rPr lang="fr-FR" sz="1600" b="0" dirty="0">
                    <a:ea typeface="Cambria Math" panose="02040503050406030204" pitchFamily="18" charset="0"/>
                  </a:rPr>
                </a:br>
                <a:endParaRPr lang="fr-FR" sz="1600" b="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 err="1">
                    <a:ea typeface="Cambria Math" panose="02040503050406030204" pitchFamily="18" charset="0"/>
                  </a:rPr>
                  <a:t>Then</a:t>
                </a:r>
                <a:r>
                  <a:rPr lang="fr-FR" sz="1600" dirty="0">
                    <a:ea typeface="Cambria Math" panose="02040503050406030204" pitchFamily="18" charset="0"/>
                  </a:rPr>
                  <a:t> to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find</a:t>
                </a:r>
                <a:r>
                  <a:rPr lang="fr-FR" sz="1600" dirty="0">
                    <a:ea typeface="Cambria Math" panose="02040503050406030204" pitchFamily="18" charset="0"/>
                  </a:rPr>
                  <a:t> principal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functional</a:t>
                </a:r>
                <a:r>
                  <a:rPr lang="fr-FR" sz="1600" dirty="0">
                    <a:ea typeface="Cambria Math" panose="02040503050406030204" pitchFamily="18" charset="0"/>
                  </a:rPr>
                  <a:t> scores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,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we</a:t>
                </a:r>
                <a:r>
                  <a:rPr lang="fr-FR" sz="1600" b="0" dirty="0">
                    <a:ea typeface="Cambria Math" panose="02040503050406030204" pitchFamily="18" charset="0"/>
                  </a:rPr>
                  <a:t> observe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that</a:t>
                </a:r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, and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we</a:t>
                </a:r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calculate</a:t>
                </a:r>
                <a:endParaRPr lang="fr-FR" sz="1600" b="0" dirty="0">
                  <a:ea typeface="Cambria Math" panose="02040503050406030204" pitchFamily="18" charset="0"/>
                </a:endParaRPr>
              </a:p>
              <a:p>
                <a:endParaRPr lang="fr-FR" sz="16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03A122CD-529F-4056-A108-40BD12182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41" y="4159340"/>
                <a:ext cx="8034696" cy="2254913"/>
              </a:xfrm>
              <a:prstGeom prst="rect">
                <a:avLst/>
              </a:prstGeom>
              <a:blipFill>
                <a:blip r:embed="rId5"/>
                <a:stretch>
                  <a:fillRect l="-303" t="-186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1C4AF19-5806-4214-B993-B4E29285F0A0}"/>
              </a:ext>
            </a:extLst>
          </p:cNvPr>
          <p:cNvSpPr/>
          <p:nvPr/>
        </p:nvSpPr>
        <p:spPr>
          <a:xfrm>
            <a:off x="2964581" y="5193722"/>
            <a:ext cx="2346539" cy="5103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AC7C5D50-52D7-44B8-A038-34D75409EA53}"/>
                  </a:ext>
                </a:extLst>
              </p:cNvPr>
              <p:cNvSpPr txBox="1"/>
              <p:nvPr/>
            </p:nvSpPr>
            <p:spPr>
              <a:xfrm>
                <a:off x="2964580" y="5149102"/>
                <a:ext cx="2346540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sSup>
                        <m:sSup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1/2</m:t>
                          </m:r>
                        </m:sup>
                      </m:sSup>
                      <m:sSup>
                        <m:sSup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1/2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AC7C5D50-52D7-44B8-A038-34D75409E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4580" y="5149102"/>
                <a:ext cx="2346540" cy="5549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1CE62FBC-27E7-487A-B119-26A0F1EAEA10}"/>
              </a:ext>
            </a:extLst>
          </p:cNvPr>
          <p:cNvSpPr/>
          <p:nvPr/>
        </p:nvSpPr>
        <p:spPr>
          <a:xfrm>
            <a:off x="2964580" y="6226039"/>
            <a:ext cx="2462553" cy="4656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552AA9F3-2FDF-4C3A-8C2A-E4DDA4F51936}"/>
                  </a:ext>
                </a:extLst>
              </p:cNvPr>
              <p:cNvSpPr txBox="1"/>
              <p:nvPr/>
            </p:nvSpPr>
            <p:spPr>
              <a:xfrm>
                <a:off x="3022586" y="6265229"/>
                <a:ext cx="2346540" cy="3872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552AA9F3-2FDF-4C3A-8C2A-E4DDA4F51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586" y="6265229"/>
                <a:ext cx="2346540" cy="387286"/>
              </a:xfrm>
              <a:prstGeom prst="rect">
                <a:avLst/>
              </a:prstGeom>
              <a:blipFill>
                <a:blip r:embed="rId7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8010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Clustering of variables </a:t>
            </a:r>
            <a:r>
              <a:rPr lang="fr-FR" sz="2800" dirty="0" err="1"/>
              <a:t>around</a:t>
            </a:r>
            <a:r>
              <a:rPr lang="fr-FR" sz="2800" dirty="0"/>
              <a:t> latent components</a:t>
            </a:r>
            <a:r>
              <a:rPr lang="fr-FR" sz="2800" baseline="30000" dirty="0"/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E46AB018-0C81-43C0-9830-E35560594028}"/>
                  </a:ext>
                </a:extLst>
              </p:cNvPr>
              <p:cNvSpPr txBox="1"/>
              <p:nvPr/>
            </p:nvSpPr>
            <p:spPr>
              <a:xfrm>
                <a:off x="330200" y="519074"/>
                <a:ext cx="11311467" cy="2422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Once the first functional principal component (fPC1) scores have been computed, we aim to reduce redundancy within each block X by removing variables that are highly correlated with others while retaining those that are considered more relevant.</a:t>
                </a:r>
                <a:br>
                  <a:rPr lang="en-US" sz="1600" dirty="0"/>
                </a:b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The principle of the algorithm is to find latent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which maximizes the criterion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𝑘𝑗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𝑐𝑜𝑣</m:t>
                                </m:r>
                              </m:e>
                              <m:sup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1600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if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belong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to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cluster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0 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elsewhere</m:t>
                            </m:r>
                          </m:e>
                        </m:eqArr>
                      </m:e>
                    </m:d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The </a:t>
                </a:r>
                <a:r>
                  <a:rPr lang="fr-FR" sz="1600" dirty="0" err="1"/>
                  <a:t>problem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have to know the </a:t>
                </a:r>
                <a:r>
                  <a:rPr lang="fr-FR" sz="1600" dirty="0" err="1"/>
                  <a:t>number</a:t>
                </a:r>
                <a:r>
                  <a:rPr lang="fr-FR" sz="1600" dirty="0"/>
                  <a:t> ok clusters K in </a:t>
                </a:r>
                <a:r>
                  <a:rPr lang="fr-FR" sz="1600" dirty="0" err="1"/>
                  <a:t>advance</a:t>
                </a:r>
                <a:r>
                  <a:rPr lang="fr-FR" sz="1600" dirty="0"/>
                  <a:t>. It </a:t>
                </a:r>
                <a:r>
                  <a:rPr lang="fr-FR" sz="1600" dirty="0" err="1"/>
                  <a:t>exists</a:t>
                </a:r>
                <a:r>
                  <a:rPr lang="fr-FR" sz="1600" dirty="0"/>
                  <a:t> a </a:t>
                </a:r>
                <a:r>
                  <a:rPr lang="fr-FR" sz="1600" dirty="0" err="1"/>
                  <a:t>method</a:t>
                </a:r>
                <a:r>
                  <a:rPr lang="fr-FR" sz="1600" dirty="0"/>
                  <a:t> to </a:t>
                </a:r>
                <a:r>
                  <a:rPr lang="fr-FR" sz="1600" dirty="0" err="1"/>
                  <a:t>determine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it</a:t>
                </a:r>
                <a:r>
                  <a:rPr lang="fr-FR" sz="1600" dirty="0"/>
                  <a:t>: </a:t>
                </a:r>
                <a:br>
                  <a:rPr lang="fr-FR" sz="1600" dirty="0"/>
                </a:br>
                <a:r>
                  <a:rPr lang="fr-FR" sz="1600" dirty="0"/>
                  <a:t> </a:t>
                </a: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E46AB018-0C81-43C0-9830-E35560594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200" y="519074"/>
                <a:ext cx="11311467" cy="2422138"/>
              </a:xfrm>
              <a:prstGeom prst="rect">
                <a:avLst/>
              </a:prstGeom>
              <a:blipFill>
                <a:blip r:embed="rId3"/>
                <a:stretch>
                  <a:fillRect l="-216" t="-756" r="-7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e 21">
            <a:extLst>
              <a:ext uri="{FF2B5EF4-FFF2-40B4-BE49-F238E27FC236}">
                <a16:creationId xmlns:a16="http://schemas.microsoft.com/office/drawing/2014/main" id="{55CD5FBD-B3B6-4C9A-B4B7-792BE4263AD7}"/>
              </a:ext>
            </a:extLst>
          </p:cNvPr>
          <p:cNvGrpSpPr/>
          <p:nvPr/>
        </p:nvGrpSpPr>
        <p:grpSpPr>
          <a:xfrm>
            <a:off x="2904067" y="2917216"/>
            <a:ext cx="2700866" cy="1929190"/>
            <a:chOff x="2785533" y="2845405"/>
            <a:chExt cx="2700866" cy="1929190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22173F75-81B8-41EF-B242-CFACE87ED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5533" y="2845405"/>
              <a:ext cx="2700866" cy="1929190"/>
            </a:xfrm>
            <a:prstGeom prst="rect">
              <a:avLst/>
            </a:prstGeom>
          </p:spPr>
        </p:pic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1BB03001-36E5-4C30-9A62-2C419361FFC6}"/>
                </a:ext>
              </a:extLst>
            </p:cNvPr>
            <p:cNvSpPr/>
            <p:nvPr/>
          </p:nvSpPr>
          <p:spPr>
            <a:xfrm>
              <a:off x="4411133" y="3657600"/>
              <a:ext cx="304800" cy="3048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4867D58-3FEE-4B10-AFCA-72D3F5804FD9}"/>
              </a:ext>
            </a:extLst>
          </p:cNvPr>
          <p:cNvGrpSpPr/>
          <p:nvPr/>
        </p:nvGrpSpPr>
        <p:grpSpPr>
          <a:xfrm>
            <a:off x="5985933" y="3443153"/>
            <a:ext cx="2954867" cy="836640"/>
            <a:chOff x="3759200" y="2973360"/>
            <a:chExt cx="2954867" cy="836640"/>
          </a:xfrm>
          <a:solidFill>
            <a:srgbClr val="FFFACC"/>
          </a:solidFill>
        </p:grpSpPr>
        <p:sp>
          <p:nvSpPr>
            <p:cNvPr id="19" name="Rectangle : carré corné 18">
              <a:extLst>
                <a:ext uri="{FF2B5EF4-FFF2-40B4-BE49-F238E27FC236}">
                  <a16:creationId xmlns:a16="http://schemas.microsoft.com/office/drawing/2014/main" id="{54AE1FF9-A4E1-46D9-B86A-AD12F0467DB9}"/>
                </a:ext>
              </a:extLst>
            </p:cNvPr>
            <p:cNvSpPr/>
            <p:nvPr/>
          </p:nvSpPr>
          <p:spPr>
            <a:xfrm>
              <a:off x="3759200" y="2973360"/>
              <a:ext cx="2954867" cy="836640"/>
            </a:xfrm>
            <a:prstGeom prst="foldedCorner">
              <a:avLst/>
            </a:prstGeom>
            <a:grpFill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782A323-5007-4BB3-85B6-981E5F45F8AC}"/>
                </a:ext>
              </a:extLst>
            </p:cNvPr>
            <p:cNvSpPr txBox="1"/>
            <p:nvPr/>
          </p:nvSpPr>
          <p:spPr>
            <a:xfrm>
              <a:off x="3886200" y="3008155"/>
              <a:ext cx="2700866" cy="76944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The K </a:t>
              </a:r>
              <a:r>
                <a:rPr lang="fr-FR" sz="1100" dirty="0" err="1"/>
                <a:t>chosen</a:t>
              </a:r>
              <a:r>
                <a:rPr lang="fr-FR" sz="1100" dirty="0"/>
                <a:t> </a:t>
              </a:r>
              <a:r>
                <a:rPr lang="fr-FR" sz="1100" dirty="0" err="1"/>
                <a:t>is</a:t>
              </a:r>
              <a:r>
                <a:rPr lang="fr-FR" sz="1100" dirty="0"/>
                <a:t> the one for </a:t>
              </a:r>
              <a:r>
                <a:rPr lang="fr-FR" sz="1100" dirty="0" err="1"/>
                <a:t>which</a:t>
              </a:r>
              <a:r>
                <a:rPr lang="fr-FR" sz="1100" dirty="0"/>
                <a:t> the </a:t>
              </a:r>
              <a:r>
                <a:rPr lang="fr-FR" sz="1100" dirty="0" err="1"/>
                <a:t>increase</a:t>
              </a:r>
              <a:r>
                <a:rPr lang="fr-FR" sz="1100" dirty="0"/>
                <a:t> of the </a:t>
              </a:r>
              <a:r>
                <a:rPr lang="fr-FR" sz="1100" dirty="0" err="1"/>
                <a:t>criterion</a:t>
              </a:r>
              <a:r>
                <a:rPr lang="fr-FR" sz="1100" dirty="0"/>
                <a:t> T </a:t>
              </a:r>
              <a:r>
                <a:rPr lang="fr-FR" sz="1100" dirty="0" err="1"/>
                <a:t>is</a:t>
              </a:r>
              <a:r>
                <a:rPr lang="fr-FR" sz="1100" dirty="0"/>
                <a:t> maximum (</a:t>
              </a:r>
              <a:r>
                <a:rPr lang="fr-FR" sz="1100" dirty="0" err="1"/>
                <a:t>except</a:t>
              </a:r>
              <a:r>
                <a:rPr lang="fr-FR" sz="1100" dirty="0"/>
                <a:t> to K = 1). </a:t>
              </a:r>
              <a:r>
                <a:rPr lang="fr-FR" sz="1100" dirty="0" err="1"/>
                <a:t>Here</a:t>
              </a:r>
              <a:r>
                <a:rPr lang="fr-FR" sz="1100" dirty="0"/>
                <a:t> </a:t>
              </a:r>
              <a:r>
                <a:rPr lang="fr-FR" sz="1100" dirty="0" err="1"/>
                <a:t>we</a:t>
              </a:r>
              <a:r>
                <a:rPr lang="fr-FR" sz="1100" dirty="0"/>
                <a:t> </a:t>
              </a:r>
              <a:r>
                <a:rPr lang="fr-FR" sz="1100" dirty="0" err="1"/>
                <a:t>choose</a:t>
              </a:r>
              <a:r>
                <a:rPr lang="fr-FR" sz="1100" dirty="0"/>
                <a:t> K = 3 clusters. </a:t>
              </a:r>
            </a:p>
          </p:txBody>
        </p:sp>
      </p:grpSp>
      <p:pic>
        <p:nvPicPr>
          <p:cNvPr id="25" name="Image 24">
            <a:extLst>
              <a:ext uri="{FF2B5EF4-FFF2-40B4-BE49-F238E27FC236}">
                <a16:creationId xmlns:a16="http://schemas.microsoft.com/office/drawing/2014/main" id="{A8E28135-CD08-4427-9307-5291D8B462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6492" y="1730143"/>
            <a:ext cx="1996175" cy="150892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4DB4E343-8ECB-4DC0-A0A6-BF24EADFA2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167" y="5348347"/>
            <a:ext cx="2798233" cy="728112"/>
          </a:xfrm>
          <a:prstGeom prst="rect">
            <a:avLst/>
          </a:prstGeom>
        </p:spPr>
      </p:pic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DB8E35B5-10FA-428B-8A9D-685E198DAEE7}"/>
              </a:ext>
            </a:extLst>
          </p:cNvPr>
          <p:cNvCxnSpPr>
            <a:cxnSpLocks/>
          </p:cNvCxnSpPr>
          <p:nvPr/>
        </p:nvCxnSpPr>
        <p:spPr>
          <a:xfrm>
            <a:off x="3200400" y="5712268"/>
            <a:ext cx="1329267" cy="1"/>
          </a:xfrm>
          <a:prstGeom prst="straightConnector1">
            <a:avLst/>
          </a:prstGeom>
          <a:noFill/>
          <a:ln w="9525" cap="flat" cmpd="sng" algn="ctr">
            <a:solidFill>
              <a:srgbClr val="00AC8C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pic>
        <p:nvPicPr>
          <p:cNvPr id="39" name="Image 38">
            <a:extLst>
              <a:ext uri="{FF2B5EF4-FFF2-40B4-BE49-F238E27FC236}">
                <a16:creationId xmlns:a16="http://schemas.microsoft.com/office/drawing/2014/main" id="{85E70324-434D-492D-A1D7-D334E45724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9667" y="5348347"/>
            <a:ext cx="2654300" cy="826083"/>
          </a:xfrm>
          <a:prstGeom prst="rect">
            <a:avLst/>
          </a:prstGeom>
        </p:spPr>
      </p:pic>
      <p:sp>
        <p:nvSpPr>
          <p:cNvPr id="40" name="ZoneTexte 39">
            <a:extLst>
              <a:ext uri="{FF2B5EF4-FFF2-40B4-BE49-F238E27FC236}">
                <a16:creationId xmlns:a16="http://schemas.microsoft.com/office/drawing/2014/main" id="{7AE185F8-3E21-4800-ADF4-6C9EDDD77489}"/>
              </a:ext>
            </a:extLst>
          </p:cNvPr>
          <p:cNvSpPr txBox="1"/>
          <p:nvPr/>
        </p:nvSpPr>
        <p:spPr>
          <a:xfrm>
            <a:off x="3352800" y="5909732"/>
            <a:ext cx="97366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Clustering of variables </a:t>
            </a:r>
            <a:r>
              <a:rPr lang="fr-FR" sz="900" dirty="0" err="1"/>
              <a:t>around</a:t>
            </a:r>
            <a:r>
              <a:rPr lang="fr-FR" sz="900" dirty="0"/>
              <a:t> latent component</a:t>
            </a:r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104EB808-E2ED-4F83-9CB0-8871991007B3}"/>
              </a:ext>
            </a:extLst>
          </p:cNvPr>
          <p:cNvCxnSpPr>
            <a:cxnSpLocks/>
          </p:cNvCxnSpPr>
          <p:nvPr/>
        </p:nvCxnSpPr>
        <p:spPr>
          <a:xfrm>
            <a:off x="7183967" y="5712268"/>
            <a:ext cx="1329267" cy="1"/>
          </a:xfrm>
          <a:prstGeom prst="straightConnector1">
            <a:avLst/>
          </a:prstGeom>
          <a:noFill/>
          <a:ln w="9525" cap="flat" cmpd="sng" algn="ctr">
            <a:solidFill>
              <a:srgbClr val="00AC8C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pic>
        <p:nvPicPr>
          <p:cNvPr id="42" name="Image 41">
            <a:extLst>
              <a:ext uri="{FF2B5EF4-FFF2-40B4-BE49-F238E27FC236}">
                <a16:creationId xmlns:a16="http://schemas.microsoft.com/office/drawing/2014/main" id="{610742D1-012D-45E6-9962-3A7E49357C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234" y="5131243"/>
            <a:ext cx="2305050" cy="1162050"/>
          </a:xfrm>
          <a:prstGeom prst="rect">
            <a:avLst/>
          </a:prstGeom>
        </p:spPr>
      </p:pic>
      <p:sp>
        <p:nvSpPr>
          <p:cNvPr id="43" name="ZoneTexte 42">
            <a:extLst>
              <a:ext uri="{FF2B5EF4-FFF2-40B4-BE49-F238E27FC236}">
                <a16:creationId xmlns:a16="http://schemas.microsoft.com/office/drawing/2014/main" id="{287DF664-D03D-43CA-AC85-A80138C4B35E}"/>
              </a:ext>
            </a:extLst>
          </p:cNvPr>
          <p:cNvSpPr txBox="1"/>
          <p:nvPr/>
        </p:nvSpPr>
        <p:spPr>
          <a:xfrm>
            <a:off x="7361766" y="5937995"/>
            <a:ext cx="97366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900" dirty="0" err="1"/>
              <a:t>We</a:t>
            </a:r>
            <a:r>
              <a:rPr lang="fr-FR" sz="900" dirty="0"/>
              <a:t> </a:t>
            </a:r>
            <a:r>
              <a:rPr lang="fr-FR" sz="900" dirty="0" err="1"/>
              <a:t>keep</a:t>
            </a:r>
            <a:r>
              <a:rPr lang="fr-FR" sz="900" dirty="0"/>
              <a:t> </a:t>
            </a:r>
            <a:r>
              <a:rPr lang="fr-FR" sz="900" dirty="0" err="1"/>
              <a:t>only</a:t>
            </a:r>
            <a:r>
              <a:rPr lang="fr-FR" sz="900" dirty="0"/>
              <a:t> variables </a:t>
            </a:r>
            <a:r>
              <a:rPr lang="fr-FR" sz="900" dirty="0" err="1"/>
              <a:t>which</a:t>
            </a:r>
            <a:r>
              <a:rPr lang="fr-FR" sz="900" dirty="0"/>
              <a:t> are the </a:t>
            </a:r>
            <a:r>
              <a:rPr lang="fr-FR" sz="900" dirty="0" err="1"/>
              <a:t>most</a:t>
            </a:r>
            <a:r>
              <a:rPr lang="fr-FR" sz="900" dirty="0"/>
              <a:t> relevant for us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AD34AB48-2285-4112-A825-D8D15A138599}"/>
              </a:ext>
            </a:extLst>
          </p:cNvPr>
          <p:cNvSpPr txBox="1"/>
          <p:nvPr/>
        </p:nvSpPr>
        <p:spPr>
          <a:xfrm>
            <a:off x="397933" y="4943488"/>
            <a:ext cx="22013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For </a:t>
            </a:r>
            <a:r>
              <a:rPr lang="fr-FR" sz="1400" dirty="0" err="1"/>
              <a:t>each</a:t>
            </a:r>
            <a:r>
              <a:rPr lang="fr-FR" sz="1400" dirty="0"/>
              <a:t> block </a:t>
            </a:r>
            <a:r>
              <a:rPr lang="fr-FR" sz="1400" dirty="0" err="1"/>
              <a:t>independtly</a:t>
            </a:r>
            <a:r>
              <a:rPr lang="fr-FR" sz="1400" dirty="0"/>
              <a:t>: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7D044FD-464E-43E5-AA2C-08FA0A4EE270}"/>
              </a:ext>
            </a:extLst>
          </p:cNvPr>
          <p:cNvSpPr/>
          <p:nvPr/>
        </p:nvSpPr>
        <p:spPr>
          <a:xfrm>
            <a:off x="8009467" y="1267982"/>
            <a:ext cx="2675466" cy="3511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CB4164AC-BDD2-448A-962C-11F3EF2A9D4B}"/>
              </a:ext>
            </a:extLst>
          </p:cNvPr>
          <p:cNvCxnSpPr/>
          <p:nvPr/>
        </p:nvCxnSpPr>
        <p:spPr>
          <a:xfrm>
            <a:off x="4453467" y="3881811"/>
            <a:ext cx="0" cy="29949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3190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569C1422-F534-4F82-9CDB-68E65C3B5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1677" y="639321"/>
            <a:ext cx="5240322" cy="2965499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Generalized</a:t>
            </a:r>
            <a:r>
              <a:rPr lang="fr-FR" sz="2800" dirty="0"/>
              <a:t> </a:t>
            </a:r>
            <a:r>
              <a:rPr lang="fr-FR" sz="2800" dirty="0" err="1"/>
              <a:t>structured</a:t>
            </a:r>
            <a:r>
              <a:rPr lang="fr-FR" sz="2800" dirty="0"/>
              <a:t> component </a:t>
            </a:r>
            <a:r>
              <a:rPr lang="fr-FR" sz="2800" dirty="0" err="1"/>
              <a:t>analysis</a:t>
            </a:r>
            <a:r>
              <a:rPr lang="fr-FR" sz="2800" dirty="0"/>
              <a:t> (GSCA)</a:t>
            </a:r>
            <a:r>
              <a:rPr lang="fr-FR" sz="2800" baseline="30000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1BA99191-B606-4EBE-8403-A898E492C95F}"/>
                  </a:ext>
                </a:extLst>
              </p:cNvPr>
              <p:cNvSpPr txBox="1"/>
              <p:nvPr/>
            </p:nvSpPr>
            <p:spPr>
              <a:xfrm>
                <a:off x="97008" y="711200"/>
                <a:ext cx="6854670" cy="4103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u="sng" dirty="0"/>
                  <a:t>Notations: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|…|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fr-FR" sz="1600" dirty="0"/>
                  <a:t> the matrix of K blocks of fPC1 scores, </a:t>
                </a:r>
                <a:r>
                  <a:rPr lang="fr-FR" sz="1600" dirty="0" err="1"/>
                  <a:t>each</a:t>
                </a:r>
                <a:r>
                  <a:rPr lang="fr-FR" sz="1600" dirty="0"/>
                  <a:t> of size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FR" sz="1600" dirty="0"/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⟦"/>
                        <m:endChr m:val="⟧"/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fr-FR" sz="1600" dirty="0"/>
                  <a:t>. In </a:t>
                </a:r>
                <a:r>
                  <a:rPr lang="fr-FR" sz="1600" dirty="0" err="1"/>
                  <a:t>our</a:t>
                </a:r>
                <a:r>
                  <a:rPr lang="fr-FR" sz="1600" dirty="0"/>
                  <a:t> </a:t>
                </a:r>
                <a:r>
                  <a:rPr lang="fr-FR" sz="1600" dirty="0" err="1"/>
                  <a:t>example</a:t>
                </a:r>
                <a:r>
                  <a:rPr lang="fr-FR" sz="16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sz="1600" b="0" i="0" smtClean="0">
                        <a:latin typeface="Cambria Math" panose="02040503050406030204" pitchFamily="18" charset="0"/>
                      </a:rPr>
                      <m:t>=5, 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vary</a:t>
                </a:r>
                <a:r>
                  <a:rPr lang="fr-FR" sz="1600" dirty="0"/>
                  <a:t> </a:t>
                </a:r>
                <a:r>
                  <a:rPr lang="fr-FR" sz="1600" dirty="0" err="1"/>
                  <a:t>between</a:t>
                </a:r>
                <a:r>
                  <a:rPr lang="fr-FR" sz="1600" dirty="0"/>
                  <a:t> 1 (block Y) and 4 (block Animals). </a:t>
                </a:r>
                <a:br>
                  <a:rPr lang="fr-FR" sz="1600" dirty="0"/>
                </a:br>
                <a:r>
                  <a:rPr lang="fr-FR" sz="1600" dirty="0" err="1"/>
                  <a:t>Each</a:t>
                </a:r>
                <a:r>
                  <a:rPr lang="fr-FR" sz="1600" dirty="0"/>
                  <a:t>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summarized</a:t>
                </a:r>
                <a:r>
                  <a:rPr lang="fr-FR" sz="1600" dirty="0"/>
                  <a:t> by a latent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fr-FR" sz="1600" b="1" i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with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FR" sz="1600" dirty="0"/>
                  <a:t> the </a:t>
                </a:r>
                <a:r>
                  <a:rPr lang="fr-FR" sz="1600" dirty="0" err="1"/>
                  <a:t>corresponding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weight</a:t>
                </a:r>
                <a:r>
                  <a:rPr lang="fr-FR" sz="1600" dirty="0"/>
                  <a:t> of the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FR" sz="1600" dirty="0"/>
                  <a:t>.</a:t>
                </a:r>
                <a:br>
                  <a:rPr lang="fr-FR" sz="1600" dirty="0"/>
                </a:br>
                <a:r>
                  <a:rPr lang="fr-FR" sz="1600" dirty="0"/>
                  <a:t>The model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reflective</a:t>
                </a:r>
                <a:r>
                  <a:rPr lang="fr-FR" sz="1600" dirty="0"/>
                  <a:t>, </a:t>
                </a:r>
                <a:r>
                  <a:rPr lang="fr-FR" sz="1600" dirty="0" err="1"/>
                  <a:t>it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means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the latent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FR" sz="1600" dirty="0"/>
                  <a:t> are </a:t>
                </a:r>
                <a:r>
                  <a:rPr lang="fr-FR" sz="1600" dirty="0" err="1"/>
                  <a:t>also</a:t>
                </a:r>
                <a:r>
                  <a:rPr lang="fr-FR" sz="1600" dirty="0"/>
                  <a:t> </a:t>
                </a:r>
                <a:r>
                  <a:rPr lang="fr-FR" sz="1600" dirty="0" err="1"/>
                  <a:t>predictors</a:t>
                </a:r>
                <a:r>
                  <a:rPr lang="fr-FR" sz="1600" dirty="0"/>
                  <a:t> of fPC1: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fr-FR" sz="1600" b="1" dirty="0"/>
                  <a:t>.</a:t>
                </a:r>
                <a:br>
                  <a:rPr lang="fr-FR" sz="1600" b="1" dirty="0"/>
                </a:br>
                <a:endParaRPr lang="fr-FR" sz="16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u="sng" dirty="0"/>
                  <a:t>Assumptions:</a:t>
                </a:r>
                <a:r>
                  <a:rPr lang="fr-FR" sz="1600" dirty="0"/>
                  <a:t> The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fr-FR" sz="1600" dirty="0"/>
                  <a:t> are </a:t>
                </a:r>
                <a:r>
                  <a:rPr lang="fr-FR" sz="1600" dirty="0" err="1"/>
                  <a:t>supposed</a:t>
                </a:r>
                <a:r>
                  <a:rPr lang="fr-FR" sz="1600" dirty="0"/>
                  <a:t> to </a:t>
                </a:r>
                <a:r>
                  <a:rPr lang="fr-FR" sz="1600" dirty="0" err="1"/>
                  <a:t>be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unidimensional</a:t>
                </a:r>
                <a:r>
                  <a:rPr lang="fr-FR" sz="1600" dirty="0"/>
                  <a:t>, </a:t>
                </a:r>
                <a:r>
                  <a:rPr lang="fr-FR" sz="1600" dirty="0" err="1"/>
                  <a:t>columnwise-centered</a:t>
                </a:r>
                <a:r>
                  <a:rPr lang="fr-FR" sz="1600" dirty="0"/>
                  <a:t> and </a:t>
                </a:r>
                <a:r>
                  <a:rPr lang="fr-FR" sz="1600" dirty="0" err="1"/>
                  <a:t>scales</a:t>
                </a:r>
                <a:r>
                  <a:rPr lang="fr-FR" sz="1600" dirty="0"/>
                  <a:t> to unit variance. No NA</a:t>
                </a:r>
                <a:br>
                  <a:rPr lang="fr-FR" sz="1600" dirty="0"/>
                </a:br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u="sng" dirty="0" err="1"/>
                  <a:t>Regression</a:t>
                </a:r>
                <a:r>
                  <a:rPr lang="fr-FR" sz="1600" u="sng" dirty="0"/>
                  <a:t> </a:t>
                </a:r>
                <a:r>
                  <a:rPr lang="fr-FR" sz="1600" u="sng" dirty="0" err="1"/>
                  <a:t>models</a:t>
                </a:r>
                <a:r>
                  <a:rPr lang="fr-FR" sz="1600" u="sng" dirty="0"/>
                  <a:t> </a:t>
                </a:r>
                <a:r>
                  <a:rPr lang="fr-FR" sz="1600" u="sng" dirty="0" err="1"/>
                  <a:t>considered</a:t>
                </a:r>
                <a:r>
                  <a:rPr lang="fr-FR" sz="1600" u="sng" dirty="0"/>
                  <a:t>:</a:t>
                </a:r>
                <a:r>
                  <a:rPr lang="fr-FR" sz="1600" dirty="0"/>
                  <a:t> 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4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→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fr-FR" sz="1800" b="1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y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4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→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(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4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→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(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→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4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and (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4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</a:t>
                </a:r>
                <a:r>
                  <a:rPr lang="fr-FR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→</a:t>
                </a:r>
                <a:r>
                  <a:rPr lang="fr-FR" sz="1800" b="1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t</a:t>
                </a:r>
                <a:r>
                  <a:rPr lang="fr-FR" sz="1800" b="1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3.</a:t>
                </a:r>
                <a:br>
                  <a:rPr lang="fr-FR" sz="1600" b="1" u="sng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Solutions are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obtained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by an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Alternating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Least square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Algorithm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 Once Path Coefficients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estimated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those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who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are close to 0 are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eliminated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and a new model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is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recomputed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without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fr-FR" sz="24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these</a:t>
                </a:r>
                <a:r>
                  <a:rPr lang="fr-FR" sz="24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links.</a:t>
                </a:r>
              </a:p>
            </p:txBody>
          </p:sp>
        </mc:Choice>
        <mc:Fallback xmlns="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1BA99191-B606-4EBE-8403-A898E492C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08" y="711200"/>
                <a:ext cx="6854670" cy="4103303"/>
              </a:xfrm>
              <a:prstGeom prst="rect">
                <a:avLst/>
              </a:prstGeom>
              <a:blipFill>
                <a:blip r:embed="rId4"/>
                <a:stretch>
                  <a:fillRect l="-356" t="-2823" r="-534" b="-282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A19FF511-AECD-4F4E-BB61-E22031342C38}"/>
                  </a:ext>
                </a:extLst>
              </p:cNvPr>
              <p:cNvSpPr txBox="1"/>
              <p:nvPr/>
            </p:nvSpPr>
            <p:spPr>
              <a:xfrm>
                <a:off x="97008" y="4953000"/>
                <a:ext cx="6710192" cy="14083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u="sng" dirty="0"/>
                  <a:t>Regression coefficients </a:t>
                </a:r>
                <a:r>
                  <a:rPr lang="fr-FR" sz="1600" u="sng" dirty="0" err="1"/>
                  <a:t>betwenn</a:t>
                </a:r>
                <a:r>
                  <a:rPr lang="fr-FR" sz="1600" u="sng" dirty="0"/>
                  <a:t> fPC1:</a:t>
                </a:r>
                <a:r>
                  <a:rPr lang="fr-FR" sz="1600" dirty="0"/>
                  <a:t> It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possible to </a:t>
                </a:r>
                <a:r>
                  <a:rPr lang="fr-FR" sz="1600" dirty="0" err="1"/>
                  <a:t>calculate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regression</a:t>
                </a:r>
                <a:r>
                  <a:rPr lang="fr-FR" sz="1600" dirty="0"/>
                  <a:t> coefficients </a:t>
                </a:r>
                <a:r>
                  <a:rPr lang="fr-FR" sz="1600" dirty="0" err="1"/>
                  <a:t>between</a:t>
                </a:r>
                <a:r>
                  <a:rPr lang="fr-FR" sz="1600" dirty="0"/>
                  <a:t> fPC1 </a:t>
                </a:r>
                <a:r>
                  <a:rPr lang="fr-FR" sz="1600" dirty="0" err="1"/>
                  <a:t>from</a:t>
                </a:r>
                <a:r>
                  <a:rPr lang="fr-FR" sz="1600" dirty="0"/>
                  <a:t> a block i and fPC1 </a:t>
                </a:r>
                <a:r>
                  <a:rPr lang="fr-FR" sz="1600" dirty="0" err="1"/>
                  <a:t>from</a:t>
                </a:r>
                <a:r>
                  <a:rPr lang="fr-FR" sz="1600" dirty="0"/>
                  <a:t> </a:t>
                </a:r>
                <a:r>
                  <a:rPr lang="fr-FR" sz="1600" dirty="0" err="1"/>
                  <a:t>another</a:t>
                </a:r>
                <a:r>
                  <a:rPr lang="fr-FR" sz="1600" dirty="0"/>
                  <a:t> block j. For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can </a:t>
                </a:r>
                <a:r>
                  <a:rPr lang="fr-FR" sz="1600" dirty="0" err="1"/>
                  <a:t>apply</a:t>
                </a:r>
                <a:r>
                  <a:rPr lang="fr-FR" sz="1600" dirty="0"/>
                  <a:t> </a:t>
                </a:r>
                <a:r>
                  <a:rPr lang="fr-FR" sz="1600" dirty="0" err="1"/>
                  <a:t>this</a:t>
                </a:r>
                <a:r>
                  <a:rPr lang="fr-FR" sz="1600" dirty="0"/>
                  <a:t> formula</a:t>
                </a:r>
                <a:r>
                  <a:rPr lang="fr-FR" sz="1600" baseline="30000" dirty="0"/>
                  <a:t>4</a:t>
                </a:r>
                <a:r>
                  <a:rPr lang="fr-FR" sz="1600" dirty="0"/>
                  <a:t>:</a:t>
                </a:r>
                <a:br>
                  <a:rPr lang="fr-FR" sz="1600" dirty="0"/>
                </a:br>
                <a:br>
                  <a:rPr lang="fr-FR" sz="1600" u="sng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A19FF511-AECD-4F4E-BB61-E22031342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08" y="4953000"/>
                <a:ext cx="6710192" cy="1408334"/>
              </a:xfrm>
              <a:prstGeom prst="rect">
                <a:avLst/>
              </a:prstGeom>
              <a:blipFill>
                <a:blip r:embed="rId5"/>
                <a:stretch>
                  <a:fillRect l="-363" t="-1299" r="-2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63B01D91-D991-4D20-BB40-8D9913CBA989}"/>
              </a:ext>
            </a:extLst>
          </p:cNvPr>
          <p:cNvSpPr/>
          <p:nvPr/>
        </p:nvSpPr>
        <p:spPr>
          <a:xfrm>
            <a:off x="2531533" y="5901267"/>
            <a:ext cx="1481667" cy="4600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F4A2769-8D0D-4FD0-93C5-3C465C8E1732}"/>
              </a:ext>
            </a:extLst>
          </p:cNvPr>
          <p:cNvSpPr txBox="1"/>
          <p:nvPr/>
        </p:nvSpPr>
        <p:spPr>
          <a:xfrm>
            <a:off x="7302772" y="4315418"/>
            <a:ext cx="4538133" cy="1815882"/>
          </a:xfrm>
          <a:prstGeom prst="rect">
            <a:avLst/>
          </a:prstGeom>
          <a:solidFill>
            <a:srgbClr val="FFFACC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u="sng" dirty="0"/>
              <a:t>FIT </a:t>
            </a:r>
            <a:r>
              <a:rPr lang="fr-FR" sz="1600" u="sng" dirty="0" err="1"/>
              <a:t>measures</a:t>
            </a:r>
            <a:endParaRPr lang="fr-FR" sz="16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u="sng" dirty="0"/>
              <a:t>FIT:</a:t>
            </a:r>
            <a:r>
              <a:rPr lang="fr-FR" sz="1600" dirty="0"/>
              <a:t> global FIT of the model (R2 </a:t>
            </a:r>
            <a:r>
              <a:rPr lang="fr-FR" sz="1600" dirty="0" err="1"/>
              <a:t>equivalent</a:t>
            </a:r>
            <a:r>
              <a:rPr lang="fr-FR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u="sng" dirty="0"/>
              <a:t>AFIT:</a:t>
            </a:r>
            <a:r>
              <a:rPr lang="fr-FR" sz="1600" baseline="30000" dirty="0"/>
              <a:t> </a:t>
            </a:r>
            <a:r>
              <a:rPr lang="fr-FR" sz="1600" dirty="0" err="1"/>
              <a:t>adjusted</a:t>
            </a:r>
            <a:r>
              <a:rPr lang="fr-FR" sz="1600" dirty="0"/>
              <a:t> FIT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u="sng" dirty="0"/>
              <a:t>FIT M:</a:t>
            </a:r>
            <a:r>
              <a:rPr lang="fr-FR" sz="1600" dirty="0"/>
              <a:t> FIT of the </a:t>
            </a:r>
            <a:r>
              <a:rPr lang="fr-FR" sz="1600" dirty="0" err="1"/>
              <a:t>measurement</a:t>
            </a:r>
            <a:r>
              <a:rPr lang="fr-FR" sz="1600" dirty="0"/>
              <a:t> model (</a:t>
            </a:r>
            <a:r>
              <a:rPr lang="fr-FR" sz="1600" dirty="0" err="1"/>
              <a:t>from</a:t>
            </a:r>
            <a:r>
              <a:rPr lang="fr-FR" sz="1600" dirty="0"/>
              <a:t> latent variables to original fPC1).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u="sng" dirty="0"/>
              <a:t>FIT S:</a:t>
            </a:r>
            <a:r>
              <a:rPr lang="fr-FR" sz="1600" dirty="0"/>
              <a:t> FIT of the structural model (</a:t>
            </a:r>
            <a:r>
              <a:rPr lang="fr-FR" sz="1600" dirty="0" err="1"/>
              <a:t>between</a:t>
            </a:r>
            <a:r>
              <a:rPr lang="fr-FR" sz="1600" dirty="0"/>
              <a:t> latent variables</a:t>
            </a:r>
          </a:p>
        </p:txBody>
      </p:sp>
    </p:spTree>
    <p:extLst>
      <p:ext uri="{BB962C8B-B14F-4D97-AF65-F5344CB8AC3E}">
        <p14:creationId xmlns:p14="http://schemas.microsoft.com/office/powerpoint/2010/main" val="1087076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 err="1"/>
              <a:t>Results</a:t>
            </a:r>
            <a:endParaRPr lang="fr-FR" sz="5333" dirty="0"/>
          </a:p>
        </p:txBody>
      </p:sp>
    </p:spTree>
    <p:extLst>
      <p:ext uri="{BB962C8B-B14F-4D97-AF65-F5344CB8AC3E}">
        <p14:creationId xmlns:p14="http://schemas.microsoft.com/office/powerpoint/2010/main" val="1915617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fPC1 </a:t>
            </a:r>
            <a:r>
              <a:rPr lang="fr-FR" sz="2800" dirty="0" err="1"/>
              <a:t>interpretation</a:t>
            </a:r>
            <a:r>
              <a:rPr lang="fr-FR" sz="2800" dirty="0"/>
              <a:t> of </a:t>
            </a:r>
            <a:r>
              <a:rPr lang="fr-FR" sz="2800" dirty="0" err="1"/>
              <a:t>retained</a:t>
            </a:r>
            <a:r>
              <a:rPr lang="fr-FR" sz="2800" dirty="0"/>
              <a:t> variable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A343796-DC16-4E7F-B642-893C444B8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19742"/>
            <a:ext cx="5719899" cy="457591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27CF907-F272-4F51-9FB3-84CC8F4795B9}"/>
              </a:ext>
            </a:extLst>
          </p:cNvPr>
          <p:cNvSpPr txBox="1"/>
          <p:nvPr/>
        </p:nvSpPr>
        <p:spPr>
          <a:xfrm>
            <a:off x="215670" y="5076737"/>
            <a:ext cx="5288558" cy="15696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fPC1 </a:t>
            </a:r>
            <a:r>
              <a:rPr lang="fr-FR" sz="1600" dirty="0" err="1"/>
              <a:t>represents</a:t>
            </a:r>
            <a:r>
              <a:rPr lang="fr-FR" sz="1600" dirty="0"/>
              <a:t> the global </a:t>
            </a:r>
            <a:r>
              <a:rPr lang="fr-FR" sz="1600" dirty="0" err="1"/>
              <a:t>intensity</a:t>
            </a:r>
            <a:r>
              <a:rPr lang="fr-FR" sz="1600" dirty="0"/>
              <a:t> of </a:t>
            </a:r>
            <a:r>
              <a:rPr lang="fr-FR" sz="1600" dirty="0" err="1"/>
              <a:t>antimicrobial</a:t>
            </a:r>
            <a:r>
              <a:rPr lang="fr-FR" sz="1600" dirty="0"/>
              <a:t> </a:t>
            </a:r>
            <a:r>
              <a:rPr lang="fr-FR" sz="1600" dirty="0" err="1"/>
              <a:t>consumption</a:t>
            </a:r>
            <a:r>
              <a:rPr lang="fr-FR" sz="1600" dirty="0"/>
              <a:t> over the time </a:t>
            </a:r>
            <a:r>
              <a:rPr lang="fr-FR" sz="1600" dirty="0">
                <a:sym typeface="Wingdings" panose="05000000000000000000" pitchFamily="2" charset="2"/>
              </a:rPr>
              <a:t> PACA and Occitanie have a lot of </a:t>
            </a:r>
            <a:r>
              <a:rPr lang="fr-FR" sz="1600" dirty="0" err="1">
                <a:sym typeface="Wingdings" panose="05000000000000000000" pitchFamily="2" charset="2"/>
              </a:rPr>
              <a:t>consumption</a:t>
            </a:r>
            <a:r>
              <a:rPr lang="fr-FR" sz="1600" dirty="0">
                <a:sym typeface="Wingdings" panose="05000000000000000000" pitchFamily="2" charset="2"/>
              </a:rPr>
              <a:t> of fluoroquinolone in </a:t>
            </a:r>
            <a:r>
              <a:rPr lang="fr-FR" sz="1600" dirty="0" err="1">
                <a:sym typeface="Wingdings" panose="05000000000000000000" pitchFamily="2" charset="2"/>
              </a:rPr>
              <a:t>primary</a:t>
            </a:r>
            <a:r>
              <a:rPr lang="fr-FR" sz="1600" dirty="0">
                <a:sym typeface="Wingdings" panose="05000000000000000000" pitchFamily="2" charset="2"/>
              </a:rPr>
              <a:t> care setting </a:t>
            </a:r>
            <a:r>
              <a:rPr lang="fr-FR" sz="1600" dirty="0" err="1">
                <a:sym typeface="Wingdings" panose="05000000000000000000" pitchFamily="2" charset="2"/>
              </a:rPr>
              <a:t>whereas</a:t>
            </a:r>
            <a:r>
              <a:rPr lang="fr-FR" sz="1600" dirty="0">
                <a:sym typeface="Wingdings" panose="05000000000000000000" pitchFamily="2" charset="2"/>
              </a:rPr>
              <a:t> Bretagne and Pays de la Loire have few </a:t>
            </a:r>
            <a:r>
              <a:rPr lang="fr-FR" sz="1600" dirty="0" err="1">
                <a:sym typeface="Wingdings" panose="05000000000000000000" pitchFamily="2" charset="2"/>
              </a:rPr>
              <a:t>consumption</a:t>
            </a:r>
            <a:r>
              <a:rPr lang="fr-FR" sz="1600" dirty="0">
                <a:sym typeface="Wingdings" panose="05000000000000000000" pitchFamily="2" charset="2"/>
              </a:rPr>
              <a:t>.</a:t>
            </a:r>
            <a:endParaRPr lang="fr-FR" sz="16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9C09DE4-C70F-4142-9B20-FF104F7A6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2519" y="1051936"/>
            <a:ext cx="5869181" cy="544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950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Final model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6E3D8DE-770F-4E1B-B84E-56A904C50D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722" y="445694"/>
            <a:ext cx="7315215" cy="548641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194D1D2C-D5E0-4CA5-977F-4A8BB6DCD024}"/>
              </a:ext>
            </a:extLst>
          </p:cNvPr>
          <p:cNvSpPr txBox="1"/>
          <p:nvPr/>
        </p:nvSpPr>
        <p:spPr>
          <a:xfrm>
            <a:off x="7306491" y="872745"/>
            <a:ext cx="4622319" cy="550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u="sng" dirty="0" err="1"/>
              <a:t>Interpretation</a:t>
            </a:r>
            <a:br>
              <a:rPr lang="fr-FR" sz="1600" u="sng" dirty="0"/>
            </a:br>
            <a:endParaRPr lang="fr-FR" sz="16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AMC </a:t>
            </a:r>
            <a:r>
              <a:rPr lang="fr-FR" sz="1600" dirty="0" err="1"/>
              <a:t>doesn’t</a:t>
            </a:r>
            <a:r>
              <a:rPr lang="fr-FR" sz="1600" dirty="0"/>
              <a:t> </a:t>
            </a:r>
            <a:r>
              <a:rPr lang="fr-FR" sz="1600" dirty="0" err="1"/>
              <a:t>explain</a:t>
            </a:r>
            <a:r>
              <a:rPr lang="fr-FR" sz="1600" dirty="0"/>
              <a:t> </a:t>
            </a:r>
            <a:r>
              <a:rPr lang="fr-FR" sz="1600" dirty="0" err="1"/>
              <a:t>very</a:t>
            </a:r>
            <a:r>
              <a:rPr lang="fr-FR" sz="1600" dirty="0"/>
              <a:t> </a:t>
            </a:r>
            <a:r>
              <a:rPr lang="fr-FR" sz="1600" dirty="0" err="1"/>
              <a:t>well</a:t>
            </a:r>
            <a:r>
              <a:rPr lang="fr-FR" sz="1600" dirty="0"/>
              <a:t> AMR, </a:t>
            </a:r>
            <a:r>
              <a:rPr lang="fr-FR" sz="1600" b="1" dirty="0" err="1"/>
              <a:t>it’s</a:t>
            </a:r>
            <a:r>
              <a:rPr lang="fr-FR" sz="1600" b="1" dirty="0"/>
              <a:t> more the </a:t>
            </a:r>
            <a:r>
              <a:rPr lang="fr-FR" sz="1600" b="1" dirty="0" err="1"/>
              <a:t>humans</a:t>
            </a:r>
            <a:r>
              <a:rPr lang="fr-FR" sz="1600" b="1" dirty="0"/>
              <a:t> block </a:t>
            </a:r>
            <a:r>
              <a:rPr lang="fr-FR" sz="1600" b="1" dirty="0" err="1"/>
              <a:t>which</a:t>
            </a:r>
            <a:r>
              <a:rPr lang="fr-FR" sz="1600" b="1" dirty="0"/>
              <a:t> </a:t>
            </a:r>
            <a:r>
              <a:rPr lang="fr-FR" sz="1600" b="1" dirty="0" err="1"/>
              <a:t>explain</a:t>
            </a:r>
            <a:r>
              <a:rPr lang="fr-FR" sz="1600" b="1" dirty="0"/>
              <a:t> </a:t>
            </a:r>
            <a:r>
              <a:rPr lang="fr-FR" sz="1600" b="1" dirty="0" err="1"/>
              <a:t>it</a:t>
            </a:r>
            <a:r>
              <a:rPr lang="fr-FR" sz="1600" b="1" dirty="0"/>
              <a:t> </a:t>
            </a:r>
            <a:r>
              <a:rPr lang="fr-FR" sz="1600" b="1" dirty="0" err="1"/>
              <a:t>well</a:t>
            </a:r>
            <a:r>
              <a:rPr lang="fr-FR" sz="1600" dirty="0"/>
              <a:t>. Indeed if in a </a:t>
            </a:r>
            <a:r>
              <a:rPr lang="fr-FR" sz="1600" dirty="0" err="1"/>
              <a:t>considered</a:t>
            </a:r>
            <a:r>
              <a:rPr lang="fr-FR" sz="1600" dirty="0"/>
              <a:t> </a:t>
            </a:r>
            <a:r>
              <a:rPr lang="fr-FR" sz="1600" dirty="0" err="1"/>
              <a:t>region</a:t>
            </a:r>
            <a:r>
              <a:rPr lang="fr-FR" sz="1600" dirty="0"/>
              <a:t>, </a:t>
            </a:r>
            <a:r>
              <a:rPr lang="fr-FR" sz="1600" dirty="0" err="1"/>
              <a:t>there</a:t>
            </a:r>
            <a:r>
              <a:rPr lang="fr-FR" sz="1600" dirty="0"/>
              <a:t> are a lot of </a:t>
            </a:r>
            <a:r>
              <a:rPr lang="fr-FR" sz="1600" dirty="0" err="1"/>
              <a:t>doctors</a:t>
            </a:r>
            <a:r>
              <a:rPr lang="fr-FR" sz="1600" dirty="0"/>
              <a:t> and people </a:t>
            </a:r>
            <a:r>
              <a:rPr lang="fr-FR" sz="1600" dirty="0" err="1"/>
              <a:t>doesn’t</a:t>
            </a:r>
            <a:r>
              <a:rPr lang="fr-FR" sz="1600" dirty="0"/>
              <a:t> trust in public institutions, </a:t>
            </a:r>
            <a:r>
              <a:rPr lang="fr-FR" sz="1600" dirty="0" err="1"/>
              <a:t>then</a:t>
            </a:r>
            <a:r>
              <a:rPr lang="fr-FR" sz="1600" dirty="0"/>
              <a:t> the </a:t>
            </a:r>
            <a:r>
              <a:rPr lang="fr-FR" sz="1600" dirty="0" err="1"/>
              <a:t>resistance</a:t>
            </a:r>
            <a:r>
              <a:rPr lang="fr-FR" sz="1600" dirty="0"/>
              <a:t> </a:t>
            </a:r>
            <a:r>
              <a:rPr lang="fr-FR" sz="1600" dirty="0" err="1"/>
              <a:t>is</a:t>
            </a:r>
            <a:r>
              <a:rPr lang="fr-FR" sz="1600" dirty="0"/>
              <a:t> high. In addition, </a:t>
            </a:r>
            <a:r>
              <a:rPr lang="fr-FR" sz="1600" dirty="0" err="1"/>
              <a:t>this</a:t>
            </a:r>
            <a:r>
              <a:rPr lang="fr-FR" sz="1600" dirty="0"/>
              <a:t> </a:t>
            </a:r>
            <a:r>
              <a:rPr lang="fr-FR" sz="1600" dirty="0" err="1"/>
              <a:t>humans</a:t>
            </a:r>
            <a:r>
              <a:rPr lang="fr-FR" sz="1600" dirty="0"/>
              <a:t> block have a </a:t>
            </a:r>
            <a:r>
              <a:rPr lang="fr-FR" sz="1600" dirty="0" err="1"/>
              <a:t>negative</a:t>
            </a:r>
            <a:r>
              <a:rPr lang="fr-FR" sz="1600" dirty="0"/>
              <a:t> </a:t>
            </a:r>
            <a:r>
              <a:rPr lang="fr-FR" sz="1600" dirty="0" err="1"/>
              <a:t>effect</a:t>
            </a:r>
            <a:r>
              <a:rPr lang="fr-FR" sz="1600" dirty="0"/>
              <a:t> on AMC.</a:t>
            </a:r>
            <a:br>
              <a:rPr lang="fr-FR" sz="1600" dirty="0"/>
            </a:b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 err="1"/>
              <a:t>Environment</a:t>
            </a:r>
            <a:r>
              <a:rPr lang="fr-FR" sz="1600" b="1" dirty="0"/>
              <a:t> block has a positive </a:t>
            </a:r>
            <a:r>
              <a:rPr lang="fr-FR" sz="1600" b="1" dirty="0" err="1"/>
              <a:t>effect</a:t>
            </a:r>
            <a:r>
              <a:rPr lang="fr-FR" sz="1600" b="1" dirty="0"/>
              <a:t> on AMC and </a:t>
            </a:r>
            <a:r>
              <a:rPr lang="fr-FR" sz="1600" b="1" dirty="0" err="1"/>
              <a:t>humans</a:t>
            </a:r>
            <a:r>
              <a:rPr lang="fr-FR" sz="1600" b="1" dirty="0"/>
              <a:t> blocks but a </a:t>
            </a:r>
            <a:r>
              <a:rPr lang="fr-FR" sz="1600" b="1" dirty="0" err="1"/>
              <a:t>negative</a:t>
            </a:r>
            <a:r>
              <a:rPr lang="fr-FR" sz="1600" b="1" dirty="0"/>
              <a:t> </a:t>
            </a:r>
            <a:r>
              <a:rPr lang="fr-FR" sz="1600" b="1" dirty="0" err="1"/>
              <a:t>effect</a:t>
            </a:r>
            <a:r>
              <a:rPr lang="fr-FR" sz="1600" b="1" dirty="0"/>
              <a:t> on </a:t>
            </a:r>
            <a:r>
              <a:rPr lang="fr-FR" sz="1600" b="1" dirty="0" err="1"/>
              <a:t>animals</a:t>
            </a:r>
            <a:r>
              <a:rPr lang="fr-FR" sz="1600" b="1" dirty="0"/>
              <a:t> block</a:t>
            </a:r>
            <a:r>
              <a:rPr lang="fr-FR" sz="1600" dirty="0"/>
              <a:t>. That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correlated</a:t>
            </a:r>
            <a:r>
              <a:rPr lang="fr-FR" sz="1600" dirty="0"/>
              <a:t> to </a:t>
            </a:r>
            <a:r>
              <a:rPr lang="fr-FR" sz="1600" dirty="0" err="1"/>
              <a:t>urbanism</a:t>
            </a:r>
            <a:r>
              <a:rPr lang="fr-FR" sz="1600" dirty="0"/>
              <a:t>/</a:t>
            </a:r>
            <a:r>
              <a:rPr lang="fr-FR" sz="1600" dirty="0" err="1"/>
              <a:t>rurality</a:t>
            </a:r>
            <a:r>
              <a:rPr lang="fr-FR" sz="1600" dirty="0"/>
              <a:t>.</a:t>
            </a:r>
            <a:br>
              <a:rPr lang="fr-FR" sz="1600" dirty="0"/>
            </a:b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/>
              <a:t>Limit</a:t>
            </a:r>
            <a:r>
              <a:rPr lang="fr-FR" sz="1600" dirty="0"/>
              <a:t>: </a:t>
            </a:r>
            <a:r>
              <a:rPr lang="fr-FR" sz="1600" dirty="0" err="1"/>
              <a:t>bootstrap</a:t>
            </a:r>
            <a:r>
              <a:rPr lang="fr-FR" sz="1600" dirty="0"/>
              <a:t> confidence </a:t>
            </a:r>
            <a:r>
              <a:rPr lang="fr-FR" sz="1600" dirty="0" err="1"/>
              <a:t>intervals</a:t>
            </a:r>
            <a:r>
              <a:rPr lang="fr-FR" sz="1600" dirty="0"/>
              <a:t> are not </a:t>
            </a:r>
            <a:r>
              <a:rPr lang="fr-FR" sz="1600" dirty="0" err="1"/>
              <a:t>represeneted</a:t>
            </a:r>
            <a:r>
              <a:rPr lang="fr-FR" sz="1600" dirty="0"/>
              <a:t> in </a:t>
            </a:r>
            <a:r>
              <a:rPr lang="fr-FR" sz="1600" dirty="0" err="1"/>
              <a:t>this</a:t>
            </a:r>
            <a:r>
              <a:rPr lang="fr-FR" sz="1600" dirty="0"/>
              <a:t> graph but </a:t>
            </a:r>
            <a:r>
              <a:rPr lang="fr-FR" sz="1600" dirty="0" err="1"/>
              <a:t>they</a:t>
            </a:r>
            <a:r>
              <a:rPr lang="fr-FR" sz="1600" dirty="0"/>
              <a:t> are </a:t>
            </a:r>
            <a:r>
              <a:rPr lang="fr-FR" sz="1600" dirty="0" err="1"/>
              <a:t>very</a:t>
            </a:r>
            <a:r>
              <a:rPr lang="fr-FR" sz="1600" dirty="0"/>
              <a:t> high, </a:t>
            </a:r>
            <a:r>
              <a:rPr lang="fr-FR" sz="1600" dirty="0" err="1"/>
              <a:t>it’s</a:t>
            </a:r>
            <a:r>
              <a:rPr lang="fr-FR" sz="1600" dirty="0"/>
              <a:t> </a:t>
            </a:r>
            <a:r>
              <a:rPr lang="fr-FR" sz="1600" dirty="0" err="1"/>
              <a:t>because</a:t>
            </a:r>
            <a:r>
              <a:rPr lang="fr-FR" sz="1600" dirty="0"/>
              <a:t> of the </a:t>
            </a:r>
            <a:r>
              <a:rPr lang="fr-FR" sz="1600" dirty="0" err="1"/>
              <a:t>sample</a:t>
            </a:r>
            <a:r>
              <a:rPr lang="fr-FR" sz="1600" dirty="0"/>
              <a:t> size (n = 12 </a:t>
            </a:r>
            <a:r>
              <a:rPr lang="fr-FR" sz="1600" dirty="0" err="1"/>
              <a:t>regions</a:t>
            </a:r>
            <a:r>
              <a:rPr lang="fr-FR" sz="1600" dirty="0"/>
              <a:t>). </a:t>
            </a:r>
            <a:r>
              <a:rPr lang="fr-FR" sz="1600" dirty="0" err="1"/>
              <a:t>Some</a:t>
            </a:r>
            <a:r>
              <a:rPr lang="fr-FR" sz="1600" dirty="0"/>
              <a:t> variables are </a:t>
            </a:r>
            <a:r>
              <a:rPr lang="fr-FR" sz="1600" dirty="0" err="1"/>
              <a:t>probably</a:t>
            </a:r>
            <a:r>
              <a:rPr lang="fr-FR" sz="1600" dirty="0"/>
              <a:t> </a:t>
            </a:r>
            <a:r>
              <a:rPr lang="fr-FR" sz="1600" dirty="0" err="1"/>
              <a:t>correlated</a:t>
            </a:r>
            <a:r>
              <a:rPr lang="fr-FR" sz="1600" dirty="0"/>
              <a:t> to variables not </a:t>
            </a:r>
            <a:r>
              <a:rPr lang="fr-FR" sz="1600" dirty="0" err="1"/>
              <a:t>selected</a:t>
            </a:r>
            <a:r>
              <a:rPr lang="fr-FR" sz="1600" dirty="0"/>
              <a:t> by CLV </a:t>
            </a:r>
            <a:r>
              <a:rPr lang="fr-FR" sz="1600" dirty="0" err="1"/>
              <a:t>algorithm</a:t>
            </a:r>
            <a:r>
              <a:rPr lang="fr-FR" sz="1600" dirty="0"/>
              <a:t>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F2CFA3-F078-4B86-9A79-9000EC70FFE2}"/>
              </a:ext>
            </a:extLst>
          </p:cNvPr>
          <p:cNvSpPr/>
          <p:nvPr/>
        </p:nvSpPr>
        <p:spPr>
          <a:xfrm>
            <a:off x="2755457" y="590306"/>
            <a:ext cx="178685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245254C-A8A9-46BB-ABA9-7DB41C180A47}"/>
              </a:ext>
            </a:extLst>
          </p:cNvPr>
          <p:cNvSpPr txBox="1"/>
          <p:nvPr/>
        </p:nvSpPr>
        <p:spPr>
          <a:xfrm>
            <a:off x="2931139" y="5779573"/>
            <a:ext cx="1611173" cy="646331"/>
          </a:xfrm>
          <a:prstGeom prst="rect">
            <a:avLst/>
          </a:prstGeom>
          <a:solidFill>
            <a:srgbClr val="00BF7D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AFIT: 0.54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FIT_M: 0.59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FIT_S: 0.8</a:t>
            </a:r>
          </a:p>
        </p:txBody>
      </p:sp>
    </p:spTree>
    <p:extLst>
      <p:ext uri="{BB962C8B-B14F-4D97-AF65-F5344CB8AC3E}">
        <p14:creationId xmlns:p14="http://schemas.microsoft.com/office/powerpoint/2010/main" val="494321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Scatterplot</a:t>
            </a:r>
            <a:r>
              <a:rPr lang="fr-FR" sz="2800" dirty="0"/>
              <a:t> of latent variables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F2CFA3-F078-4B86-9A79-9000EC70FFE2}"/>
              </a:ext>
            </a:extLst>
          </p:cNvPr>
          <p:cNvSpPr/>
          <p:nvPr/>
        </p:nvSpPr>
        <p:spPr>
          <a:xfrm>
            <a:off x="2801923" y="1155680"/>
            <a:ext cx="178685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E924A05-BD80-4DE0-8974-C52C10CF7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0226"/>
            <a:ext cx="7088697" cy="607602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2AF931F-0D3A-4606-8EE8-1B0E9F85A9A5}"/>
              </a:ext>
            </a:extLst>
          </p:cNvPr>
          <p:cNvSpPr txBox="1"/>
          <p:nvPr/>
        </p:nvSpPr>
        <p:spPr>
          <a:xfrm>
            <a:off x="7390701" y="1155680"/>
            <a:ext cx="4622319" cy="45243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u="sng" dirty="0" err="1"/>
              <a:t>Interpretation</a:t>
            </a:r>
            <a:br>
              <a:rPr lang="fr-FR" sz="1600" u="sng" dirty="0"/>
            </a:br>
            <a:endParaRPr lang="fr-FR" sz="16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The positive relation </a:t>
            </a:r>
            <a:r>
              <a:rPr lang="fr-FR" sz="1600" dirty="0" err="1"/>
              <a:t>between</a:t>
            </a:r>
            <a:r>
              <a:rPr lang="fr-FR" sz="1600" dirty="0"/>
              <a:t> Y block and </a:t>
            </a:r>
            <a:r>
              <a:rPr lang="fr-FR" sz="1600" dirty="0" err="1"/>
              <a:t>Humans</a:t>
            </a:r>
            <a:r>
              <a:rPr lang="fr-FR" sz="1600" dirty="0"/>
              <a:t> block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characterized</a:t>
            </a:r>
            <a:r>
              <a:rPr lang="fr-FR" sz="1600" dirty="0"/>
              <a:t> by PACA </a:t>
            </a:r>
            <a:r>
              <a:rPr lang="fr-FR" sz="1600" dirty="0" err="1"/>
              <a:t>which</a:t>
            </a:r>
            <a:r>
              <a:rPr lang="fr-FR" sz="1600" dirty="0"/>
              <a:t> has a lot of </a:t>
            </a:r>
            <a:r>
              <a:rPr lang="fr-FR" sz="1600" dirty="0" err="1"/>
              <a:t>doctors</a:t>
            </a:r>
            <a:r>
              <a:rPr lang="fr-FR" sz="1600" dirty="0"/>
              <a:t> per population and few trust in institutions, </a:t>
            </a:r>
            <a:r>
              <a:rPr lang="fr-FR" sz="1600" dirty="0" err="1"/>
              <a:t>this</a:t>
            </a:r>
            <a:r>
              <a:rPr lang="fr-FR" sz="1600" dirty="0"/>
              <a:t> </a:t>
            </a:r>
            <a:r>
              <a:rPr lang="fr-FR" sz="1600" dirty="0" err="1"/>
              <a:t>region</a:t>
            </a:r>
            <a:r>
              <a:rPr lang="fr-FR" sz="1600" dirty="0"/>
              <a:t> has a lot of </a:t>
            </a:r>
            <a:r>
              <a:rPr lang="fr-FR" sz="1600" dirty="0" err="1"/>
              <a:t>resistance</a:t>
            </a:r>
            <a:r>
              <a:rPr lang="fr-FR" sz="1600" dirty="0"/>
              <a:t>.</a:t>
            </a:r>
            <a:br>
              <a:rPr lang="fr-FR" sz="1600" dirty="0"/>
            </a:b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 err="1"/>
              <a:t>Some</a:t>
            </a:r>
            <a:r>
              <a:rPr lang="fr-FR" sz="1600" dirty="0"/>
              <a:t> </a:t>
            </a:r>
            <a:r>
              <a:rPr lang="fr-FR" sz="1600" dirty="0" err="1"/>
              <a:t>regions</a:t>
            </a:r>
            <a:r>
              <a:rPr lang="fr-FR" sz="1600" dirty="0"/>
              <a:t> have an high AMC </a:t>
            </a:r>
            <a:r>
              <a:rPr lang="fr-FR" sz="1600" dirty="0" err="1"/>
              <a:t>level</a:t>
            </a:r>
            <a:r>
              <a:rPr lang="fr-FR" sz="1600" dirty="0"/>
              <a:t> but few </a:t>
            </a:r>
            <a:r>
              <a:rPr lang="fr-FR" sz="1600" dirty="0" err="1"/>
              <a:t>resistance</a:t>
            </a:r>
            <a:r>
              <a:rPr lang="fr-FR" sz="1600" dirty="0"/>
              <a:t>: Grand-Est, Occitanie, Nouvelle-Aquitaine.</a:t>
            </a:r>
            <a:br>
              <a:rPr lang="fr-FR" sz="1600" dirty="0"/>
            </a:b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PACA and </a:t>
            </a:r>
            <a:r>
              <a:rPr lang="fr-FR" sz="1600" dirty="0" err="1"/>
              <a:t>sometimes</a:t>
            </a:r>
            <a:r>
              <a:rPr lang="fr-FR" sz="1600" dirty="0"/>
              <a:t> IDF </a:t>
            </a:r>
            <a:r>
              <a:rPr lang="fr-FR" sz="1600" dirty="0" err="1"/>
              <a:t>could</a:t>
            </a:r>
            <a:r>
              <a:rPr lang="fr-FR" sz="1600" dirty="0"/>
              <a:t> </a:t>
            </a:r>
            <a:r>
              <a:rPr lang="fr-FR" sz="1600" dirty="0" err="1"/>
              <a:t>be</a:t>
            </a:r>
            <a:r>
              <a:rPr lang="fr-FR" sz="1600" dirty="0"/>
              <a:t> </a:t>
            </a:r>
            <a:r>
              <a:rPr lang="fr-FR" sz="1600" dirty="0" err="1"/>
              <a:t>considered</a:t>
            </a:r>
            <a:r>
              <a:rPr lang="fr-FR" sz="1600" dirty="0"/>
              <a:t> as </a:t>
            </a:r>
            <a:r>
              <a:rPr lang="fr-FR" sz="1600" dirty="0" err="1"/>
              <a:t>atypical</a:t>
            </a:r>
            <a:r>
              <a:rPr lang="fr-FR" sz="1600" dirty="0"/>
              <a:t> </a:t>
            </a:r>
            <a:r>
              <a:rPr lang="fr-FR" sz="1600" dirty="0" err="1"/>
              <a:t>regions</a:t>
            </a:r>
            <a:r>
              <a:rPr lang="fr-FR" sz="1600" dirty="0"/>
              <a:t> and have </a:t>
            </a:r>
            <a:r>
              <a:rPr lang="fr-FR" sz="1600" dirty="0" err="1"/>
              <a:t>some</a:t>
            </a:r>
            <a:r>
              <a:rPr lang="fr-FR" sz="1600" dirty="0"/>
              <a:t> values </a:t>
            </a:r>
            <a:r>
              <a:rPr lang="fr-FR" sz="1600" dirty="0" err="1"/>
              <a:t>very</a:t>
            </a:r>
            <a:r>
              <a:rPr lang="fr-FR" sz="1600" dirty="0"/>
              <a:t> </a:t>
            </a:r>
            <a:r>
              <a:rPr lang="fr-FR" sz="1600" dirty="0" err="1"/>
              <a:t>different</a:t>
            </a:r>
            <a:r>
              <a:rPr lang="fr-FR" sz="1600" dirty="0"/>
              <a:t> </a:t>
            </a:r>
            <a:r>
              <a:rPr lang="fr-FR" sz="1600" dirty="0" err="1"/>
              <a:t>compared</a:t>
            </a:r>
            <a:r>
              <a:rPr lang="fr-FR" sz="1600" dirty="0"/>
              <a:t> to </a:t>
            </a:r>
            <a:r>
              <a:rPr lang="fr-FR" sz="1600" dirty="0" err="1"/>
              <a:t>other</a:t>
            </a:r>
            <a:r>
              <a:rPr lang="fr-FR" sz="1600" dirty="0"/>
              <a:t> </a:t>
            </a:r>
            <a:r>
              <a:rPr lang="fr-FR" sz="1600" dirty="0" err="1"/>
              <a:t>regions</a:t>
            </a:r>
            <a:r>
              <a:rPr lang="fr-FR" sz="1600" dirty="0"/>
              <a:t> and can drive the values of </a:t>
            </a:r>
            <a:r>
              <a:rPr lang="fr-FR" sz="1600" dirty="0" err="1"/>
              <a:t>path</a:t>
            </a:r>
            <a:r>
              <a:rPr lang="fr-FR" sz="1600" dirty="0"/>
              <a:t> coefficients. The </a:t>
            </a:r>
            <a:r>
              <a:rPr lang="fr-FR" sz="1600" dirty="0" err="1"/>
              <a:t>sample</a:t>
            </a:r>
            <a:r>
              <a:rPr lang="fr-FR" sz="1600" dirty="0"/>
              <a:t> size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also</a:t>
            </a:r>
            <a:r>
              <a:rPr lang="fr-FR" sz="1600" dirty="0"/>
              <a:t> a limitation.</a:t>
            </a:r>
          </a:p>
        </p:txBody>
      </p:sp>
    </p:spTree>
    <p:extLst>
      <p:ext uri="{BB962C8B-B14F-4D97-AF65-F5344CB8AC3E}">
        <p14:creationId xmlns:p14="http://schemas.microsoft.com/office/powerpoint/2010/main" val="3761762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Regression</a:t>
            </a:r>
            <a:r>
              <a:rPr lang="fr-FR" sz="2800" dirty="0"/>
              <a:t> coefficients </a:t>
            </a:r>
            <a:r>
              <a:rPr lang="fr-FR" sz="2800" dirty="0" err="1"/>
              <a:t>between</a:t>
            </a:r>
            <a:r>
              <a:rPr lang="fr-FR" sz="2800" dirty="0"/>
              <a:t> fPC1 scores</a:t>
            </a:r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F2CFA3-F078-4B86-9A79-9000EC70FFE2}"/>
              </a:ext>
            </a:extLst>
          </p:cNvPr>
          <p:cNvSpPr/>
          <p:nvPr/>
        </p:nvSpPr>
        <p:spPr>
          <a:xfrm>
            <a:off x="2801923" y="1155680"/>
            <a:ext cx="178685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F540235-74D0-4276-99EF-61D27AC1E3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61424"/>
            <a:ext cx="7122791" cy="5087706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559D0489-D7FA-4B4B-B2E9-59A978539891}"/>
              </a:ext>
            </a:extLst>
          </p:cNvPr>
          <p:cNvSpPr txBox="1"/>
          <p:nvPr/>
        </p:nvSpPr>
        <p:spPr>
          <a:xfrm>
            <a:off x="7078917" y="850677"/>
            <a:ext cx="4622319" cy="550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u="sng" dirty="0" err="1"/>
              <a:t>Interpretation</a:t>
            </a:r>
            <a:br>
              <a:rPr lang="fr-FR" sz="1600" u="sng" dirty="0"/>
            </a:br>
            <a:endParaRPr lang="fr-FR" sz="16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u="sng" dirty="0"/>
              <a:t>Example</a:t>
            </a:r>
            <a:r>
              <a:rPr lang="fr-FR" sz="1600" dirty="0"/>
              <a:t>: </a:t>
            </a:r>
            <a:r>
              <a:rPr lang="fr-FR" sz="1600" dirty="0" err="1"/>
              <a:t>AMR_ville_FQ_R</a:t>
            </a:r>
            <a:r>
              <a:rPr lang="fr-FR" sz="1600" dirty="0"/>
              <a:t> = 0.56*</a:t>
            </a:r>
            <a:r>
              <a:rPr lang="fr-FR" sz="1600" dirty="0" err="1"/>
              <a:t>medecin_hab</a:t>
            </a:r>
            <a:r>
              <a:rPr lang="fr-FR" sz="1600" dirty="0"/>
              <a:t> – 0.51 </a:t>
            </a:r>
            <a:r>
              <a:rPr lang="fr-FR" sz="1600" dirty="0" err="1"/>
              <a:t>EQI_st</a:t>
            </a:r>
            <a:r>
              <a:rPr lang="fr-FR" sz="1600" dirty="0"/>
              <a:t> + 0.06 </a:t>
            </a:r>
            <a:r>
              <a:rPr lang="fr-FR" sz="1600" dirty="0" err="1"/>
              <a:t>log_AMC_ES_FQ</a:t>
            </a:r>
            <a:r>
              <a:rPr lang="fr-FR" sz="1600" dirty="0"/>
              <a:t> + 0.07 </a:t>
            </a:r>
            <a:r>
              <a:rPr lang="fr-FR" sz="1600" dirty="0" err="1"/>
              <a:t>log_AMC_ville</a:t>
            </a:r>
            <a:r>
              <a:rPr lang="fr-FR" sz="1600" dirty="0"/>
              <a:t> _FQ</a:t>
            </a:r>
            <a:br>
              <a:rPr lang="fr-FR" sz="1600" dirty="0"/>
            </a:b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b="1" dirty="0" err="1"/>
              <a:t>It’s</a:t>
            </a:r>
            <a:r>
              <a:rPr lang="fr-FR" sz="1600" b="1" dirty="0"/>
              <a:t> </a:t>
            </a:r>
            <a:r>
              <a:rPr lang="fr-FR" sz="1600" b="1" dirty="0" err="1"/>
              <a:t>low</a:t>
            </a:r>
            <a:r>
              <a:rPr lang="fr-FR" sz="1600" b="1" dirty="0"/>
              <a:t> EQI and high </a:t>
            </a:r>
            <a:r>
              <a:rPr lang="fr-FR" sz="1600" b="1" dirty="0" err="1"/>
              <a:t>number</a:t>
            </a:r>
            <a:r>
              <a:rPr lang="fr-FR" sz="1600" b="1" dirty="0"/>
              <a:t> of </a:t>
            </a:r>
            <a:r>
              <a:rPr lang="fr-FR" sz="1600" b="1" dirty="0" err="1"/>
              <a:t>doctors</a:t>
            </a:r>
            <a:r>
              <a:rPr lang="fr-FR" sz="1600" b="1" dirty="0"/>
              <a:t> per population </a:t>
            </a:r>
            <a:r>
              <a:rPr lang="fr-FR" sz="1600" b="1" dirty="0" err="1"/>
              <a:t>which</a:t>
            </a:r>
            <a:r>
              <a:rPr lang="fr-FR" sz="1600" b="1" dirty="0"/>
              <a:t> </a:t>
            </a:r>
            <a:r>
              <a:rPr lang="fr-FR" sz="1600" b="1" dirty="0" err="1"/>
              <a:t>explain</a:t>
            </a:r>
            <a:r>
              <a:rPr lang="fr-FR" sz="1600" b="1" dirty="0"/>
              <a:t> the </a:t>
            </a:r>
            <a:r>
              <a:rPr lang="fr-FR" sz="1600" b="1" dirty="0" err="1"/>
              <a:t>most</a:t>
            </a:r>
            <a:r>
              <a:rPr lang="fr-FR" sz="1600" b="1" dirty="0"/>
              <a:t> the </a:t>
            </a:r>
            <a:r>
              <a:rPr lang="fr-FR" sz="1600" b="1" dirty="0" err="1"/>
              <a:t>regional</a:t>
            </a:r>
            <a:r>
              <a:rPr lang="fr-FR" sz="1600" b="1" dirty="0"/>
              <a:t> </a:t>
            </a:r>
            <a:r>
              <a:rPr lang="fr-FR" sz="1600" b="1" dirty="0" err="1"/>
              <a:t>resistance</a:t>
            </a:r>
            <a:r>
              <a:rPr lang="fr-FR" sz="1600" b="1" dirty="0"/>
              <a:t> of fluoroquinolone in </a:t>
            </a:r>
            <a:r>
              <a:rPr lang="fr-FR" sz="1600" b="1" dirty="0" err="1"/>
              <a:t>primary</a:t>
            </a:r>
            <a:r>
              <a:rPr lang="fr-FR" sz="1600" b="1" dirty="0"/>
              <a:t> care setting</a:t>
            </a:r>
            <a:r>
              <a:rPr lang="fr-FR" sz="1600" dirty="0"/>
              <a:t>.</a:t>
            </a:r>
            <a:br>
              <a:rPr lang="fr-FR" sz="1600" dirty="0"/>
            </a:b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The </a:t>
            </a:r>
            <a:r>
              <a:rPr lang="fr-FR" sz="1600" dirty="0" err="1"/>
              <a:t>consumption</a:t>
            </a:r>
            <a:r>
              <a:rPr lang="fr-FR" sz="1600" dirty="0"/>
              <a:t> of FQ in </a:t>
            </a:r>
            <a:r>
              <a:rPr lang="fr-FR" sz="1600" dirty="0" err="1"/>
              <a:t>hospitals</a:t>
            </a:r>
            <a:r>
              <a:rPr lang="fr-FR" sz="1600" dirty="0"/>
              <a:t> and </a:t>
            </a:r>
            <a:r>
              <a:rPr lang="fr-FR" sz="1600" dirty="0" err="1"/>
              <a:t>primary</a:t>
            </a:r>
            <a:r>
              <a:rPr lang="fr-FR" sz="1600" dirty="0"/>
              <a:t> care setting are </a:t>
            </a:r>
            <a:r>
              <a:rPr lang="fr-FR" sz="1600" dirty="0" err="1"/>
              <a:t>positively</a:t>
            </a:r>
            <a:r>
              <a:rPr lang="fr-FR" sz="1600" dirty="0"/>
              <a:t> </a:t>
            </a:r>
            <a:r>
              <a:rPr lang="fr-FR" sz="1600" dirty="0" err="1"/>
              <a:t>explained</a:t>
            </a:r>
            <a:r>
              <a:rPr lang="fr-FR" sz="1600" dirty="0"/>
              <a:t> by </a:t>
            </a:r>
            <a:r>
              <a:rPr lang="fr-FR" sz="1600" dirty="0" err="1"/>
              <a:t>polution</a:t>
            </a:r>
            <a:r>
              <a:rPr lang="fr-FR" sz="1600" dirty="0"/>
              <a:t> of the air (PM 2.5) and the use of climatisation (</a:t>
            </a:r>
            <a:r>
              <a:rPr lang="fr-FR" sz="1600" dirty="0" err="1"/>
              <a:t>dju_refroi</a:t>
            </a:r>
            <a:r>
              <a:rPr lang="fr-FR" sz="1600" dirty="0"/>
              <a:t>). </a:t>
            </a:r>
            <a:r>
              <a:rPr lang="fr-FR" sz="1600" dirty="0" err="1"/>
              <a:t>These</a:t>
            </a:r>
            <a:r>
              <a:rPr lang="fr-FR" sz="1600" dirty="0"/>
              <a:t> </a:t>
            </a:r>
            <a:r>
              <a:rPr lang="fr-FR" sz="1600" dirty="0" err="1"/>
              <a:t>two</a:t>
            </a:r>
            <a:r>
              <a:rPr lang="fr-FR" sz="1600" dirty="0"/>
              <a:t> variables are </a:t>
            </a:r>
            <a:r>
              <a:rPr lang="fr-FR" sz="1600" dirty="0" err="1"/>
              <a:t>also</a:t>
            </a:r>
            <a:r>
              <a:rPr lang="fr-FR" sz="1600" dirty="0"/>
              <a:t> </a:t>
            </a:r>
            <a:r>
              <a:rPr lang="fr-FR" sz="1600" dirty="0" err="1"/>
              <a:t>well</a:t>
            </a:r>
            <a:r>
              <a:rPr lang="fr-FR" sz="1600" dirty="0"/>
              <a:t> </a:t>
            </a:r>
            <a:r>
              <a:rPr lang="fr-FR" sz="1600" dirty="0" err="1"/>
              <a:t>explained</a:t>
            </a:r>
            <a:r>
              <a:rPr lang="fr-FR" sz="1600" dirty="0"/>
              <a:t> by variables of the </a:t>
            </a:r>
            <a:r>
              <a:rPr lang="fr-FR" sz="1600" dirty="0" err="1"/>
              <a:t>Humans</a:t>
            </a:r>
            <a:r>
              <a:rPr lang="fr-FR" sz="1600" dirty="0"/>
              <a:t> block</a:t>
            </a:r>
            <a:br>
              <a:rPr lang="fr-FR" sz="1600" dirty="0"/>
            </a:b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FQ </a:t>
            </a:r>
            <a:r>
              <a:rPr lang="fr-FR" sz="1600" dirty="0" err="1"/>
              <a:t>resistance</a:t>
            </a:r>
            <a:r>
              <a:rPr lang="fr-FR" sz="1600" dirty="0"/>
              <a:t> in pets </a:t>
            </a:r>
            <a:r>
              <a:rPr lang="fr-FR" sz="1600" dirty="0" err="1"/>
              <a:t>is</a:t>
            </a:r>
            <a:r>
              <a:rPr lang="fr-FR" sz="1600" dirty="0"/>
              <a:t> </a:t>
            </a:r>
            <a:r>
              <a:rPr lang="fr-FR" sz="1600" dirty="0" err="1"/>
              <a:t>also</a:t>
            </a:r>
            <a:r>
              <a:rPr lang="fr-FR" sz="1600" dirty="0"/>
              <a:t> </a:t>
            </a:r>
            <a:r>
              <a:rPr lang="fr-FR" sz="1600" dirty="0" err="1"/>
              <a:t>chracterized</a:t>
            </a:r>
            <a:r>
              <a:rPr lang="fr-FR" sz="1600" dirty="0"/>
              <a:t> by a lot of </a:t>
            </a:r>
            <a:r>
              <a:rPr lang="fr-FR" sz="1600" dirty="0" err="1"/>
              <a:t>doctors</a:t>
            </a:r>
            <a:r>
              <a:rPr lang="fr-FR" sz="1600" dirty="0"/>
              <a:t> per population (</a:t>
            </a:r>
            <a:r>
              <a:rPr lang="fr-FR" sz="1600" dirty="0" err="1"/>
              <a:t>surprisingly</a:t>
            </a:r>
            <a:r>
              <a:rPr lang="fr-FR" sz="1600" dirty="0"/>
              <a:t> not </a:t>
            </a:r>
            <a:r>
              <a:rPr lang="fr-FR" sz="1600" dirty="0" err="1"/>
              <a:t>vet</a:t>
            </a:r>
            <a:r>
              <a:rPr lang="fr-FR" sz="1600" dirty="0"/>
              <a:t>) and </a:t>
            </a:r>
            <a:r>
              <a:rPr lang="fr-FR" sz="1600" dirty="0" err="1"/>
              <a:t>low</a:t>
            </a:r>
            <a:r>
              <a:rPr lang="fr-FR" sz="1600" dirty="0"/>
              <a:t> EQI. </a:t>
            </a:r>
          </a:p>
        </p:txBody>
      </p:sp>
    </p:spTree>
    <p:extLst>
      <p:ext uri="{BB962C8B-B14F-4D97-AF65-F5344CB8AC3E}">
        <p14:creationId xmlns:p14="http://schemas.microsoft.com/office/powerpoint/2010/main" val="2571842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385702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Conclusion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4E2E6DA-CA2F-425A-AEB1-C142A65F9518}"/>
              </a:ext>
            </a:extLst>
          </p:cNvPr>
          <p:cNvSpPr txBox="1"/>
          <p:nvPr/>
        </p:nvSpPr>
        <p:spPr>
          <a:xfrm>
            <a:off x="578841" y="1023457"/>
            <a:ext cx="10335236" cy="50783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 err="1"/>
              <a:t>fPCA</a:t>
            </a:r>
            <a:r>
              <a:rPr lang="fr-FR" dirty="0"/>
              <a:t> </a:t>
            </a:r>
            <a:r>
              <a:rPr lang="fr-FR" dirty="0" err="1"/>
              <a:t>allows</a:t>
            </a:r>
            <a:r>
              <a:rPr lang="fr-FR" dirty="0"/>
              <a:t> us to go </a:t>
            </a:r>
            <a:r>
              <a:rPr lang="fr-FR" dirty="0" err="1"/>
              <a:t>from</a:t>
            </a:r>
            <a:r>
              <a:rPr lang="fr-FR" dirty="0"/>
              <a:t> a </a:t>
            </a:r>
            <a:r>
              <a:rPr lang="fr-FR" dirty="0" err="1"/>
              <a:t>functional</a:t>
            </a:r>
            <a:r>
              <a:rPr lang="fr-FR" dirty="0"/>
              <a:t> variable to a principal component score, </a:t>
            </a:r>
            <a:r>
              <a:rPr lang="fr-FR" dirty="0" err="1"/>
              <a:t>which</a:t>
            </a:r>
            <a:r>
              <a:rPr lang="fr-FR" dirty="0"/>
              <a:t> permit us </a:t>
            </a:r>
            <a:r>
              <a:rPr lang="fr-FR" b="1" dirty="0"/>
              <a:t>to </a:t>
            </a:r>
            <a:r>
              <a:rPr lang="fr-FR" b="1" dirty="0" err="1"/>
              <a:t>summarize</a:t>
            </a:r>
            <a:r>
              <a:rPr lang="fr-FR" b="1" dirty="0"/>
              <a:t> the temporal dimension of a variable and to </a:t>
            </a:r>
            <a:r>
              <a:rPr lang="fr-FR" b="1" dirty="0" err="1"/>
              <a:t>obtain</a:t>
            </a:r>
            <a:r>
              <a:rPr lang="fr-FR" b="1" dirty="0"/>
              <a:t> </a:t>
            </a:r>
            <a:r>
              <a:rPr lang="fr-FR" b="1" dirty="0" err="1"/>
              <a:t>independent</a:t>
            </a:r>
            <a:r>
              <a:rPr lang="fr-FR" b="1" dirty="0"/>
              <a:t> observations.</a:t>
            </a:r>
            <a:br>
              <a:rPr lang="fr-FR" b="1" dirty="0"/>
            </a:br>
            <a:endParaRPr 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 err="1"/>
              <a:t>Then</a:t>
            </a:r>
            <a:r>
              <a:rPr lang="fr-FR" b="1" dirty="0"/>
              <a:t> the use of GSCA </a:t>
            </a:r>
            <a:r>
              <a:rPr lang="fr-FR" b="1" dirty="0" err="1"/>
              <a:t>permits</a:t>
            </a:r>
            <a:r>
              <a:rPr lang="fr-FR" b="1" dirty="0"/>
              <a:t> us to explore </a:t>
            </a:r>
            <a:r>
              <a:rPr lang="fr-FR" b="1" dirty="0" err="1"/>
              <a:t>relational</a:t>
            </a:r>
            <a:r>
              <a:rPr lang="fr-FR" b="1" dirty="0"/>
              <a:t> links </a:t>
            </a:r>
            <a:r>
              <a:rPr lang="fr-FR" b="1" dirty="0" err="1"/>
              <a:t>between</a:t>
            </a:r>
            <a:r>
              <a:rPr lang="fr-FR" b="1" dirty="0"/>
              <a:t> blocks and to </a:t>
            </a:r>
            <a:r>
              <a:rPr lang="fr-FR" b="1" dirty="0" err="1"/>
              <a:t>consider</a:t>
            </a:r>
            <a:r>
              <a:rPr lang="fr-FR" b="1" dirty="0"/>
              <a:t> </a:t>
            </a:r>
            <a:r>
              <a:rPr lang="fr-FR" b="1" dirty="0" err="1"/>
              <a:t>several</a:t>
            </a:r>
            <a:r>
              <a:rPr lang="fr-FR" b="1" dirty="0"/>
              <a:t> </a:t>
            </a:r>
            <a:r>
              <a:rPr lang="fr-FR" b="1" dirty="0" err="1"/>
              <a:t>statistical</a:t>
            </a:r>
            <a:r>
              <a:rPr lang="fr-FR" b="1" dirty="0"/>
              <a:t> </a:t>
            </a:r>
            <a:r>
              <a:rPr lang="fr-FR" b="1" dirty="0" err="1"/>
              <a:t>models</a:t>
            </a:r>
            <a:r>
              <a:rPr lang="fr-FR" dirty="0"/>
              <a:t>: a main one (</a:t>
            </a:r>
            <a:r>
              <a:rPr lang="fr-FR" dirty="0" err="1"/>
              <a:t>with</a:t>
            </a:r>
            <a:r>
              <a:rPr lang="fr-FR" dirty="0"/>
              <a:t> Y = </a:t>
            </a:r>
            <a:r>
              <a:rPr lang="fr-FR" dirty="0" err="1"/>
              <a:t>AMR_ville_FQ_R</a:t>
            </a:r>
            <a:r>
              <a:rPr lang="fr-FR" dirty="0"/>
              <a:t> as </a:t>
            </a:r>
            <a:r>
              <a:rPr lang="fr-FR" dirty="0" err="1"/>
              <a:t>response</a:t>
            </a:r>
            <a:r>
              <a:rPr lang="fr-FR" dirty="0"/>
              <a:t> variable) and </a:t>
            </a:r>
            <a:r>
              <a:rPr lang="fr-FR" dirty="0" err="1"/>
              <a:t>submodels</a:t>
            </a:r>
            <a:r>
              <a:rPr lang="fr-FR" dirty="0"/>
              <a:t>. </a:t>
            </a:r>
            <a:r>
              <a:rPr lang="fr-FR" dirty="0" err="1"/>
              <a:t>It’s</a:t>
            </a:r>
            <a:r>
              <a:rPr lang="fr-FR" dirty="0"/>
              <a:t> </a:t>
            </a:r>
            <a:r>
              <a:rPr lang="fr-FR" dirty="0" err="1"/>
              <a:t>ideal</a:t>
            </a:r>
            <a:r>
              <a:rPr lang="fr-FR" dirty="0"/>
              <a:t> for </a:t>
            </a:r>
            <a:r>
              <a:rPr lang="fr-FR" dirty="0" err="1"/>
              <a:t>taking</a:t>
            </a:r>
            <a:r>
              <a:rPr lang="fr-FR" dirty="0"/>
              <a:t>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account</a:t>
            </a:r>
            <a:r>
              <a:rPr lang="fr-FR" dirty="0"/>
              <a:t> the One </a:t>
            </a:r>
            <a:r>
              <a:rPr lang="fr-FR" dirty="0" err="1"/>
              <a:t>Health</a:t>
            </a:r>
            <a:r>
              <a:rPr lang="fr-FR" dirty="0"/>
              <a:t> dimension of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problem</a:t>
            </a:r>
            <a:r>
              <a:rPr lang="fr-FR" dirty="0"/>
              <a:t>.</a:t>
            </a:r>
            <a:br>
              <a:rPr lang="fr-FR" dirty="0"/>
            </a:b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The </a:t>
            </a:r>
            <a:r>
              <a:rPr lang="fr-FR" dirty="0" err="1"/>
              <a:t>resistance</a:t>
            </a:r>
            <a:r>
              <a:rPr lang="fr-FR" dirty="0"/>
              <a:t> of Fluoroquinolone in </a:t>
            </a:r>
            <a:r>
              <a:rPr lang="fr-FR" dirty="0" err="1"/>
              <a:t>primary</a:t>
            </a:r>
            <a:r>
              <a:rPr lang="fr-FR" dirty="0"/>
              <a:t> care setting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surprisingly</a:t>
            </a:r>
            <a:r>
              <a:rPr lang="fr-FR" dirty="0"/>
              <a:t> </a:t>
            </a:r>
            <a:r>
              <a:rPr lang="fr-FR" dirty="0" err="1"/>
              <a:t>mainly</a:t>
            </a:r>
            <a:r>
              <a:rPr lang="fr-FR" dirty="0"/>
              <a:t> </a:t>
            </a:r>
            <a:r>
              <a:rPr lang="fr-FR" dirty="0" err="1"/>
              <a:t>explained</a:t>
            </a:r>
            <a:r>
              <a:rPr lang="fr-FR" dirty="0"/>
              <a:t> by the </a:t>
            </a:r>
            <a:r>
              <a:rPr lang="fr-FR" dirty="0" err="1"/>
              <a:t>humans</a:t>
            </a:r>
            <a:r>
              <a:rPr lang="fr-FR" dirty="0"/>
              <a:t> block more </a:t>
            </a:r>
            <a:r>
              <a:rPr lang="fr-FR" dirty="0" err="1"/>
              <a:t>than</a:t>
            </a:r>
            <a:r>
              <a:rPr lang="fr-FR" dirty="0"/>
              <a:t> the </a:t>
            </a:r>
            <a:r>
              <a:rPr lang="fr-FR" dirty="0" err="1"/>
              <a:t>animicrobial</a:t>
            </a:r>
            <a:r>
              <a:rPr lang="fr-FR" dirty="0"/>
              <a:t> </a:t>
            </a:r>
            <a:r>
              <a:rPr lang="fr-FR" dirty="0" err="1"/>
              <a:t>consumption</a:t>
            </a:r>
            <a:r>
              <a:rPr lang="fr-FR" dirty="0"/>
              <a:t> of Fluoroquinolone. </a:t>
            </a:r>
            <a:r>
              <a:rPr lang="fr-FR" b="1" dirty="0"/>
              <a:t>Indeed, a </a:t>
            </a:r>
            <a:r>
              <a:rPr lang="fr-FR" b="1" dirty="0" err="1"/>
              <a:t>low</a:t>
            </a:r>
            <a:r>
              <a:rPr lang="fr-FR" b="1" dirty="0"/>
              <a:t> EQI, and a high </a:t>
            </a:r>
            <a:r>
              <a:rPr lang="fr-FR" b="1" dirty="0" err="1"/>
              <a:t>level</a:t>
            </a:r>
            <a:r>
              <a:rPr lang="fr-FR" b="1" dirty="0"/>
              <a:t> of </a:t>
            </a:r>
            <a:r>
              <a:rPr lang="fr-FR" b="1" dirty="0" err="1"/>
              <a:t>doctors</a:t>
            </a:r>
            <a:r>
              <a:rPr lang="fr-FR" b="1" dirty="0"/>
              <a:t> per population </a:t>
            </a:r>
            <a:r>
              <a:rPr lang="fr-FR" b="1" dirty="0" err="1"/>
              <a:t>is</a:t>
            </a:r>
            <a:r>
              <a:rPr lang="fr-FR" b="1" dirty="0"/>
              <a:t> </a:t>
            </a:r>
            <a:r>
              <a:rPr lang="fr-FR" b="1" dirty="0" err="1"/>
              <a:t>associated</a:t>
            </a:r>
            <a:r>
              <a:rPr lang="fr-FR" b="1" dirty="0"/>
              <a:t> </a:t>
            </a:r>
            <a:r>
              <a:rPr lang="fr-FR" b="1" dirty="0" err="1"/>
              <a:t>with</a:t>
            </a:r>
            <a:r>
              <a:rPr lang="fr-FR" b="1" dirty="0"/>
              <a:t> a high </a:t>
            </a:r>
            <a:r>
              <a:rPr lang="fr-FR" b="1" dirty="0" err="1"/>
              <a:t>level</a:t>
            </a:r>
            <a:r>
              <a:rPr lang="fr-FR" b="1" dirty="0"/>
              <a:t> of fluoroquinolone </a:t>
            </a:r>
            <a:r>
              <a:rPr lang="fr-FR" b="1" dirty="0" err="1"/>
              <a:t>resistance</a:t>
            </a:r>
            <a:r>
              <a:rPr lang="fr-FR" b="1" dirty="0"/>
              <a:t> at the </a:t>
            </a:r>
            <a:r>
              <a:rPr lang="fr-FR" b="1" dirty="0" err="1"/>
              <a:t>regional</a:t>
            </a:r>
            <a:r>
              <a:rPr lang="fr-FR" b="1" dirty="0"/>
              <a:t> </a:t>
            </a:r>
            <a:r>
              <a:rPr lang="fr-FR" b="1" dirty="0" err="1"/>
              <a:t>scale</a:t>
            </a:r>
            <a:r>
              <a:rPr lang="fr-FR" b="1" dirty="0"/>
              <a:t>.</a:t>
            </a:r>
            <a:br>
              <a:rPr lang="fr-FR" b="1" dirty="0"/>
            </a:br>
            <a:endParaRPr 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 </a:t>
            </a:r>
            <a:r>
              <a:rPr lang="fr-FR" dirty="0" err="1"/>
              <a:t>Environment</a:t>
            </a:r>
            <a:r>
              <a:rPr lang="fr-FR" dirty="0"/>
              <a:t> block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characterized</a:t>
            </a:r>
            <a:r>
              <a:rPr lang="fr-FR" dirty="0"/>
              <a:t> by pollution, Animals block </a:t>
            </a:r>
            <a:r>
              <a:rPr lang="fr-FR" dirty="0" err="1"/>
              <a:t>mainly</a:t>
            </a:r>
            <a:r>
              <a:rPr lang="fr-FR" dirty="0"/>
              <a:t> by </a:t>
            </a:r>
            <a:r>
              <a:rPr lang="fr-FR" dirty="0" err="1"/>
              <a:t>livestock</a:t>
            </a:r>
            <a:r>
              <a:rPr lang="fr-FR" dirty="0"/>
              <a:t> </a:t>
            </a:r>
            <a:r>
              <a:rPr lang="fr-FR" dirty="0" err="1"/>
              <a:t>density</a:t>
            </a:r>
            <a:r>
              <a:rPr lang="fr-FR" dirty="0"/>
              <a:t>. </a:t>
            </a:r>
            <a:r>
              <a:rPr lang="fr-FR" b="1" dirty="0"/>
              <a:t>The </a:t>
            </a:r>
            <a:r>
              <a:rPr lang="fr-FR" b="1" dirty="0" err="1"/>
              <a:t>common</a:t>
            </a:r>
            <a:r>
              <a:rPr lang="fr-FR" b="1" dirty="0"/>
              <a:t> point of the </a:t>
            </a:r>
            <a:r>
              <a:rPr lang="fr-FR" b="1" dirty="0" err="1"/>
              <a:t>three</a:t>
            </a:r>
            <a:r>
              <a:rPr lang="fr-FR" b="1" dirty="0"/>
              <a:t> One </a:t>
            </a:r>
            <a:r>
              <a:rPr lang="fr-FR" b="1" dirty="0" err="1"/>
              <a:t>Health</a:t>
            </a:r>
            <a:r>
              <a:rPr lang="fr-FR" b="1" dirty="0"/>
              <a:t> blocks </a:t>
            </a:r>
            <a:r>
              <a:rPr lang="fr-FR" b="1" dirty="0" err="1"/>
              <a:t>is</a:t>
            </a:r>
            <a:r>
              <a:rPr lang="fr-FR" b="1" dirty="0"/>
              <a:t> the </a:t>
            </a:r>
            <a:r>
              <a:rPr lang="fr-FR" b="1" dirty="0" err="1"/>
              <a:t>urban</a:t>
            </a:r>
            <a:r>
              <a:rPr lang="fr-FR" b="1" dirty="0"/>
              <a:t>/rural </a:t>
            </a:r>
            <a:r>
              <a:rPr lang="fr-FR" b="1" dirty="0" err="1"/>
              <a:t>characteristic</a:t>
            </a:r>
            <a:r>
              <a:rPr lang="fr-FR" b="1" dirty="0"/>
              <a:t> of the </a:t>
            </a:r>
            <a:r>
              <a:rPr lang="fr-FR" b="1" dirty="0" err="1"/>
              <a:t>region</a:t>
            </a:r>
            <a:r>
              <a:rPr lang="fr-FR" b="1" dirty="0"/>
              <a:t>.</a:t>
            </a:r>
            <a:r>
              <a:rPr lang="fr-FR" dirty="0"/>
              <a:t>  There are more </a:t>
            </a:r>
            <a:r>
              <a:rPr lang="fr-FR" dirty="0" err="1"/>
              <a:t>resistance</a:t>
            </a:r>
            <a:r>
              <a:rPr lang="fr-FR" dirty="0"/>
              <a:t> in </a:t>
            </a:r>
            <a:r>
              <a:rPr lang="fr-FR" dirty="0" err="1"/>
              <a:t>urban</a:t>
            </a:r>
            <a:r>
              <a:rPr lang="fr-FR" dirty="0"/>
              <a:t> </a:t>
            </a:r>
            <a:r>
              <a:rPr lang="fr-FR" dirty="0" err="1"/>
              <a:t>regions</a:t>
            </a:r>
            <a:r>
              <a:rPr lang="fr-F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8515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Limits and perspective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4E2E6DA-CA2F-425A-AEB1-C142A65F9518}"/>
              </a:ext>
            </a:extLst>
          </p:cNvPr>
          <p:cNvSpPr txBox="1"/>
          <p:nvPr/>
        </p:nvSpPr>
        <p:spPr>
          <a:xfrm>
            <a:off x="629175" y="1351508"/>
            <a:ext cx="10335236" cy="41549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The </a:t>
            </a:r>
            <a:r>
              <a:rPr lang="fr-FR" b="1" dirty="0" err="1"/>
              <a:t>sample</a:t>
            </a:r>
            <a:r>
              <a:rPr lang="fr-FR" b="1" dirty="0"/>
              <a:t> size </a:t>
            </a:r>
            <a:r>
              <a:rPr lang="fr-FR" b="1" dirty="0" err="1"/>
              <a:t>is</a:t>
            </a:r>
            <a:r>
              <a:rPr lang="fr-FR" b="1" dirty="0"/>
              <a:t> </a:t>
            </a:r>
            <a:r>
              <a:rPr lang="fr-FR" b="1" dirty="0" err="1"/>
              <a:t>low</a:t>
            </a:r>
            <a:r>
              <a:rPr lang="fr-FR" b="1" dirty="0"/>
              <a:t> (n=12 </a:t>
            </a:r>
            <a:r>
              <a:rPr lang="fr-FR" b="1" dirty="0" err="1"/>
              <a:t>regions</a:t>
            </a:r>
            <a:r>
              <a:rPr lang="fr-FR" b="1" dirty="0"/>
              <a:t>)</a:t>
            </a:r>
            <a:r>
              <a:rPr lang="fr-FR" dirty="0"/>
              <a:t>. This </a:t>
            </a:r>
            <a:r>
              <a:rPr lang="fr-FR" dirty="0" err="1"/>
              <a:t>is</a:t>
            </a:r>
            <a:r>
              <a:rPr lang="fr-FR" dirty="0"/>
              <a:t> the main </a:t>
            </a:r>
            <a:r>
              <a:rPr lang="fr-FR" dirty="0" err="1"/>
              <a:t>limit</a:t>
            </a:r>
            <a:r>
              <a:rPr lang="fr-FR" dirty="0"/>
              <a:t> </a:t>
            </a:r>
            <a:r>
              <a:rPr lang="fr-FR" dirty="0" err="1"/>
              <a:t>because</a:t>
            </a:r>
            <a:r>
              <a:rPr lang="fr-FR" dirty="0"/>
              <a:t> a </a:t>
            </a:r>
            <a:r>
              <a:rPr lang="fr-FR" dirty="0" err="1"/>
              <a:t>consequence</a:t>
            </a:r>
            <a:r>
              <a:rPr lang="fr-FR" dirty="0"/>
              <a:t> of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the estimation of model </a:t>
            </a:r>
            <a:r>
              <a:rPr lang="fr-FR" dirty="0" err="1"/>
              <a:t>parameters</a:t>
            </a:r>
            <a:r>
              <a:rPr lang="fr-FR" dirty="0"/>
              <a:t> are not stable. An </a:t>
            </a:r>
            <a:r>
              <a:rPr lang="fr-FR" dirty="0" err="1"/>
              <a:t>idea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to </a:t>
            </a:r>
            <a:r>
              <a:rPr lang="fr-FR" dirty="0" err="1"/>
              <a:t>work</a:t>
            </a:r>
            <a:r>
              <a:rPr lang="fr-FR" dirty="0"/>
              <a:t> at the </a:t>
            </a:r>
            <a:r>
              <a:rPr lang="fr-FR" dirty="0" err="1"/>
              <a:t>departmental</a:t>
            </a:r>
            <a:r>
              <a:rPr lang="fr-FR" dirty="0"/>
              <a:t> </a:t>
            </a:r>
            <a:r>
              <a:rPr lang="fr-FR" dirty="0" err="1"/>
              <a:t>scale</a:t>
            </a:r>
            <a:r>
              <a:rPr lang="fr-FR" dirty="0"/>
              <a:t> </a:t>
            </a:r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regional</a:t>
            </a:r>
            <a:r>
              <a:rPr lang="fr-FR" dirty="0"/>
              <a:t> </a:t>
            </a:r>
            <a:r>
              <a:rPr lang="fr-FR" dirty="0" err="1"/>
              <a:t>scale</a:t>
            </a:r>
            <a:r>
              <a:rPr lang="fr-FR" dirty="0"/>
              <a:t> but </a:t>
            </a:r>
            <a:r>
              <a:rPr lang="fr-FR" dirty="0" err="1"/>
              <a:t>it’s</a:t>
            </a:r>
            <a:r>
              <a:rPr lang="fr-FR" dirty="0"/>
              <a:t> </a:t>
            </a:r>
            <a:r>
              <a:rPr lang="fr-FR" dirty="0" err="1"/>
              <a:t>difficult</a:t>
            </a:r>
            <a:r>
              <a:rPr lang="fr-FR" dirty="0"/>
              <a:t> </a:t>
            </a:r>
            <a:r>
              <a:rPr lang="fr-FR" dirty="0" err="1"/>
              <a:t>because</a:t>
            </a:r>
            <a:r>
              <a:rPr lang="fr-FR" dirty="0"/>
              <a:t>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no </a:t>
            </a:r>
            <a:r>
              <a:rPr lang="fr-FR" dirty="0" err="1"/>
              <a:t>enough</a:t>
            </a:r>
            <a:r>
              <a:rPr lang="fr-FR" dirty="0"/>
              <a:t> data of AMC and AMR at </a:t>
            </a:r>
            <a:r>
              <a:rPr lang="fr-FR" dirty="0" err="1"/>
              <a:t>departmental</a:t>
            </a:r>
            <a:r>
              <a:rPr lang="fr-FR" dirty="0"/>
              <a:t> </a:t>
            </a:r>
            <a:r>
              <a:rPr lang="fr-FR" dirty="0" err="1"/>
              <a:t>scale</a:t>
            </a:r>
            <a:r>
              <a:rPr lang="fr-FR" dirty="0"/>
              <a:t>.</a:t>
            </a:r>
            <a:br>
              <a:rPr lang="fr-FR" dirty="0"/>
            </a:b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summarized</a:t>
            </a:r>
            <a:r>
              <a:rPr lang="fr-FR" dirty="0"/>
              <a:t> </a:t>
            </a:r>
            <a:r>
              <a:rPr lang="fr-FR" dirty="0" err="1"/>
              <a:t>functional</a:t>
            </a:r>
            <a:r>
              <a:rPr lang="fr-FR" dirty="0"/>
              <a:t> variables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b="1" dirty="0" err="1"/>
              <a:t>only</a:t>
            </a:r>
            <a:r>
              <a:rPr lang="fr-FR" b="1" dirty="0"/>
              <a:t> one principal component score</a:t>
            </a:r>
            <a:r>
              <a:rPr lang="fr-FR" dirty="0"/>
              <a:t>. </a:t>
            </a:r>
            <a:r>
              <a:rPr lang="fr-FR" dirty="0" err="1"/>
              <a:t>Generally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fPC1 </a:t>
            </a:r>
            <a:r>
              <a:rPr lang="fr-FR" dirty="0" err="1"/>
              <a:t>summarizes</a:t>
            </a:r>
            <a:r>
              <a:rPr lang="fr-FR" dirty="0"/>
              <a:t> </a:t>
            </a:r>
            <a:r>
              <a:rPr lang="fr-FR" dirty="0" err="1"/>
              <a:t>mean</a:t>
            </a:r>
            <a:r>
              <a:rPr lang="fr-FR" dirty="0"/>
              <a:t> </a:t>
            </a:r>
            <a:r>
              <a:rPr lang="fr-FR" dirty="0" err="1"/>
              <a:t>differences</a:t>
            </a:r>
            <a:r>
              <a:rPr lang="fr-FR" dirty="0"/>
              <a:t> over the time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regions</a:t>
            </a:r>
            <a:r>
              <a:rPr lang="fr-FR" dirty="0"/>
              <a:t> but not </a:t>
            </a:r>
            <a:r>
              <a:rPr lang="fr-FR" dirty="0" err="1"/>
              <a:t>some</a:t>
            </a:r>
            <a:r>
              <a:rPr lang="fr-FR" dirty="0"/>
              <a:t> noises at </a:t>
            </a: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years</a:t>
            </a:r>
            <a:r>
              <a:rPr lang="fr-FR" dirty="0"/>
              <a:t>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interesting</a:t>
            </a:r>
            <a:r>
              <a:rPr lang="fr-FR" dirty="0"/>
              <a:t> to </a:t>
            </a:r>
            <a:r>
              <a:rPr lang="fr-FR" dirty="0" err="1"/>
              <a:t>consider</a:t>
            </a:r>
            <a:r>
              <a:rPr lang="fr-FR" dirty="0"/>
              <a:t> in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analysis</a:t>
            </a:r>
            <a:r>
              <a:rPr lang="fr-FR" dirty="0"/>
              <a:t>. </a:t>
            </a:r>
            <a:r>
              <a:rPr lang="fr-FR" b="1" dirty="0"/>
              <a:t>A perspective </a:t>
            </a:r>
            <a:r>
              <a:rPr lang="fr-FR" b="1" dirty="0" err="1"/>
              <a:t>could</a:t>
            </a:r>
            <a:r>
              <a:rPr lang="fr-FR" b="1" dirty="0"/>
              <a:t> </a:t>
            </a:r>
            <a:r>
              <a:rPr lang="fr-FR" b="1" dirty="0" err="1"/>
              <a:t>be</a:t>
            </a:r>
            <a:r>
              <a:rPr lang="fr-FR" b="1" dirty="0"/>
              <a:t> to use </a:t>
            </a:r>
            <a:r>
              <a:rPr lang="fr-FR" b="1" dirty="0" err="1"/>
              <a:t>Three-way</a:t>
            </a:r>
            <a:r>
              <a:rPr lang="fr-FR" b="1" dirty="0"/>
              <a:t> GSCA</a:t>
            </a:r>
            <a:r>
              <a:rPr lang="fr-FR" b="1" baseline="30000" dirty="0"/>
              <a:t>5</a:t>
            </a:r>
            <a:r>
              <a:rPr lang="fr-FR" b="1" dirty="0"/>
              <a:t> </a:t>
            </a:r>
            <a:r>
              <a:rPr lang="fr-FR" b="1" dirty="0" err="1"/>
              <a:t>with</a:t>
            </a:r>
            <a:r>
              <a:rPr lang="fr-FR" b="1" dirty="0"/>
              <a:t> more </a:t>
            </a:r>
            <a:r>
              <a:rPr lang="fr-FR" b="1" dirty="0" err="1"/>
              <a:t>than</a:t>
            </a:r>
            <a:r>
              <a:rPr lang="fr-FR" b="1" dirty="0"/>
              <a:t> one principal component.</a:t>
            </a:r>
            <a:br>
              <a:rPr lang="fr-FR" dirty="0"/>
            </a:br>
            <a:endParaRPr lang="fr-FR" baseline="30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/>
              <a:t>The final goal of </a:t>
            </a:r>
            <a:r>
              <a:rPr lang="fr-FR" b="1" dirty="0" err="1"/>
              <a:t>our</a:t>
            </a:r>
            <a:r>
              <a:rPr lang="fr-FR" b="1" dirty="0"/>
              <a:t> </a:t>
            </a:r>
            <a:r>
              <a:rPr lang="fr-FR" b="1" dirty="0" err="1"/>
              <a:t>work</a:t>
            </a:r>
            <a:r>
              <a:rPr lang="fr-FR" b="1" dirty="0"/>
              <a:t> </a:t>
            </a:r>
            <a:r>
              <a:rPr lang="fr-FR" b="1" dirty="0" err="1"/>
              <a:t>would</a:t>
            </a:r>
            <a:r>
              <a:rPr lang="fr-FR" b="1" dirty="0"/>
              <a:t> </a:t>
            </a:r>
            <a:r>
              <a:rPr lang="fr-FR" b="1" dirty="0" err="1"/>
              <a:t>be</a:t>
            </a:r>
            <a:r>
              <a:rPr lang="fr-FR" b="1" dirty="0"/>
              <a:t> to </a:t>
            </a:r>
            <a:r>
              <a:rPr lang="fr-FR" b="1" dirty="0" err="1"/>
              <a:t>perform</a:t>
            </a:r>
            <a:r>
              <a:rPr lang="fr-FR" b="1" dirty="0"/>
              <a:t> </a:t>
            </a:r>
            <a:r>
              <a:rPr lang="fr-FR" b="1" dirty="0" err="1"/>
              <a:t>functional</a:t>
            </a:r>
            <a:r>
              <a:rPr lang="fr-FR" b="1" dirty="0"/>
              <a:t> GSCA</a:t>
            </a:r>
            <a:r>
              <a:rPr lang="fr-FR" b="1" baseline="30000" dirty="0"/>
              <a:t>6</a:t>
            </a:r>
            <a:r>
              <a:rPr lang="fr-FR" b="1" dirty="0"/>
              <a:t> </a:t>
            </a:r>
            <a:r>
              <a:rPr lang="fr-FR" b="1" dirty="0" err="1"/>
              <a:t>directly</a:t>
            </a:r>
            <a:r>
              <a:rPr lang="fr-FR" b="1" dirty="0"/>
              <a:t> to </a:t>
            </a:r>
            <a:r>
              <a:rPr lang="fr-FR" b="1" dirty="0" err="1"/>
              <a:t>functionnal</a:t>
            </a:r>
            <a:r>
              <a:rPr lang="fr-FR" b="1" dirty="0"/>
              <a:t> variable</a:t>
            </a:r>
            <a:r>
              <a:rPr lang="fr-FR" dirty="0"/>
              <a:t>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doing</a:t>
            </a:r>
            <a:r>
              <a:rPr lang="fr-FR" dirty="0"/>
              <a:t> </a:t>
            </a:r>
            <a:r>
              <a:rPr lang="fr-FR" dirty="0" err="1"/>
              <a:t>any</a:t>
            </a:r>
            <a:r>
              <a:rPr lang="fr-FR" dirty="0"/>
              <a:t> </a:t>
            </a:r>
            <a:r>
              <a:rPr lang="fr-FR" dirty="0" err="1"/>
              <a:t>fPCA</a:t>
            </a:r>
            <a:r>
              <a:rPr lang="fr-FR" dirty="0"/>
              <a:t>.</a:t>
            </a:r>
            <a:br>
              <a:rPr lang="fr-FR" dirty="0"/>
            </a:b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The relations </a:t>
            </a:r>
            <a:r>
              <a:rPr lang="fr-FR" dirty="0" err="1"/>
              <a:t>observed</a:t>
            </a:r>
            <a:r>
              <a:rPr lang="fr-FR" dirty="0"/>
              <a:t> are </a:t>
            </a:r>
            <a:r>
              <a:rPr lang="fr-FR" dirty="0" err="1"/>
              <a:t>interesting</a:t>
            </a:r>
            <a:r>
              <a:rPr lang="fr-FR" dirty="0"/>
              <a:t> but </a:t>
            </a:r>
            <a:r>
              <a:rPr lang="fr-FR" b="1" dirty="0" err="1"/>
              <a:t>should</a:t>
            </a:r>
            <a:r>
              <a:rPr lang="fr-FR" b="1" dirty="0"/>
              <a:t> </a:t>
            </a:r>
            <a:r>
              <a:rPr lang="fr-FR" b="1" dirty="0" err="1"/>
              <a:t>be</a:t>
            </a:r>
            <a:r>
              <a:rPr lang="fr-FR" b="1" dirty="0"/>
              <a:t> </a:t>
            </a:r>
            <a:r>
              <a:rPr lang="fr-FR" b="1" dirty="0" err="1"/>
              <a:t>consider</a:t>
            </a:r>
            <a:r>
              <a:rPr lang="fr-FR" b="1" dirty="0"/>
              <a:t> </a:t>
            </a:r>
            <a:r>
              <a:rPr lang="fr-FR" b="1" dirty="0" err="1"/>
              <a:t>regarding</a:t>
            </a:r>
            <a:r>
              <a:rPr lang="fr-FR" b="1" dirty="0"/>
              <a:t> </a:t>
            </a:r>
            <a:r>
              <a:rPr lang="fr-FR" b="1" dirty="0" err="1"/>
              <a:t>their</a:t>
            </a:r>
            <a:r>
              <a:rPr lang="fr-FR" b="1" dirty="0"/>
              <a:t> </a:t>
            </a:r>
            <a:r>
              <a:rPr lang="fr-FR" b="1" dirty="0" err="1"/>
              <a:t>correlation</a:t>
            </a:r>
            <a:r>
              <a:rPr lang="fr-FR" b="1" dirty="0"/>
              <a:t> </a:t>
            </a:r>
            <a:r>
              <a:rPr lang="fr-FR" b="1" dirty="0" err="1"/>
              <a:t>with</a:t>
            </a:r>
            <a:r>
              <a:rPr lang="fr-FR" b="1" dirty="0"/>
              <a:t> </a:t>
            </a:r>
            <a:r>
              <a:rPr lang="fr-FR" b="1" dirty="0" err="1"/>
              <a:t>other</a:t>
            </a:r>
            <a:r>
              <a:rPr lang="fr-FR" b="1" dirty="0"/>
              <a:t> variables</a:t>
            </a:r>
            <a:r>
              <a:rPr lang="fr-FR" dirty="0"/>
              <a:t> not </a:t>
            </a:r>
            <a:r>
              <a:rPr lang="fr-FR" dirty="0" err="1"/>
              <a:t>selected</a:t>
            </a:r>
            <a:r>
              <a:rPr lang="fr-FR" dirty="0"/>
              <a:t> by the clustering of variables </a:t>
            </a:r>
            <a:r>
              <a:rPr lang="fr-FR" dirty="0" err="1"/>
              <a:t>method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57263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References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BAB974-85B4-471C-A7CB-82CA9FB46432}"/>
              </a:ext>
            </a:extLst>
          </p:cNvPr>
          <p:cNvSpPr txBox="1"/>
          <p:nvPr/>
        </p:nvSpPr>
        <p:spPr>
          <a:xfrm>
            <a:off x="465667" y="1083733"/>
            <a:ext cx="1080346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Ramsey, J. O. and Silverman, B. W. (2005).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Functional Data Analysis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Chapter 8.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Vigneau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Qannari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M. (2003).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Clustering of Variables Around Latent Components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 Communications in Statistics - Simulation and Computation, 32(4), 1131–1150.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Hwang H.,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Takane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Y. (2004).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Generalized Structured Component Analysis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fr-FR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Psychometrika</a:t>
            </a:r>
            <a:r>
              <a:rPr lang="fr-FR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Vol.69, No. 1, 81–99.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Bougeard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S., Hanafi M. (2023).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Prediction model for multiblock data with or without intermediate blocks. Estimation by PLS Path Modeling.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Choi J. Y., Hwang H. (2018).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Three-Way Generalized Structured Component Analysis.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Suk H. W., Hwang H. (2016).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 Generalized Structured Component Analysis.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Psychometrika </a:t>
            </a:r>
            <a:endParaRPr lang="en-US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438227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PÉRATEURS">
  <a:themeElements>
    <a:clrScheme name="ANSES">
      <a:dk1>
        <a:srgbClr val="000000"/>
      </a:dk1>
      <a:lt1>
        <a:srgbClr val="FFFFFF"/>
      </a:lt1>
      <a:dk2>
        <a:srgbClr val="FF9940"/>
      </a:dk2>
      <a:lt2>
        <a:srgbClr val="5770BE"/>
      </a:lt2>
      <a:accent1>
        <a:srgbClr val="FFE800"/>
      </a:accent1>
      <a:accent2>
        <a:srgbClr val="00AC8C"/>
      </a:accent2>
      <a:accent3>
        <a:srgbClr val="E1000F"/>
      </a:accent3>
      <a:accent4>
        <a:srgbClr val="FF9940"/>
      </a:accent4>
      <a:accent5>
        <a:srgbClr val="5770BE"/>
      </a:accent5>
      <a:accent6>
        <a:srgbClr val="FFE800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PÉRATEURS">
  <a:themeElements>
    <a:clrScheme name="ANSES">
      <a:dk1>
        <a:srgbClr val="000000"/>
      </a:dk1>
      <a:lt1>
        <a:srgbClr val="FFFFFF"/>
      </a:lt1>
      <a:dk2>
        <a:srgbClr val="FF9940"/>
      </a:dk2>
      <a:lt2>
        <a:srgbClr val="5770BE"/>
      </a:lt2>
      <a:accent1>
        <a:srgbClr val="FFE800"/>
      </a:accent1>
      <a:accent2>
        <a:srgbClr val="00AC8C"/>
      </a:accent2>
      <a:accent3>
        <a:srgbClr val="E1000F"/>
      </a:accent3>
      <a:accent4>
        <a:srgbClr val="FF9940"/>
      </a:accent4>
      <a:accent5>
        <a:srgbClr val="5770BE"/>
      </a:accent5>
      <a:accent6>
        <a:srgbClr val="FFE800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2009</TotalTime>
  <Words>2988</Words>
  <Application>Microsoft Office PowerPoint</Application>
  <PresentationFormat>Grand écran</PresentationFormat>
  <Paragraphs>225</Paragraphs>
  <Slides>20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Gill Sans MT</vt:lpstr>
      <vt:lpstr>Marianne</vt:lpstr>
      <vt:lpstr>Thème Office</vt:lpstr>
      <vt:lpstr>1_OPÉRATEURS</vt:lpstr>
      <vt:lpstr>OPÉRATEURS</vt:lpstr>
      <vt:lpstr>Présentation PowerPoint</vt:lpstr>
      <vt:lpstr>Introduction</vt:lpstr>
      <vt:lpstr>Présentation PowerPoint</vt:lpstr>
      <vt:lpstr>Présentation PowerPoint</vt:lpstr>
      <vt:lpstr>Présentation PowerPoint</vt:lpstr>
      <vt:lpstr>Methods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Results</vt:lpstr>
      <vt:lpstr>Présentation PowerPoint</vt:lpstr>
      <vt:lpstr>Présentation PowerPoint</vt:lpstr>
      <vt:lpstr>Présentation PowerPoint</vt:lpstr>
      <vt:lpstr>Présentation PowerPoint</vt:lpstr>
      <vt:lpstr>Conclusion and perspectives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MARTET Gaspard</dc:creator>
  <cp:lastModifiedBy>MARTET Gaspard</cp:lastModifiedBy>
  <cp:revision>90</cp:revision>
  <dcterms:created xsi:type="dcterms:W3CDTF">2026-07-15T12:59:48Z</dcterms:created>
  <dcterms:modified xsi:type="dcterms:W3CDTF">2026-08-07T13:03:05Z</dcterms:modified>
</cp:coreProperties>
</file>