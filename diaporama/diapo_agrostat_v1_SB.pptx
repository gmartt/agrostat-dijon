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comments/comment4.xml" ContentType="application/vnd.openxmlformats-officedocument.presentationml.comments+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comments/comment6.xml" ContentType="application/vnd.openxmlformats-officedocument.presentationml.comments+xml"/>
  <Override PartName="/ppt/notesSlides/notesSlide7.xml" ContentType="application/vnd.openxmlformats-officedocument.presentationml.notesSlide+xml"/>
  <Override PartName="/ppt/comments/comment7.xml" ContentType="application/vnd.openxmlformats-officedocument.presentationml.comments+xml"/>
  <Override PartName="/ppt/notesSlides/notesSlide8.xml" ContentType="application/vnd.openxmlformats-officedocument.presentationml.notesSlide+xml"/>
  <Override PartName="/ppt/comments/comment8.xml" ContentType="application/vnd.openxmlformats-officedocument.presentationml.comments+xml"/>
  <Override PartName="/ppt/notesSlides/notesSlide9.xml" ContentType="application/vnd.openxmlformats-officedocument.presentationml.notesSlide+xml"/>
  <Override PartName="/ppt/comments/comment9.xml" ContentType="application/vnd.openxmlformats-officedocument.presentationml.comments+xml"/>
  <Override PartName="/ppt/notesSlides/notesSlide10.xml" ContentType="application/vnd.openxmlformats-officedocument.presentationml.notesSlide+xml"/>
  <Override PartName="/ppt/comments/comment10.xml" ContentType="application/vnd.openxmlformats-officedocument.presentationml.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11.xml" ContentType="application/vnd.openxmlformats-officedocument.presentationml.comments+xml"/>
  <Override PartName="/ppt/notesSlides/notesSlide13.xml" ContentType="application/vnd.openxmlformats-officedocument.presentationml.notesSlide+xml"/>
  <Override PartName="/ppt/comments/comment12.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4" r:id="rId1"/>
    <p:sldMasterId id="2147483776" r:id="rId2"/>
    <p:sldMasterId id="2147483794" r:id="rId3"/>
  </p:sldMasterIdLst>
  <p:notesMasterIdLst>
    <p:notesMasterId r:id="rId24"/>
  </p:notesMasterIdLst>
  <p:sldIdLst>
    <p:sldId id="256" r:id="rId4"/>
    <p:sldId id="281" r:id="rId5"/>
    <p:sldId id="302" r:id="rId6"/>
    <p:sldId id="303" r:id="rId7"/>
    <p:sldId id="306" r:id="rId8"/>
    <p:sldId id="305" r:id="rId9"/>
    <p:sldId id="304" r:id="rId10"/>
    <p:sldId id="311" r:id="rId11"/>
    <p:sldId id="312" r:id="rId12"/>
    <p:sldId id="313" r:id="rId13"/>
    <p:sldId id="314" r:id="rId14"/>
    <p:sldId id="307" r:id="rId15"/>
    <p:sldId id="316" r:id="rId16"/>
    <p:sldId id="315" r:id="rId17"/>
    <p:sldId id="317" r:id="rId18"/>
    <p:sldId id="318" r:id="rId19"/>
    <p:sldId id="308" r:id="rId20"/>
    <p:sldId id="319" r:id="rId21"/>
    <p:sldId id="320" r:id="rId22"/>
    <p:sldId id="310"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GEARD Stephanie" initials="BS" lastIdx="26" clrIdx="0">
    <p:extLst>
      <p:ext uri="{19B8F6BF-5375-455C-9EA6-DF929625EA0E}">
        <p15:presenceInfo xmlns:p15="http://schemas.microsoft.com/office/powerpoint/2012/main" userId="S::Stephanie.BOUGEARD@anses.fr::30424678-3a90-4260-b90b-cbf9064ad1a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F7D"/>
    <a:srgbClr val="FFFACC"/>
    <a:srgbClr val="00B0F6"/>
    <a:srgbClr val="F8766D"/>
    <a:srgbClr val="E76BF3"/>
    <a:srgbClr val="A3A5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6" d="100"/>
          <a:sy n="76" d="100"/>
        </p:scale>
        <p:origin x="29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8-10T15:54:46.405" idx="1">
    <p:pos x="26" y="-22"/>
    <p:text/>
    <p:extLst>
      <p:ext uri="{C676402C-5697-4E1C-873F-D02D1690AC5C}">
        <p15:threadingInfo xmlns:p15="http://schemas.microsoft.com/office/powerpoint/2012/main" timeZoneBias="-120"/>
      </p:ext>
    </p:extLst>
  </p:cm>
  <p:cm authorId="1" dt="2026-08-10T15:55:58.445" idx="2">
    <p:pos x="146" y="146"/>
    <p:text>en général, éviter les abréviations (trop d'infos à mémoriser pou tes auditeurs qui découvrent le sujet)</p:text>
    <p:extLst>
      <p:ext uri="{C676402C-5697-4E1C-873F-D02D1690AC5C}">
        <p15:threadingInfo xmlns:p15="http://schemas.microsoft.com/office/powerpoint/2012/main" timeZoneBias="-120"/>
      </p:ext>
    </p:extLst>
  </p:cm>
  <p:cm authorId="1" dt="2026-08-10T15:57:10.862" idx="3">
    <p:pos x="282" y="282"/>
    <p:text>avec cette dia, je ne vois pas tes données clairement (alors que je les connais). Tu mets en petit des infos importantes (blocs envir, bloc animal) et en gros des trucs qui ne serviront pas dans cette présentation (bactéries, atb)</p:text>
    <p:extLst>
      <p:ext uri="{C676402C-5697-4E1C-873F-D02D1690AC5C}">
        <p15:threadingInfo xmlns:p15="http://schemas.microsoft.com/office/powerpoint/2012/main" timeZoneBias="-1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8-10T15:59:21.087" idx="4">
    <p:pos x="10" y="10"/>
    <p:text/>
    <p:extLst>
      <p:ext uri="{C676402C-5697-4E1C-873F-D02D1690AC5C}">
        <p15:threadingInfo xmlns:p15="http://schemas.microsoft.com/office/powerpoint/2012/main" timeZoneBias="-120"/>
      </p:ext>
    </p:extLst>
  </p:cm>
  <p:cm authorId="1" dt="2026-08-10T16:02:39.048" idx="7">
    <p:pos x="6293" y="1115"/>
    <p:text>ici, je ne parlerai que des méthodes multiblocs prenant en compte le temps (déjà pas mal ; en 20 min, faut faire un peu compact))</p:text>
    <p:extLst>
      <p:ext uri="{C676402C-5697-4E1C-873F-D02D1690AC5C}">
        <p15:threadingInfo xmlns:p15="http://schemas.microsoft.com/office/powerpoint/2012/main" timeZoneBias="-1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8-10T16:05:35.188" idx="9">
    <p:pos x="10" y="10"/>
    <p:text>dans la partie précédente</p:text>
    <p:extLst>
      <p:ext uri="{C676402C-5697-4E1C-873F-D02D1690AC5C}">
        <p15:threadingInfo xmlns:p15="http://schemas.microsoft.com/office/powerpoint/2012/main" timeZoneBias="-1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8-10T16:00:24.285" idx="5">
    <p:pos x="5394" y="24"/>
    <p:text>standard</p:text>
    <p:extLst>
      <p:ext uri="{C676402C-5697-4E1C-873F-D02D1690AC5C}">
        <p15:threadingInfo xmlns:p15="http://schemas.microsoft.com/office/powerpoint/2012/main" timeZoneBias="-120"/>
      </p:ext>
    </p:extLst>
  </p:cm>
  <p:cm authorId="1" dt="2026-08-10T16:01:15.402" idx="6">
    <p:pos x="6011" y="3374"/>
    <p:text/>
    <p:extLst>
      <p:ext uri="{C676402C-5697-4E1C-873F-D02D1690AC5C}">
        <p15:threadingInfo xmlns:p15="http://schemas.microsoft.com/office/powerpoint/2012/main" timeZoneBias="-120"/>
      </p:ext>
    </p:extLst>
  </p:cm>
  <p:cm authorId="1" dt="2026-08-10T16:05:04.365" idx="8">
    <p:pos x="6011" y="3510"/>
    <p:text>trop tôt pour causer de fpca (ce sera pour la méthodo). ici, on doit juste comprendre ta question et ta façon d'y répondre</p:text>
    <p:extLst>
      <p:ext uri="{C676402C-5697-4E1C-873F-D02D1690AC5C}">
        <p15:threadingInfo xmlns:p15="http://schemas.microsoft.com/office/powerpoint/2012/main" timeZoneBias="-120">
          <p15:parentCm authorId="1" idx="6"/>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8-10T16:06:10.882" idx="10">
    <p:pos x="10" y="10"/>
    <p:text>Tu attaques un peu direct. Explique d'abord l'ensemble de ton protocole, puis tu donnes les détails</p:text>
    <p:extLst>
      <p:ext uri="{C676402C-5697-4E1C-873F-D02D1690AC5C}">
        <p15:threadingInfo xmlns:p15="http://schemas.microsoft.com/office/powerpoint/2012/main" timeZoneBias="-120"/>
      </p:ext>
    </p:extLst>
  </p:cm>
  <p:cm authorId="1" dt="2026-08-10T16:07:02.715" idx="11">
    <p:pos x="146" y="146"/>
    <p:text>Très bien mais trop détaillé pour une prés orale (et surtout, public avec une forte valence applicative ; ils vont décrocher et ce serait dommage). On va trouver un moyen d'expliquer f-PCA plus simplement</p:text>
    <p:extLst>
      <p:ext uri="{C676402C-5697-4E1C-873F-D02D1690AC5C}">
        <p15:threadingInfo xmlns:p15="http://schemas.microsoft.com/office/powerpoint/2012/main" timeZoneBias="-12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6-08-10T16:12:16.776" idx="12">
    <p:pos x="10" y="10"/>
    <p:text/>
    <p:extLst>
      <p:ext uri="{C676402C-5697-4E1C-873F-D02D1690AC5C}">
        <p15:threadingInfo xmlns:p15="http://schemas.microsoft.com/office/powerpoint/2012/main" timeZoneBias="-12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6-08-10T16:13:08.064" idx="13">
    <p:pos x="10" y="10"/>
    <p:text/>
    <p:extLst>
      <p:ext uri="{C676402C-5697-4E1C-873F-D02D1690AC5C}">
        <p15:threadingInfo xmlns:p15="http://schemas.microsoft.com/office/powerpoint/2012/main" timeZoneBias="-120"/>
      </p:ext>
    </p:extLst>
  </p:cm>
  <p:cm authorId="1" dt="2026-08-10T16:13:41.955" idx="14">
    <p:pos x="10" y="146"/>
    <p:text>Je ne parlerai pas de classification de variables.</p:text>
    <p:extLst>
      <p:ext uri="{C676402C-5697-4E1C-873F-D02D1690AC5C}">
        <p15:threadingInfo xmlns:p15="http://schemas.microsoft.com/office/powerpoint/2012/main" timeZoneBias="-120">
          <p15:parentCm authorId="1" idx="13"/>
        </p15:threadingInfo>
      </p:ext>
    </p:extLst>
  </p:cm>
  <p:cm authorId="1" dt="2026-08-10T16:13:42.786" idx="15">
    <p:pos x="146" y="146"/>
    <p:text/>
    <p:extLst>
      <p:ext uri="{C676402C-5697-4E1C-873F-D02D1690AC5C}">
        <p15:threadingInfo xmlns:p15="http://schemas.microsoft.com/office/powerpoint/2012/main" timeZoneBias="-12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6-08-10T16:15:02.434" idx="16">
    <p:pos x="10" y="10"/>
    <p:text/>
    <p:extLst>
      <p:ext uri="{C676402C-5697-4E1C-873F-D02D1690AC5C}">
        <p15:threadingInfo xmlns:p15="http://schemas.microsoft.com/office/powerpoint/2012/main" timeZoneBias="-120"/>
      </p:ext>
    </p:extLst>
  </p:cm>
  <p:cm authorId="1" dt="2026-08-10T16:15:08.254" idx="17">
    <p:pos x="146" y="146"/>
    <p:text>Trop de texte à mon avis. Pour t'aider à expliquer la méthode, pose le critère, puis explique chacun des deux sous-critères (synthèse de chaque bloc &amp; modèle reliant les blocs)</p:text>
    <p:extLst>
      <p:ext uri="{C676402C-5697-4E1C-873F-D02D1690AC5C}">
        <p15:threadingInfo xmlns:p15="http://schemas.microsoft.com/office/powerpoint/2012/main" timeZoneBias="-12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6-08-10T16:17:05.589" idx="19">
    <p:pos x="7428" y="663"/>
    <p:text>bien mais beaucoup trop détaillé 1 min par diapo ... auras-tu le temps de tout dire ... sûr non).</p:text>
    <p:extLst>
      <p:ext uri="{C676402C-5697-4E1C-873F-D02D1690AC5C}">
        <p15:threadingInfo xmlns:p15="http://schemas.microsoft.com/office/powerpoint/2012/main" timeZoneBias="-120"/>
      </p:ext>
    </p:extLst>
  </p:cm>
  <p:cm authorId="1" dt="2026-08-10T16:18:29.509" idx="20">
    <p:pos x="7428" y="799"/>
    <p:text>Ce qui va intéresser les auditeurs ici, c'est que tu résume bien chaque variable par sa 1ere comp ; interprète une seule variable pour exemple)</p:text>
    <p:extLst>
      <p:ext uri="{C676402C-5697-4E1C-873F-D02D1690AC5C}">
        <p15:threadingInfo xmlns:p15="http://schemas.microsoft.com/office/powerpoint/2012/main" timeZoneBias="-120">
          <p15:parentCm authorId="1" idx="19"/>
        </p15:threadingInfo>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6-08-10T16:18:59.298" idx="21">
    <p:pos x="10" y="10"/>
    <p:text>bien dans l'esprit (mais trop petit).</p:text>
    <p:extLst>
      <p:ext uri="{C676402C-5697-4E1C-873F-D02D1690AC5C}">
        <p15:threadingInfo xmlns:p15="http://schemas.microsoft.com/office/powerpoint/2012/main" timeZoneBias="-120"/>
      </p:ext>
    </p:extLst>
  </p:cm>
  <p:cm authorId="1" dt="2026-08-10T16:20:23.788" idx="22">
    <p:pos x="10" y="146"/>
    <p:text>Texte d'interprétation ok mais trop long (pas de pharse, juste des 'bullet points' ; à faire apparaître au fur et à mesure de ton interprétation (sinon, ils vont être tout perdus)</p:text>
    <p:extLst>
      <p:ext uri="{C676402C-5697-4E1C-873F-D02D1690AC5C}">
        <p15:threadingInfo xmlns:p15="http://schemas.microsoft.com/office/powerpoint/2012/main" timeZoneBias="-120">
          <p15:parentCm authorId="1" idx="21"/>
        </p15:threadingInfo>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26-08-10T16:21:45.538" idx="23">
    <p:pos x="6213" y="-3"/>
    <p:text>ça, c'est un truc que tu fais en plus (de la méthode standard GSCA), donc à expliquer en méthodo.</p:text>
    <p:extLst>
      <p:ext uri="{C676402C-5697-4E1C-873F-D02D1690AC5C}">
        <p15:threadingInfo xmlns:p15="http://schemas.microsoft.com/office/powerpoint/2012/main" timeZoneBias="-120"/>
      </p:ext>
    </p:extLst>
  </p:cm>
  <p:cm authorId="1" dt="2026-08-10T16:22:38.630" idx="24">
    <p:pos x="6213" y="133"/>
    <p:text>Je trouve le graphe pas facile à comprendre (en 1 min) ; rien de mieux à te proposer pour le moment, mais je réfléchis</p:text>
    <p:extLst>
      <p:ext uri="{C676402C-5697-4E1C-873F-D02D1690AC5C}">
        <p15:threadingInfo xmlns:p15="http://schemas.microsoft.com/office/powerpoint/2012/main" timeZoneBias="-120">
          <p15:parentCm authorId="1" idx="23"/>
        </p15:threadingInfo>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1" dt="2026-08-10T16:23:08.827" idx="25">
    <p:pos x="10" y="10"/>
    <p:text>moins de texte</p:text>
    <p:extLst>
      <p:ext uri="{C676402C-5697-4E1C-873F-D02D1690AC5C}">
        <p15:threadingInfo xmlns:p15="http://schemas.microsoft.com/office/powerpoint/2012/main" timeZoneBias="-120"/>
      </p:ext>
    </p:extLst>
  </p:cm>
  <p:cm authorId="1" dt="2026-08-10T16:23:38.277" idx="26">
    <p:pos x="10" y="146"/>
    <p:text>et éventuellement conclusion et perspective sur la même dia (pour laisser plus de temps pour la méthode et les résultats)</p:text>
    <p:extLst>
      <p:ext uri="{C676402C-5697-4E1C-873F-D02D1690AC5C}">
        <p15:threadingInfo xmlns:p15="http://schemas.microsoft.com/office/powerpoint/2012/main" timeZoneBias="-120">
          <p15:parentCm authorId="1" idx="25"/>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FF4373-447A-4C7C-8653-BF00ACFF1518}" type="datetimeFigureOut">
              <a:rPr lang="fr-FR" smtClean="0"/>
              <a:t>19/08/2026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735697-EA32-43CA-9B26-7C1D1AB9B7D6}" type="slidenum">
              <a:rPr lang="fr-FR" smtClean="0"/>
              <a:t>‹N°›</a:t>
            </a:fld>
            <a:endParaRPr lang="fr-FR"/>
          </a:p>
        </p:txBody>
      </p:sp>
    </p:spTree>
    <p:extLst>
      <p:ext uri="{BB962C8B-B14F-4D97-AF65-F5344CB8AC3E}">
        <p14:creationId xmlns:p14="http://schemas.microsoft.com/office/powerpoint/2010/main" val="2966649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2634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262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4245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9783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5108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1977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715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708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7107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7417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247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1400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96906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63098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000000"/>
                </a:solidFill>
                <a:latin typeface="Gill Sans MT" panose="020B0502020104020203"/>
              </a:rPr>
              <a:t>More than 67 OH candidate variable</a:t>
            </a:r>
          </a:p>
          <a:p>
            <a:r>
              <a:rPr lang="en-US" sz="1200" b="0" i="0" u="none" strike="noStrike" kern="1200" baseline="0" dirty="0">
                <a:solidFill>
                  <a:schemeClr val="tx1"/>
                </a:solidFill>
                <a:latin typeface="+mn-lt"/>
                <a:ea typeface="+mn-ea"/>
                <a:cs typeface="+mn-cs"/>
              </a:rPr>
              <a:t>inclusion of companion animals, addressing a gap highlighted by </a:t>
            </a:r>
            <a:r>
              <a:rPr lang="en-US" sz="1200" b="0" i="0" u="none" strike="noStrike" kern="1200" baseline="0" dirty="0" err="1">
                <a:solidFill>
                  <a:schemeClr val="tx1"/>
                </a:solidFill>
                <a:latin typeface="+mn-lt"/>
                <a:ea typeface="+mn-ea"/>
                <a:cs typeface="+mn-cs"/>
              </a:rPr>
              <a:t>Jin</a:t>
            </a:r>
            <a:r>
              <a:rPr lang="en-US" sz="1200" b="0" i="0" u="none" strike="noStrike" kern="1200" baseline="0" dirty="0">
                <a:solidFill>
                  <a:schemeClr val="tx1"/>
                </a:solidFill>
                <a:latin typeface="+mn-lt"/>
                <a:ea typeface="+mn-ea"/>
                <a:cs typeface="+mn-cs"/>
              </a:rPr>
              <a:t> et al. (2023).</a:t>
            </a:r>
          </a:p>
          <a:p>
            <a:r>
              <a:rPr lang="en-US" sz="1200" b="0" i="0" u="none" strike="noStrike" kern="1200" baseline="0" dirty="0">
                <a:solidFill>
                  <a:schemeClr val="tx1"/>
                </a:solidFill>
                <a:latin typeface="+mn-lt"/>
                <a:ea typeface="+mn-ea"/>
                <a:cs typeface="+mn-cs"/>
              </a:rPr>
              <a:t>Faire lien entre JACRIA like et </a:t>
            </a:r>
            <a:r>
              <a:rPr lang="en-US" sz="1200" b="0" i="0" u="none" strike="noStrike" kern="1200" baseline="0" dirty="0" err="1">
                <a:solidFill>
                  <a:schemeClr val="tx1"/>
                </a:solidFill>
                <a:latin typeface="+mn-lt"/>
                <a:ea typeface="+mn-ea"/>
                <a:cs typeface="+mn-cs"/>
              </a:rPr>
              <a:t>besoin</a:t>
            </a:r>
            <a:r>
              <a:rPr lang="en-US" sz="1200" b="0" i="0" u="none" strike="noStrike" kern="1200" baseline="0" dirty="0">
                <a:solidFill>
                  <a:schemeClr val="tx1"/>
                </a:solidFill>
                <a:latin typeface="+mn-lt"/>
                <a:ea typeface="+mn-ea"/>
                <a:cs typeface="+mn-cs"/>
              </a:rPr>
              <a:t> de panel regression models</a:t>
            </a:r>
          </a:p>
          <a:p>
            <a:r>
              <a:rPr lang="en-US" sz="1200" b="0" i="0" u="none" strike="noStrike" kern="1200" baseline="0" dirty="0">
                <a:solidFill>
                  <a:schemeClr val="tx1"/>
                </a:solidFill>
                <a:latin typeface="+mn-lt"/>
                <a:ea typeface="+mn-ea"/>
                <a:cs typeface="+mn-cs"/>
              </a:rPr>
              <a:t>Test : Fischer test between </a:t>
            </a:r>
            <a:r>
              <a:rPr lang="en-US" sz="1200" b="0" i="0" u="none" strike="noStrike" kern="1200" baseline="0" dirty="0" err="1">
                <a:solidFill>
                  <a:schemeClr val="tx1"/>
                </a:solidFill>
                <a:latin typeface="+mn-lt"/>
                <a:ea typeface="+mn-ea"/>
                <a:cs typeface="+mn-cs"/>
              </a:rPr>
              <a:t>ols</a:t>
            </a:r>
            <a:r>
              <a:rPr lang="en-US" sz="1200" b="0" i="0" u="none" strike="noStrike" kern="1200" baseline="0" dirty="0">
                <a:solidFill>
                  <a:schemeClr val="tx1"/>
                </a:solidFill>
                <a:latin typeface="+mn-lt"/>
                <a:ea typeface="+mn-ea"/>
                <a:cs typeface="+mn-cs"/>
              </a:rPr>
              <a:t> and fixed effects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E9E4EE-98BF-4852-BD9E-6723B9975AC0}"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6974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969C29-A4D8-462D-A811-79E09AB4C2C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7EFB59C-DD1A-401E-B443-6287363941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882AFFC-F7CA-4258-9603-35316AB3C94C}"/>
              </a:ext>
            </a:extLst>
          </p:cNvPr>
          <p:cNvSpPr>
            <a:spLocks noGrp="1"/>
          </p:cNvSpPr>
          <p:nvPr>
            <p:ph type="dt" sz="half" idx="10"/>
          </p:nvPr>
        </p:nvSpPr>
        <p:spPr/>
        <p:txBody>
          <a:bodyPr/>
          <a:lstStyle/>
          <a:p>
            <a:fld id="{A2EDFF76-4B2F-44E8-8C77-D53050114780}" type="datetimeFigureOut">
              <a:rPr lang="fr-FR" smtClean="0"/>
              <a:t>19/08/2026</a:t>
            </a:fld>
            <a:endParaRPr lang="fr-FR"/>
          </a:p>
        </p:txBody>
      </p:sp>
      <p:sp>
        <p:nvSpPr>
          <p:cNvPr id="5" name="Espace réservé du pied de page 4">
            <a:extLst>
              <a:ext uri="{FF2B5EF4-FFF2-40B4-BE49-F238E27FC236}">
                <a16:creationId xmlns:a16="http://schemas.microsoft.com/office/drawing/2014/main" id="{0EAA7CF8-24F4-41E1-B91F-90F2B0C1F70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9763247-BAED-4059-8901-019E098C0E22}"/>
              </a:ext>
            </a:extLst>
          </p:cNvPr>
          <p:cNvSpPr>
            <a:spLocks noGrp="1"/>
          </p:cNvSpPr>
          <p:nvPr>
            <p:ph type="sldNum" sz="quarter" idx="12"/>
          </p:nvPr>
        </p:nvSpPr>
        <p:spPr/>
        <p:txBody>
          <a:bodyPr/>
          <a:lstStyle/>
          <a:p>
            <a:fld id="{97AECE96-96DF-45E1-9E60-9CE54609EC4E}" type="slidenum">
              <a:rPr lang="fr-FR" smtClean="0"/>
              <a:t>‹N°›</a:t>
            </a:fld>
            <a:endParaRPr lang="fr-FR"/>
          </a:p>
        </p:txBody>
      </p:sp>
    </p:spTree>
    <p:extLst>
      <p:ext uri="{BB962C8B-B14F-4D97-AF65-F5344CB8AC3E}">
        <p14:creationId xmlns:p14="http://schemas.microsoft.com/office/powerpoint/2010/main" val="3969294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BB204D-093C-4027-AA9E-C2D8079B831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149891B-D264-43FB-B7C3-BA03873E694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76EDA9F-9343-48A3-BE5B-6C513516E925}"/>
              </a:ext>
            </a:extLst>
          </p:cNvPr>
          <p:cNvSpPr>
            <a:spLocks noGrp="1"/>
          </p:cNvSpPr>
          <p:nvPr>
            <p:ph type="dt" sz="half" idx="10"/>
          </p:nvPr>
        </p:nvSpPr>
        <p:spPr/>
        <p:txBody>
          <a:bodyPr/>
          <a:lstStyle/>
          <a:p>
            <a:fld id="{A2EDFF76-4B2F-44E8-8C77-D53050114780}" type="datetimeFigureOut">
              <a:rPr lang="fr-FR" smtClean="0"/>
              <a:t>19/08/2026</a:t>
            </a:fld>
            <a:endParaRPr lang="fr-FR"/>
          </a:p>
        </p:txBody>
      </p:sp>
      <p:sp>
        <p:nvSpPr>
          <p:cNvPr id="5" name="Espace réservé du pied de page 4">
            <a:extLst>
              <a:ext uri="{FF2B5EF4-FFF2-40B4-BE49-F238E27FC236}">
                <a16:creationId xmlns:a16="http://schemas.microsoft.com/office/drawing/2014/main" id="{B2673968-7857-4FD8-837F-B5D0357BE51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C266AD8-E2D9-4DF3-B7B6-9BFF9BFF677E}"/>
              </a:ext>
            </a:extLst>
          </p:cNvPr>
          <p:cNvSpPr>
            <a:spLocks noGrp="1"/>
          </p:cNvSpPr>
          <p:nvPr>
            <p:ph type="sldNum" sz="quarter" idx="12"/>
          </p:nvPr>
        </p:nvSpPr>
        <p:spPr/>
        <p:txBody>
          <a:bodyPr/>
          <a:lstStyle/>
          <a:p>
            <a:fld id="{97AECE96-96DF-45E1-9E60-9CE54609EC4E}" type="slidenum">
              <a:rPr lang="fr-FR" smtClean="0"/>
              <a:t>‹N°›</a:t>
            </a:fld>
            <a:endParaRPr lang="fr-FR"/>
          </a:p>
        </p:txBody>
      </p:sp>
    </p:spTree>
    <p:extLst>
      <p:ext uri="{BB962C8B-B14F-4D97-AF65-F5344CB8AC3E}">
        <p14:creationId xmlns:p14="http://schemas.microsoft.com/office/powerpoint/2010/main" val="19997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2CBD63-21C3-4920-9956-EC64AAFA07E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693E611-F12D-4F5D-ACAF-6756583992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D9F63B7-A56B-4352-876C-65BD30F1F0AF}"/>
              </a:ext>
            </a:extLst>
          </p:cNvPr>
          <p:cNvSpPr>
            <a:spLocks noGrp="1"/>
          </p:cNvSpPr>
          <p:nvPr>
            <p:ph type="dt" sz="half" idx="10"/>
          </p:nvPr>
        </p:nvSpPr>
        <p:spPr/>
        <p:txBody>
          <a:bodyPr/>
          <a:lstStyle/>
          <a:p>
            <a:fld id="{A2EDFF76-4B2F-44E8-8C77-D53050114780}" type="datetimeFigureOut">
              <a:rPr lang="fr-FR" smtClean="0"/>
              <a:t>19/08/2026</a:t>
            </a:fld>
            <a:endParaRPr lang="fr-FR"/>
          </a:p>
        </p:txBody>
      </p:sp>
      <p:sp>
        <p:nvSpPr>
          <p:cNvPr id="5" name="Espace réservé du pied de page 4">
            <a:extLst>
              <a:ext uri="{FF2B5EF4-FFF2-40B4-BE49-F238E27FC236}">
                <a16:creationId xmlns:a16="http://schemas.microsoft.com/office/drawing/2014/main" id="{DC1C4131-49D8-4CAB-A511-74C9E7649D6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45C55FC-67C5-45C6-AB4A-723DDAC68C43}"/>
              </a:ext>
            </a:extLst>
          </p:cNvPr>
          <p:cNvSpPr>
            <a:spLocks noGrp="1"/>
          </p:cNvSpPr>
          <p:nvPr>
            <p:ph type="sldNum" sz="quarter" idx="12"/>
          </p:nvPr>
        </p:nvSpPr>
        <p:spPr/>
        <p:txBody>
          <a:bodyPr/>
          <a:lstStyle/>
          <a:p>
            <a:fld id="{97AECE96-96DF-45E1-9E60-9CE54609EC4E}" type="slidenum">
              <a:rPr lang="fr-FR" smtClean="0"/>
              <a:t>‹N°›</a:t>
            </a:fld>
            <a:endParaRPr lang="fr-FR"/>
          </a:p>
        </p:txBody>
      </p:sp>
    </p:spTree>
    <p:extLst>
      <p:ext uri="{BB962C8B-B14F-4D97-AF65-F5344CB8AC3E}">
        <p14:creationId xmlns:p14="http://schemas.microsoft.com/office/powerpoint/2010/main" val="4003607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B0302F-6173-4D8D-A13A-5F7D79D6126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ABB43CC-1BA0-4130-A7BB-3A56841F8DD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3A76A34-7751-482E-ADB3-6C488E36E2C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5085D5A-68D5-4725-9FB6-8D56383031B5}"/>
              </a:ext>
            </a:extLst>
          </p:cNvPr>
          <p:cNvSpPr>
            <a:spLocks noGrp="1"/>
          </p:cNvSpPr>
          <p:nvPr>
            <p:ph type="dt" sz="half" idx="10"/>
          </p:nvPr>
        </p:nvSpPr>
        <p:spPr/>
        <p:txBody>
          <a:bodyPr/>
          <a:lstStyle/>
          <a:p>
            <a:fld id="{A2EDFF76-4B2F-44E8-8C77-D53050114780}" type="datetimeFigureOut">
              <a:rPr lang="fr-FR" smtClean="0"/>
              <a:t>19/08/2026</a:t>
            </a:fld>
            <a:endParaRPr lang="fr-FR"/>
          </a:p>
        </p:txBody>
      </p:sp>
      <p:sp>
        <p:nvSpPr>
          <p:cNvPr id="6" name="Espace réservé du pied de page 5">
            <a:extLst>
              <a:ext uri="{FF2B5EF4-FFF2-40B4-BE49-F238E27FC236}">
                <a16:creationId xmlns:a16="http://schemas.microsoft.com/office/drawing/2014/main" id="{527F5361-2E66-4C1D-BE91-7AACE82E872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FB01504-3E82-4EBD-829C-18EEB0991E58}"/>
              </a:ext>
            </a:extLst>
          </p:cNvPr>
          <p:cNvSpPr>
            <a:spLocks noGrp="1"/>
          </p:cNvSpPr>
          <p:nvPr>
            <p:ph type="sldNum" sz="quarter" idx="12"/>
          </p:nvPr>
        </p:nvSpPr>
        <p:spPr/>
        <p:txBody>
          <a:bodyPr/>
          <a:lstStyle/>
          <a:p>
            <a:fld id="{97AECE96-96DF-45E1-9E60-9CE54609EC4E}" type="slidenum">
              <a:rPr lang="fr-FR" smtClean="0"/>
              <a:t>‹N°›</a:t>
            </a:fld>
            <a:endParaRPr lang="fr-FR"/>
          </a:p>
        </p:txBody>
      </p:sp>
    </p:spTree>
    <p:extLst>
      <p:ext uri="{BB962C8B-B14F-4D97-AF65-F5344CB8AC3E}">
        <p14:creationId xmlns:p14="http://schemas.microsoft.com/office/powerpoint/2010/main" val="747978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2A07BB-F355-4EC3-B844-3368E7CA066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8203E27-FD40-44E4-B079-8F186F0C61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FE4120A-3FDE-46E4-A5B4-C246D772415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CE5FD10-AE9A-4CE2-B92A-F01C55234B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AA7E7D7-47D7-4EEA-874D-9279DA1749D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55913E6-A474-4B9C-8701-9B4C7EDA89B6}"/>
              </a:ext>
            </a:extLst>
          </p:cNvPr>
          <p:cNvSpPr>
            <a:spLocks noGrp="1"/>
          </p:cNvSpPr>
          <p:nvPr>
            <p:ph type="dt" sz="half" idx="10"/>
          </p:nvPr>
        </p:nvSpPr>
        <p:spPr/>
        <p:txBody>
          <a:bodyPr/>
          <a:lstStyle/>
          <a:p>
            <a:fld id="{A2EDFF76-4B2F-44E8-8C77-D53050114780}" type="datetimeFigureOut">
              <a:rPr lang="fr-FR" smtClean="0"/>
              <a:t>19/08/2026</a:t>
            </a:fld>
            <a:endParaRPr lang="fr-FR"/>
          </a:p>
        </p:txBody>
      </p:sp>
      <p:sp>
        <p:nvSpPr>
          <p:cNvPr id="8" name="Espace réservé du pied de page 7">
            <a:extLst>
              <a:ext uri="{FF2B5EF4-FFF2-40B4-BE49-F238E27FC236}">
                <a16:creationId xmlns:a16="http://schemas.microsoft.com/office/drawing/2014/main" id="{9F562A0B-2209-4173-AF57-D2A4372ACA5A}"/>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E09D156-000D-4FD7-B033-E712B7C9CDD8}"/>
              </a:ext>
            </a:extLst>
          </p:cNvPr>
          <p:cNvSpPr>
            <a:spLocks noGrp="1"/>
          </p:cNvSpPr>
          <p:nvPr>
            <p:ph type="sldNum" sz="quarter" idx="12"/>
          </p:nvPr>
        </p:nvSpPr>
        <p:spPr/>
        <p:txBody>
          <a:bodyPr/>
          <a:lstStyle/>
          <a:p>
            <a:fld id="{97AECE96-96DF-45E1-9E60-9CE54609EC4E}" type="slidenum">
              <a:rPr lang="fr-FR" smtClean="0"/>
              <a:t>‹N°›</a:t>
            </a:fld>
            <a:endParaRPr lang="fr-FR"/>
          </a:p>
        </p:txBody>
      </p:sp>
    </p:spTree>
    <p:extLst>
      <p:ext uri="{BB962C8B-B14F-4D97-AF65-F5344CB8AC3E}">
        <p14:creationId xmlns:p14="http://schemas.microsoft.com/office/powerpoint/2010/main" val="3316654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120330-FC40-4243-8063-6060F2BDC55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A1FBD47-736B-43D8-B487-477DF5FE6787}"/>
              </a:ext>
            </a:extLst>
          </p:cNvPr>
          <p:cNvSpPr>
            <a:spLocks noGrp="1"/>
          </p:cNvSpPr>
          <p:nvPr>
            <p:ph type="dt" sz="half" idx="10"/>
          </p:nvPr>
        </p:nvSpPr>
        <p:spPr/>
        <p:txBody>
          <a:bodyPr/>
          <a:lstStyle/>
          <a:p>
            <a:fld id="{A2EDFF76-4B2F-44E8-8C77-D53050114780}" type="datetimeFigureOut">
              <a:rPr lang="fr-FR" smtClean="0"/>
              <a:t>19/08/2026</a:t>
            </a:fld>
            <a:endParaRPr lang="fr-FR"/>
          </a:p>
        </p:txBody>
      </p:sp>
      <p:sp>
        <p:nvSpPr>
          <p:cNvPr id="4" name="Espace réservé du pied de page 3">
            <a:extLst>
              <a:ext uri="{FF2B5EF4-FFF2-40B4-BE49-F238E27FC236}">
                <a16:creationId xmlns:a16="http://schemas.microsoft.com/office/drawing/2014/main" id="{065F8195-7E7D-4A88-9A6F-63C853C41CE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BA2B1D4-FA0B-47B2-92A5-C8EC525E6C50}"/>
              </a:ext>
            </a:extLst>
          </p:cNvPr>
          <p:cNvSpPr>
            <a:spLocks noGrp="1"/>
          </p:cNvSpPr>
          <p:nvPr>
            <p:ph type="sldNum" sz="quarter" idx="12"/>
          </p:nvPr>
        </p:nvSpPr>
        <p:spPr/>
        <p:txBody>
          <a:bodyPr/>
          <a:lstStyle/>
          <a:p>
            <a:fld id="{97AECE96-96DF-45E1-9E60-9CE54609EC4E}" type="slidenum">
              <a:rPr lang="fr-FR" smtClean="0"/>
              <a:t>‹N°›</a:t>
            </a:fld>
            <a:endParaRPr lang="fr-FR"/>
          </a:p>
        </p:txBody>
      </p:sp>
    </p:spTree>
    <p:extLst>
      <p:ext uri="{BB962C8B-B14F-4D97-AF65-F5344CB8AC3E}">
        <p14:creationId xmlns:p14="http://schemas.microsoft.com/office/powerpoint/2010/main" val="2972255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04BC9C9-84AF-4E41-B2CF-6DCA71007FFB}"/>
              </a:ext>
            </a:extLst>
          </p:cNvPr>
          <p:cNvSpPr>
            <a:spLocks noGrp="1"/>
          </p:cNvSpPr>
          <p:nvPr>
            <p:ph type="dt" sz="half" idx="10"/>
          </p:nvPr>
        </p:nvSpPr>
        <p:spPr/>
        <p:txBody>
          <a:bodyPr/>
          <a:lstStyle/>
          <a:p>
            <a:fld id="{A2EDFF76-4B2F-44E8-8C77-D53050114780}" type="datetimeFigureOut">
              <a:rPr lang="fr-FR" smtClean="0"/>
              <a:t>19/08/2026</a:t>
            </a:fld>
            <a:endParaRPr lang="fr-FR"/>
          </a:p>
        </p:txBody>
      </p:sp>
      <p:sp>
        <p:nvSpPr>
          <p:cNvPr id="3" name="Espace réservé du pied de page 2">
            <a:extLst>
              <a:ext uri="{FF2B5EF4-FFF2-40B4-BE49-F238E27FC236}">
                <a16:creationId xmlns:a16="http://schemas.microsoft.com/office/drawing/2014/main" id="{816DCA56-87E1-40D2-9D51-34B17FC9269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8D0FFA3-9361-41CE-817A-E4019F47CF1B}"/>
              </a:ext>
            </a:extLst>
          </p:cNvPr>
          <p:cNvSpPr>
            <a:spLocks noGrp="1"/>
          </p:cNvSpPr>
          <p:nvPr>
            <p:ph type="sldNum" sz="quarter" idx="12"/>
          </p:nvPr>
        </p:nvSpPr>
        <p:spPr/>
        <p:txBody>
          <a:bodyPr/>
          <a:lstStyle/>
          <a:p>
            <a:fld id="{97AECE96-96DF-45E1-9E60-9CE54609EC4E}" type="slidenum">
              <a:rPr lang="fr-FR" smtClean="0"/>
              <a:t>‹N°›</a:t>
            </a:fld>
            <a:endParaRPr lang="fr-FR"/>
          </a:p>
        </p:txBody>
      </p:sp>
    </p:spTree>
    <p:extLst>
      <p:ext uri="{BB962C8B-B14F-4D97-AF65-F5344CB8AC3E}">
        <p14:creationId xmlns:p14="http://schemas.microsoft.com/office/powerpoint/2010/main" val="1681342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B23D9A-8E1D-4238-8B8E-9748E466504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937F91F-EE24-4A30-996B-AE46F3E514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C727AFE-5A47-445B-B81A-BBA7073FA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36E1991-1603-4C08-A895-49D746FB795C}"/>
              </a:ext>
            </a:extLst>
          </p:cNvPr>
          <p:cNvSpPr>
            <a:spLocks noGrp="1"/>
          </p:cNvSpPr>
          <p:nvPr>
            <p:ph type="dt" sz="half" idx="10"/>
          </p:nvPr>
        </p:nvSpPr>
        <p:spPr/>
        <p:txBody>
          <a:bodyPr/>
          <a:lstStyle/>
          <a:p>
            <a:fld id="{A2EDFF76-4B2F-44E8-8C77-D53050114780}" type="datetimeFigureOut">
              <a:rPr lang="fr-FR" smtClean="0"/>
              <a:t>19/08/2026</a:t>
            </a:fld>
            <a:endParaRPr lang="fr-FR"/>
          </a:p>
        </p:txBody>
      </p:sp>
      <p:sp>
        <p:nvSpPr>
          <p:cNvPr id="6" name="Espace réservé du pied de page 5">
            <a:extLst>
              <a:ext uri="{FF2B5EF4-FFF2-40B4-BE49-F238E27FC236}">
                <a16:creationId xmlns:a16="http://schemas.microsoft.com/office/drawing/2014/main" id="{EADDC84A-38D6-49F4-AEA0-B76CC99EA32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9D8F820-017B-4D87-B18A-A0F97F609D43}"/>
              </a:ext>
            </a:extLst>
          </p:cNvPr>
          <p:cNvSpPr>
            <a:spLocks noGrp="1"/>
          </p:cNvSpPr>
          <p:nvPr>
            <p:ph type="sldNum" sz="quarter" idx="12"/>
          </p:nvPr>
        </p:nvSpPr>
        <p:spPr/>
        <p:txBody>
          <a:bodyPr/>
          <a:lstStyle/>
          <a:p>
            <a:fld id="{97AECE96-96DF-45E1-9E60-9CE54609EC4E}" type="slidenum">
              <a:rPr lang="fr-FR" smtClean="0"/>
              <a:t>‹N°›</a:t>
            </a:fld>
            <a:endParaRPr lang="fr-FR"/>
          </a:p>
        </p:txBody>
      </p:sp>
    </p:spTree>
    <p:extLst>
      <p:ext uri="{BB962C8B-B14F-4D97-AF65-F5344CB8AC3E}">
        <p14:creationId xmlns:p14="http://schemas.microsoft.com/office/powerpoint/2010/main" val="3867067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7B20E3-F5D6-4B27-AE45-59CDFA65C2D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7D21D812-0B0C-4C29-994D-C6F53592BB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3AB9F53-3EAF-4FE4-9F64-B71E3F8190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8A41B87-1278-417F-B1A4-71750CA8A2D9}"/>
              </a:ext>
            </a:extLst>
          </p:cNvPr>
          <p:cNvSpPr>
            <a:spLocks noGrp="1"/>
          </p:cNvSpPr>
          <p:nvPr>
            <p:ph type="dt" sz="half" idx="10"/>
          </p:nvPr>
        </p:nvSpPr>
        <p:spPr/>
        <p:txBody>
          <a:bodyPr/>
          <a:lstStyle/>
          <a:p>
            <a:fld id="{A2EDFF76-4B2F-44E8-8C77-D53050114780}" type="datetimeFigureOut">
              <a:rPr lang="fr-FR" smtClean="0"/>
              <a:t>19/08/2026</a:t>
            </a:fld>
            <a:endParaRPr lang="fr-FR"/>
          </a:p>
        </p:txBody>
      </p:sp>
      <p:sp>
        <p:nvSpPr>
          <p:cNvPr id="6" name="Espace réservé du pied de page 5">
            <a:extLst>
              <a:ext uri="{FF2B5EF4-FFF2-40B4-BE49-F238E27FC236}">
                <a16:creationId xmlns:a16="http://schemas.microsoft.com/office/drawing/2014/main" id="{A261D6F9-56F1-46DA-9CD6-32C85F806D2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367C852-C39B-4675-B754-57E990A77CBA}"/>
              </a:ext>
            </a:extLst>
          </p:cNvPr>
          <p:cNvSpPr>
            <a:spLocks noGrp="1"/>
          </p:cNvSpPr>
          <p:nvPr>
            <p:ph type="sldNum" sz="quarter" idx="12"/>
          </p:nvPr>
        </p:nvSpPr>
        <p:spPr/>
        <p:txBody>
          <a:bodyPr/>
          <a:lstStyle/>
          <a:p>
            <a:fld id="{97AECE96-96DF-45E1-9E60-9CE54609EC4E}" type="slidenum">
              <a:rPr lang="fr-FR" smtClean="0"/>
              <a:t>‹N°›</a:t>
            </a:fld>
            <a:endParaRPr lang="fr-FR"/>
          </a:p>
        </p:txBody>
      </p:sp>
    </p:spTree>
    <p:extLst>
      <p:ext uri="{BB962C8B-B14F-4D97-AF65-F5344CB8AC3E}">
        <p14:creationId xmlns:p14="http://schemas.microsoft.com/office/powerpoint/2010/main" val="1177185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71984F-5CA0-42CA-AD2D-A87FEC481E2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157B29B-548F-4E83-BE45-4522052CE15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F8E0B54-E72E-488A-9851-EBDC02F33D3F}"/>
              </a:ext>
            </a:extLst>
          </p:cNvPr>
          <p:cNvSpPr>
            <a:spLocks noGrp="1"/>
          </p:cNvSpPr>
          <p:nvPr>
            <p:ph type="dt" sz="half" idx="10"/>
          </p:nvPr>
        </p:nvSpPr>
        <p:spPr/>
        <p:txBody>
          <a:bodyPr/>
          <a:lstStyle/>
          <a:p>
            <a:fld id="{A2EDFF76-4B2F-44E8-8C77-D53050114780}" type="datetimeFigureOut">
              <a:rPr lang="fr-FR" smtClean="0"/>
              <a:t>19/08/2026</a:t>
            </a:fld>
            <a:endParaRPr lang="fr-FR"/>
          </a:p>
        </p:txBody>
      </p:sp>
      <p:sp>
        <p:nvSpPr>
          <p:cNvPr id="5" name="Espace réservé du pied de page 4">
            <a:extLst>
              <a:ext uri="{FF2B5EF4-FFF2-40B4-BE49-F238E27FC236}">
                <a16:creationId xmlns:a16="http://schemas.microsoft.com/office/drawing/2014/main" id="{59CD821A-01D9-42D3-ABC3-03DBBC68D42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18EE6BF-0FC1-4AD4-96F3-483609D74AE6}"/>
              </a:ext>
            </a:extLst>
          </p:cNvPr>
          <p:cNvSpPr>
            <a:spLocks noGrp="1"/>
          </p:cNvSpPr>
          <p:nvPr>
            <p:ph type="sldNum" sz="quarter" idx="12"/>
          </p:nvPr>
        </p:nvSpPr>
        <p:spPr/>
        <p:txBody>
          <a:bodyPr/>
          <a:lstStyle/>
          <a:p>
            <a:fld id="{97AECE96-96DF-45E1-9E60-9CE54609EC4E}" type="slidenum">
              <a:rPr lang="fr-FR" smtClean="0"/>
              <a:t>‹N°›</a:t>
            </a:fld>
            <a:endParaRPr lang="fr-FR"/>
          </a:p>
        </p:txBody>
      </p:sp>
    </p:spTree>
    <p:extLst>
      <p:ext uri="{BB962C8B-B14F-4D97-AF65-F5344CB8AC3E}">
        <p14:creationId xmlns:p14="http://schemas.microsoft.com/office/powerpoint/2010/main" val="1462087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FE41A4E-59AA-42B2-99E7-5B3D192FFC22}"/>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276482C-1E82-4397-8AB5-5AE0E96D891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FB6BCAF-34D6-4F0C-8A6D-550237A230E3}"/>
              </a:ext>
            </a:extLst>
          </p:cNvPr>
          <p:cNvSpPr>
            <a:spLocks noGrp="1"/>
          </p:cNvSpPr>
          <p:nvPr>
            <p:ph type="dt" sz="half" idx="10"/>
          </p:nvPr>
        </p:nvSpPr>
        <p:spPr/>
        <p:txBody>
          <a:bodyPr/>
          <a:lstStyle/>
          <a:p>
            <a:fld id="{A2EDFF76-4B2F-44E8-8C77-D53050114780}" type="datetimeFigureOut">
              <a:rPr lang="fr-FR" smtClean="0"/>
              <a:t>19/08/2026</a:t>
            </a:fld>
            <a:endParaRPr lang="fr-FR"/>
          </a:p>
        </p:txBody>
      </p:sp>
      <p:sp>
        <p:nvSpPr>
          <p:cNvPr id="5" name="Espace réservé du pied de page 4">
            <a:extLst>
              <a:ext uri="{FF2B5EF4-FFF2-40B4-BE49-F238E27FC236}">
                <a16:creationId xmlns:a16="http://schemas.microsoft.com/office/drawing/2014/main" id="{B3ABBDBE-C7B6-4D7A-A2ED-6221A3A001C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0D52049-4626-48FE-AB21-7962A0690B9F}"/>
              </a:ext>
            </a:extLst>
          </p:cNvPr>
          <p:cNvSpPr>
            <a:spLocks noGrp="1"/>
          </p:cNvSpPr>
          <p:nvPr>
            <p:ph type="sldNum" sz="quarter" idx="12"/>
          </p:nvPr>
        </p:nvSpPr>
        <p:spPr/>
        <p:txBody>
          <a:bodyPr/>
          <a:lstStyle/>
          <a:p>
            <a:fld id="{97AECE96-96DF-45E1-9E60-9CE54609EC4E}" type="slidenum">
              <a:rPr lang="fr-FR" smtClean="0"/>
              <a:t>‹N°›</a:t>
            </a:fld>
            <a:endParaRPr lang="fr-FR"/>
          </a:p>
        </p:txBody>
      </p:sp>
    </p:spTree>
    <p:extLst>
      <p:ext uri="{BB962C8B-B14F-4D97-AF65-F5344CB8AC3E}">
        <p14:creationId xmlns:p14="http://schemas.microsoft.com/office/powerpoint/2010/main" val="3092746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Couverture FR">
    <p:spTree>
      <p:nvGrpSpPr>
        <p:cNvPr id="1" name=""/>
        <p:cNvGrpSpPr/>
        <p:nvPr/>
      </p:nvGrpSpPr>
      <p:grpSpPr>
        <a:xfrm>
          <a:off x="0" y="0"/>
          <a:ext cx="0" cy="0"/>
          <a:chOff x="0" y="0"/>
          <a:chExt cx="0" cy="0"/>
        </a:xfrm>
      </p:grpSpPr>
      <p:sp>
        <p:nvSpPr>
          <p:cNvPr id="2" name="ZoneTexte 1"/>
          <p:cNvSpPr txBox="1"/>
          <p:nvPr userDrawn="1"/>
        </p:nvSpPr>
        <p:spPr>
          <a:xfrm>
            <a:off x="365190" y="6059015"/>
            <a:ext cx="4569829" cy="761299"/>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947" b="1" kern="1200" cap="all" baseline="0" dirty="0">
                <a:solidFill>
                  <a:schemeClr val="tx2"/>
                </a:solidFill>
                <a:latin typeface="+mn-lt"/>
                <a:ea typeface="+mn-ea"/>
                <a:cs typeface="+mn-cs"/>
              </a:rPr>
              <a:t>Connaître, évaluer, protéger</a:t>
            </a:r>
          </a:p>
          <a:p>
            <a:endParaRPr lang="fr-FR" sz="2400" dirty="0"/>
          </a:p>
        </p:txBody>
      </p:sp>
      <p:grpSp>
        <p:nvGrpSpPr>
          <p:cNvPr id="15" name="Graphique 2">
            <a:extLst>
              <a:ext uri="{FF2B5EF4-FFF2-40B4-BE49-F238E27FC236}">
                <a16:creationId xmlns:a16="http://schemas.microsoft.com/office/drawing/2014/main" id="{441A5E56-2E95-41CA-AAB0-759EE6144DD3}"/>
              </a:ext>
            </a:extLst>
          </p:cNvPr>
          <p:cNvGrpSpPr/>
          <p:nvPr userDrawn="1"/>
        </p:nvGrpSpPr>
        <p:grpSpPr>
          <a:xfrm>
            <a:off x="485450" y="490301"/>
            <a:ext cx="2434167" cy="1700065"/>
            <a:chOff x="2471737" y="1104900"/>
            <a:chExt cx="4200493" cy="2933699"/>
          </a:xfrm>
        </p:grpSpPr>
        <p:grpSp>
          <p:nvGrpSpPr>
            <p:cNvPr id="16" name="Graphique 2">
              <a:extLst>
                <a:ext uri="{FF2B5EF4-FFF2-40B4-BE49-F238E27FC236}">
                  <a16:creationId xmlns:a16="http://schemas.microsoft.com/office/drawing/2014/main" id="{449FE406-B627-4201-A48F-A2354F4D9824}"/>
                </a:ext>
              </a:extLst>
            </p:cNvPr>
            <p:cNvGrpSpPr/>
            <p:nvPr/>
          </p:nvGrpSpPr>
          <p:grpSpPr>
            <a:xfrm>
              <a:off x="2471737" y="3195351"/>
              <a:ext cx="4200493" cy="843248"/>
              <a:chOff x="2471737" y="3195351"/>
              <a:chExt cx="4200493" cy="843248"/>
            </a:xfrm>
            <a:solidFill>
              <a:srgbClr val="000000"/>
            </a:solidFill>
          </p:grpSpPr>
          <p:sp>
            <p:nvSpPr>
              <p:cNvPr id="22" name="Forme libre : forme 21">
                <a:extLst>
                  <a:ext uri="{FF2B5EF4-FFF2-40B4-BE49-F238E27FC236}">
                    <a16:creationId xmlns:a16="http://schemas.microsoft.com/office/drawing/2014/main" id="{C910B22B-3BD7-402A-AEC9-1C03E747DCA5}"/>
                  </a:ext>
                </a:extLst>
              </p:cNvPr>
              <p:cNvSpPr/>
              <p:nvPr/>
            </p:nvSpPr>
            <p:spPr>
              <a:xfrm>
                <a:off x="3415855" y="3211258"/>
                <a:ext cx="749807" cy="821340"/>
              </a:xfrm>
              <a:custGeom>
                <a:avLst/>
                <a:gdLst>
                  <a:gd name="connsiteX0" fmla="*/ 444913 w 749807"/>
                  <a:gd name="connsiteY0" fmla="*/ 0 h 821340"/>
                  <a:gd name="connsiteX1" fmla="*/ 159258 w 749807"/>
                  <a:gd name="connsiteY1" fmla="*/ 114300 h 821340"/>
                  <a:gd name="connsiteX2" fmla="*/ 159258 w 749807"/>
                  <a:gd name="connsiteY2" fmla="*/ 0 h 821340"/>
                  <a:gd name="connsiteX3" fmla="*/ 0 w 749807"/>
                  <a:gd name="connsiteY3" fmla="*/ 0 h 821340"/>
                  <a:gd name="connsiteX4" fmla="*/ 0 w 749807"/>
                  <a:gd name="connsiteY4" fmla="*/ 821341 h 821340"/>
                  <a:gd name="connsiteX5" fmla="*/ 159258 w 749807"/>
                  <a:gd name="connsiteY5" fmla="*/ 821341 h 821340"/>
                  <a:gd name="connsiteX6" fmla="*/ 159258 w 749807"/>
                  <a:gd name="connsiteY6" fmla="*/ 321945 h 821340"/>
                  <a:gd name="connsiteX7" fmla="*/ 416147 w 749807"/>
                  <a:gd name="connsiteY7" fmla="*/ 131254 h 821340"/>
                  <a:gd name="connsiteX8" fmla="*/ 589978 w 749807"/>
                  <a:gd name="connsiteY8" fmla="*/ 276701 h 821340"/>
                  <a:gd name="connsiteX9" fmla="*/ 590550 w 749807"/>
                  <a:gd name="connsiteY9" fmla="*/ 276701 h 821340"/>
                  <a:gd name="connsiteX10" fmla="*/ 590550 w 749807"/>
                  <a:gd name="connsiteY10" fmla="*/ 821245 h 821340"/>
                  <a:gd name="connsiteX11" fmla="*/ 749808 w 749807"/>
                  <a:gd name="connsiteY11" fmla="*/ 821245 h 821340"/>
                  <a:gd name="connsiteX12" fmla="*/ 749808 w 749807"/>
                  <a:gd name="connsiteY12" fmla="*/ 276796 h 821340"/>
                  <a:gd name="connsiteX13" fmla="*/ 444913 w 749807"/>
                  <a:gd name="connsiteY13" fmla="*/ 0 h 821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9807" h="821340">
                    <a:moveTo>
                      <a:pt x="444913" y="0"/>
                    </a:moveTo>
                    <a:cubicBezTo>
                      <a:pt x="248126" y="0"/>
                      <a:pt x="160972" y="112109"/>
                      <a:pt x="159258" y="114300"/>
                    </a:cubicBezTo>
                    <a:lnTo>
                      <a:pt x="159258" y="0"/>
                    </a:lnTo>
                    <a:lnTo>
                      <a:pt x="0" y="0"/>
                    </a:lnTo>
                    <a:lnTo>
                      <a:pt x="0" y="821341"/>
                    </a:lnTo>
                    <a:lnTo>
                      <a:pt x="159258" y="821341"/>
                    </a:lnTo>
                    <a:lnTo>
                      <a:pt x="159258" y="321945"/>
                    </a:lnTo>
                    <a:cubicBezTo>
                      <a:pt x="162687" y="201263"/>
                      <a:pt x="314420" y="131254"/>
                      <a:pt x="416147" y="131254"/>
                    </a:cubicBezTo>
                    <a:cubicBezTo>
                      <a:pt x="492157" y="131254"/>
                      <a:pt x="589978" y="183261"/>
                      <a:pt x="589978" y="276701"/>
                    </a:cubicBezTo>
                    <a:lnTo>
                      <a:pt x="590550" y="276701"/>
                    </a:lnTo>
                    <a:lnTo>
                      <a:pt x="590550" y="821245"/>
                    </a:lnTo>
                    <a:lnTo>
                      <a:pt x="749808" y="821245"/>
                    </a:lnTo>
                    <a:lnTo>
                      <a:pt x="749808" y="276796"/>
                    </a:lnTo>
                    <a:cubicBezTo>
                      <a:pt x="749713" y="92107"/>
                      <a:pt x="612743" y="0"/>
                      <a:pt x="444913" y="0"/>
                    </a:cubicBezTo>
                    <a:close/>
                  </a:path>
                </a:pathLst>
              </a:custGeom>
              <a:solidFill>
                <a:srgbClr val="3C3C3C"/>
              </a:solidFill>
              <a:ln w="9525" cap="flat">
                <a:noFill/>
                <a:prstDash val="solid"/>
                <a:miter/>
              </a:ln>
            </p:spPr>
            <p:txBody>
              <a:bodyPr rtlCol="0" anchor="ctr"/>
              <a:lstStyle/>
              <a:p>
                <a:endParaRPr lang="fr-FR" sz="2400"/>
              </a:p>
            </p:txBody>
          </p:sp>
          <p:sp>
            <p:nvSpPr>
              <p:cNvPr id="23" name="Forme libre : forme 22">
                <a:extLst>
                  <a:ext uri="{FF2B5EF4-FFF2-40B4-BE49-F238E27FC236}">
                    <a16:creationId xmlns:a16="http://schemas.microsoft.com/office/drawing/2014/main" id="{864E6E91-5585-4F6F-ACE6-4A6FF76C47A8}"/>
                  </a:ext>
                </a:extLst>
              </p:cNvPr>
              <p:cNvSpPr/>
              <p:nvPr/>
            </p:nvSpPr>
            <p:spPr>
              <a:xfrm>
                <a:off x="6005059" y="3199161"/>
                <a:ext cx="667170" cy="837247"/>
              </a:xfrm>
              <a:custGeom>
                <a:avLst/>
                <a:gdLst>
                  <a:gd name="connsiteX0" fmla="*/ 413552 w 667170"/>
                  <a:gd name="connsiteY0" fmla="*/ 346234 h 837247"/>
                  <a:gd name="connsiteX1" fmla="*/ 413552 w 667170"/>
                  <a:gd name="connsiteY1" fmla="*/ 346043 h 837247"/>
                  <a:gd name="connsiteX2" fmla="*/ 270391 w 667170"/>
                  <a:gd name="connsiteY2" fmla="*/ 346043 h 837247"/>
                  <a:gd name="connsiteX3" fmla="*/ 151614 w 667170"/>
                  <a:gd name="connsiteY3" fmla="*/ 241649 h 837247"/>
                  <a:gd name="connsiteX4" fmla="*/ 323255 w 667170"/>
                  <a:gd name="connsiteY4" fmla="*/ 139256 h 837247"/>
                  <a:gd name="connsiteX5" fmla="*/ 571952 w 667170"/>
                  <a:gd name="connsiteY5" fmla="*/ 184309 h 837247"/>
                  <a:gd name="connsiteX6" fmla="*/ 626531 w 667170"/>
                  <a:gd name="connsiteY6" fmla="*/ 55912 h 837247"/>
                  <a:gd name="connsiteX7" fmla="*/ 339161 w 667170"/>
                  <a:gd name="connsiteY7" fmla="*/ 0 h 837247"/>
                  <a:gd name="connsiteX8" fmla="*/ 357 w 667170"/>
                  <a:gd name="connsiteY8" fmla="*/ 243650 h 837247"/>
                  <a:gd name="connsiteX9" fmla="*/ 253627 w 667170"/>
                  <a:gd name="connsiteY9" fmla="*/ 491204 h 837247"/>
                  <a:gd name="connsiteX10" fmla="*/ 253627 w 667170"/>
                  <a:gd name="connsiteY10" fmla="*/ 491395 h 837247"/>
                  <a:gd name="connsiteX11" fmla="*/ 396788 w 667170"/>
                  <a:gd name="connsiteY11" fmla="*/ 491395 h 837247"/>
                  <a:gd name="connsiteX12" fmla="*/ 515564 w 667170"/>
                  <a:gd name="connsiteY12" fmla="*/ 595694 h 837247"/>
                  <a:gd name="connsiteX13" fmla="*/ 343924 w 667170"/>
                  <a:gd name="connsiteY13" fmla="*/ 698087 h 837247"/>
                  <a:gd name="connsiteX14" fmla="*/ 68080 w 667170"/>
                  <a:gd name="connsiteY14" fmla="*/ 640842 h 837247"/>
                  <a:gd name="connsiteX15" fmla="*/ 13978 w 667170"/>
                  <a:gd name="connsiteY15" fmla="*/ 768572 h 837247"/>
                  <a:gd name="connsiteX16" fmla="*/ 328017 w 667170"/>
                  <a:gd name="connsiteY16" fmla="*/ 837247 h 837247"/>
                  <a:gd name="connsiteX17" fmla="*/ 666821 w 667170"/>
                  <a:gd name="connsiteY17" fmla="*/ 593598 h 837247"/>
                  <a:gd name="connsiteX18" fmla="*/ 413552 w 667170"/>
                  <a:gd name="connsiteY18" fmla="*/ 346234 h 83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70" h="837247">
                    <a:moveTo>
                      <a:pt x="413552" y="346234"/>
                    </a:moveTo>
                    <a:lnTo>
                      <a:pt x="413552" y="346043"/>
                    </a:lnTo>
                    <a:lnTo>
                      <a:pt x="270391" y="346043"/>
                    </a:lnTo>
                    <a:cubicBezTo>
                      <a:pt x="190857" y="346043"/>
                      <a:pt x="148376" y="315373"/>
                      <a:pt x="151614" y="241649"/>
                    </a:cubicBezTo>
                    <a:cubicBezTo>
                      <a:pt x="154948" y="163830"/>
                      <a:pt x="239720" y="139256"/>
                      <a:pt x="323255" y="139256"/>
                    </a:cubicBezTo>
                    <a:cubicBezTo>
                      <a:pt x="442317" y="139256"/>
                      <a:pt x="530233" y="167545"/>
                      <a:pt x="571952" y="184309"/>
                    </a:cubicBezTo>
                    <a:lnTo>
                      <a:pt x="626531" y="55912"/>
                    </a:lnTo>
                    <a:cubicBezTo>
                      <a:pt x="580716" y="36004"/>
                      <a:pt x="478608" y="0"/>
                      <a:pt x="339161" y="0"/>
                    </a:cubicBezTo>
                    <a:cubicBezTo>
                      <a:pt x="199906" y="0"/>
                      <a:pt x="8549" y="55245"/>
                      <a:pt x="357" y="243650"/>
                    </a:cubicBezTo>
                    <a:cubicBezTo>
                      <a:pt x="-7644" y="427196"/>
                      <a:pt x="120086" y="488252"/>
                      <a:pt x="253627" y="491204"/>
                    </a:cubicBezTo>
                    <a:lnTo>
                      <a:pt x="253627" y="491395"/>
                    </a:lnTo>
                    <a:lnTo>
                      <a:pt x="396788" y="491395"/>
                    </a:lnTo>
                    <a:cubicBezTo>
                      <a:pt x="476321" y="491395"/>
                      <a:pt x="518803" y="522065"/>
                      <a:pt x="515564" y="595694"/>
                    </a:cubicBezTo>
                    <a:cubicBezTo>
                      <a:pt x="512231" y="673513"/>
                      <a:pt x="427458" y="698087"/>
                      <a:pt x="343924" y="698087"/>
                    </a:cubicBezTo>
                    <a:cubicBezTo>
                      <a:pt x="174855" y="698087"/>
                      <a:pt x="68080" y="640842"/>
                      <a:pt x="68080" y="640842"/>
                    </a:cubicBezTo>
                    <a:lnTo>
                      <a:pt x="13978" y="768572"/>
                    </a:lnTo>
                    <a:cubicBezTo>
                      <a:pt x="13978" y="768572"/>
                      <a:pt x="135612" y="837247"/>
                      <a:pt x="328017" y="837247"/>
                    </a:cubicBezTo>
                    <a:cubicBezTo>
                      <a:pt x="467177" y="837247"/>
                      <a:pt x="658630" y="782003"/>
                      <a:pt x="666821" y="593598"/>
                    </a:cubicBezTo>
                    <a:cubicBezTo>
                      <a:pt x="674727" y="410337"/>
                      <a:pt x="547092" y="349282"/>
                      <a:pt x="413552" y="346234"/>
                    </a:cubicBezTo>
                    <a:close/>
                  </a:path>
                </a:pathLst>
              </a:custGeom>
              <a:solidFill>
                <a:srgbClr val="3C3C3C"/>
              </a:solidFill>
              <a:ln w="9525" cap="flat">
                <a:noFill/>
                <a:prstDash val="solid"/>
                <a:miter/>
              </a:ln>
            </p:spPr>
            <p:txBody>
              <a:bodyPr rtlCol="0" anchor="ctr"/>
              <a:lstStyle/>
              <a:p>
                <a:endParaRPr lang="fr-FR" sz="2400"/>
              </a:p>
            </p:txBody>
          </p:sp>
          <p:sp>
            <p:nvSpPr>
              <p:cNvPr id="24" name="Forme libre : forme 23">
                <a:extLst>
                  <a:ext uri="{FF2B5EF4-FFF2-40B4-BE49-F238E27FC236}">
                    <a16:creationId xmlns:a16="http://schemas.microsoft.com/office/drawing/2014/main" id="{1FA0679D-AE7B-46B1-934A-E8319FC98439}"/>
                  </a:ext>
                </a:extLst>
              </p:cNvPr>
              <p:cNvSpPr/>
              <p:nvPr/>
            </p:nvSpPr>
            <p:spPr>
              <a:xfrm>
                <a:off x="5090064" y="3195351"/>
                <a:ext cx="793527" cy="843248"/>
              </a:xfrm>
              <a:custGeom>
                <a:avLst/>
                <a:gdLst>
                  <a:gd name="connsiteX0" fmla="*/ 403765 w 793527"/>
                  <a:gd name="connsiteY0" fmla="*/ 0 h 843248"/>
                  <a:gd name="connsiteX1" fmla="*/ 0 w 793527"/>
                  <a:gd name="connsiteY1" fmla="*/ 429578 h 843248"/>
                  <a:gd name="connsiteX2" fmla="*/ 440722 w 793527"/>
                  <a:gd name="connsiteY2" fmla="*/ 843248 h 843248"/>
                  <a:gd name="connsiteX3" fmla="*/ 753808 w 793527"/>
                  <a:gd name="connsiteY3" fmla="*/ 774573 h 843248"/>
                  <a:gd name="connsiteX4" fmla="*/ 695134 w 793527"/>
                  <a:gd name="connsiteY4" fmla="*/ 652081 h 843248"/>
                  <a:gd name="connsiteX5" fmla="*/ 435769 w 793527"/>
                  <a:gd name="connsiteY5" fmla="*/ 703040 h 843248"/>
                  <a:gd name="connsiteX6" fmla="*/ 165163 w 793527"/>
                  <a:gd name="connsiteY6" fmla="*/ 491204 h 843248"/>
                  <a:gd name="connsiteX7" fmla="*/ 632460 w 793527"/>
                  <a:gd name="connsiteY7" fmla="*/ 491204 h 843248"/>
                  <a:gd name="connsiteX8" fmla="*/ 793528 w 793527"/>
                  <a:gd name="connsiteY8" fmla="*/ 491204 h 843248"/>
                  <a:gd name="connsiteX9" fmla="*/ 793528 w 793527"/>
                  <a:gd name="connsiteY9" fmla="*/ 419671 h 843248"/>
                  <a:gd name="connsiteX10" fmla="*/ 403765 w 793527"/>
                  <a:gd name="connsiteY10" fmla="*/ 0 h 843248"/>
                  <a:gd name="connsiteX11" fmla="*/ 167068 w 793527"/>
                  <a:gd name="connsiteY11" fmla="*/ 359950 h 843248"/>
                  <a:gd name="connsiteX12" fmla="*/ 409670 w 793527"/>
                  <a:gd name="connsiteY12" fmla="*/ 135255 h 843248"/>
                  <a:gd name="connsiteX13" fmla="*/ 630460 w 793527"/>
                  <a:gd name="connsiteY13" fmla="*/ 359950 h 843248"/>
                  <a:gd name="connsiteX14" fmla="*/ 167068 w 793527"/>
                  <a:gd name="connsiteY14" fmla="*/ 359950 h 84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3527" h="843248">
                    <a:moveTo>
                      <a:pt x="403765" y="0"/>
                    </a:moveTo>
                    <a:cubicBezTo>
                      <a:pt x="173069" y="0"/>
                      <a:pt x="0" y="133255"/>
                      <a:pt x="0" y="429578"/>
                    </a:cubicBezTo>
                    <a:cubicBezTo>
                      <a:pt x="0" y="725900"/>
                      <a:pt x="218218" y="843248"/>
                      <a:pt x="440722" y="843248"/>
                    </a:cubicBezTo>
                    <a:cubicBezTo>
                      <a:pt x="645985" y="843248"/>
                      <a:pt x="753808" y="774573"/>
                      <a:pt x="753808" y="774573"/>
                    </a:cubicBezTo>
                    <a:lnTo>
                      <a:pt x="695134" y="652081"/>
                    </a:lnTo>
                    <a:cubicBezTo>
                      <a:pt x="695134" y="652081"/>
                      <a:pt x="615601" y="703040"/>
                      <a:pt x="435769" y="703040"/>
                    </a:cubicBezTo>
                    <a:cubicBezTo>
                      <a:pt x="314039" y="703040"/>
                      <a:pt x="183070" y="666274"/>
                      <a:pt x="165163" y="491204"/>
                    </a:cubicBezTo>
                    <a:lnTo>
                      <a:pt x="632460" y="491204"/>
                    </a:lnTo>
                    <a:lnTo>
                      <a:pt x="793528" y="491204"/>
                    </a:lnTo>
                    <a:lnTo>
                      <a:pt x="793528" y="419671"/>
                    </a:lnTo>
                    <a:cubicBezTo>
                      <a:pt x="793528" y="149162"/>
                      <a:pt x="668274" y="0"/>
                      <a:pt x="403765" y="0"/>
                    </a:cubicBezTo>
                    <a:close/>
                    <a:moveTo>
                      <a:pt x="167068" y="359950"/>
                    </a:moveTo>
                    <a:cubicBezTo>
                      <a:pt x="184975" y="186880"/>
                      <a:pt x="274415" y="135255"/>
                      <a:pt x="409670" y="135255"/>
                    </a:cubicBezTo>
                    <a:cubicBezTo>
                      <a:pt x="554831" y="135255"/>
                      <a:pt x="620458" y="204883"/>
                      <a:pt x="630460" y="359950"/>
                    </a:cubicBezTo>
                    <a:lnTo>
                      <a:pt x="167068" y="359950"/>
                    </a:lnTo>
                    <a:close/>
                  </a:path>
                </a:pathLst>
              </a:custGeom>
              <a:solidFill>
                <a:srgbClr val="3C3C3C"/>
              </a:solidFill>
              <a:ln w="9525" cap="flat">
                <a:noFill/>
                <a:prstDash val="solid"/>
                <a:miter/>
              </a:ln>
            </p:spPr>
            <p:txBody>
              <a:bodyPr rtlCol="0" anchor="ctr"/>
              <a:lstStyle/>
              <a:p>
                <a:endParaRPr lang="fr-FR" sz="2400"/>
              </a:p>
            </p:txBody>
          </p:sp>
          <p:sp>
            <p:nvSpPr>
              <p:cNvPr id="25" name="Forme libre : forme 24">
                <a:extLst>
                  <a:ext uri="{FF2B5EF4-FFF2-40B4-BE49-F238E27FC236}">
                    <a16:creationId xmlns:a16="http://schemas.microsoft.com/office/drawing/2014/main" id="{024850A8-8D36-482C-89B1-9A0DF65551BD}"/>
                  </a:ext>
                </a:extLst>
              </p:cNvPr>
              <p:cNvSpPr/>
              <p:nvPr/>
            </p:nvSpPr>
            <p:spPr>
              <a:xfrm>
                <a:off x="4311705" y="3199161"/>
                <a:ext cx="667170" cy="837247"/>
              </a:xfrm>
              <a:custGeom>
                <a:avLst/>
                <a:gdLst>
                  <a:gd name="connsiteX0" fmla="*/ 413552 w 667170"/>
                  <a:gd name="connsiteY0" fmla="*/ 346234 h 837247"/>
                  <a:gd name="connsiteX1" fmla="*/ 413552 w 667170"/>
                  <a:gd name="connsiteY1" fmla="*/ 346043 h 837247"/>
                  <a:gd name="connsiteX2" fmla="*/ 270391 w 667170"/>
                  <a:gd name="connsiteY2" fmla="*/ 346043 h 837247"/>
                  <a:gd name="connsiteX3" fmla="*/ 151614 w 667170"/>
                  <a:gd name="connsiteY3" fmla="*/ 241649 h 837247"/>
                  <a:gd name="connsiteX4" fmla="*/ 323255 w 667170"/>
                  <a:gd name="connsiteY4" fmla="*/ 139256 h 837247"/>
                  <a:gd name="connsiteX5" fmla="*/ 571952 w 667170"/>
                  <a:gd name="connsiteY5" fmla="*/ 184309 h 837247"/>
                  <a:gd name="connsiteX6" fmla="*/ 626531 w 667170"/>
                  <a:gd name="connsiteY6" fmla="*/ 55912 h 837247"/>
                  <a:gd name="connsiteX7" fmla="*/ 339161 w 667170"/>
                  <a:gd name="connsiteY7" fmla="*/ 0 h 837247"/>
                  <a:gd name="connsiteX8" fmla="*/ 357 w 667170"/>
                  <a:gd name="connsiteY8" fmla="*/ 243650 h 837247"/>
                  <a:gd name="connsiteX9" fmla="*/ 253627 w 667170"/>
                  <a:gd name="connsiteY9" fmla="*/ 491204 h 837247"/>
                  <a:gd name="connsiteX10" fmla="*/ 253627 w 667170"/>
                  <a:gd name="connsiteY10" fmla="*/ 491395 h 837247"/>
                  <a:gd name="connsiteX11" fmla="*/ 396788 w 667170"/>
                  <a:gd name="connsiteY11" fmla="*/ 491395 h 837247"/>
                  <a:gd name="connsiteX12" fmla="*/ 515564 w 667170"/>
                  <a:gd name="connsiteY12" fmla="*/ 595694 h 837247"/>
                  <a:gd name="connsiteX13" fmla="*/ 343924 w 667170"/>
                  <a:gd name="connsiteY13" fmla="*/ 698087 h 837247"/>
                  <a:gd name="connsiteX14" fmla="*/ 68080 w 667170"/>
                  <a:gd name="connsiteY14" fmla="*/ 640842 h 837247"/>
                  <a:gd name="connsiteX15" fmla="*/ 13978 w 667170"/>
                  <a:gd name="connsiteY15" fmla="*/ 768572 h 837247"/>
                  <a:gd name="connsiteX16" fmla="*/ 328017 w 667170"/>
                  <a:gd name="connsiteY16" fmla="*/ 837247 h 837247"/>
                  <a:gd name="connsiteX17" fmla="*/ 666821 w 667170"/>
                  <a:gd name="connsiteY17" fmla="*/ 593598 h 837247"/>
                  <a:gd name="connsiteX18" fmla="*/ 413552 w 667170"/>
                  <a:gd name="connsiteY18" fmla="*/ 346234 h 83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70" h="837247">
                    <a:moveTo>
                      <a:pt x="413552" y="346234"/>
                    </a:moveTo>
                    <a:lnTo>
                      <a:pt x="413552" y="346043"/>
                    </a:lnTo>
                    <a:lnTo>
                      <a:pt x="270391" y="346043"/>
                    </a:lnTo>
                    <a:cubicBezTo>
                      <a:pt x="190857" y="346043"/>
                      <a:pt x="148376" y="315373"/>
                      <a:pt x="151614" y="241649"/>
                    </a:cubicBezTo>
                    <a:cubicBezTo>
                      <a:pt x="154948" y="163830"/>
                      <a:pt x="239720" y="139256"/>
                      <a:pt x="323255" y="139256"/>
                    </a:cubicBezTo>
                    <a:cubicBezTo>
                      <a:pt x="442317" y="139256"/>
                      <a:pt x="530233" y="167545"/>
                      <a:pt x="571952" y="184309"/>
                    </a:cubicBezTo>
                    <a:lnTo>
                      <a:pt x="626531" y="55912"/>
                    </a:lnTo>
                    <a:cubicBezTo>
                      <a:pt x="580715" y="36004"/>
                      <a:pt x="478607" y="0"/>
                      <a:pt x="339161" y="0"/>
                    </a:cubicBezTo>
                    <a:cubicBezTo>
                      <a:pt x="199906" y="0"/>
                      <a:pt x="8549" y="55245"/>
                      <a:pt x="357" y="243650"/>
                    </a:cubicBezTo>
                    <a:cubicBezTo>
                      <a:pt x="-7644" y="427196"/>
                      <a:pt x="120086" y="488252"/>
                      <a:pt x="253627" y="491204"/>
                    </a:cubicBezTo>
                    <a:lnTo>
                      <a:pt x="253627" y="491395"/>
                    </a:lnTo>
                    <a:lnTo>
                      <a:pt x="396788" y="491395"/>
                    </a:lnTo>
                    <a:cubicBezTo>
                      <a:pt x="476321" y="491395"/>
                      <a:pt x="518803" y="522065"/>
                      <a:pt x="515564" y="595694"/>
                    </a:cubicBezTo>
                    <a:cubicBezTo>
                      <a:pt x="512231" y="673513"/>
                      <a:pt x="427458" y="698087"/>
                      <a:pt x="343924" y="698087"/>
                    </a:cubicBezTo>
                    <a:cubicBezTo>
                      <a:pt x="174855" y="698087"/>
                      <a:pt x="68080" y="640842"/>
                      <a:pt x="68080" y="640842"/>
                    </a:cubicBezTo>
                    <a:lnTo>
                      <a:pt x="13978" y="768572"/>
                    </a:lnTo>
                    <a:cubicBezTo>
                      <a:pt x="13978" y="768572"/>
                      <a:pt x="135612" y="837247"/>
                      <a:pt x="328017" y="837247"/>
                    </a:cubicBezTo>
                    <a:cubicBezTo>
                      <a:pt x="467273" y="837247"/>
                      <a:pt x="658630" y="782003"/>
                      <a:pt x="666821" y="593598"/>
                    </a:cubicBezTo>
                    <a:cubicBezTo>
                      <a:pt x="674727" y="410337"/>
                      <a:pt x="547092" y="349282"/>
                      <a:pt x="413552" y="346234"/>
                    </a:cubicBezTo>
                    <a:close/>
                  </a:path>
                </a:pathLst>
              </a:custGeom>
              <a:solidFill>
                <a:srgbClr val="3C3C3C"/>
              </a:solidFill>
              <a:ln w="9525" cap="flat">
                <a:noFill/>
                <a:prstDash val="solid"/>
                <a:miter/>
              </a:ln>
            </p:spPr>
            <p:txBody>
              <a:bodyPr rtlCol="0" anchor="ctr"/>
              <a:lstStyle/>
              <a:p>
                <a:endParaRPr lang="fr-FR" sz="2400"/>
              </a:p>
            </p:txBody>
          </p:sp>
          <p:sp>
            <p:nvSpPr>
              <p:cNvPr id="34" name="Forme libre : forme 33">
                <a:extLst>
                  <a:ext uri="{FF2B5EF4-FFF2-40B4-BE49-F238E27FC236}">
                    <a16:creationId xmlns:a16="http://schemas.microsoft.com/office/drawing/2014/main" id="{C4D8D355-EDAD-414F-BF39-20AEE0C91120}"/>
                  </a:ext>
                </a:extLst>
              </p:cNvPr>
              <p:cNvSpPr/>
              <p:nvPr/>
            </p:nvSpPr>
            <p:spPr>
              <a:xfrm>
                <a:off x="2471737" y="3201066"/>
                <a:ext cx="761618" cy="833246"/>
              </a:xfrm>
              <a:custGeom>
                <a:avLst/>
                <a:gdLst>
                  <a:gd name="connsiteX0" fmla="*/ 378714 w 761618"/>
                  <a:gd name="connsiteY0" fmla="*/ 0 h 833246"/>
                  <a:gd name="connsiteX1" fmla="*/ 66485 w 761618"/>
                  <a:gd name="connsiteY1" fmla="*/ 51244 h 833246"/>
                  <a:gd name="connsiteX2" fmla="*/ 129445 w 761618"/>
                  <a:gd name="connsiteY2" fmla="*/ 179546 h 833246"/>
                  <a:gd name="connsiteX3" fmla="*/ 396716 w 761618"/>
                  <a:gd name="connsiteY3" fmla="*/ 139255 h 833246"/>
                  <a:gd name="connsiteX4" fmla="*/ 602552 w 761618"/>
                  <a:gd name="connsiteY4" fmla="*/ 288798 h 833246"/>
                  <a:gd name="connsiteX5" fmla="*/ 602552 w 761618"/>
                  <a:gd name="connsiteY5" fmla="*/ 338233 h 833246"/>
                  <a:gd name="connsiteX6" fmla="*/ 288322 w 761618"/>
                  <a:gd name="connsiteY6" fmla="*/ 338233 h 833246"/>
                  <a:gd name="connsiteX7" fmla="*/ 0 w 761618"/>
                  <a:gd name="connsiteY7" fmla="*/ 584645 h 833246"/>
                  <a:gd name="connsiteX8" fmla="*/ 310991 w 761618"/>
                  <a:gd name="connsiteY8" fmla="*/ 833247 h 833246"/>
                  <a:gd name="connsiteX9" fmla="*/ 602552 w 761618"/>
                  <a:gd name="connsiteY9" fmla="*/ 718756 h 833246"/>
                  <a:gd name="connsiteX10" fmla="*/ 602552 w 761618"/>
                  <a:gd name="connsiteY10" fmla="*/ 833247 h 833246"/>
                  <a:gd name="connsiteX11" fmla="*/ 761619 w 761618"/>
                  <a:gd name="connsiteY11" fmla="*/ 833247 h 833246"/>
                  <a:gd name="connsiteX12" fmla="*/ 761619 w 761618"/>
                  <a:gd name="connsiteY12" fmla="*/ 243554 h 833246"/>
                  <a:gd name="connsiteX13" fmla="*/ 378714 w 761618"/>
                  <a:gd name="connsiteY13" fmla="*/ 0 h 833246"/>
                  <a:gd name="connsiteX14" fmla="*/ 602552 w 761618"/>
                  <a:gd name="connsiteY14" fmla="*/ 507206 h 833246"/>
                  <a:gd name="connsiteX15" fmla="*/ 340328 w 761618"/>
                  <a:gd name="connsiteY15" fmla="*/ 701992 h 833246"/>
                  <a:gd name="connsiteX16" fmla="*/ 163068 w 761618"/>
                  <a:gd name="connsiteY16" fmla="*/ 582644 h 833246"/>
                  <a:gd name="connsiteX17" fmla="*/ 298323 w 761618"/>
                  <a:gd name="connsiteY17" fmla="*/ 463296 h 833246"/>
                  <a:gd name="connsiteX18" fmla="*/ 602647 w 761618"/>
                  <a:gd name="connsiteY18" fmla="*/ 463296 h 833246"/>
                  <a:gd name="connsiteX19" fmla="*/ 602647 w 761618"/>
                  <a:gd name="connsiteY19" fmla="*/ 507206 h 83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61618" h="833246">
                    <a:moveTo>
                      <a:pt x="378714" y="0"/>
                    </a:moveTo>
                    <a:cubicBezTo>
                      <a:pt x="232886" y="0"/>
                      <a:pt x="123063" y="30861"/>
                      <a:pt x="66485" y="51244"/>
                    </a:cubicBezTo>
                    <a:lnTo>
                      <a:pt x="129445" y="179546"/>
                    </a:lnTo>
                    <a:cubicBezTo>
                      <a:pt x="180880" y="162687"/>
                      <a:pt x="274320" y="139255"/>
                      <a:pt x="396716" y="139255"/>
                    </a:cubicBezTo>
                    <a:cubicBezTo>
                      <a:pt x="491204" y="139255"/>
                      <a:pt x="602552" y="164973"/>
                      <a:pt x="602552" y="288798"/>
                    </a:cubicBezTo>
                    <a:cubicBezTo>
                      <a:pt x="602552" y="288798"/>
                      <a:pt x="602361" y="334042"/>
                      <a:pt x="602552" y="338233"/>
                    </a:cubicBezTo>
                    <a:lnTo>
                      <a:pt x="288322" y="338233"/>
                    </a:lnTo>
                    <a:cubicBezTo>
                      <a:pt x="129254" y="338042"/>
                      <a:pt x="0" y="393763"/>
                      <a:pt x="0" y="584645"/>
                    </a:cubicBezTo>
                    <a:cubicBezTo>
                      <a:pt x="0" y="755332"/>
                      <a:pt x="139732" y="833247"/>
                      <a:pt x="310991" y="833247"/>
                    </a:cubicBezTo>
                    <a:cubicBezTo>
                      <a:pt x="513779" y="833247"/>
                      <a:pt x="602552" y="718756"/>
                      <a:pt x="602552" y="718756"/>
                    </a:cubicBezTo>
                    <a:lnTo>
                      <a:pt x="602552" y="833247"/>
                    </a:lnTo>
                    <a:lnTo>
                      <a:pt x="761619" y="833247"/>
                    </a:lnTo>
                    <a:lnTo>
                      <a:pt x="761619" y="243554"/>
                    </a:lnTo>
                    <a:cubicBezTo>
                      <a:pt x="752475" y="55150"/>
                      <a:pt x="536067" y="0"/>
                      <a:pt x="378714" y="0"/>
                    </a:cubicBezTo>
                    <a:close/>
                    <a:moveTo>
                      <a:pt x="602552" y="507206"/>
                    </a:moveTo>
                    <a:cubicBezTo>
                      <a:pt x="602552" y="630364"/>
                      <a:pt x="445294" y="701992"/>
                      <a:pt x="340328" y="701992"/>
                    </a:cubicBezTo>
                    <a:cubicBezTo>
                      <a:pt x="262795" y="701992"/>
                      <a:pt x="163068" y="676084"/>
                      <a:pt x="163068" y="582644"/>
                    </a:cubicBezTo>
                    <a:cubicBezTo>
                      <a:pt x="163068" y="489204"/>
                      <a:pt x="216789" y="463296"/>
                      <a:pt x="298323" y="463296"/>
                    </a:cubicBezTo>
                    <a:lnTo>
                      <a:pt x="602647" y="463296"/>
                    </a:lnTo>
                    <a:lnTo>
                      <a:pt x="602647" y="507206"/>
                    </a:lnTo>
                    <a:close/>
                  </a:path>
                </a:pathLst>
              </a:custGeom>
              <a:solidFill>
                <a:srgbClr val="3C3C3C"/>
              </a:solidFill>
              <a:ln w="9525" cap="flat">
                <a:noFill/>
                <a:prstDash val="solid"/>
                <a:miter/>
              </a:ln>
            </p:spPr>
            <p:txBody>
              <a:bodyPr rtlCol="0" anchor="ctr"/>
              <a:lstStyle/>
              <a:p>
                <a:endParaRPr lang="fr-FR" sz="2400"/>
              </a:p>
            </p:txBody>
          </p:sp>
        </p:grpSp>
        <p:sp>
          <p:nvSpPr>
            <p:cNvPr id="17" name="Forme libre : forme 16">
              <a:extLst>
                <a:ext uri="{FF2B5EF4-FFF2-40B4-BE49-F238E27FC236}">
                  <a16:creationId xmlns:a16="http://schemas.microsoft.com/office/drawing/2014/main" id="{7148A700-F7D8-4402-9F95-58B18F8C236D}"/>
                </a:ext>
              </a:extLst>
            </p:cNvPr>
            <p:cNvSpPr/>
            <p:nvPr/>
          </p:nvSpPr>
          <p:spPr>
            <a:xfrm>
              <a:off x="4142993" y="1104900"/>
              <a:ext cx="859916" cy="433102"/>
            </a:xfrm>
            <a:custGeom>
              <a:avLst/>
              <a:gdLst>
                <a:gd name="connsiteX0" fmla="*/ 859917 w 859916"/>
                <a:gd name="connsiteY0" fmla="*/ 124968 h 433102"/>
                <a:gd name="connsiteX1" fmla="*/ 431387 w 859916"/>
                <a:gd name="connsiteY1" fmla="*/ 0 h 433102"/>
                <a:gd name="connsiteX2" fmla="*/ 0 w 859916"/>
                <a:gd name="connsiteY2" fmla="*/ 118967 h 433102"/>
                <a:gd name="connsiteX3" fmla="*/ 430435 w 859916"/>
                <a:gd name="connsiteY3" fmla="*/ 433102 h 433102"/>
                <a:gd name="connsiteX4" fmla="*/ 859917 w 859916"/>
                <a:gd name="connsiteY4" fmla="*/ 124968 h 43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916" h="433102">
                  <a:moveTo>
                    <a:pt x="859917" y="124968"/>
                  </a:moveTo>
                  <a:cubicBezTo>
                    <a:pt x="742759" y="49720"/>
                    <a:pt x="588645" y="0"/>
                    <a:pt x="431387" y="0"/>
                  </a:cubicBezTo>
                  <a:cubicBezTo>
                    <a:pt x="285274" y="0"/>
                    <a:pt x="134779" y="35719"/>
                    <a:pt x="0" y="118967"/>
                  </a:cubicBezTo>
                  <a:cubicBezTo>
                    <a:pt x="0" y="118967"/>
                    <a:pt x="183642" y="432530"/>
                    <a:pt x="430435" y="433102"/>
                  </a:cubicBezTo>
                  <a:cubicBezTo>
                    <a:pt x="677132" y="433673"/>
                    <a:pt x="859917" y="124968"/>
                    <a:pt x="859917" y="124968"/>
                  </a:cubicBezTo>
                  <a:close/>
                </a:path>
              </a:pathLst>
            </a:custGeom>
            <a:solidFill>
              <a:srgbClr val="FFE800"/>
            </a:solidFill>
            <a:ln w="9525" cap="flat">
              <a:noFill/>
              <a:prstDash val="solid"/>
              <a:miter/>
            </a:ln>
          </p:spPr>
          <p:txBody>
            <a:bodyPr rtlCol="0" anchor="ctr"/>
            <a:lstStyle/>
            <a:p>
              <a:endParaRPr lang="fr-FR" sz="2400"/>
            </a:p>
          </p:txBody>
        </p:sp>
        <p:sp>
          <p:nvSpPr>
            <p:cNvPr id="18" name="Forme libre : forme 17">
              <a:extLst>
                <a:ext uri="{FF2B5EF4-FFF2-40B4-BE49-F238E27FC236}">
                  <a16:creationId xmlns:a16="http://schemas.microsoft.com/office/drawing/2014/main" id="{043231D7-5025-44C3-900B-149CF010FC9F}"/>
                </a:ext>
              </a:extLst>
            </p:cNvPr>
            <p:cNvSpPr/>
            <p:nvPr/>
          </p:nvSpPr>
          <p:spPr>
            <a:xfrm>
              <a:off x="3749374" y="1300924"/>
              <a:ext cx="466844" cy="817244"/>
            </a:xfrm>
            <a:custGeom>
              <a:avLst/>
              <a:gdLst>
                <a:gd name="connsiteX0" fmla="*/ 287416 w 466844"/>
                <a:gd name="connsiteY0" fmla="*/ 0 h 817244"/>
                <a:gd name="connsiteX1" fmla="*/ 40051 w 466844"/>
                <a:gd name="connsiteY1" fmla="*/ 371570 h 817244"/>
                <a:gd name="connsiteX2" fmla="*/ 24145 w 466844"/>
                <a:gd name="connsiteY2" fmla="*/ 817245 h 817244"/>
                <a:gd name="connsiteX3" fmla="*/ 451722 w 466844"/>
                <a:gd name="connsiteY3" fmla="*/ 506444 h 817244"/>
                <a:gd name="connsiteX4" fmla="*/ 287416 w 466844"/>
                <a:gd name="connsiteY4" fmla="*/ 0 h 817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844" h="817244">
                  <a:moveTo>
                    <a:pt x="287416" y="0"/>
                  </a:moveTo>
                  <a:cubicBezTo>
                    <a:pt x="175021" y="94488"/>
                    <a:pt x="88915" y="222123"/>
                    <a:pt x="40051" y="371570"/>
                  </a:cubicBezTo>
                  <a:cubicBezTo>
                    <a:pt x="-8907" y="521018"/>
                    <a:pt x="-11479" y="669322"/>
                    <a:pt x="24145" y="817245"/>
                  </a:cubicBezTo>
                  <a:cubicBezTo>
                    <a:pt x="24145" y="817245"/>
                    <a:pt x="374855" y="740855"/>
                    <a:pt x="451722" y="506444"/>
                  </a:cubicBezTo>
                  <a:cubicBezTo>
                    <a:pt x="528589" y="272034"/>
                    <a:pt x="287416" y="0"/>
                    <a:pt x="287416" y="0"/>
                  </a:cubicBezTo>
                  <a:close/>
                </a:path>
              </a:pathLst>
            </a:custGeom>
            <a:solidFill>
              <a:srgbClr val="FF9940"/>
            </a:solidFill>
            <a:ln w="9525" cap="flat">
              <a:noFill/>
              <a:prstDash val="solid"/>
              <a:miter/>
            </a:ln>
          </p:spPr>
          <p:txBody>
            <a:bodyPr rtlCol="0" anchor="ctr"/>
            <a:lstStyle/>
            <a:p>
              <a:endParaRPr lang="fr-FR" sz="2400"/>
            </a:p>
          </p:txBody>
        </p:sp>
        <p:sp>
          <p:nvSpPr>
            <p:cNvPr id="19" name="Forme libre : forme 18">
              <a:extLst>
                <a:ext uri="{FF2B5EF4-FFF2-40B4-BE49-F238E27FC236}">
                  <a16:creationId xmlns:a16="http://schemas.microsoft.com/office/drawing/2014/main" id="{A057539C-0DF8-4385-B5A0-076759EE1E9E}"/>
                </a:ext>
              </a:extLst>
            </p:cNvPr>
            <p:cNvSpPr/>
            <p:nvPr/>
          </p:nvSpPr>
          <p:spPr>
            <a:xfrm>
              <a:off x="3810094" y="2167431"/>
              <a:ext cx="695999" cy="571005"/>
            </a:xfrm>
            <a:custGeom>
              <a:avLst/>
              <a:gdLst>
                <a:gd name="connsiteX0" fmla="*/ 0 w 695999"/>
                <a:gd name="connsiteY0" fmla="*/ 63418 h 571005"/>
                <a:gd name="connsiteX1" fmla="*/ 274034 w 695999"/>
                <a:gd name="connsiteY1" fmla="*/ 414986 h 571005"/>
                <a:gd name="connsiteX2" fmla="*/ 693611 w 695999"/>
                <a:gd name="connsiteY2" fmla="*/ 571006 h 571005"/>
                <a:gd name="connsiteX3" fmla="*/ 529400 w 695999"/>
                <a:gd name="connsiteY3" fmla="*/ 65133 h 571005"/>
                <a:gd name="connsiteX4" fmla="*/ 0 w 695999"/>
                <a:gd name="connsiteY4" fmla="*/ 63418 h 57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999" h="571005">
                  <a:moveTo>
                    <a:pt x="0" y="63418"/>
                  </a:moveTo>
                  <a:cubicBezTo>
                    <a:pt x="57436" y="202198"/>
                    <a:pt x="148876" y="322022"/>
                    <a:pt x="274034" y="414986"/>
                  </a:cubicBezTo>
                  <a:cubicBezTo>
                    <a:pt x="400241" y="508712"/>
                    <a:pt x="552926" y="561671"/>
                    <a:pt x="693611" y="571006"/>
                  </a:cubicBezTo>
                  <a:cubicBezTo>
                    <a:pt x="693611" y="571006"/>
                    <a:pt x="728758" y="210675"/>
                    <a:pt x="529400" y="65133"/>
                  </a:cubicBezTo>
                  <a:cubicBezTo>
                    <a:pt x="330041" y="-80409"/>
                    <a:pt x="0" y="63418"/>
                    <a:pt x="0" y="63418"/>
                  </a:cubicBezTo>
                  <a:close/>
                </a:path>
              </a:pathLst>
            </a:custGeom>
            <a:solidFill>
              <a:srgbClr val="E1000F"/>
            </a:solidFill>
            <a:ln w="9525" cap="flat">
              <a:noFill/>
              <a:prstDash val="solid"/>
              <a:miter/>
            </a:ln>
          </p:spPr>
          <p:txBody>
            <a:bodyPr rtlCol="0" anchor="ctr"/>
            <a:lstStyle/>
            <a:p>
              <a:endParaRPr lang="fr-FR" sz="2400"/>
            </a:p>
          </p:txBody>
        </p:sp>
        <p:sp>
          <p:nvSpPr>
            <p:cNvPr id="20" name="Forme libre : forme 19">
              <a:extLst>
                <a:ext uri="{FF2B5EF4-FFF2-40B4-BE49-F238E27FC236}">
                  <a16:creationId xmlns:a16="http://schemas.microsoft.com/office/drawing/2014/main" id="{C9A25EC6-816D-4BF1-B5DF-B2396460CD9C}"/>
                </a:ext>
              </a:extLst>
            </p:cNvPr>
            <p:cNvSpPr/>
            <p:nvPr/>
          </p:nvSpPr>
          <p:spPr>
            <a:xfrm>
              <a:off x="4633686" y="2165635"/>
              <a:ext cx="694216" cy="572421"/>
            </a:xfrm>
            <a:custGeom>
              <a:avLst/>
              <a:gdLst>
                <a:gd name="connsiteX0" fmla="*/ 3178 w 694216"/>
                <a:gd name="connsiteY0" fmla="*/ 572422 h 572421"/>
                <a:gd name="connsiteX1" fmla="*/ 420087 w 694216"/>
                <a:gd name="connsiteY1" fmla="*/ 414783 h 572421"/>
                <a:gd name="connsiteX2" fmla="*/ 694217 w 694216"/>
                <a:gd name="connsiteY2" fmla="*/ 61024 h 572421"/>
                <a:gd name="connsiteX3" fmla="*/ 161960 w 694216"/>
                <a:gd name="connsiteY3" fmla="*/ 66930 h 572421"/>
                <a:gd name="connsiteX4" fmla="*/ 3178 w 694216"/>
                <a:gd name="connsiteY4" fmla="*/ 572422 h 572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216" h="572421">
                  <a:moveTo>
                    <a:pt x="3178" y="572422"/>
                  </a:moveTo>
                  <a:cubicBezTo>
                    <a:pt x="160817" y="556705"/>
                    <a:pt x="292738" y="506985"/>
                    <a:pt x="420087" y="414783"/>
                  </a:cubicBezTo>
                  <a:cubicBezTo>
                    <a:pt x="543341" y="325533"/>
                    <a:pt x="637162" y="199327"/>
                    <a:pt x="694217" y="61024"/>
                  </a:cubicBezTo>
                  <a:cubicBezTo>
                    <a:pt x="694217" y="61024"/>
                    <a:pt x="360080" y="-80136"/>
                    <a:pt x="161960" y="66930"/>
                  </a:cubicBezTo>
                  <a:cubicBezTo>
                    <a:pt x="-36160" y="213996"/>
                    <a:pt x="3178" y="572422"/>
                    <a:pt x="3178" y="572422"/>
                  </a:cubicBezTo>
                  <a:close/>
                </a:path>
              </a:pathLst>
            </a:custGeom>
            <a:solidFill>
              <a:srgbClr val="5770BE"/>
            </a:solidFill>
            <a:ln w="9525" cap="flat">
              <a:noFill/>
              <a:prstDash val="solid"/>
              <a:miter/>
            </a:ln>
          </p:spPr>
          <p:txBody>
            <a:bodyPr rtlCol="0" anchor="ctr"/>
            <a:lstStyle/>
            <a:p>
              <a:endParaRPr lang="fr-FR" sz="2400"/>
            </a:p>
          </p:txBody>
        </p:sp>
        <p:sp>
          <p:nvSpPr>
            <p:cNvPr id="21" name="Forme libre : forme 20">
              <a:extLst>
                <a:ext uri="{FF2B5EF4-FFF2-40B4-BE49-F238E27FC236}">
                  <a16:creationId xmlns:a16="http://schemas.microsoft.com/office/drawing/2014/main" id="{B6F03869-A025-426A-8DB2-BBE57A2FA149}"/>
                </a:ext>
              </a:extLst>
            </p:cNvPr>
            <p:cNvSpPr/>
            <p:nvPr/>
          </p:nvSpPr>
          <p:spPr>
            <a:xfrm>
              <a:off x="4920405" y="1302353"/>
              <a:ext cx="465742" cy="817435"/>
            </a:xfrm>
            <a:custGeom>
              <a:avLst/>
              <a:gdLst>
                <a:gd name="connsiteX0" fmla="*/ 441883 w 465742"/>
                <a:gd name="connsiteY0" fmla="*/ 817436 h 817435"/>
                <a:gd name="connsiteX1" fmla="*/ 427024 w 465742"/>
                <a:gd name="connsiteY1" fmla="*/ 371189 h 817435"/>
                <a:gd name="connsiteX2" fmla="*/ 180707 w 465742"/>
                <a:gd name="connsiteY2" fmla="*/ 0 h 817435"/>
                <a:gd name="connsiteX3" fmla="*/ 14687 w 465742"/>
                <a:gd name="connsiteY3" fmla="*/ 504158 h 817435"/>
                <a:gd name="connsiteX4" fmla="*/ 441883 w 465742"/>
                <a:gd name="connsiteY4" fmla="*/ 817436 h 81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742" h="817435">
                  <a:moveTo>
                    <a:pt x="441883" y="817436"/>
                  </a:moveTo>
                  <a:cubicBezTo>
                    <a:pt x="476268" y="675799"/>
                    <a:pt x="475316" y="520827"/>
                    <a:pt x="427024" y="371189"/>
                  </a:cubicBezTo>
                  <a:cubicBezTo>
                    <a:pt x="378732" y="221552"/>
                    <a:pt x="292340" y="97917"/>
                    <a:pt x="180707" y="0"/>
                  </a:cubicBezTo>
                  <a:cubicBezTo>
                    <a:pt x="180707" y="0"/>
                    <a:pt x="-61037" y="269272"/>
                    <a:pt x="14687" y="504158"/>
                  </a:cubicBezTo>
                  <a:cubicBezTo>
                    <a:pt x="90410" y="739045"/>
                    <a:pt x="441883" y="817436"/>
                    <a:pt x="441883" y="817436"/>
                  </a:cubicBezTo>
                  <a:close/>
                </a:path>
              </a:pathLst>
            </a:custGeom>
            <a:solidFill>
              <a:srgbClr val="00AC8C"/>
            </a:solidFill>
            <a:ln w="9525" cap="flat">
              <a:noFill/>
              <a:prstDash val="solid"/>
              <a:miter/>
            </a:ln>
          </p:spPr>
          <p:txBody>
            <a:bodyPr rtlCol="0" anchor="ctr"/>
            <a:lstStyle/>
            <a:p>
              <a:endParaRPr lang="fr-FR" sz="2400"/>
            </a:p>
          </p:txBody>
        </p:sp>
      </p:grpSp>
      <p:sp>
        <p:nvSpPr>
          <p:cNvPr id="36" name="Espace réservé du texte 10">
            <a:extLst>
              <a:ext uri="{FF2B5EF4-FFF2-40B4-BE49-F238E27FC236}">
                <a16:creationId xmlns:a16="http://schemas.microsoft.com/office/drawing/2014/main" id="{F1AA8A00-22A6-4AC2-960F-2483AE678205}"/>
              </a:ext>
            </a:extLst>
          </p:cNvPr>
          <p:cNvSpPr>
            <a:spLocks noGrp="1"/>
          </p:cNvSpPr>
          <p:nvPr>
            <p:ph type="body" sz="quarter" idx="14" hasCustomPrompt="1"/>
          </p:nvPr>
        </p:nvSpPr>
        <p:spPr bwMode="gray">
          <a:xfrm>
            <a:off x="480000" y="3128061"/>
            <a:ext cx="11232000" cy="2769600"/>
          </a:xfrm>
        </p:spPr>
        <p:txBody>
          <a:bodyPr/>
          <a:lstStyle>
            <a:lvl1pPr>
              <a:lnSpc>
                <a:spcPct val="90000"/>
              </a:lnSpc>
              <a:spcAft>
                <a:spcPts val="0"/>
              </a:spcAft>
              <a:defRPr sz="4333" b="1" cap="all" baseline="0">
                <a:solidFill>
                  <a:srgbClr val="262626"/>
                </a:solidFill>
              </a:defRPr>
            </a:lvl1pPr>
            <a:lvl2pPr marL="0" indent="0">
              <a:spcBef>
                <a:spcPts val="667"/>
              </a:spcBef>
              <a:spcAft>
                <a:spcPts val="0"/>
              </a:spcAft>
              <a:buNone/>
              <a:defRPr sz="2467" baseline="0"/>
            </a:lvl2pPr>
          </a:lstStyle>
          <a:p>
            <a:pPr lvl="0"/>
            <a:r>
              <a:rPr lang="fr-FR" dirty="0"/>
              <a:t>Titre de la présentation </a:t>
            </a:r>
            <a:br>
              <a:rPr lang="fr-FR" dirty="0"/>
            </a:br>
            <a:r>
              <a:rPr lang="fr-FR" dirty="0"/>
              <a:t>sur deux lignes maximum</a:t>
            </a:r>
          </a:p>
          <a:p>
            <a:pPr lvl="1"/>
            <a:r>
              <a:rPr lang="fr-FR" dirty="0"/>
              <a:t>Sous-titre de la présentation </a:t>
            </a:r>
            <a:br>
              <a:rPr lang="fr-FR" dirty="0"/>
            </a:br>
            <a:r>
              <a:rPr lang="fr-FR" dirty="0"/>
              <a:t>sur deux lignes maximum</a:t>
            </a:r>
          </a:p>
        </p:txBody>
      </p:sp>
      <p:sp>
        <p:nvSpPr>
          <p:cNvPr id="7" name="Espace réservé de la date 6">
            <a:extLst>
              <a:ext uri="{FF2B5EF4-FFF2-40B4-BE49-F238E27FC236}">
                <a16:creationId xmlns:a16="http://schemas.microsoft.com/office/drawing/2014/main" id="{972FC0E8-6F73-4131-92BB-23652B1A5AB6}"/>
              </a:ext>
            </a:extLst>
          </p:cNvPr>
          <p:cNvSpPr>
            <a:spLocks noGrp="1"/>
          </p:cNvSpPr>
          <p:nvPr>
            <p:ph type="dt" sz="half" idx="15"/>
          </p:nvPr>
        </p:nvSpPr>
        <p:spPr>
          <a:xfrm>
            <a:off x="10266300" y="6212901"/>
            <a:ext cx="1560000" cy="282572"/>
          </a:xfrm>
        </p:spPr>
        <p:txBody>
          <a:bodyPr>
            <a:noAutofit/>
          </a:bodyPr>
          <a:lstStyle/>
          <a:p>
            <a:pPr algn="r"/>
            <a:r>
              <a:rPr lang="fr-FR" cap="all"/>
              <a:t>XX/XX/2021</a:t>
            </a:r>
            <a:endParaRPr lang="fr-FR" cap="all" dirty="0"/>
          </a:p>
        </p:txBody>
      </p:sp>
      <p:sp>
        <p:nvSpPr>
          <p:cNvPr id="9" name="Espace réservé du numéro de diapositive 8">
            <a:extLst>
              <a:ext uri="{FF2B5EF4-FFF2-40B4-BE49-F238E27FC236}">
                <a16:creationId xmlns:a16="http://schemas.microsoft.com/office/drawing/2014/main" id="{471DF7BD-76CD-45EB-8FE8-07FE684BDF9D}"/>
              </a:ext>
            </a:extLst>
          </p:cNvPr>
          <p:cNvSpPr>
            <a:spLocks noGrp="1"/>
          </p:cNvSpPr>
          <p:nvPr>
            <p:ph type="sldNum" sz="quarter" idx="17"/>
          </p:nvPr>
        </p:nvSpPr>
        <p:spPr/>
        <p:txBody>
          <a:bodyPr>
            <a:noAutofit/>
          </a:body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42033306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Couverture GB">
    <p:spTree>
      <p:nvGrpSpPr>
        <p:cNvPr id="1" name=""/>
        <p:cNvGrpSpPr/>
        <p:nvPr/>
      </p:nvGrpSpPr>
      <p:grpSpPr>
        <a:xfrm>
          <a:off x="0" y="0"/>
          <a:ext cx="0" cy="0"/>
          <a:chOff x="0" y="0"/>
          <a:chExt cx="0" cy="0"/>
        </a:xfrm>
      </p:grpSpPr>
      <p:sp>
        <p:nvSpPr>
          <p:cNvPr id="26" name="ZoneTexte 25"/>
          <p:cNvSpPr txBox="1"/>
          <p:nvPr userDrawn="1"/>
        </p:nvSpPr>
        <p:spPr>
          <a:xfrm>
            <a:off x="365190" y="6059015"/>
            <a:ext cx="4962725" cy="761299"/>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947" b="1" kern="1200" cap="all" baseline="0" dirty="0" err="1">
                <a:solidFill>
                  <a:schemeClr val="tx2"/>
                </a:solidFill>
                <a:latin typeface="+mn-lt"/>
                <a:ea typeface="+mn-ea"/>
                <a:cs typeface="+mn-cs"/>
              </a:rPr>
              <a:t>Investigate</a:t>
            </a:r>
            <a:r>
              <a:rPr lang="fr-FR" sz="1947" b="1" kern="1200" cap="all" baseline="0" dirty="0">
                <a:solidFill>
                  <a:schemeClr val="tx2"/>
                </a:solidFill>
                <a:latin typeface="+mn-lt"/>
                <a:ea typeface="+mn-ea"/>
                <a:cs typeface="+mn-cs"/>
              </a:rPr>
              <a:t>, </a:t>
            </a:r>
            <a:r>
              <a:rPr lang="fr-FR" sz="1947" b="1" kern="1200" cap="all" baseline="0" dirty="0" err="1">
                <a:solidFill>
                  <a:schemeClr val="tx2"/>
                </a:solidFill>
                <a:latin typeface="+mn-lt"/>
                <a:ea typeface="+mn-ea"/>
                <a:cs typeface="+mn-cs"/>
              </a:rPr>
              <a:t>evaluate</a:t>
            </a:r>
            <a:r>
              <a:rPr lang="fr-FR" sz="1947" b="1" kern="1200" cap="all" baseline="0" dirty="0">
                <a:solidFill>
                  <a:schemeClr val="tx2"/>
                </a:solidFill>
                <a:latin typeface="+mn-lt"/>
                <a:ea typeface="+mn-ea"/>
                <a:cs typeface="+mn-cs"/>
              </a:rPr>
              <a:t>, </a:t>
            </a:r>
            <a:r>
              <a:rPr lang="fr-FR" sz="1947" b="1" kern="1200" cap="all" baseline="0" dirty="0" err="1">
                <a:solidFill>
                  <a:schemeClr val="tx2"/>
                </a:solidFill>
                <a:latin typeface="+mn-lt"/>
                <a:ea typeface="+mn-ea"/>
                <a:cs typeface="+mn-cs"/>
              </a:rPr>
              <a:t>protect</a:t>
            </a:r>
            <a:endParaRPr lang="fr-FR" sz="1947" b="1" kern="1200" cap="all" baseline="0" dirty="0">
              <a:solidFill>
                <a:schemeClr val="tx2"/>
              </a:solidFill>
              <a:latin typeface="+mn-lt"/>
              <a:ea typeface="+mn-ea"/>
              <a:cs typeface="+mn-cs"/>
            </a:endParaRPr>
          </a:p>
          <a:p>
            <a:endParaRPr lang="fr-FR" sz="2400" dirty="0"/>
          </a:p>
        </p:txBody>
      </p:sp>
      <p:grpSp>
        <p:nvGrpSpPr>
          <p:cNvPr id="15" name="Graphique 2">
            <a:extLst>
              <a:ext uri="{FF2B5EF4-FFF2-40B4-BE49-F238E27FC236}">
                <a16:creationId xmlns:a16="http://schemas.microsoft.com/office/drawing/2014/main" id="{441A5E56-2E95-41CA-AAB0-759EE6144DD3}"/>
              </a:ext>
            </a:extLst>
          </p:cNvPr>
          <p:cNvGrpSpPr/>
          <p:nvPr userDrawn="1"/>
        </p:nvGrpSpPr>
        <p:grpSpPr>
          <a:xfrm>
            <a:off x="485450" y="490301"/>
            <a:ext cx="2434167" cy="1700065"/>
            <a:chOff x="2471737" y="1104900"/>
            <a:chExt cx="4200493" cy="2933699"/>
          </a:xfrm>
        </p:grpSpPr>
        <p:grpSp>
          <p:nvGrpSpPr>
            <p:cNvPr id="16" name="Graphique 2">
              <a:extLst>
                <a:ext uri="{FF2B5EF4-FFF2-40B4-BE49-F238E27FC236}">
                  <a16:creationId xmlns:a16="http://schemas.microsoft.com/office/drawing/2014/main" id="{449FE406-B627-4201-A48F-A2354F4D9824}"/>
                </a:ext>
              </a:extLst>
            </p:cNvPr>
            <p:cNvGrpSpPr/>
            <p:nvPr/>
          </p:nvGrpSpPr>
          <p:grpSpPr>
            <a:xfrm>
              <a:off x="2471737" y="3195351"/>
              <a:ext cx="4200493" cy="843248"/>
              <a:chOff x="2471737" y="3195351"/>
              <a:chExt cx="4200493" cy="843248"/>
            </a:xfrm>
            <a:solidFill>
              <a:srgbClr val="000000"/>
            </a:solidFill>
          </p:grpSpPr>
          <p:sp>
            <p:nvSpPr>
              <p:cNvPr id="22" name="Forme libre : forme 21">
                <a:extLst>
                  <a:ext uri="{FF2B5EF4-FFF2-40B4-BE49-F238E27FC236}">
                    <a16:creationId xmlns:a16="http://schemas.microsoft.com/office/drawing/2014/main" id="{C910B22B-3BD7-402A-AEC9-1C03E747DCA5}"/>
                  </a:ext>
                </a:extLst>
              </p:cNvPr>
              <p:cNvSpPr/>
              <p:nvPr/>
            </p:nvSpPr>
            <p:spPr>
              <a:xfrm>
                <a:off x="3415855" y="3211258"/>
                <a:ext cx="749807" cy="821340"/>
              </a:xfrm>
              <a:custGeom>
                <a:avLst/>
                <a:gdLst>
                  <a:gd name="connsiteX0" fmla="*/ 444913 w 749807"/>
                  <a:gd name="connsiteY0" fmla="*/ 0 h 821340"/>
                  <a:gd name="connsiteX1" fmla="*/ 159258 w 749807"/>
                  <a:gd name="connsiteY1" fmla="*/ 114300 h 821340"/>
                  <a:gd name="connsiteX2" fmla="*/ 159258 w 749807"/>
                  <a:gd name="connsiteY2" fmla="*/ 0 h 821340"/>
                  <a:gd name="connsiteX3" fmla="*/ 0 w 749807"/>
                  <a:gd name="connsiteY3" fmla="*/ 0 h 821340"/>
                  <a:gd name="connsiteX4" fmla="*/ 0 w 749807"/>
                  <a:gd name="connsiteY4" fmla="*/ 821341 h 821340"/>
                  <a:gd name="connsiteX5" fmla="*/ 159258 w 749807"/>
                  <a:gd name="connsiteY5" fmla="*/ 821341 h 821340"/>
                  <a:gd name="connsiteX6" fmla="*/ 159258 w 749807"/>
                  <a:gd name="connsiteY6" fmla="*/ 321945 h 821340"/>
                  <a:gd name="connsiteX7" fmla="*/ 416147 w 749807"/>
                  <a:gd name="connsiteY7" fmla="*/ 131254 h 821340"/>
                  <a:gd name="connsiteX8" fmla="*/ 589978 w 749807"/>
                  <a:gd name="connsiteY8" fmla="*/ 276701 h 821340"/>
                  <a:gd name="connsiteX9" fmla="*/ 590550 w 749807"/>
                  <a:gd name="connsiteY9" fmla="*/ 276701 h 821340"/>
                  <a:gd name="connsiteX10" fmla="*/ 590550 w 749807"/>
                  <a:gd name="connsiteY10" fmla="*/ 821245 h 821340"/>
                  <a:gd name="connsiteX11" fmla="*/ 749808 w 749807"/>
                  <a:gd name="connsiteY11" fmla="*/ 821245 h 821340"/>
                  <a:gd name="connsiteX12" fmla="*/ 749808 w 749807"/>
                  <a:gd name="connsiteY12" fmla="*/ 276796 h 821340"/>
                  <a:gd name="connsiteX13" fmla="*/ 444913 w 749807"/>
                  <a:gd name="connsiteY13" fmla="*/ 0 h 821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9807" h="821340">
                    <a:moveTo>
                      <a:pt x="444913" y="0"/>
                    </a:moveTo>
                    <a:cubicBezTo>
                      <a:pt x="248126" y="0"/>
                      <a:pt x="160972" y="112109"/>
                      <a:pt x="159258" y="114300"/>
                    </a:cubicBezTo>
                    <a:lnTo>
                      <a:pt x="159258" y="0"/>
                    </a:lnTo>
                    <a:lnTo>
                      <a:pt x="0" y="0"/>
                    </a:lnTo>
                    <a:lnTo>
                      <a:pt x="0" y="821341"/>
                    </a:lnTo>
                    <a:lnTo>
                      <a:pt x="159258" y="821341"/>
                    </a:lnTo>
                    <a:lnTo>
                      <a:pt x="159258" y="321945"/>
                    </a:lnTo>
                    <a:cubicBezTo>
                      <a:pt x="162687" y="201263"/>
                      <a:pt x="314420" y="131254"/>
                      <a:pt x="416147" y="131254"/>
                    </a:cubicBezTo>
                    <a:cubicBezTo>
                      <a:pt x="492157" y="131254"/>
                      <a:pt x="589978" y="183261"/>
                      <a:pt x="589978" y="276701"/>
                    </a:cubicBezTo>
                    <a:lnTo>
                      <a:pt x="590550" y="276701"/>
                    </a:lnTo>
                    <a:lnTo>
                      <a:pt x="590550" y="821245"/>
                    </a:lnTo>
                    <a:lnTo>
                      <a:pt x="749808" y="821245"/>
                    </a:lnTo>
                    <a:lnTo>
                      <a:pt x="749808" y="276796"/>
                    </a:lnTo>
                    <a:cubicBezTo>
                      <a:pt x="749713" y="92107"/>
                      <a:pt x="612743" y="0"/>
                      <a:pt x="444913" y="0"/>
                    </a:cubicBezTo>
                    <a:close/>
                  </a:path>
                </a:pathLst>
              </a:custGeom>
              <a:solidFill>
                <a:srgbClr val="3C3C3C"/>
              </a:solidFill>
              <a:ln w="9525" cap="flat">
                <a:noFill/>
                <a:prstDash val="solid"/>
                <a:miter/>
              </a:ln>
            </p:spPr>
            <p:txBody>
              <a:bodyPr rtlCol="0" anchor="ctr"/>
              <a:lstStyle/>
              <a:p>
                <a:endParaRPr lang="fr-FR" sz="2400"/>
              </a:p>
            </p:txBody>
          </p:sp>
          <p:sp>
            <p:nvSpPr>
              <p:cNvPr id="23" name="Forme libre : forme 22">
                <a:extLst>
                  <a:ext uri="{FF2B5EF4-FFF2-40B4-BE49-F238E27FC236}">
                    <a16:creationId xmlns:a16="http://schemas.microsoft.com/office/drawing/2014/main" id="{864E6E91-5585-4F6F-ACE6-4A6FF76C47A8}"/>
                  </a:ext>
                </a:extLst>
              </p:cNvPr>
              <p:cNvSpPr/>
              <p:nvPr/>
            </p:nvSpPr>
            <p:spPr>
              <a:xfrm>
                <a:off x="6005059" y="3199161"/>
                <a:ext cx="667170" cy="837247"/>
              </a:xfrm>
              <a:custGeom>
                <a:avLst/>
                <a:gdLst>
                  <a:gd name="connsiteX0" fmla="*/ 413552 w 667170"/>
                  <a:gd name="connsiteY0" fmla="*/ 346234 h 837247"/>
                  <a:gd name="connsiteX1" fmla="*/ 413552 w 667170"/>
                  <a:gd name="connsiteY1" fmla="*/ 346043 h 837247"/>
                  <a:gd name="connsiteX2" fmla="*/ 270391 w 667170"/>
                  <a:gd name="connsiteY2" fmla="*/ 346043 h 837247"/>
                  <a:gd name="connsiteX3" fmla="*/ 151614 w 667170"/>
                  <a:gd name="connsiteY3" fmla="*/ 241649 h 837247"/>
                  <a:gd name="connsiteX4" fmla="*/ 323255 w 667170"/>
                  <a:gd name="connsiteY4" fmla="*/ 139256 h 837247"/>
                  <a:gd name="connsiteX5" fmla="*/ 571952 w 667170"/>
                  <a:gd name="connsiteY5" fmla="*/ 184309 h 837247"/>
                  <a:gd name="connsiteX6" fmla="*/ 626531 w 667170"/>
                  <a:gd name="connsiteY6" fmla="*/ 55912 h 837247"/>
                  <a:gd name="connsiteX7" fmla="*/ 339161 w 667170"/>
                  <a:gd name="connsiteY7" fmla="*/ 0 h 837247"/>
                  <a:gd name="connsiteX8" fmla="*/ 357 w 667170"/>
                  <a:gd name="connsiteY8" fmla="*/ 243650 h 837247"/>
                  <a:gd name="connsiteX9" fmla="*/ 253627 w 667170"/>
                  <a:gd name="connsiteY9" fmla="*/ 491204 h 837247"/>
                  <a:gd name="connsiteX10" fmla="*/ 253627 w 667170"/>
                  <a:gd name="connsiteY10" fmla="*/ 491395 h 837247"/>
                  <a:gd name="connsiteX11" fmla="*/ 396788 w 667170"/>
                  <a:gd name="connsiteY11" fmla="*/ 491395 h 837247"/>
                  <a:gd name="connsiteX12" fmla="*/ 515564 w 667170"/>
                  <a:gd name="connsiteY12" fmla="*/ 595694 h 837247"/>
                  <a:gd name="connsiteX13" fmla="*/ 343924 w 667170"/>
                  <a:gd name="connsiteY13" fmla="*/ 698087 h 837247"/>
                  <a:gd name="connsiteX14" fmla="*/ 68080 w 667170"/>
                  <a:gd name="connsiteY14" fmla="*/ 640842 h 837247"/>
                  <a:gd name="connsiteX15" fmla="*/ 13978 w 667170"/>
                  <a:gd name="connsiteY15" fmla="*/ 768572 h 837247"/>
                  <a:gd name="connsiteX16" fmla="*/ 328017 w 667170"/>
                  <a:gd name="connsiteY16" fmla="*/ 837247 h 837247"/>
                  <a:gd name="connsiteX17" fmla="*/ 666821 w 667170"/>
                  <a:gd name="connsiteY17" fmla="*/ 593598 h 837247"/>
                  <a:gd name="connsiteX18" fmla="*/ 413552 w 667170"/>
                  <a:gd name="connsiteY18" fmla="*/ 346234 h 83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70" h="837247">
                    <a:moveTo>
                      <a:pt x="413552" y="346234"/>
                    </a:moveTo>
                    <a:lnTo>
                      <a:pt x="413552" y="346043"/>
                    </a:lnTo>
                    <a:lnTo>
                      <a:pt x="270391" y="346043"/>
                    </a:lnTo>
                    <a:cubicBezTo>
                      <a:pt x="190857" y="346043"/>
                      <a:pt x="148376" y="315373"/>
                      <a:pt x="151614" y="241649"/>
                    </a:cubicBezTo>
                    <a:cubicBezTo>
                      <a:pt x="154948" y="163830"/>
                      <a:pt x="239720" y="139256"/>
                      <a:pt x="323255" y="139256"/>
                    </a:cubicBezTo>
                    <a:cubicBezTo>
                      <a:pt x="442317" y="139256"/>
                      <a:pt x="530233" y="167545"/>
                      <a:pt x="571952" y="184309"/>
                    </a:cubicBezTo>
                    <a:lnTo>
                      <a:pt x="626531" y="55912"/>
                    </a:lnTo>
                    <a:cubicBezTo>
                      <a:pt x="580716" y="36004"/>
                      <a:pt x="478608" y="0"/>
                      <a:pt x="339161" y="0"/>
                    </a:cubicBezTo>
                    <a:cubicBezTo>
                      <a:pt x="199906" y="0"/>
                      <a:pt x="8549" y="55245"/>
                      <a:pt x="357" y="243650"/>
                    </a:cubicBezTo>
                    <a:cubicBezTo>
                      <a:pt x="-7644" y="427196"/>
                      <a:pt x="120086" y="488252"/>
                      <a:pt x="253627" y="491204"/>
                    </a:cubicBezTo>
                    <a:lnTo>
                      <a:pt x="253627" y="491395"/>
                    </a:lnTo>
                    <a:lnTo>
                      <a:pt x="396788" y="491395"/>
                    </a:lnTo>
                    <a:cubicBezTo>
                      <a:pt x="476321" y="491395"/>
                      <a:pt x="518803" y="522065"/>
                      <a:pt x="515564" y="595694"/>
                    </a:cubicBezTo>
                    <a:cubicBezTo>
                      <a:pt x="512231" y="673513"/>
                      <a:pt x="427458" y="698087"/>
                      <a:pt x="343924" y="698087"/>
                    </a:cubicBezTo>
                    <a:cubicBezTo>
                      <a:pt x="174855" y="698087"/>
                      <a:pt x="68080" y="640842"/>
                      <a:pt x="68080" y="640842"/>
                    </a:cubicBezTo>
                    <a:lnTo>
                      <a:pt x="13978" y="768572"/>
                    </a:lnTo>
                    <a:cubicBezTo>
                      <a:pt x="13978" y="768572"/>
                      <a:pt x="135612" y="837247"/>
                      <a:pt x="328017" y="837247"/>
                    </a:cubicBezTo>
                    <a:cubicBezTo>
                      <a:pt x="467177" y="837247"/>
                      <a:pt x="658630" y="782003"/>
                      <a:pt x="666821" y="593598"/>
                    </a:cubicBezTo>
                    <a:cubicBezTo>
                      <a:pt x="674727" y="410337"/>
                      <a:pt x="547092" y="349282"/>
                      <a:pt x="413552" y="346234"/>
                    </a:cubicBezTo>
                    <a:close/>
                  </a:path>
                </a:pathLst>
              </a:custGeom>
              <a:solidFill>
                <a:srgbClr val="3C3C3C"/>
              </a:solidFill>
              <a:ln w="9525" cap="flat">
                <a:noFill/>
                <a:prstDash val="solid"/>
                <a:miter/>
              </a:ln>
            </p:spPr>
            <p:txBody>
              <a:bodyPr rtlCol="0" anchor="ctr"/>
              <a:lstStyle/>
              <a:p>
                <a:endParaRPr lang="fr-FR" sz="2400"/>
              </a:p>
            </p:txBody>
          </p:sp>
          <p:sp>
            <p:nvSpPr>
              <p:cNvPr id="24" name="Forme libre : forme 23">
                <a:extLst>
                  <a:ext uri="{FF2B5EF4-FFF2-40B4-BE49-F238E27FC236}">
                    <a16:creationId xmlns:a16="http://schemas.microsoft.com/office/drawing/2014/main" id="{1FA0679D-AE7B-46B1-934A-E8319FC98439}"/>
                  </a:ext>
                </a:extLst>
              </p:cNvPr>
              <p:cNvSpPr/>
              <p:nvPr/>
            </p:nvSpPr>
            <p:spPr>
              <a:xfrm>
                <a:off x="5090064" y="3195351"/>
                <a:ext cx="793527" cy="843248"/>
              </a:xfrm>
              <a:custGeom>
                <a:avLst/>
                <a:gdLst>
                  <a:gd name="connsiteX0" fmla="*/ 403765 w 793527"/>
                  <a:gd name="connsiteY0" fmla="*/ 0 h 843248"/>
                  <a:gd name="connsiteX1" fmla="*/ 0 w 793527"/>
                  <a:gd name="connsiteY1" fmla="*/ 429578 h 843248"/>
                  <a:gd name="connsiteX2" fmla="*/ 440722 w 793527"/>
                  <a:gd name="connsiteY2" fmla="*/ 843248 h 843248"/>
                  <a:gd name="connsiteX3" fmla="*/ 753808 w 793527"/>
                  <a:gd name="connsiteY3" fmla="*/ 774573 h 843248"/>
                  <a:gd name="connsiteX4" fmla="*/ 695134 w 793527"/>
                  <a:gd name="connsiteY4" fmla="*/ 652081 h 843248"/>
                  <a:gd name="connsiteX5" fmla="*/ 435769 w 793527"/>
                  <a:gd name="connsiteY5" fmla="*/ 703040 h 843248"/>
                  <a:gd name="connsiteX6" fmla="*/ 165163 w 793527"/>
                  <a:gd name="connsiteY6" fmla="*/ 491204 h 843248"/>
                  <a:gd name="connsiteX7" fmla="*/ 632460 w 793527"/>
                  <a:gd name="connsiteY7" fmla="*/ 491204 h 843248"/>
                  <a:gd name="connsiteX8" fmla="*/ 793528 w 793527"/>
                  <a:gd name="connsiteY8" fmla="*/ 491204 h 843248"/>
                  <a:gd name="connsiteX9" fmla="*/ 793528 w 793527"/>
                  <a:gd name="connsiteY9" fmla="*/ 419671 h 843248"/>
                  <a:gd name="connsiteX10" fmla="*/ 403765 w 793527"/>
                  <a:gd name="connsiteY10" fmla="*/ 0 h 843248"/>
                  <a:gd name="connsiteX11" fmla="*/ 167068 w 793527"/>
                  <a:gd name="connsiteY11" fmla="*/ 359950 h 843248"/>
                  <a:gd name="connsiteX12" fmla="*/ 409670 w 793527"/>
                  <a:gd name="connsiteY12" fmla="*/ 135255 h 843248"/>
                  <a:gd name="connsiteX13" fmla="*/ 630460 w 793527"/>
                  <a:gd name="connsiteY13" fmla="*/ 359950 h 843248"/>
                  <a:gd name="connsiteX14" fmla="*/ 167068 w 793527"/>
                  <a:gd name="connsiteY14" fmla="*/ 359950 h 84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3527" h="843248">
                    <a:moveTo>
                      <a:pt x="403765" y="0"/>
                    </a:moveTo>
                    <a:cubicBezTo>
                      <a:pt x="173069" y="0"/>
                      <a:pt x="0" y="133255"/>
                      <a:pt x="0" y="429578"/>
                    </a:cubicBezTo>
                    <a:cubicBezTo>
                      <a:pt x="0" y="725900"/>
                      <a:pt x="218218" y="843248"/>
                      <a:pt x="440722" y="843248"/>
                    </a:cubicBezTo>
                    <a:cubicBezTo>
                      <a:pt x="645985" y="843248"/>
                      <a:pt x="753808" y="774573"/>
                      <a:pt x="753808" y="774573"/>
                    </a:cubicBezTo>
                    <a:lnTo>
                      <a:pt x="695134" y="652081"/>
                    </a:lnTo>
                    <a:cubicBezTo>
                      <a:pt x="695134" y="652081"/>
                      <a:pt x="615601" y="703040"/>
                      <a:pt x="435769" y="703040"/>
                    </a:cubicBezTo>
                    <a:cubicBezTo>
                      <a:pt x="314039" y="703040"/>
                      <a:pt x="183070" y="666274"/>
                      <a:pt x="165163" y="491204"/>
                    </a:cubicBezTo>
                    <a:lnTo>
                      <a:pt x="632460" y="491204"/>
                    </a:lnTo>
                    <a:lnTo>
                      <a:pt x="793528" y="491204"/>
                    </a:lnTo>
                    <a:lnTo>
                      <a:pt x="793528" y="419671"/>
                    </a:lnTo>
                    <a:cubicBezTo>
                      <a:pt x="793528" y="149162"/>
                      <a:pt x="668274" y="0"/>
                      <a:pt x="403765" y="0"/>
                    </a:cubicBezTo>
                    <a:close/>
                    <a:moveTo>
                      <a:pt x="167068" y="359950"/>
                    </a:moveTo>
                    <a:cubicBezTo>
                      <a:pt x="184975" y="186880"/>
                      <a:pt x="274415" y="135255"/>
                      <a:pt x="409670" y="135255"/>
                    </a:cubicBezTo>
                    <a:cubicBezTo>
                      <a:pt x="554831" y="135255"/>
                      <a:pt x="620458" y="204883"/>
                      <a:pt x="630460" y="359950"/>
                    </a:cubicBezTo>
                    <a:lnTo>
                      <a:pt x="167068" y="359950"/>
                    </a:lnTo>
                    <a:close/>
                  </a:path>
                </a:pathLst>
              </a:custGeom>
              <a:solidFill>
                <a:srgbClr val="3C3C3C"/>
              </a:solidFill>
              <a:ln w="9525" cap="flat">
                <a:noFill/>
                <a:prstDash val="solid"/>
                <a:miter/>
              </a:ln>
            </p:spPr>
            <p:txBody>
              <a:bodyPr rtlCol="0" anchor="ctr"/>
              <a:lstStyle/>
              <a:p>
                <a:endParaRPr lang="fr-FR" sz="2400"/>
              </a:p>
            </p:txBody>
          </p:sp>
          <p:sp>
            <p:nvSpPr>
              <p:cNvPr id="25" name="Forme libre : forme 24">
                <a:extLst>
                  <a:ext uri="{FF2B5EF4-FFF2-40B4-BE49-F238E27FC236}">
                    <a16:creationId xmlns:a16="http://schemas.microsoft.com/office/drawing/2014/main" id="{024850A8-8D36-482C-89B1-9A0DF65551BD}"/>
                  </a:ext>
                </a:extLst>
              </p:cNvPr>
              <p:cNvSpPr/>
              <p:nvPr/>
            </p:nvSpPr>
            <p:spPr>
              <a:xfrm>
                <a:off x="4311705" y="3199161"/>
                <a:ext cx="667170" cy="837247"/>
              </a:xfrm>
              <a:custGeom>
                <a:avLst/>
                <a:gdLst>
                  <a:gd name="connsiteX0" fmla="*/ 413552 w 667170"/>
                  <a:gd name="connsiteY0" fmla="*/ 346234 h 837247"/>
                  <a:gd name="connsiteX1" fmla="*/ 413552 w 667170"/>
                  <a:gd name="connsiteY1" fmla="*/ 346043 h 837247"/>
                  <a:gd name="connsiteX2" fmla="*/ 270391 w 667170"/>
                  <a:gd name="connsiteY2" fmla="*/ 346043 h 837247"/>
                  <a:gd name="connsiteX3" fmla="*/ 151614 w 667170"/>
                  <a:gd name="connsiteY3" fmla="*/ 241649 h 837247"/>
                  <a:gd name="connsiteX4" fmla="*/ 323255 w 667170"/>
                  <a:gd name="connsiteY4" fmla="*/ 139256 h 837247"/>
                  <a:gd name="connsiteX5" fmla="*/ 571952 w 667170"/>
                  <a:gd name="connsiteY5" fmla="*/ 184309 h 837247"/>
                  <a:gd name="connsiteX6" fmla="*/ 626531 w 667170"/>
                  <a:gd name="connsiteY6" fmla="*/ 55912 h 837247"/>
                  <a:gd name="connsiteX7" fmla="*/ 339161 w 667170"/>
                  <a:gd name="connsiteY7" fmla="*/ 0 h 837247"/>
                  <a:gd name="connsiteX8" fmla="*/ 357 w 667170"/>
                  <a:gd name="connsiteY8" fmla="*/ 243650 h 837247"/>
                  <a:gd name="connsiteX9" fmla="*/ 253627 w 667170"/>
                  <a:gd name="connsiteY9" fmla="*/ 491204 h 837247"/>
                  <a:gd name="connsiteX10" fmla="*/ 253627 w 667170"/>
                  <a:gd name="connsiteY10" fmla="*/ 491395 h 837247"/>
                  <a:gd name="connsiteX11" fmla="*/ 396788 w 667170"/>
                  <a:gd name="connsiteY11" fmla="*/ 491395 h 837247"/>
                  <a:gd name="connsiteX12" fmla="*/ 515564 w 667170"/>
                  <a:gd name="connsiteY12" fmla="*/ 595694 h 837247"/>
                  <a:gd name="connsiteX13" fmla="*/ 343924 w 667170"/>
                  <a:gd name="connsiteY13" fmla="*/ 698087 h 837247"/>
                  <a:gd name="connsiteX14" fmla="*/ 68080 w 667170"/>
                  <a:gd name="connsiteY14" fmla="*/ 640842 h 837247"/>
                  <a:gd name="connsiteX15" fmla="*/ 13978 w 667170"/>
                  <a:gd name="connsiteY15" fmla="*/ 768572 h 837247"/>
                  <a:gd name="connsiteX16" fmla="*/ 328017 w 667170"/>
                  <a:gd name="connsiteY16" fmla="*/ 837247 h 837247"/>
                  <a:gd name="connsiteX17" fmla="*/ 666821 w 667170"/>
                  <a:gd name="connsiteY17" fmla="*/ 593598 h 837247"/>
                  <a:gd name="connsiteX18" fmla="*/ 413552 w 667170"/>
                  <a:gd name="connsiteY18" fmla="*/ 346234 h 83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70" h="837247">
                    <a:moveTo>
                      <a:pt x="413552" y="346234"/>
                    </a:moveTo>
                    <a:lnTo>
                      <a:pt x="413552" y="346043"/>
                    </a:lnTo>
                    <a:lnTo>
                      <a:pt x="270391" y="346043"/>
                    </a:lnTo>
                    <a:cubicBezTo>
                      <a:pt x="190857" y="346043"/>
                      <a:pt x="148376" y="315373"/>
                      <a:pt x="151614" y="241649"/>
                    </a:cubicBezTo>
                    <a:cubicBezTo>
                      <a:pt x="154948" y="163830"/>
                      <a:pt x="239720" y="139256"/>
                      <a:pt x="323255" y="139256"/>
                    </a:cubicBezTo>
                    <a:cubicBezTo>
                      <a:pt x="442317" y="139256"/>
                      <a:pt x="530233" y="167545"/>
                      <a:pt x="571952" y="184309"/>
                    </a:cubicBezTo>
                    <a:lnTo>
                      <a:pt x="626531" y="55912"/>
                    </a:lnTo>
                    <a:cubicBezTo>
                      <a:pt x="580715" y="36004"/>
                      <a:pt x="478607" y="0"/>
                      <a:pt x="339161" y="0"/>
                    </a:cubicBezTo>
                    <a:cubicBezTo>
                      <a:pt x="199906" y="0"/>
                      <a:pt x="8549" y="55245"/>
                      <a:pt x="357" y="243650"/>
                    </a:cubicBezTo>
                    <a:cubicBezTo>
                      <a:pt x="-7644" y="427196"/>
                      <a:pt x="120086" y="488252"/>
                      <a:pt x="253627" y="491204"/>
                    </a:cubicBezTo>
                    <a:lnTo>
                      <a:pt x="253627" y="491395"/>
                    </a:lnTo>
                    <a:lnTo>
                      <a:pt x="396788" y="491395"/>
                    </a:lnTo>
                    <a:cubicBezTo>
                      <a:pt x="476321" y="491395"/>
                      <a:pt x="518803" y="522065"/>
                      <a:pt x="515564" y="595694"/>
                    </a:cubicBezTo>
                    <a:cubicBezTo>
                      <a:pt x="512231" y="673513"/>
                      <a:pt x="427458" y="698087"/>
                      <a:pt x="343924" y="698087"/>
                    </a:cubicBezTo>
                    <a:cubicBezTo>
                      <a:pt x="174855" y="698087"/>
                      <a:pt x="68080" y="640842"/>
                      <a:pt x="68080" y="640842"/>
                    </a:cubicBezTo>
                    <a:lnTo>
                      <a:pt x="13978" y="768572"/>
                    </a:lnTo>
                    <a:cubicBezTo>
                      <a:pt x="13978" y="768572"/>
                      <a:pt x="135612" y="837247"/>
                      <a:pt x="328017" y="837247"/>
                    </a:cubicBezTo>
                    <a:cubicBezTo>
                      <a:pt x="467273" y="837247"/>
                      <a:pt x="658630" y="782003"/>
                      <a:pt x="666821" y="593598"/>
                    </a:cubicBezTo>
                    <a:cubicBezTo>
                      <a:pt x="674727" y="410337"/>
                      <a:pt x="547092" y="349282"/>
                      <a:pt x="413552" y="346234"/>
                    </a:cubicBezTo>
                    <a:close/>
                  </a:path>
                </a:pathLst>
              </a:custGeom>
              <a:solidFill>
                <a:srgbClr val="3C3C3C"/>
              </a:solidFill>
              <a:ln w="9525" cap="flat">
                <a:noFill/>
                <a:prstDash val="solid"/>
                <a:miter/>
              </a:ln>
            </p:spPr>
            <p:txBody>
              <a:bodyPr rtlCol="0" anchor="ctr"/>
              <a:lstStyle/>
              <a:p>
                <a:endParaRPr lang="fr-FR" sz="2400"/>
              </a:p>
            </p:txBody>
          </p:sp>
          <p:sp>
            <p:nvSpPr>
              <p:cNvPr id="34" name="Forme libre : forme 33">
                <a:extLst>
                  <a:ext uri="{FF2B5EF4-FFF2-40B4-BE49-F238E27FC236}">
                    <a16:creationId xmlns:a16="http://schemas.microsoft.com/office/drawing/2014/main" id="{C4D8D355-EDAD-414F-BF39-20AEE0C91120}"/>
                  </a:ext>
                </a:extLst>
              </p:cNvPr>
              <p:cNvSpPr/>
              <p:nvPr/>
            </p:nvSpPr>
            <p:spPr>
              <a:xfrm>
                <a:off x="2471737" y="3201066"/>
                <a:ext cx="761618" cy="833246"/>
              </a:xfrm>
              <a:custGeom>
                <a:avLst/>
                <a:gdLst>
                  <a:gd name="connsiteX0" fmla="*/ 378714 w 761618"/>
                  <a:gd name="connsiteY0" fmla="*/ 0 h 833246"/>
                  <a:gd name="connsiteX1" fmla="*/ 66485 w 761618"/>
                  <a:gd name="connsiteY1" fmla="*/ 51244 h 833246"/>
                  <a:gd name="connsiteX2" fmla="*/ 129445 w 761618"/>
                  <a:gd name="connsiteY2" fmla="*/ 179546 h 833246"/>
                  <a:gd name="connsiteX3" fmla="*/ 396716 w 761618"/>
                  <a:gd name="connsiteY3" fmla="*/ 139255 h 833246"/>
                  <a:gd name="connsiteX4" fmla="*/ 602552 w 761618"/>
                  <a:gd name="connsiteY4" fmla="*/ 288798 h 833246"/>
                  <a:gd name="connsiteX5" fmla="*/ 602552 w 761618"/>
                  <a:gd name="connsiteY5" fmla="*/ 338233 h 833246"/>
                  <a:gd name="connsiteX6" fmla="*/ 288322 w 761618"/>
                  <a:gd name="connsiteY6" fmla="*/ 338233 h 833246"/>
                  <a:gd name="connsiteX7" fmla="*/ 0 w 761618"/>
                  <a:gd name="connsiteY7" fmla="*/ 584645 h 833246"/>
                  <a:gd name="connsiteX8" fmla="*/ 310991 w 761618"/>
                  <a:gd name="connsiteY8" fmla="*/ 833247 h 833246"/>
                  <a:gd name="connsiteX9" fmla="*/ 602552 w 761618"/>
                  <a:gd name="connsiteY9" fmla="*/ 718756 h 833246"/>
                  <a:gd name="connsiteX10" fmla="*/ 602552 w 761618"/>
                  <a:gd name="connsiteY10" fmla="*/ 833247 h 833246"/>
                  <a:gd name="connsiteX11" fmla="*/ 761619 w 761618"/>
                  <a:gd name="connsiteY11" fmla="*/ 833247 h 833246"/>
                  <a:gd name="connsiteX12" fmla="*/ 761619 w 761618"/>
                  <a:gd name="connsiteY12" fmla="*/ 243554 h 833246"/>
                  <a:gd name="connsiteX13" fmla="*/ 378714 w 761618"/>
                  <a:gd name="connsiteY13" fmla="*/ 0 h 833246"/>
                  <a:gd name="connsiteX14" fmla="*/ 602552 w 761618"/>
                  <a:gd name="connsiteY14" fmla="*/ 507206 h 833246"/>
                  <a:gd name="connsiteX15" fmla="*/ 340328 w 761618"/>
                  <a:gd name="connsiteY15" fmla="*/ 701992 h 833246"/>
                  <a:gd name="connsiteX16" fmla="*/ 163068 w 761618"/>
                  <a:gd name="connsiteY16" fmla="*/ 582644 h 833246"/>
                  <a:gd name="connsiteX17" fmla="*/ 298323 w 761618"/>
                  <a:gd name="connsiteY17" fmla="*/ 463296 h 833246"/>
                  <a:gd name="connsiteX18" fmla="*/ 602647 w 761618"/>
                  <a:gd name="connsiteY18" fmla="*/ 463296 h 833246"/>
                  <a:gd name="connsiteX19" fmla="*/ 602647 w 761618"/>
                  <a:gd name="connsiteY19" fmla="*/ 507206 h 83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61618" h="833246">
                    <a:moveTo>
                      <a:pt x="378714" y="0"/>
                    </a:moveTo>
                    <a:cubicBezTo>
                      <a:pt x="232886" y="0"/>
                      <a:pt x="123063" y="30861"/>
                      <a:pt x="66485" y="51244"/>
                    </a:cubicBezTo>
                    <a:lnTo>
                      <a:pt x="129445" y="179546"/>
                    </a:lnTo>
                    <a:cubicBezTo>
                      <a:pt x="180880" y="162687"/>
                      <a:pt x="274320" y="139255"/>
                      <a:pt x="396716" y="139255"/>
                    </a:cubicBezTo>
                    <a:cubicBezTo>
                      <a:pt x="491204" y="139255"/>
                      <a:pt x="602552" y="164973"/>
                      <a:pt x="602552" y="288798"/>
                    </a:cubicBezTo>
                    <a:cubicBezTo>
                      <a:pt x="602552" y="288798"/>
                      <a:pt x="602361" y="334042"/>
                      <a:pt x="602552" y="338233"/>
                    </a:cubicBezTo>
                    <a:lnTo>
                      <a:pt x="288322" y="338233"/>
                    </a:lnTo>
                    <a:cubicBezTo>
                      <a:pt x="129254" y="338042"/>
                      <a:pt x="0" y="393763"/>
                      <a:pt x="0" y="584645"/>
                    </a:cubicBezTo>
                    <a:cubicBezTo>
                      <a:pt x="0" y="755332"/>
                      <a:pt x="139732" y="833247"/>
                      <a:pt x="310991" y="833247"/>
                    </a:cubicBezTo>
                    <a:cubicBezTo>
                      <a:pt x="513779" y="833247"/>
                      <a:pt x="602552" y="718756"/>
                      <a:pt x="602552" y="718756"/>
                    </a:cubicBezTo>
                    <a:lnTo>
                      <a:pt x="602552" y="833247"/>
                    </a:lnTo>
                    <a:lnTo>
                      <a:pt x="761619" y="833247"/>
                    </a:lnTo>
                    <a:lnTo>
                      <a:pt x="761619" y="243554"/>
                    </a:lnTo>
                    <a:cubicBezTo>
                      <a:pt x="752475" y="55150"/>
                      <a:pt x="536067" y="0"/>
                      <a:pt x="378714" y="0"/>
                    </a:cubicBezTo>
                    <a:close/>
                    <a:moveTo>
                      <a:pt x="602552" y="507206"/>
                    </a:moveTo>
                    <a:cubicBezTo>
                      <a:pt x="602552" y="630364"/>
                      <a:pt x="445294" y="701992"/>
                      <a:pt x="340328" y="701992"/>
                    </a:cubicBezTo>
                    <a:cubicBezTo>
                      <a:pt x="262795" y="701992"/>
                      <a:pt x="163068" y="676084"/>
                      <a:pt x="163068" y="582644"/>
                    </a:cubicBezTo>
                    <a:cubicBezTo>
                      <a:pt x="163068" y="489204"/>
                      <a:pt x="216789" y="463296"/>
                      <a:pt x="298323" y="463296"/>
                    </a:cubicBezTo>
                    <a:lnTo>
                      <a:pt x="602647" y="463296"/>
                    </a:lnTo>
                    <a:lnTo>
                      <a:pt x="602647" y="507206"/>
                    </a:lnTo>
                    <a:close/>
                  </a:path>
                </a:pathLst>
              </a:custGeom>
              <a:solidFill>
                <a:srgbClr val="3C3C3C"/>
              </a:solidFill>
              <a:ln w="9525" cap="flat">
                <a:noFill/>
                <a:prstDash val="solid"/>
                <a:miter/>
              </a:ln>
            </p:spPr>
            <p:txBody>
              <a:bodyPr rtlCol="0" anchor="ctr"/>
              <a:lstStyle/>
              <a:p>
                <a:endParaRPr lang="fr-FR" sz="2400"/>
              </a:p>
            </p:txBody>
          </p:sp>
        </p:grpSp>
        <p:sp>
          <p:nvSpPr>
            <p:cNvPr id="17" name="Forme libre : forme 16">
              <a:extLst>
                <a:ext uri="{FF2B5EF4-FFF2-40B4-BE49-F238E27FC236}">
                  <a16:creationId xmlns:a16="http://schemas.microsoft.com/office/drawing/2014/main" id="{7148A700-F7D8-4402-9F95-58B18F8C236D}"/>
                </a:ext>
              </a:extLst>
            </p:cNvPr>
            <p:cNvSpPr/>
            <p:nvPr/>
          </p:nvSpPr>
          <p:spPr>
            <a:xfrm>
              <a:off x="4142993" y="1104900"/>
              <a:ext cx="859916" cy="433102"/>
            </a:xfrm>
            <a:custGeom>
              <a:avLst/>
              <a:gdLst>
                <a:gd name="connsiteX0" fmla="*/ 859917 w 859916"/>
                <a:gd name="connsiteY0" fmla="*/ 124968 h 433102"/>
                <a:gd name="connsiteX1" fmla="*/ 431387 w 859916"/>
                <a:gd name="connsiteY1" fmla="*/ 0 h 433102"/>
                <a:gd name="connsiteX2" fmla="*/ 0 w 859916"/>
                <a:gd name="connsiteY2" fmla="*/ 118967 h 433102"/>
                <a:gd name="connsiteX3" fmla="*/ 430435 w 859916"/>
                <a:gd name="connsiteY3" fmla="*/ 433102 h 433102"/>
                <a:gd name="connsiteX4" fmla="*/ 859917 w 859916"/>
                <a:gd name="connsiteY4" fmla="*/ 124968 h 43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916" h="433102">
                  <a:moveTo>
                    <a:pt x="859917" y="124968"/>
                  </a:moveTo>
                  <a:cubicBezTo>
                    <a:pt x="742759" y="49720"/>
                    <a:pt x="588645" y="0"/>
                    <a:pt x="431387" y="0"/>
                  </a:cubicBezTo>
                  <a:cubicBezTo>
                    <a:pt x="285274" y="0"/>
                    <a:pt x="134779" y="35719"/>
                    <a:pt x="0" y="118967"/>
                  </a:cubicBezTo>
                  <a:cubicBezTo>
                    <a:pt x="0" y="118967"/>
                    <a:pt x="183642" y="432530"/>
                    <a:pt x="430435" y="433102"/>
                  </a:cubicBezTo>
                  <a:cubicBezTo>
                    <a:pt x="677132" y="433673"/>
                    <a:pt x="859917" y="124968"/>
                    <a:pt x="859917" y="124968"/>
                  </a:cubicBezTo>
                  <a:close/>
                </a:path>
              </a:pathLst>
            </a:custGeom>
            <a:solidFill>
              <a:srgbClr val="FFE800"/>
            </a:solidFill>
            <a:ln w="9525" cap="flat">
              <a:noFill/>
              <a:prstDash val="solid"/>
              <a:miter/>
            </a:ln>
          </p:spPr>
          <p:txBody>
            <a:bodyPr rtlCol="0" anchor="ctr"/>
            <a:lstStyle/>
            <a:p>
              <a:endParaRPr lang="fr-FR" sz="2400"/>
            </a:p>
          </p:txBody>
        </p:sp>
        <p:sp>
          <p:nvSpPr>
            <p:cNvPr id="18" name="Forme libre : forme 17">
              <a:extLst>
                <a:ext uri="{FF2B5EF4-FFF2-40B4-BE49-F238E27FC236}">
                  <a16:creationId xmlns:a16="http://schemas.microsoft.com/office/drawing/2014/main" id="{043231D7-5025-44C3-900B-149CF010FC9F}"/>
                </a:ext>
              </a:extLst>
            </p:cNvPr>
            <p:cNvSpPr/>
            <p:nvPr/>
          </p:nvSpPr>
          <p:spPr>
            <a:xfrm>
              <a:off x="3749374" y="1300924"/>
              <a:ext cx="466844" cy="817244"/>
            </a:xfrm>
            <a:custGeom>
              <a:avLst/>
              <a:gdLst>
                <a:gd name="connsiteX0" fmla="*/ 287416 w 466844"/>
                <a:gd name="connsiteY0" fmla="*/ 0 h 817244"/>
                <a:gd name="connsiteX1" fmla="*/ 40051 w 466844"/>
                <a:gd name="connsiteY1" fmla="*/ 371570 h 817244"/>
                <a:gd name="connsiteX2" fmla="*/ 24145 w 466844"/>
                <a:gd name="connsiteY2" fmla="*/ 817245 h 817244"/>
                <a:gd name="connsiteX3" fmla="*/ 451722 w 466844"/>
                <a:gd name="connsiteY3" fmla="*/ 506444 h 817244"/>
                <a:gd name="connsiteX4" fmla="*/ 287416 w 466844"/>
                <a:gd name="connsiteY4" fmla="*/ 0 h 817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844" h="817244">
                  <a:moveTo>
                    <a:pt x="287416" y="0"/>
                  </a:moveTo>
                  <a:cubicBezTo>
                    <a:pt x="175021" y="94488"/>
                    <a:pt x="88915" y="222123"/>
                    <a:pt x="40051" y="371570"/>
                  </a:cubicBezTo>
                  <a:cubicBezTo>
                    <a:pt x="-8907" y="521018"/>
                    <a:pt x="-11479" y="669322"/>
                    <a:pt x="24145" y="817245"/>
                  </a:cubicBezTo>
                  <a:cubicBezTo>
                    <a:pt x="24145" y="817245"/>
                    <a:pt x="374855" y="740855"/>
                    <a:pt x="451722" y="506444"/>
                  </a:cubicBezTo>
                  <a:cubicBezTo>
                    <a:pt x="528589" y="272034"/>
                    <a:pt x="287416" y="0"/>
                    <a:pt x="287416" y="0"/>
                  </a:cubicBezTo>
                  <a:close/>
                </a:path>
              </a:pathLst>
            </a:custGeom>
            <a:solidFill>
              <a:srgbClr val="FF9940"/>
            </a:solidFill>
            <a:ln w="9525" cap="flat">
              <a:noFill/>
              <a:prstDash val="solid"/>
              <a:miter/>
            </a:ln>
          </p:spPr>
          <p:txBody>
            <a:bodyPr rtlCol="0" anchor="ctr"/>
            <a:lstStyle/>
            <a:p>
              <a:endParaRPr lang="fr-FR" sz="2400"/>
            </a:p>
          </p:txBody>
        </p:sp>
        <p:sp>
          <p:nvSpPr>
            <p:cNvPr id="19" name="Forme libre : forme 18">
              <a:extLst>
                <a:ext uri="{FF2B5EF4-FFF2-40B4-BE49-F238E27FC236}">
                  <a16:creationId xmlns:a16="http://schemas.microsoft.com/office/drawing/2014/main" id="{A057539C-0DF8-4385-B5A0-076759EE1E9E}"/>
                </a:ext>
              </a:extLst>
            </p:cNvPr>
            <p:cNvSpPr/>
            <p:nvPr/>
          </p:nvSpPr>
          <p:spPr>
            <a:xfrm>
              <a:off x="3810094" y="2167431"/>
              <a:ext cx="695999" cy="571005"/>
            </a:xfrm>
            <a:custGeom>
              <a:avLst/>
              <a:gdLst>
                <a:gd name="connsiteX0" fmla="*/ 0 w 695999"/>
                <a:gd name="connsiteY0" fmla="*/ 63418 h 571005"/>
                <a:gd name="connsiteX1" fmla="*/ 274034 w 695999"/>
                <a:gd name="connsiteY1" fmla="*/ 414986 h 571005"/>
                <a:gd name="connsiteX2" fmla="*/ 693611 w 695999"/>
                <a:gd name="connsiteY2" fmla="*/ 571006 h 571005"/>
                <a:gd name="connsiteX3" fmla="*/ 529400 w 695999"/>
                <a:gd name="connsiteY3" fmla="*/ 65133 h 571005"/>
                <a:gd name="connsiteX4" fmla="*/ 0 w 695999"/>
                <a:gd name="connsiteY4" fmla="*/ 63418 h 57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999" h="571005">
                  <a:moveTo>
                    <a:pt x="0" y="63418"/>
                  </a:moveTo>
                  <a:cubicBezTo>
                    <a:pt x="57436" y="202198"/>
                    <a:pt x="148876" y="322022"/>
                    <a:pt x="274034" y="414986"/>
                  </a:cubicBezTo>
                  <a:cubicBezTo>
                    <a:pt x="400241" y="508712"/>
                    <a:pt x="552926" y="561671"/>
                    <a:pt x="693611" y="571006"/>
                  </a:cubicBezTo>
                  <a:cubicBezTo>
                    <a:pt x="693611" y="571006"/>
                    <a:pt x="728758" y="210675"/>
                    <a:pt x="529400" y="65133"/>
                  </a:cubicBezTo>
                  <a:cubicBezTo>
                    <a:pt x="330041" y="-80409"/>
                    <a:pt x="0" y="63418"/>
                    <a:pt x="0" y="63418"/>
                  </a:cubicBezTo>
                  <a:close/>
                </a:path>
              </a:pathLst>
            </a:custGeom>
            <a:solidFill>
              <a:srgbClr val="E1000F"/>
            </a:solidFill>
            <a:ln w="9525" cap="flat">
              <a:noFill/>
              <a:prstDash val="solid"/>
              <a:miter/>
            </a:ln>
          </p:spPr>
          <p:txBody>
            <a:bodyPr rtlCol="0" anchor="ctr"/>
            <a:lstStyle/>
            <a:p>
              <a:endParaRPr lang="fr-FR" sz="2400"/>
            </a:p>
          </p:txBody>
        </p:sp>
        <p:sp>
          <p:nvSpPr>
            <p:cNvPr id="20" name="Forme libre : forme 19">
              <a:extLst>
                <a:ext uri="{FF2B5EF4-FFF2-40B4-BE49-F238E27FC236}">
                  <a16:creationId xmlns:a16="http://schemas.microsoft.com/office/drawing/2014/main" id="{C9A25EC6-816D-4BF1-B5DF-B2396460CD9C}"/>
                </a:ext>
              </a:extLst>
            </p:cNvPr>
            <p:cNvSpPr/>
            <p:nvPr/>
          </p:nvSpPr>
          <p:spPr>
            <a:xfrm>
              <a:off x="4633686" y="2165635"/>
              <a:ext cx="694216" cy="572421"/>
            </a:xfrm>
            <a:custGeom>
              <a:avLst/>
              <a:gdLst>
                <a:gd name="connsiteX0" fmla="*/ 3178 w 694216"/>
                <a:gd name="connsiteY0" fmla="*/ 572422 h 572421"/>
                <a:gd name="connsiteX1" fmla="*/ 420087 w 694216"/>
                <a:gd name="connsiteY1" fmla="*/ 414783 h 572421"/>
                <a:gd name="connsiteX2" fmla="*/ 694217 w 694216"/>
                <a:gd name="connsiteY2" fmla="*/ 61024 h 572421"/>
                <a:gd name="connsiteX3" fmla="*/ 161960 w 694216"/>
                <a:gd name="connsiteY3" fmla="*/ 66930 h 572421"/>
                <a:gd name="connsiteX4" fmla="*/ 3178 w 694216"/>
                <a:gd name="connsiteY4" fmla="*/ 572422 h 572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216" h="572421">
                  <a:moveTo>
                    <a:pt x="3178" y="572422"/>
                  </a:moveTo>
                  <a:cubicBezTo>
                    <a:pt x="160817" y="556705"/>
                    <a:pt x="292738" y="506985"/>
                    <a:pt x="420087" y="414783"/>
                  </a:cubicBezTo>
                  <a:cubicBezTo>
                    <a:pt x="543341" y="325533"/>
                    <a:pt x="637162" y="199327"/>
                    <a:pt x="694217" y="61024"/>
                  </a:cubicBezTo>
                  <a:cubicBezTo>
                    <a:pt x="694217" y="61024"/>
                    <a:pt x="360080" y="-80136"/>
                    <a:pt x="161960" y="66930"/>
                  </a:cubicBezTo>
                  <a:cubicBezTo>
                    <a:pt x="-36160" y="213996"/>
                    <a:pt x="3178" y="572422"/>
                    <a:pt x="3178" y="572422"/>
                  </a:cubicBezTo>
                  <a:close/>
                </a:path>
              </a:pathLst>
            </a:custGeom>
            <a:solidFill>
              <a:srgbClr val="5770BE"/>
            </a:solidFill>
            <a:ln w="9525" cap="flat">
              <a:noFill/>
              <a:prstDash val="solid"/>
              <a:miter/>
            </a:ln>
          </p:spPr>
          <p:txBody>
            <a:bodyPr rtlCol="0" anchor="ctr"/>
            <a:lstStyle/>
            <a:p>
              <a:endParaRPr lang="fr-FR" sz="2400"/>
            </a:p>
          </p:txBody>
        </p:sp>
        <p:sp>
          <p:nvSpPr>
            <p:cNvPr id="21" name="Forme libre : forme 20">
              <a:extLst>
                <a:ext uri="{FF2B5EF4-FFF2-40B4-BE49-F238E27FC236}">
                  <a16:creationId xmlns:a16="http://schemas.microsoft.com/office/drawing/2014/main" id="{B6F03869-A025-426A-8DB2-BBE57A2FA149}"/>
                </a:ext>
              </a:extLst>
            </p:cNvPr>
            <p:cNvSpPr/>
            <p:nvPr/>
          </p:nvSpPr>
          <p:spPr>
            <a:xfrm>
              <a:off x="4920405" y="1302353"/>
              <a:ext cx="465742" cy="817435"/>
            </a:xfrm>
            <a:custGeom>
              <a:avLst/>
              <a:gdLst>
                <a:gd name="connsiteX0" fmla="*/ 441883 w 465742"/>
                <a:gd name="connsiteY0" fmla="*/ 817436 h 817435"/>
                <a:gd name="connsiteX1" fmla="*/ 427024 w 465742"/>
                <a:gd name="connsiteY1" fmla="*/ 371189 h 817435"/>
                <a:gd name="connsiteX2" fmla="*/ 180707 w 465742"/>
                <a:gd name="connsiteY2" fmla="*/ 0 h 817435"/>
                <a:gd name="connsiteX3" fmla="*/ 14687 w 465742"/>
                <a:gd name="connsiteY3" fmla="*/ 504158 h 817435"/>
                <a:gd name="connsiteX4" fmla="*/ 441883 w 465742"/>
                <a:gd name="connsiteY4" fmla="*/ 817436 h 81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742" h="817435">
                  <a:moveTo>
                    <a:pt x="441883" y="817436"/>
                  </a:moveTo>
                  <a:cubicBezTo>
                    <a:pt x="476268" y="675799"/>
                    <a:pt x="475316" y="520827"/>
                    <a:pt x="427024" y="371189"/>
                  </a:cubicBezTo>
                  <a:cubicBezTo>
                    <a:pt x="378732" y="221552"/>
                    <a:pt x="292340" y="97917"/>
                    <a:pt x="180707" y="0"/>
                  </a:cubicBezTo>
                  <a:cubicBezTo>
                    <a:pt x="180707" y="0"/>
                    <a:pt x="-61037" y="269272"/>
                    <a:pt x="14687" y="504158"/>
                  </a:cubicBezTo>
                  <a:cubicBezTo>
                    <a:pt x="90410" y="739045"/>
                    <a:pt x="441883" y="817436"/>
                    <a:pt x="441883" y="817436"/>
                  </a:cubicBezTo>
                  <a:close/>
                </a:path>
              </a:pathLst>
            </a:custGeom>
            <a:solidFill>
              <a:srgbClr val="00AC8C"/>
            </a:solidFill>
            <a:ln w="9525" cap="flat">
              <a:noFill/>
              <a:prstDash val="solid"/>
              <a:miter/>
            </a:ln>
          </p:spPr>
          <p:txBody>
            <a:bodyPr rtlCol="0" anchor="ctr"/>
            <a:lstStyle/>
            <a:p>
              <a:endParaRPr lang="fr-FR" sz="2400"/>
            </a:p>
          </p:txBody>
        </p:sp>
      </p:grpSp>
      <p:sp>
        <p:nvSpPr>
          <p:cNvPr id="36" name="Espace réservé du texte 10">
            <a:extLst>
              <a:ext uri="{FF2B5EF4-FFF2-40B4-BE49-F238E27FC236}">
                <a16:creationId xmlns:a16="http://schemas.microsoft.com/office/drawing/2014/main" id="{F1AA8A00-22A6-4AC2-960F-2483AE678205}"/>
              </a:ext>
            </a:extLst>
          </p:cNvPr>
          <p:cNvSpPr>
            <a:spLocks noGrp="1"/>
          </p:cNvSpPr>
          <p:nvPr>
            <p:ph type="body" sz="quarter" idx="14" hasCustomPrompt="1"/>
          </p:nvPr>
        </p:nvSpPr>
        <p:spPr bwMode="gray">
          <a:xfrm>
            <a:off x="480000" y="3128061"/>
            <a:ext cx="11232000" cy="2769600"/>
          </a:xfrm>
        </p:spPr>
        <p:txBody>
          <a:bodyPr/>
          <a:lstStyle>
            <a:lvl1pPr>
              <a:lnSpc>
                <a:spcPct val="90000"/>
              </a:lnSpc>
              <a:spcAft>
                <a:spcPts val="0"/>
              </a:spcAft>
              <a:defRPr sz="4333" b="1" cap="all" baseline="0">
                <a:solidFill>
                  <a:srgbClr val="262626"/>
                </a:solidFill>
              </a:defRPr>
            </a:lvl1pPr>
            <a:lvl2pPr marL="0" indent="0">
              <a:spcBef>
                <a:spcPts val="667"/>
              </a:spcBef>
              <a:spcAft>
                <a:spcPts val="0"/>
              </a:spcAft>
              <a:buNone/>
              <a:defRPr sz="2467" baseline="0"/>
            </a:lvl2pPr>
          </a:lstStyle>
          <a:p>
            <a:pPr lvl="0"/>
            <a:r>
              <a:rPr lang="fr-FR" dirty="0"/>
              <a:t>Titre de la présentation </a:t>
            </a:r>
            <a:br>
              <a:rPr lang="fr-FR" dirty="0"/>
            </a:br>
            <a:r>
              <a:rPr lang="fr-FR" dirty="0"/>
              <a:t>sur deux lignes maximum</a:t>
            </a:r>
          </a:p>
          <a:p>
            <a:pPr lvl="1"/>
            <a:r>
              <a:rPr lang="fr-FR" dirty="0"/>
              <a:t>Sous-titre de la présentation </a:t>
            </a:r>
            <a:br>
              <a:rPr lang="fr-FR" dirty="0"/>
            </a:br>
            <a:r>
              <a:rPr lang="fr-FR" dirty="0"/>
              <a:t>sur deux lignes maximum</a:t>
            </a:r>
          </a:p>
        </p:txBody>
      </p:sp>
      <p:sp>
        <p:nvSpPr>
          <p:cNvPr id="7" name="Espace réservé de la date 6">
            <a:extLst>
              <a:ext uri="{FF2B5EF4-FFF2-40B4-BE49-F238E27FC236}">
                <a16:creationId xmlns:a16="http://schemas.microsoft.com/office/drawing/2014/main" id="{972FC0E8-6F73-4131-92BB-23652B1A5AB6}"/>
              </a:ext>
            </a:extLst>
          </p:cNvPr>
          <p:cNvSpPr>
            <a:spLocks noGrp="1"/>
          </p:cNvSpPr>
          <p:nvPr>
            <p:ph type="dt" sz="half" idx="15"/>
          </p:nvPr>
        </p:nvSpPr>
        <p:spPr>
          <a:xfrm>
            <a:off x="10266300" y="6212901"/>
            <a:ext cx="1560000" cy="282572"/>
          </a:xfrm>
        </p:spPr>
        <p:txBody>
          <a:bodyPr>
            <a:noAutofit/>
          </a:bodyPr>
          <a:lstStyle/>
          <a:p>
            <a:pPr algn="r"/>
            <a:r>
              <a:rPr lang="fr-FR" cap="all"/>
              <a:t>XX/XX/2021</a:t>
            </a:r>
            <a:endParaRPr lang="fr-FR" cap="all" dirty="0"/>
          </a:p>
        </p:txBody>
      </p:sp>
      <p:sp>
        <p:nvSpPr>
          <p:cNvPr id="9" name="Espace réservé du numéro de diapositive 8">
            <a:extLst>
              <a:ext uri="{FF2B5EF4-FFF2-40B4-BE49-F238E27FC236}">
                <a16:creationId xmlns:a16="http://schemas.microsoft.com/office/drawing/2014/main" id="{471DF7BD-76CD-45EB-8FE8-07FE684BDF9D}"/>
              </a:ext>
            </a:extLst>
          </p:cNvPr>
          <p:cNvSpPr>
            <a:spLocks noGrp="1"/>
          </p:cNvSpPr>
          <p:nvPr>
            <p:ph type="sldNum" sz="quarter" idx="17"/>
          </p:nvPr>
        </p:nvSpPr>
        <p:spPr/>
        <p:txBody>
          <a:bodyPr>
            <a:noAutofit/>
          </a:body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2540079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solidFill>
                  <a:srgbClr val="262626"/>
                </a:solidFill>
              </a:defRPr>
            </a:lvl1pPr>
          </a:lstStyle>
          <a:p>
            <a:r>
              <a:rPr lang="fr-FR" dirty="0"/>
              <a:t>Sommaire</a:t>
            </a:r>
          </a:p>
        </p:txBody>
      </p:sp>
      <p:sp>
        <p:nvSpPr>
          <p:cNvPr id="8" name="Espace réservé du texte 7"/>
          <p:cNvSpPr>
            <a:spLocks noGrp="1"/>
          </p:cNvSpPr>
          <p:nvPr>
            <p:ph type="body" sz="quarter" idx="13" hasCustomPrompt="1"/>
          </p:nvPr>
        </p:nvSpPr>
        <p:spPr bwMode="gray">
          <a:xfrm>
            <a:off x="479997" y="2522624"/>
            <a:ext cx="3360000" cy="3374400"/>
          </a:xfrm>
        </p:spPr>
        <p:txBody>
          <a:bodyPr/>
          <a:lstStyle>
            <a:lvl1pPr marL="191995" indent="-191995">
              <a:spcBef>
                <a:spcPts val="533"/>
              </a:spcBef>
              <a:spcAft>
                <a:spcPts val="1067"/>
              </a:spcAft>
              <a:buFont typeface="+mj-lt"/>
              <a:buNone/>
              <a:defRPr b="1">
                <a:solidFill>
                  <a:schemeClr val="tx2"/>
                </a:solidFill>
              </a:defRPr>
            </a:lvl1pPr>
            <a:lvl2pPr marL="431989" indent="-191995">
              <a:spcBef>
                <a:spcPts val="800"/>
              </a:spcBef>
              <a:spcAft>
                <a:spcPts val="1067"/>
              </a:spcAft>
              <a:buFont typeface="+mj-lt"/>
              <a:buAutoNum type="alphaLcPeriod"/>
              <a:defRPr>
                <a:solidFill>
                  <a:srgbClr val="262626"/>
                </a:solidFill>
              </a:defRPr>
            </a:lvl2pPr>
          </a:lstStyle>
          <a:p>
            <a:pPr lvl="0"/>
            <a:r>
              <a:rPr lang="fr-FR" dirty="0"/>
              <a:t>1. Titre de la partie</a:t>
            </a:r>
          </a:p>
          <a:p>
            <a:pPr lvl="1"/>
            <a:r>
              <a:rPr lang="fr-FR" dirty="0"/>
              <a:t>Deuxième niveau</a:t>
            </a:r>
          </a:p>
        </p:txBody>
      </p:sp>
      <p:sp>
        <p:nvSpPr>
          <p:cNvPr id="9" name="Espace réservé du texte 7"/>
          <p:cNvSpPr>
            <a:spLocks noGrp="1"/>
          </p:cNvSpPr>
          <p:nvPr>
            <p:ph type="body" sz="quarter" idx="14" hasCustomPrompt="1"/>
          </p:nvPr>
        </p:nvSpPr>
        <p:spPr bwMode="gray">
          <a:xfrm>
            <a:off x="4416000" y="2524800"/>
            <a:ext cx="3360000" cy="3374400"/>
          </a:xfrm>
        </p:spPr>
        <p:txBody>
          <a:bodyPr/>
          <a:lstStyle>
            <a:lvl1pPr marL="191995" indent="-191995">
              <a:spcBef>
                <a:spcPts val="533"/>
              </a:spcBef>
              <a:spcAft>
                <a:spcPts val="1067"/>
              </a:spcAft>
              <a:buFont typeface="+mj-lt"/>
              <a:buNone/>
              <a:defRPr b="1">
                <a:solidFill>
                  <a:schemeClr val="accent2"/>
                </a:solidFill>
              </a:defRPr>
            </a:lvl1pPr>
            <a:lvl2pPr marL="431989" indent="-191995">
              <a:spcBef>
                <a:spcPts val="800"/>
              </a:spcBef>
              <a:spcAft>
                <a:spcPts val="1067"/>
              </a:spcAft>
              <a:buFont typeface="+mj-lt"/>
              <a:buAutoNum type="alphaLcPeriod"/>
              <a:defRPr>
                <a:solidFill>
                  <a:srgbClr val="262626"/>
                </a:solidFill>
              </a:defRPr>
            </a:lvl2pPr>
          </a:lstStyle>
          <a:p>
            <a:pPr lvl="0"/>
            <a:r>
              <a:rPr lang="fr-FR" dirty="0"/>
              <a:t>2. Titre de la partie</a:t>
            </a:r>
          </a:p>
          <a:p>
            <a:pPr lvl="1"/>
            <a:r>
              <a:rPr lang="fr-FR" dirty="0"/>
              <a:t>Deuxième niveau</a:t>
            </a:r>
          </a:p>
        </p:txBody>
      </p:sp>
      <p:sp>
        <p:nvSpPr>
          <p:cNvPr id="10" name="Espace réservé du texte 7"/>
          <p:cNvSpPr>
            <a:spLocks noGrp="1"/>
          </p:cNvSpPr>
          <p:nvPr>
            <p:ph type="body" sz="quarter" idx="15" hasCustomPrompt="1"/>
          </p:nvPr>
        </p:nvSpPr>
        <p:spPr bwMode="gray">
          <a:xfrm>
            <a:off x="8351999" y="2524800"/>
            <a:ext cx="3360000" cy="3374400"/>
          </a:xfrm>
        </p:spPr>
        <p:txBody>
          <a:bodyPr/>
          <a:lstStyle>
            <a:lvl1pPr marL="191995" indent="-191995">
              <a:spcBef>
                <a:spcPts val="533"/>
              </a:spcBef>
              <a:spcAft>
                <a:spcPts val="1067"/>
              </a:spcAft>
              <a:buFont typeface="+mj-lt"/>
              <a:buNone/>
              <a:defRPr b="1">
                <a:solidFill>
                  <a:srgbClr val="5770BE"/>
                </a:solidFill>
              </a:defRPr>
            </a:lvl1pPr>
            <a:lvl2pPr marL="431989" indent="-191995">
              <a:spcBef>
                <a:spcPts val="800"/>
              </a:spcBef>
              <a:spcAft>
                <a:spcPts val="1067"/>
              </a:spcAft>
              <a:buFont typeface="+mj-lt"/>
              <a:buAutoNum type="alphaLcPeriod"/>
              <a:defRPr>
                <a:solidFill>
                  <a:srgbClr val="262626"/>
                </a:solidFill>
              </a:defRPr>
            </a:lvl2pPr>
          </a:lstStyle>
          <a:p>
            <a:pPr lvl="0"/>
            <a:r>
              <a:rPr lang="fr-FR" dirty="0"/>
              <a:t>3. Titre de la partie</a:t>
            </a:r>
          </a:p>
          <a:p>
            <a:pPr lvl="1"/>
            <a:r>
              <a:rPr lang="fr-FR" dirty="0"/>
              <a:t>Deuxième niveau</a:t>
            </a:r>
          </a:p>
        </p:txBody>
      </p:sp>
      <p:sp>
        <p:nvSpPr>
          <p:cNvPr id="6" name="Espace réservé de la date 5">
            <a:extLst>
              <a:ext uri="{FF2B5EF4-FFF2-40B4-BE49-F238E27FC236}">
                <a16:creationId xmlns:a16="http://schemas.microsoft.com/office/drawing/2014/main" id="{BA039719-59E1-499E-AE38-46FC3D06F2F1}"/>
              </a:ext>
            </a:extLst>
          </p:cNvPr>
          <p:cNvSpPr>
            <a:spLocks noGrp="1"/>
          </p:cNvSpPr>
          <p:nvPr>
            <p:ph type="dt" sz="half" idx="16"/>
          </p:nvPr>
        </p:nvSpPr>
        <p:spPr/>
        <p:txBody>
          <a:bodyPr/>
          <a:lstStyle>
            <a:lvl1pPr>
              <a:defRPr>
                <a:solidFill>
                  <a:srgbClr val="262626"/>
                </a:solidFill>
              </a:defRPr>
            </a:lvl1pPr>
          </a:lstStyle>
          <a:p>
            <a:pPr algn="r"/>
            <a:r>
              <a:rPr lang="fr-FR" cap="all"/>
              <a:t>XX/XX/2021</a:t>
            </a:r>
            <a:endParaRPr lang="fr-FR" cap="all" dirty="0"/>
          </a:p>
        </p:txBody>
      </p:sp>
      <p:sp>
        <p:nvSpPr>
          <p:cNvPr id="7" name="Espace réservé du pied de page 6">
            <a:extLst>
              <a:ext uri="{FF2B5EF4-FFF2-40B4-BE49-F238E27FC236}">
                <a16:creationId xmlns:a16="http://schemas.microsoft.com/office/drawing/2014/main" id="{54460079-5C05-4907-83D0-F6C237D493D1}"/>
              </a:ext>
            </a:extLst>
          </p:cNvPr>
          <p:cNvSpPr>
            <a:spLocks noGrp="1"/>
          </p:cNvSpPr>
          <p:nvPr>
            <p:ph type="ftr" sz="quarter" idx="17"/>
          </p:nvPr>
        </p:nvSpPr>
        <p:spPr/>
        <p:txBody>
          <a:bodyPr/>
          <a:lstStyle>
            <a:lvl1pPr>
              <a:defRPr>
                <a:solidFill>
                  <a:srgbClr val="262626"/>
                </a:solidFill>
              </a:defRPr>
            </a:lvl1pPr>
          </a:lstStyle>
          <a:p>
            <a:r>
              <a:rPr lang="fr-FR"/>
              <a:t>Titre de la présentation sur une seule ligne</a:t>
            </a:r>
            <a:endParaRPr lang="fr-FR" dirty="0"/>
          </a:p>
        </p:txBody>
      </p:sp>
      <p:sp>
        <p:nvSpPr>
          <p:cNvPr id="11"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8"/>
          </p:nvPr>
        </p:nvSpPr>
        <p:spPr/>
        <p:txBody>
          <a:bodyPr/>
          <a:lstStyle>
            <a:lvl1pPr>
              <a:defRPr>
                <a:solidFill>
                  <a:srgbClr val="262626"/>
                </a:solidFill>
              </a:defRPr>
            </a:lvl1pPr>
          </a:lstStyle>
          <a:p>
            <a:fld id="{733122C9-A0B9-462F-8757-0847AD287B63}" type="slidenum">
              <a:rPr lang="fr-FR" smtClean="0"/>
              <a:pPr/>
              <a:t>‹N°›</a:t>
            </a:fld>
            <a:endParaRPr lang="fr-FR" dirty="0"/>
          </a:p>
        </p:txBody>
      </p:sp>
      <p:grpSp>
        <p:nvGrpSpPr>
          <p:cNvPr id="42" name="Groupe 41">
            <a:extLst>
              <a:ext uri="{FF2B5EF4-FFF2-40B4-BE49-F238E27FC236}">
                <a16:creationId xmlns:a16="http://schemas.microsoft.com/office/drawing/2014/main" id="{DD31BDFD-FADC-44D8-B829-1A31B7858F66}"/>
              </a:ext>
            </a:extLst>
          </p:cNvPr>
          <p:cNvGrpSpPr/>
          <p:nvPr userDrawn="1"/>
        </p:nvGrpSpPr>
        <p:grpSpPr>
          <a:xfrm>
            <a:off x="11337925" y="238141"/>
            <a:ext cx="365127" cy="507984"/>
            <a:chOff x="2724335" y="0"/>
            <a:chExt cx="3694565" cy="5140087"/>
          </a:xfrm>
        </p:grpSpPr>
        <p:grpSp>
          <p:nvGrpSpPr>
            <p:cNvPr id="43" name="Groupe 42">
              <a:extLst>
                <a:ext uri="{FF2B5EF4-FFF2-40B4-BE49-F238E27FC236}">
                  <a16:creationId xmlns:a16="http://schemas.microsoft.com/office/drawing/2014/main" id="{68948EC5-1067-4566-82C7-B6A31FB381EE}"/>
                </a:ext>
              </a:extLst>
            </p:cNvPr>
            <p:cNvGrpSpPr/>
            <p:nvPr userDrawn="1"/>
          </p:nvGrpSpPr>
          <p:grpSpPr>
            <a:xfrm>
              <a:off x="2724335" y="4398358"/>
              <a:ext cx="3694565" cy="741729"/>
              <a:chOff x="2724335" y="4398358"/>
              <a:chExt cx="3694565" cy="741729"/>
            </a:xfrm>
          </p:grpSpPr>
          <p:sp>
            <p:nvSpPr>
              <p:cNvPr id="50" name="Forme libre : forme 49">
                <a:extLst>
                  <a:ext uri="{FF2B5EF4-FFF2-40B4-BE49-F238E27FC236}">
                    <a16:creationId xmlns:a16="http://schemas.microsoft.com/office/drawing/2014/main" id="{A9721D01-449C-4E27-8D95-CB388E166391}"/>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sz="2400"/>
              </a:p>
            </p:txBody>
          </p:sp>
          <p:sp>
            <p:nvSpPr>
              <p:cNvPr id="51" name="Forme libre : forme 50">
                <a:extLst>
                  <a:ext uri="{FF2B5EF4-FFF2-40B4-BE49-F238E27FC236}">
                    <a16:creationId xmlns:a16="http://schemas.microsoft.com/office/drawing/2014/main" id="{D4EF4E18-1600-4951-B2D3-81EA9BB0A9D0}"/>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52" name="Forme libre : forme 51">
                <a:extLst>
                  <a:ext uri="{FF2B5EF4-FFF2-40B4-BE49-F238E27FC236}">
                    <a16:creationId xmlns:a16="http://schemas.microsoft.com/office/drawing/2014/main" id="{3284962D-7A7F-4349-9250-20D40BD3FEC1}"/>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sz="2400"/>
              </a:p>
            </p:txBody>
          </p:sp>
          <p:sp>
            <p:nvSpPr>
              <p:cNvPr id="53" name="Forme libre : forme 52">
                <a:extLst>
                  <a:ext uri="{FF2B5EF4-FFF2-40B4-BE49-F238E27FC236}">
                    <a16:creationId xmlns:a16="http://schemas.microsoft.com/office/drawing/2014/main" id="{476FCF11-4108-40BC-8178-ADD787625181}"/>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54" name="Forme libre : forme 53">
                <a:extLst>
                  <a:ext uri="{FF2B5EF4-FFF2-40B4-BE49-F238E27FC236}">
                    <a16:creationId xmlns:a16="http://schemas.microsoft.com/office/drawing/2014/main" id="{D22E4527-8C28-490C-A537-25A59F3C9541}"/>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sz="2400"/>
              </a:p>
            </p:txBody>
          </p:sp>
        </p:grpSp>
        <p:grpSp>
          <p:nvGrpSpPr>
            <p:cNvPr id="44" name="Groupe 43">
              <a:extLst>
                <a:ext uri="{FF2B5EF4-FFF2-40B4-BE49-F238E27FC236}">
                  <a16:creationId xmlns:a16="http://schemas.microsoft.com/office/drawing/2014/main" id="{7A93ACC7-0FC5-4E42-9A92-E233EF4B3BDD}"/>
                </a:ext>
              </a:extLst>
            </p:cNvPr>
            <p:cNvGrpSpPr/>
            <p:nvPr userDrawn="1"/>
          </p:nvGrpSpPr>
          <p:grpSpPr>
            <a:xfrm>
              <a:off x="2752472" y="0"/>
              <a:ext cx="3638377" cy="3631244"/>
              <a:chOff x="2752472" y="0"/>
              <a:chExt cx="3638377" cy="3631244"/>
            </a:xfrm>
          </p:grpSpPr>
          <p:sp>
            <p:nvSpPr>
              <p:cNvPr id="45" name="Forme libre : forme 44">
                <a:extLst>
                  <a:ext uri="{FF2B5EF4-FFF2-40B4-BE49-F238E27FC236}">
                    <a16:creationId xmlns:a16="http://schemas.microsoft.com/office/drawing/2014/main" id="{57603CFD-4D04-4A34-A606-ACDAC0C83EBE}"/>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sz="2400"/>
              </a:p>
            </p:txBody>
          </p:sp>
          <p:sp>
            <p:nvSpPr>
              <p:cNvPr id="46" name="Forme libre : forme 45">
                <a:extLst>
                  <a:ext uri="{FF2B5EF4-FFF2-40B4-BE49-F238E27FC236}">
                    <a16:creationId xmlns:a16="http://schemas.microsoft.com/office/drawing/2014/main" id="{43458750-899D-4394-B830-1E9A3B51E930}"/>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sz="2400"/>
              </a:p>
            </p:txBody>
          </p:sp>
          <p:sp>
            <p:nvSpPr>
              <p:cNvPr id="47" name="Forme libre : forme 46">
                <a:extLst>
                  <a:ext uri="{FF2B5EF4-FFF2-40B4-BE49-F238E27FC236}">
                    <a16:creationId xmlns:a16="http://schemas.microsoft.com/office/drawing/2014/main" id="{091F78CC-3B11-43B4-8B6D-739240B1A3D0}"/>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sz="2400"/>
              </a:p>
            </p:txBody>
          </p:sp>
          <p:sp>
            <p:nvSpPr>
              <p:cNvPr id="48" name="Forme libre : forme 47">
                <a:extLst>
                  <a:ext uri="{FF2B5EF4-FFF2-40B4-BE49-F238E27FC236}">
                    <a16:creationId xmlns:a16="http://schemas.microsoft.com/office/drawing/2014/main" id="{25815A24-B8B0-4B4D-9625-670E8EA1BFD7}"/>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sz="2400"/>
              </a:p>
            </p:txBody>
          </p:sp>
          <p:sp>
            <p:nvSpPr>
              <p:cNvPr id="49" name="Forme libre : forme 48">
                <a:extLst>
                  <a:ext uri="{FF2B5EF4-FFF2-40B4-BE49-F238E27FC236}">
                    <a16:creationId xmlns:a16="http://schemas.microsoft.com/office/drawing/2014/main" id="{CC32A3B7-91D8-4CBD-9C74-C8A91E4E80F7}"/>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sz="2400"/>
              </a:p>
            </p:txBody>
          </p:sp>
        </p:grpSp>
      </p:grpSp>
    </p:spTree>
    <p:extLst>
      <p:ext uri="{BB962C8B-B14F-4D97-AF65-F5344CB8AC3E}">
        <p14:creationId xmlns:p14="http://schemas.microsoft.com/office/powerpoint/2010/main" val="6615439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po de titre 1">
    <p:bg>
      <p:bgPr>
        <a:solidFill>
          <a:schemeClr val="accent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15" name="Groupe 14">
            <a:extLst>
              <a:ext uri="{FF2B5EF4-FFF2-40B4-BE49-F238E27FC236}">
                <a16:creationId xmlns:a16="http://schemas.microsoft.com/office/drawing/2014/main" id="{EF6742AF-C8D3-4ECE-A715-D2E9132A76D7}"/>
              </a:ext>
            </a:extLst>
          </p:cNvPr>
          <p:cNvGrpSpPr/>
          <p:nvPr userDrawn="1"/>
        </p:nvGrpSpPr>
        <p:grpSpPr>
          <a:xfrm>
            <a:off x="6774558" y="2383665"/>
            <a:ext cx="3589316" cy="1769235"/>
            <a:chOff x="1876472" y="1243012"/>
            <a:chExt cx="5386683" cy="2655188"/>
          </a:xfrm>
          <a:solidFill>
            <a:schemeClr val="bg2"/>
          </a:solidFill>
        </p:grpSpPr>
        <p:sp>
          <p:nvSpPr>
            <p:cNvPr id="8" name="Forme libre : forme 7">
              <a:extLst>
                <a:ext uri="{FF2B5EF4-FFF2-40B4-BE49-F238E27FC236}">
                  <a16:creationId xmlns:a16="http://schemas.microsoft.com/office/drawing/2014/main" id="{E89B02AF-DB8F-42C4-A8A6-230344B46333}"/>
                </a:ext>
              </a:extLst>
            </p:cNvPr>
            <p:cNvSpPr/>
            <p:nvPr/>
          </p:nvSpPr>
          <p:spPr>
            <a:xfrm>
              <a:off x="5656023" y="229428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0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1" y="1257586"/>
                    <a:pt x="252143" y="1289495"/>
                  </a:cubicBezTo>
                  <a:cubicBezTo>
                    <a:pt x="438166" y="1143857"/>
                    <a:pt x="587423" y="946595"/>
                    <a:pt x="675434" y="708850"/>
                  </a:cubicBezTo>
                  <a:cubicBezTo>
                    <a:pt x="762493" y="473678"/>
                    <a:pt x="778399" y="229457"/>
                    <a:pt x="733918" y="0"/>
                  </a:cubicBezTo>
                  <a:cubicBezTo>
                    <a:pt x="702390" y="5715"/>
                    <a:pt x="168038" y="108966"/>
                    <a:pt x="32211" y="473202"/>
                  </a:cubicBezTo>
                  <a:close/>
                </a:path>
              </a:pathLst>
            </a:custGeom>
            <a:grpFill/>
            <a:ln w="9525" cap="flat">
              <a:noFill/>
              <a:prstDash val="solid"/>
              <a:miter/>
            </a:ln>
          </p:spPr>
          <p:txBody>
            <a:bodyPr rtlCol="0" anchor="ctr"/>
            <a:lstStyle/>
            <a:p>
              <a:endParaRPr lang="fr-FR" sz="2400"/>
            </a:p>
          </p:txBody>
        </p:sp>
        <p:sp>
          <p:nvSpPr>
            <p:cNvPr id="11" name="Forme libre : forme 10">
              <a:extLst>
                <a:ext uri="{FF2B5EF4-FFF2-40B4-BE49-F238E27FC236}">
                  <a16:creationId xmlns:a16="http://schemas.microsoft.com/office/drawing/2014/main" id="{68B4B2E3-6F03-4BD4-BB28-FCDF5C00B34A}"/>
                </a:ext>
              </a:extLst>
            </p:cNvPr>
            <p:cNvSpPr/>
            <p:nvPr/>
          </p:nvSpPr>
          <p:spPr>
            <a:xfrm>
              <a:off x="6505177" y="260870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1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2" y="1257586"/>
                    <a:pt x="252143" y="1289495"/>
                  </a:cubicBezTo>
                  <a:cubicBezTo>
                    <a:pt x="438167" y="1143857"/>
                    <a:pt x="587423" y="946594"/>
                    <a:pt x="675434" y="708851"/>
                  </a:cubicBezTo>
                  <a:cubicBezTo>
                    <a:pt x="762493" y="473678"/>
                    <a:pt x="778399" y="229457"/>
                    <a:pt x="733918" y="0"/>
                  </a:cubicBezTo>
                  <a:cubicBezTo>
                    <a:pt x="702485" y="5810"/>
                    <a:pt x="168037" y="109061"/>
                    <a:pt x="32211" y="473202"/>
                  </a:cubicBezTo>
                  <a:close/>
                </a:path>
              </a:pathLst>
            </a:custGeom>
            <a:grpFill/>
            <a:ln w="9525" cap="flat">
              <a:noFill/>
              <a:prstDash val="solid"/>
              <a:miter/>
            </a:ln>
          </p:spPr>
          <p:txBody>
            <a:bodyPr rtlCol="0" anchor="ctr"/>
            <a:lstStyle/>
            <a:p>
              <a:endParaRPr lang="fr-FR" sz="2400"/>
            </a:p>
          </p:txBody>
        </p:sp>
        <p:sp>
          <p:nvSpPr>
            <p:cNvPr id="12" name="Forme libre : forme 11">
              <a:extLst>
                <a:ext uri="{FF2B5EF4-FFF2-40B4-BE49-F238E27FC236}">
                  <a16:creationId xmlns:a16="http://schemas.microsoft.com/office/drawing/2014/main" id="{99B404BE-FE54-428A-911D-CAC51B52FD2D}"/>
                </a:ext>
              </a:extLst>
            </p:cNvPr>
            <p:cNvSpPr/>
            <p:nvPr/>
          </p:nvSpPr>
          <p:spPr>
            <a:xfrm>
              <a:off x="2704671" y="1549717"/>
              <a:ext cx="755433" cy="1292256"/>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sp>
          <p:nvSpPr>
            <p:cNvPr id="13" name="Forme libre : forme 12">
              <a:extLst>
                <a:ext uri="{FF2B5EF4-FFF2-40B4-BE49-F238E27FC236}">
                  <a16:creationId xmlns:a16="http://schemas.microsoft.com/office/drawing/2014/main" id="{19526F4F-A482-4075-A175-93D5B6F1862F}"/>
                </a:ext>
              </a:extLst>
            </p:cNvPr>
            <p:cNvSpPr/>
            <p:nvPr/>
          </p:nvSpPr>
          <p:spPr>
            <a:xfrm>
              <a:off x="1876472" y="1243012"/>
              <a:ext cx="755400" cy="1292255"/>
            </a:xfrm>
            <a:custGeom>
              <a:avLst/>
              <a:gdLst>
                <a:gd name="connsiteX0" fmla="*/ 724043 w 755400"/>
                <a:gd name="connsiteY0" fmla="*/ 816102 h 1292256"/>
                <a:gd name="connsiteX1" fmla="*/ 25574 w 755400"/>
                <a:gd name="connsiteY1" fmla="*/ 1292257 h 1292256"/>
                <a:gd name="connsiteX2" fmla="*/ 82534 w 755400"/>
                <a:gd name="connsiteY2" fmla="*/ 575977 h 1292256"/>
                <a:gd name="connsiteX3" fmla="*/ 499824 w 755400"/>
                <a:gd name="connsiteY3" fmla="*/ 0 h 1292256"/>
                <a:gd name="connsiteX4" fmla="*/ 724043 w 755400"/>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00" h="1292256">
                  <a:moveTo>
                    <a:pt x="724043" y="816102"/>
                  </a:moveTo>
                  <a:cubicBezTo>
                    <a:pt x="591074" y="1177671"/>
                    <a:pt x="65579" y="1284637"/>
                    <a:pt x="25574" y="1292257"/>
                  </a:cubicBezTo>
                  <a:cubicBezTo>
                    <a:pt x="-20717" y="1060609"/>
                    <a:pt x="-5572" y="813721"/>
                    <a:pt x="82534" y="575977"/>
                  </a:cubicBezTo>
                  <a:cubicBezTo>
                    <a:pt x="169592" y="340805"/>
                    <a:pt x="316563" y="145161"/>
                    <a:pt x="499824" y="0"/>
                  </a:cubicBezTo>
                  <a:cubicBezTo>
                    <a:pt x="519922" y="24860"/>
                    <a:pt x="858155" y="451295"/>
                    <a:pt x="724043" y="816102"/>
                  </a:cubicBezTo>
                  <a:close/>
                </a:path>
              </a:pathLst>
            </a:custGeom>
            <a:grpFill/>
            <a:ln w="9525" cap="flat">
              <a:noFill/>
              <a:prstDash val="solid"/>
              <a:miter/>
            </a:ln>
          </p:spPr>
          <p:txBody>
            <a:bodyPr rtlCol="0" anchor="ctr"/>
            <a:lstStyle/>
            <a:p>
              <a:endParaRPr lang="fr-FR" sz="2400"/>
            </a:p>
          </p:txBody>
        </p:sp>
      </p:grpSp>
      <p:sp>
        <p:nvSpPr>
          <p:cNvPr id="2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23"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5"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fr-FR"/>
              <a:t>Titre de la présentation sur une seule ligne</a:t>
            </a:r>
            <a:endParaRPr lang="fr-FR" dirty="0"/>
          </a:p>
        </p:txBody>
      </p:sp>
    </p:spTree>
    <p:extLst>
      <p:ext uri="{BB962C8B-B14F-4D97-AF65-F5344CB8AC3E}">
        <p14:creationId xmlns:p14="http://schemas.microsoft.com/office/powerpoint/2010/main" val="7995918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apo de titre 2">
    <p:bg>
      <p:bgPr>
        <a:solidFill>
          <a:srgbClr val="FFE800"/>
        </a:solid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rgbClr val="262626"/>
                </a:solidFill>
              </a:defRPr>
            </a:lvl1pPr>
          </a:lstStyle>
          <a:p>
            <a:r>
              <a:rPr lang="fr-FR" dirty="0"/>
              <a:t>1. Titre de partie</a:t>
            </a:r>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rgbClr val="262626"/>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17" name="Groupe 16">
            <a:extLst>
              <a:ext uri="{FF2B5EF4-FFF2-40B4-BE49-F238E27FC236}">
                <a16:creationId xmlns:a16="http://schemas.microsoft.com/office/drawing/2014/main" id="{11EC5EB1-2433-445A-90EB-40A3439D696C}"/>
              </a:ext>
            </a:extLst>
          </p:cNvPr>
          <p:cNvGrpSpPr/>
          <p:nvPr userDrawn="1"/>
        </p:nvGrpSpPr>
        <p:grpSpPr>
          <a:xfrm>
            <a:off x="6360160" y="1702960"/>
            <a:ext cx="3413760" cy="3360563"/>
            <a:chOff x="2024062" y="61912"/>
            <a:chExt cx="5097779" cy="5018340"/>
          </a:xfrm>
          <a:solidFill>
            <a:srgbClr val="FF9940"/>
          </a:solidFill>
        </p:grpSpPr>
        <p:sp>
          <p:nvSpPr>
            <p:cNvPr id="18" name="Forme libre : forme 7">
              <a:extLst>
                <a:ext uri="{FF2B5EF4-FFF2-40B4-BE49-F238E27FC236}">
                  <a16:creationId xmlns:a16="http://schemas.microsoft.com/office/drawing/2014/main" id="{980A77CA-4106-4CFD-9089-5D17008DBD8F}"/>
                </a:ext>
              </a:extLst>
            </p:cNvPr>
            <p:cNvSpPr/>
            <p:nvPr/>
          </p:nvSpPr>
          <p:spPr>
            <a:xfrm>
              <a:off x="4123409" y="3661504"/>
              <a:ext cx="726675" cy="1418748"/>
            </a:xfrm>
            <a:custGeom>
              <a:avLst/>
              <a:gdLst>
                <a:gd name="connsiteX0" fmla="*/ 5487 w 726675"/>
                <a:gd name="connsiteY0" fmla="*/ 635032 h 1418748"/>
                <a:gd name="connsiteX1" fmla="*/ 407442 w 726675"/>
                <a:gd name="connsiteY1" fmla="*/ 1418749 h 1418748"/>
                <a:gd name="connsiteX2" fmla="*/ 712242 w 726675"/>
                <a:gd name="connsiteY2" fmla="*/ 734949 h 1418748"/>
                <a:gd name="connsiteX3" fmla="*/ 617373 w 726675"/>
                <a:gd name="connsiteY3" fmla="*/ 0 h 1418748"/>
                <a:gd name="connsiteX4" fmla="*/ 5487 w 726675"/>
                <a:gd name="connsiteY4" fmla="*/ 635032 h 1418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675" h="1418748">
                  <a:moveTo>
                    <a:pt x="5487" y="635032"/>
                  </a:moveTo>
                  <a:cubicBezTo>
                    <a:pt x="-52996" y="1032129"/>
                    <a:pt x="374581" y="1391888"/>
                    <a:pt x="407442" y="1418749"/>
                  </a:cubicBezTo>
                  <a:cubicBezTo>
                    <a:pt x="565176" y="1229868"/>
                    <a:pt x="674333" y="996315"/>
                    <a:pt x="712242" y="734949"/>
                  </a:cubicBezTo>
                  <a:cubicBezTo>
                    <a:pt x="749771" y="476345"/>
                    <a:pt x="712718" y="224028"/>
                    <a:pt x="617373" y="0"/>
                  </a:cubicBezTo>
                  <a:cubicBezTo>
                    <a:pt x="586512" y="12763"/>
                    <a:pt x="64447" y="234410"/>
                    <a:pt x="5487" y="635032"/>
                  </a:cubicBezTo>
                  <a:close/>
                </a:path>
              </a:pathLst>
            </a:custGeom>
            <a:grpFill/>
            <a:ln w="9525" cap="flat">
              <a:noFill/>
              <a:prstDash val="solid"/>
              <a:miter/>
            </a:ln>
          </p:spPr>
          <p:txBody>
            <a:bodyPr rtlCol="0" anchor="ctr"/>
            <a:lstStyle/>
            <a:p>
              <a:endParaRPr lang="fr-FR" sz="2400"/>
            </a:p>
          </p:txBody>
        </p:sp>
        <p:sp>
          <p:nvSpPr>
            <p:cNvPr id="19" name="Forme libre : forme 10">
              <a:extLst>
                <a:ext uri="{FF2B5EF4-FFF2-40B4-BE49-F238E27FC236}">
                  <a16:creationId xmlns:a16="http://schemas.microsoft.com/office/drawing/2014/main" id="{0249ABE6-2F7B-4AA0-8FB6-54E6BF81A1B2}"/>
                </a:ext>
              </a:extLst>
            </p:cNvPr>
            <p:cNvSpPr/>
            <p:nvPr/>
          </p:nvSpPr>
          <p:spPr>
            <a:xfrm>
              <a:off x="5837681" y="2484253"/>
              <a:ext cx="1284160" cy="839943"/>
            </a:xfrm>
            <a:custGeom>
              <a:avLst/>
              <a:gdLst>
                <a:gd name="connsiteX0" fmla="*/ 414814 w 1284160"/>
                <a:gd name="connsiteY0" fmla="*/ 783012 h 839943"/>
                <a:gd name="connsiteX1" fmla="*/ 1284161 w 1284160"/>
                <a:gd name="connsiteY1" fmla="*/ 643185 h 839943"/>
                <a:gd name="connsiteX2" fmla="*/ 316992 w 1284160"/>
                <a:gd name="connsiteY2" fmla="*/ 14345 h 839943"/>
                <a:gd name="connsiteX3" fmla="*/ 0 w 1284160"/>
                <a:gd name="connsiteY3" fmla="*/ 5105 h 839943"/>
                <a:gd name="connsiteX4" fmla="*/ 414814 w 1284160"/>
                <a:gd name="connsiteY4" fmla="*/ 783012 h 839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4160" h="839943">
                  <a:moveTo>
                    <a:pt x="414814" y="783012"/>
                  </a:moveTo>
                  <a:cubicBezTo>
                    <a:pt x="773430" y="960844"/>
                    <a:pt x="1246061" y="667474"/>
                    <a:pt x="1284161" y="643185"/>
                  </a:cubicBezTo>
                  <a:cubicBezTo>
                    <a:pt x="1076801" y="314096"/>
                    <a:pt x="732091" y="74447"/>
                    <a:pt x="316992" y="14345"/>
                  </a:cubicBezTo>
                  <a:cubicBezTo>
                    <a:pt x="209740" y="-1181"/>
                    <a:pt x="103537" y="-3848"/>
                    <a:pt x="0" y="5105"/>
                  </a:cubicBezTo>
                  <a:cubicBezTo>
                    <a:pt x="2572" y="39110"/>
                    <a:pt x="52292" y="603275"/>
                    <a:pt x="414814" y="783012"/>
                  </a:cubicBezTo>
                  <a:close/>
                </a:path>
              </a:pathLst>
            </a:custGeom>
            <a:grpFill/>
            <a:ln w="9525" cap="flat">
              <a:noFill/>
              <a:prstDash val="solid"/>
              <a:miter/>
            </a:ln>
          </p:spPr>
          <p:txBody>
            <a:bodyPr rtlCol="0" anchor="ctr"/>
            <a:lstStyle/>
            <a:p>
              <a:endParaRPr lang="fr-FR" sz="2400"/>
            </a:p>
          </p:txBody>
        </p:sp>
        <p:sp>
          <p:nvSpPr>
            <p:cNvPr id="20" name="Forme libre : forme 11">
              <a:extLst>
                <a:ext uri="{FF2B5EF4-FFF2-40B4-BE49-F238E27FC236}">
                  <a16:creationId xmlns:a16="http://schemas.microsoft.com/office/drawing/2014/main" id="{CF86E031-9A54-4E6A-8774-D463D2F85038}"/>
                </a:ext>
              </a:extLst>
            </p:cNvPr>
            <p:cNvSpPr/>
            <p:nvPr/>
          </p:nvSpPr>
          <p:spPr>
            <a:xfrm>
              <a:off x="5349048" y="61912"/>
              <a:ext cx="1045824" cy="1055342"/>
            </a:xfrm>
            <a:custGeom>
              <a:avLst/>
              <a:gdLst>
                <a:gd name="connsiteX0" fmla="*/ 868775 w 1045824"/>
                <a:gd name="connsiteY0" fmla="*/ 866585 h 1055342"/>
                <a:gd name="connsiteX1" fmla="*/ 1005269 w 1045824"/>
                <a:gd name="connsiteY1" fmla="*/ 0 h 1055342"/>
                <a:gd name="connsiteX2" fmla="*/ 0 w 1045824"/>
                <a:gd name="connsiteY2" fmla="*/ 1020604 h 1055342"/>
                <a:gd name="connsiteX3" fmla="*/ 868775 w 1045824"/>
                <a:gd name="connsiteY3" fmla="*/ 866585 h 1055342"/>
              </a:gdLst>
              <a:ahLst/>
              <a:cxnLst>
                <a:cxn ang="0">
                  <a:pos x="connsiteX0" y="connsiteY0"/>
                </a:cxn>
                <a:cxn ang="0">
                  <a:pos x="connsiteX1" y="connsiteY1"/>
                </a:cxn>
                <a:cxn ang="0">
                  <a:pos x="connsiteX2" y="connsiteY2"/>
                </a:cxn>
                <a:cxn ang="0">
                  <a:pos x="connsiteX3" y="connsiteY3"/>
                </a:cxn>
              </a:cxnLst>
              <a:rect l="l" t="t" r="r" b="b"/>
              <a:pathLst>
                <a:path w="1045824" h="1055342">
                  <a:moveTo>
                    <a:pt x="868775" y="866585"/>
                  </a:moveTo>
                  <a:cubicBezTo>
                    <a:pt x="1142714" y="586645"/>
                    <a:pt x="1021271" y="63341"/>
                    <a:pt x="1005269" y="0"/>
                  </a:cubicBezTo>
                  <a:cubicBezTo>
                    <a:pt x="516731" y="122587"/>
                    <a:pt x="119444" y="509111"/>
                    <a:pt x="0" y="1020604"/>
                  </a:cubicBezTo>
                  <a:cubicBezTo>
                    <a:pt x="24765" y="1026605"/>
                    <a:pt x="583406" y="1158145"/>
                    <a:pt x="868775" y="866585"/>
                  </a:cubicBezTo>
                  <a:close/>
                </a:path>
              </a:pathLst>
            </a:custGeom>
            <a:grpFill/>
            <a:ln w="9525" cap="flat">
              <a:noFill/>
              <a:prstDash val="solid"/>
              <a:miter/>
            </a:ln>
          </p:spPr>
          <p:txBody>
            <a:bodyPr rtlCol="0" anchor="ctr"/>
            <a:lstStyle/>
            <a:p>
              <a:endParaRPr lang="fr-FR" sz="2400"/>
            </a:p>
          </p:txBody>
        </p:sp>
        <p:sp>
          <p:nvSpPr>
            <p:cNvPr id="21" name="Forme libre : forme 12">
              <a:extLst>
                <a:ext uri="{FF2B5EF4-FFF2-40B4-BE49-F238E27FC236}">
                  <a16:creationId xmlns:a16="http://schemas.microsoft.com/office/drawing/2014/main" id="{C59B5725-5F9C-4F97-A8F1-326A63828549}"/>
                </a:ext>
              </a:extLst>
            </p:cNvPr>
            <p:cNvSpPr/>
            <p:nvPr/>
          </p:nvSpPr>
          <p:spPr>
            <a:xfrm>
              <a:off x="2839938" y="68103"/>
              <a:ext cx="853528" cy="1267015"/>
            </a:xfrm>
            <a:custGeom>
              <a:avLst/>
              <a:gdLst>
                <a:gd name="connsiteX0" fmla="*/ 790800 w 853528"/>
                <a:gd name="connsiteY0" fmla="*/ 397955 h 1267015"/>
                <a:gd name="connsiteX1" fmla="*/ 2702 w 853528"/>
                <a:gd name="connsiteY1" fmla="*/ 0 h 1267015"/>
                <a:gd name="connsiteX2" fmla="*/ 671738 w 853528"/>
                <a:gd name="connsiteY2" fmla="*/ 1267016 h 1267015"/>
                <a:gd name="connsiteX3" fmla="*/ 790800 w 853528"/>
                <a:gd name="connsiteY3" fmla="*/ 397955 h 1267015"/>
              </a:gdLst>
              <a:ahLst/>
              <a:cxnLst>
                <a:cxn ang="0">
                  <a:pos x="connsiteX0" y="connsiteY0"/>
                </a:cxn>
                <a:cxn ang="0">
                  <a:pos x="connsiteX1" y="connsiteY1"/>
                </a:cxn>
                <a:cxn ang="0">
                  <a:pos x="connsiteX2" y="connsiteY2"/>
                </a:cxn>
                <a:cxn ang="0">
                  <a:pos x="connsiteX3" y="connsiteY3"/>
                </a:cxn>
              </a:cxnLst>
              <a:rect l="l" t="t" r="r" b="b"/>
              <a:pathLst>
                <a:path w="853528" h="1267015">
                  <a:moveTo>
                    <a:pt x="790800" y="397955"/>
                  </a:moveTo>
                  <a:cubicBezTo>
                    <a:pt x="599824" y="33052"/>
                    <a:pt x="17846" y="762"/>
                    <a:pt x="2702" y="0"/>
                  </a:cubicBezTo>
                  <a:cubicBezTo>
                    <a:pt x="-30160" y="524637"/>
                    <a:pt x="239303" y="1009078"/>
                    <a:pt x="671738" y="1267016"/>
                  </a:cubicBezTo>
                  <a:cubicBezTo>
                    <a:pt x="705456" y="1210723"/>
                    <a:pt x="972347" y="744855"/>
                    <a:pt x="790800" y="397955"/>
                  </a:cubicBezTo>
                  <a:close/>
                </a:path>
              </a:pathLst>
            </a:custGeom>
            <a:grpFill/>
            <a:ln w="9525" cap="flat">
              <a:noFill/>
              <a:prstDash val="solid"/>
              <a:miter/>
            </a:ln>
          </p:spPr>
          <p:txBody>
            <a:bodyPr rtlCol="0" anchor="ctr"/>
            <a:lstStyle/>
            <a:p>
              <a:endParaRPr lang="fr-FR" sz="2400"/>
            </a:p>
          </p:txBody>
        </p:sp>
        <p:sp>
          <p:nvSpPr>
            <p:cNvPr id="22" name="Forme libre : forme 14">
              <a:extLst>
                <a:ext uri="{FF2B5EF4-FFF2-40B4-BE49-F238E27FC236}">
                  <a16:creationId xmlns:a16="http://schemas.microsoft.com/office/drawing/2014/main" id="{FABA9E58-4B46-4EE4-97E2-26E72D584C53}"/>
                </a:ext>
              </a:extLst>
            </p:cNvPr>
            <p:cNvSpPr/>
            <p:nvPr/>
          </p:nvSpPr>
          <p:spPr>
            <a:xfrm>
              <a:off x="2024062" y="2446286"/>
              <a:ext cx="1410176" cy="729358"/>
            </a:xfrm>
            <a:custGeom>
              <a:avLst/>
              <a:gdLst>
                <a:gd name="connsiteX0" fmla="*/ 622173 w 1410176"/>
                <a:gd name="connsiteY0" fmla="*/ 7258 h 729358"/>
                <a:gd name="connsiteX1" fmla="*/ 0 w 1410176"/>
                <a:gd name="connsiteY1" fmla="*/ 634194 h 729358"/>
                <a:gd name="connsiteX2" fmla="*/ 10001 w 1410176"/>
                <a:gd name="connsiteY2" fmla="*/ 638480 h 729358"/>
                <a:gd name="connsiteX3" fmla="*/ 304705 w 1410176"/>
                <a:gd name="connsiteY3" fmla="*/ 714966 h 729358"/>
                <a:gd name="connsiteX4" fmla="*/ 1410176 w 1410176"/>
                <a:gd name="connsiteY4" fmla="*/ 387020 h 729358"/>
                <a:gd name="connsiteX5" fmla="*/ 622173 w 1410176"/>
                <a:gd name="connsiteY5" fmla="*/ 7258 h 729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0176" h="729358">
                  <a:moveTo>
                    <a:pt x="622173" y="7258"/>
                  </a:moveTo>
                  <a:cubicBezTo>
                    <a:pt x="210693" y="76981"/>
                    <a:pt x="0" y="634194"/>
                    <a:pt x="0" y="634194"/>
                  </a:cubicBezTo>
                  <a:cubicBezTo>
                    <a:pt x="3334" y="635718"/>
                    <a:pt x="6668" y="637051"/>
                    <a:pt x="10001" y="638480"/>
                  </a:cubicBezTo>
                  <a:cubicBezTo>
                    <a:pt x="103251" y="674103"/>
                    <a:pt x="201740" y="700106"/>
                    <a:pt x="304705" y="714966"/>
                  </a:cubicBezTo>
                  <a:cubicBezTo>
                    <a:pt x="719614" y="775068"/>
                    <a:pt x="1117949" y="643338"/>
                    <a:pt x="1410176" y="387020"/>
                  </a:cubicBezTo>
                  <a:cubicBezTo>
                    <a:pt x="1359884" y="329870"/>
                    <a:pt x="1003459" y="-57417"/>
                    <a:pt x="622173" y="7258"/>
                  </a:cubicBezTo>
                  <a:close/>
                </a:path>
              </a:pathLst>
            </a:custGeom>
            <a:grpFill/>
            <a:ln w="9525" cap="flat">
              <a:noFill/>
              <a:prstDash val="solid"/>
              <a:miter/>
            </a:ln>
          </p:spPr>
          <p:txBody>
            <a:bodyPr rtlCol="0" anchor="ctr"/>
            <a:lstStyle/>
            <a:p>
              <a:endParaRPr lang="fr-FR" sz="2400"/>
            </a:p>
          </p:txBody>
        </p:sp>
      </p:grpSp>
      <p:sp>
        <p:nvSpPr>
          <p:cNvPr id="23"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a:xfrm>
            <a:off x="8452755" y="6212901"/>
            <a:ext cx="1800000" cy="246221"/>
          </a:xfrm>
        </p:spPr>
        <p:txBody>
          <a:bodyPr/>
          <a:lstStyle>
            <a:lvl1pPr>
              <a:defRPr>
                <a:solidFill>
                  <a:srgbClr val="262626"/>
                </a:solidFill>
              </a:defRPr>
            </a:lvl1pPr>
          </a:lstStyle>
          <a:p>
            <a:fld id="{733122C9-A0B9-462F-8757-0847AD287B63}" type="slidenum">
              <a:rPr lang="fr-FR" smtClean="0"/>
              <a:pPr/>
              <a:t>‹N°›</a:t>
            </a:fld>
            <a:endParaRPr lang="fr-FR" dirty="0"/>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rgbClr val="262626"/>
                </a:solidFill>
              </a:defRPr>
            </a:lvl1pPr>
          </a:lstStyle>
          <a:p>
            <a:pPr algn="r"/>
            <a:r>
              <a:rPr lang="fr-FR" cap="all"/>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rgbClr val="262626"/>
                </a:solidFill>
              </a:defRPr>
            </a:lvl1pPr>
          </a:lstStyle>
          <a:p>
            <a:r>
              <a:rPr lang="fr-FR"/>
              <a:t>Titre de la présentation sur une seule ligne</a:t>
            </a:r>
            <a:endParaRPr lang="fr-FR" dirty="0"/>
          </a:p>
        </p:txBody>
      </p:sp>
    </p:spTree>
    <p:extLst>
      <p:ext uri="{BB962C8B-B14F-4D97-AF65-F5344CB8AC3E}">
        <p14:creationId xmlns:p14="http://schemas.microsoft.com/office/powerpoint/2010/main" val="386668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apo de titre 3">
    <p:bg>
      <p:bgPr>
        <a:solidFill>
          <a:schemeClr val="tx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20" name="Groupe 19">
            <a:extLst>
              <a:ext uri="{FF2B5EF4-FFF2-40B4-BE49-F238E27FC236}">
                <a16:creationId xmlns:a16="http://schemas.microsoft.com/office/drawing/2014/main" id="{14A9D647-00F2-4C4B-BEB2-D75043DB8D0E}"/>
              </a:ext>
            </a:extLst>
          </p:cNvPr>
          <p:cNvGrpSpPr/>
          <p:nvPr userDrawn="1"/>
        </p:nvGrpSpPr>
        <p:grpSpPr>
          <a:xfrm>
            <a:off x="7002138" y="1700147"/>
            <a:ext cx="3394929" cy="3339213"/>
            <a:chOff x="2019290" y="61899"/>
            <a:chExt cx="5102087" cy="5018353"/>
          </a:xfrm>
          <a:solidFill>
            <a:srgbClr val="FFE800"/>
          </a:solidFill>
        </p:grpSpPr>
        <p:sp>
          <p:nvSpPr>
            <p:cNvPr id="14" name="Forme libre : forme 13">
              <a:extLst>
                <a:ext uri="{FF2B5EF4-FFF2-40B4-BE49-F238E27FC236}">
                  <a16:creationId xmlns:a16="http://schemas.microsoft.com/office/drawing/2014/main" id="{0A3EC673-E299-4D73-87EC-841B629A6F7B}"/>
                </a:ext>
              </a:extLst>
            </p:cNvPr>
            <p:cNvSpPr/>
            <p:nvPr/>
          </p:nvSpPr>
          <p:spPr>
            <a:xfrm>
              <a:off x="3946207" y="61899"/>
              <a:ext cx="1278731" cy="636387"/>
            </a:xfrm>
            <a:custGeom>
              <a:avLst/>
              <a:gdLst>
                <a:gd name="connsiteX0" fmla="*/ 636651 w 1278731"/>
                <a:gd name="connsiteY0" fmla="*/ 636378 h 636387"/>
                <a:gd name="connsiteX1" fmla="*/ 1278731 w 1278731"/>
                <a:gd name="connsiteY1" fmla="*/ 184226 h 636387"/>
                <a:gd name="connsiteX2" fmla="*/ 637127 w 1278731"/>
                <a:gd name="connsiteY2" fmla="*/ 13 h 636387"/>
                <a:gd name="connsiteX3" fmla="*/ 0 w 1278731"/>
                <a:gd name="connsiteY3" fmla="*/ 174987 h 636387"/>
                <a:gd name="connsiteX4" fmla="*/ 636651 w 1278731"/>
                <a:gd name="connsiteY4" fmla="*/ 636378 h 636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8731" h="636387">
                  <a:moveTo>
                    <a:pt x="636651" y="636378"/>
                  </a:moveTo>
                  <a:cubicBezTo>
                    <a:pt x="994505" y="638759"/>
                    <a:pt x="1259015" y="216516"/>
                    <a:pt x="1278731" y="184226"/>
                  </a:cubicBezTo>
                  <a:cubicBezTo>
                    <a:pt x="1092422" y="68402"/>
                    <a:pt x="872681" y="1060"/>
                    <a:pt x="637127" y="13"/>
                  </a:cubicBezTo>
                  <a:cubicBezTo>
                    <a:pt x="404146" y="-1035"/>
                    <a:pt x="186023" y="63068"/>
                    <a:pt x="0" y="174987"/>
                  </a:cubicBezTo>
                  <a:cubicBezTo>
                    <a:pt x="15145" y="200609"/>
                    <a:pt x="275558" y="633997"/>
                    <a:pt x="636651" y="636378"/>
                  </a:cubicBezTo>
                  <a:close/>
                </a:path>
              </a:pathLst>
            </a:custGeom>
            <a:grpFill/>
            <a:ln w="9525" cap="flat">
              <a:noFill/>
              <a:prstDash val="solid"/>
              <a:miter/>
            </a:ln>
          </p:spPr>
          <p:txBody>
            <a:bodyPr rtlCol="0" anchor="ctr"/>
            <a:lstStyle/>
            <a:p>
              <a:endParaRPr lang="fr-FR" sz="2400"/>
            </a:p>
          </p:txBody>
        </p:sp>
        <p:sp>
          <p:nvSpPr>
            <p:cNvPr id="16" name="Forme libre : forme 15">
              <a:extLst>
                <a:ext uri="{FF2B5EF4-FFF2-40B4-BE49-F238E27FC236}">
                  <a16:creationId xmlns:a16="http://schemas.microsoft.com/office/drawing/2014/main" id="{CF3A35DC-7A8C-4C7B-88C4-1FD4E5E65E5A}"/>
                </a:ext>
              </a:extLst>
            </p:cNvPr>
            <p:cNvSpPr/>
            <p:nvPr/>
          </p:nvSpPr>
          <p:spPr>
            <a:xfrm>
              <a:off x="2019290" y="1219294"/>
              <a:ext cx="690590" cy="1213103"/>
            </a:xfrm>
            <a:custGeom>
              <a:avLst/>
              <a:gdLst>
                <a:gd name="connsiteX0" fmla="*/ 666569 w 690590"/>
                <a:gd name="connsiteY0" fmla="*/ 750189 h 1213103"/>
                <a:gd name="connsiteX1" fmla="*/ 435207 w 690590"/>
                <a:gd name="connsiteY1" fmla="*/ 0 h 1213103"/>
                <a:gd name="connsiteX2" fmla="*/ 10 w 690590"/>
                <a:gd name="connsiteY2" fmla="*/ 932021 h 1213103"/>
                <a:gd name="connsiteX3" fmla="*/ 31157 w 690590"/>
                <a:gd name="connsiteY3" fmla="*/ 1213104 h 1213103"/>
                <a:gd name="connsiteX4" fmla="*/ 666569 w 690590"/>
                <a:gd name="connsiteY4" fmla="*/ 750189 h 1213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590" h="1213103">
                  <a:moveTo>
                    <a:pt x="666569" y="750189"/>
                  </a:moveTo>
                  <a:cubicBezTo>
                    <a:pt x="779060" y="411575"/>
                    <a:pt x="461401" y="30575"/>
                    <a:pt x="435207" y="0"/>
                  </a:cubicBezTo>
                  <a:cubicBezTo>
                    <a:pt x="170412" y="223933"/>
                    <a:pt x="1629" y="558070"/>
                    <a:pt x="10" y="932021"/>
                  </a:cubicBezTo>
                  <a:cubicBezTo>
                    <a:pt x="-371" y="1028700"/>
                    <a:pt x="10392" y="1122712"/>
                    <a:pt x="31157" y="1213104"/>
                  </a:cubicBezTo>
                  <a:cubicBezTo>
                    <a:pt x="60970" y="1206532"/>
                    <a:pt x="552841" y="1092613"/>
                    <a:pt x="666569" y="750189"/>
                  </a:cubicBezTo>
                  <a:close/>
                </a:path>
              </a:pathLst>
            </a:custGeom>
            <a:grpFill/>
            <a:ln w="9525" cap="flat">
              <a:noFill/>
              <a:prstDash val="solid"/>
              <a:miter/>
            </a:ln>
          </p:spPr>
          <p:txBody>
            <a:bodyPr rtlCol="0" anchor="ctr"/>
            <a:lstStyle/>
            <a:p>
              <a:endParaRPr lang="fr-FR" sz="2400"/>
            </a:p>
          </p:txBody>
        </p:sp>
        <p:sp>
          <p:nvSpPr>
            <p:cNvPr id="17" name="Forme libre : forme 16">
              <a:extLst>
                <a:ext uri="{FF2B5EF4-FFF2-40B4-BE49-F238E27FC236}">
                  <a16:creationId xmlns:a16="http://schemas.microsoft.com/office/drawing/2014/main" id="{5D2C7748-445A-4908-A98D-8C1800ABBEA7}"/>
                </a:ext>
              </a:extLst>
            </p:cNvPr>
            <p:cNvSpPr/>
            <p:nvPr/>
          </p:nvSpPr>
          <p:spPr>
            <a:xfrm>
              <a:off x="2496692" y="4219701"/>
              <a:ext cx="1029858" cy="848932"/>
            </a:xfrm>
            <a:custGeom>
              <a:avLst/>
              <a:gdLst>
                <a:gd name="connsiteX0" fmla="*/ 782003 w 1029858"/>
                <a:gd name="connsiteY0" fmla="*/ 100934 h 848932"/>
                <a:gd name="connsiteX1" fmla="*/ 0 w 1029858"/>
                <a:gd name="connsiteY1" fmla="*/ 87980 h 848932"/>
                <a:gd name="connsiteX2" fmla="*/ 1025843 w 1029858"/>
                <a:gd name="connsiteY2" fmla="*/ 848932 h 848932"/>
                <a:gd name="connsiteX3" fmla="*/ 782003 w 1029858"/>
                <a:gd name="connsiteY3" fmla="*/ 100934 h 848932"/>
              </a:gdLst>
              <a:ahLst/>
              <a:cxnLst>
                <a:cxn ang="0">
                  <a:pos x="connsiteX0" y="connsiteY0"/>
                </a:cxn>
                <a:cxn ang="0">
                  <a:pos x="connsiteX1" y="connsiteY1"/>
                </a:cxn>
                <a:cxn ang="0">
                  <a:pos x="connsiteX2" y="connsiteY2"/>
                </a:cxn>
                <a:cxn ang="0">
                  <a:pos x="connsiteX3" y="connsiteY3"/>
                </a:cxn>
              </a:cxnLst>
              <a:rect l="l" t="t" r="r" b="b"/>
              <a:pathLst>
                <a:path w="1029858" h="848932">
                  <a:moveTo>
                    <a:pt x="782003" y="100934"/>
                  </a:moveTo>
                  <a:cubicBezTo>
                    <a:pt x="500824" y="-106140"/>
                    <a:pt x="53912" y="65977"/>
                    <a:pt x="0" y="87980"/>
                  </a:cubicBezTo>
                  <a:cubicBezTo>
                    <a:pt x="168783" y="504127"/>
                    <a:pt x="559403" y="806927"/>
                    <a:pt x="1025843" y="848932"/>
                  </a:cubicBezTo>
                  <a:cubicBezTo>
                    <a:pt x="1028033" y="826358"/>
                    <a:pt x="1074896" y="316770"/>
                    <a:pt x="782003" y="100934"/>
                  </a:cubicBezTo>
                  <a:close/>
                </a:path>
              </a:pathLst>
            </a:custGeom>
            <a:grpFill/>
            <a:ln w="9525" cap="flat">
              <a:noFill/>
              <a:prstDash val="solid"/>
              <a:miter/>
            </a:ln>
          </p:spPr>
          <p:txBody>
            <a:bodyPr rtlCol="0" anchor="ctr"/>
            <a:lstStyle/>
            <a:p>
              <a:endParaRPr lang="fr-FR" sz="2400"/>
            </a:p>
          </p:txBody>
        </p:sp>
        <p:sp>
          <p:nvSpPr>
            <p:cNvPr id="18" name="Forme libre : forme 17">
              <a:extLst>
                <a:ext uri="{FF2B5EF4-FFF2-40B4-BE49-F238E27FC236}">
                  <a16:creationId xmlns:a16="http://schemas.microsoft.com/office/drawing/2014/main" id="{D5AF26B3-A801-478A-995F-0DB30CC90980}"/>
                </a:ext>
              </a:extLst>
            </p:cNvPr>
            <p:cNvSpPr/>
            <p:nvPr/>
          </p:nvSpPr>
          <p:spPr>
            <a:xfrm>
              <a:off x="5578922" y="4238632"/>
              <a:ext cx="1038571" cy="841620"/>
            </a:xfrm>
            <a:custGeom>
              <a:avLst/>
              <a:gdLst>
                <a:gd name="connsiteX0" fmla="*/ 256474 w 1038571"/>
                <a:gd name="connsiteY0" fmla="*/ 96385 h 841620"/>
                <a:gd name="connsiteX1" fmla="*/ 2918 w 1038571"/>
                <a:gd name="connsiteY1" fmla="*/ 841621 h 841620"/>
                <a:gd name="connsiteX2" fmla="*/ 1038572 w 1038571"/>
                <a:gd name="connsiteY2" fmla="*/ 93623 h 841620"/>
                <a:gd name="connsiteX3" fmla="*/ 256474 w 1038571"/>
                <a:gd name="connsiteY3" fmla="*/ 96385 h 841620"/>
              </a:gdLst>
              <a:ahLst/>
              <a:cxnLst>
                <a:cxn ang="0">
                  <a:pos x="connsiteX0" y="connsiteY0"/>
                </a:cxn>
                <a:cxn ang="0">
                  <a:pos x="connsiteX1" y="connsiteY1"/>
                </a:cxn>
                <a:cxn ang="0">
                  <a:pos x="connsiteX2" y="connsiteY2"/>
                </a:cxn>
                <a:cxn ang="0">
                  <a:pos x="connsiteX3" y="connsiteY3"/>
                </a:cxn>
              </a:cxnLst>
              <a:rect l="l" t="t" r="r" b="b"/>
              <a:pathLst>
                <a:path w="1038571" h="841620">
                  <a:moveTo>
                    <a:pt x="256474" y="96385"/>
                  </a:moveTo>
                  <a:cubicBezTo>
                    <a:pt x="-42040" y="310221"/>
                    <a:pt x="1680" y="828095"/>
                    <a:pt x="2918" y="841621"/>
                  </a:cubicBezTo>
                  <a:cubicBezTo>
                    <a:pt x="470215" y="805521"/>
                    <a:pt x="864550" y="507484"/>
                    <a:pt x="1038572" y="93623"/>
                  </a:cubicBezTo>
                  <a:cubicBezTo>
                    <a:pt x="984660" y="70953"/>
                    <a:pt x="540224" y="-106879"/>
                    <a:pt x="256474" y="96385"/>
                  </a:cubicBezTo>
                  <a:close/>
                </a:path>
              </a:pathLst>
            </a:custGeom>
            <a:grpFill/>
            <a:ln w="9525" cap="flat">
              <a:noFill/>
              <a:prstDash val="solid"/>
              <a:miter/>
            </a:ln>
          </p:spPr>
          <p:txBody>
            <a:bodyPr rtlCol="0" anchor="ctr"/>
            <a:lstStyle/>
            <a:p>
              <a:endParaRPr lang="fr-FR" sz="2400"/>
            </a:p>
          </p:txBody>
        </p:sp>
        <p:sp>
          <p:nvSpPr>
            <p:cNvPr id="19" name="Forme libre : forme 18">
              <a:extLst>
                <a:ext uri="{FF2B5EF4-FFF2-40B4-BE49-F238E27FC236}">
                  <a16:creationId xmlns:a16="http://schemas.microsoft.com/office/drawing/2014/main" id="{D7071253-7A44-447C-B7DF-70C0E1AD248E}"/>
                </a:ext>
              </a:extLst>
            </p:cNvPr>
            <p:cNvSpPr/>
            <p:nvPr/>
          </p:nvSpPr>
          <p:spPr>
            <a:xfrm>
              <a:off x="6435072" y="1236916"/>
              <a:ext cx="686305" cy="1214342"/>
            </a:xfrm>
            <a:custGeom>
              <a:avLst/>
              <a:gdLst>
                <a:gd name="connsiteX0" fmla="*/ 22020 w 686305"/>
                <a:gd name="connsiteY0" fmla="*/ 742855 h 1214342"/>
                <a:gd name="connsiteX1" fmla="*/ 652766 w 686305"/>
                <a:gd name="connsiteY1" fmla="*/ 1214342 h 1214342"/>
                <a:gd name="connsiteX2" fmla="*/ 655338 w 686305"/>
                <a:gd name="connsiteY2" fmla="*/ 1205008 h 1214342"/>
                <a:gd name="connsiteX3" fmla="*/ 686294 w 686305"/>
                <a:gd name="connsiteY3" fmla="*/ 935355 h 1214342"/>
                <a:gd name="connsiteX4" fmla="*/ 259574 w 686305"/>
                <a:gd name="connsiteY4" fmla="*/ 0 h 1214342"/>
                <a:gd name="connsiteX5" fmla="*/ 22020 w 686305"/>
                <a:gd name="connsiteY5" fmla="*/ 742855 h 121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305" h="1214342">
                  <a:moveTo>
                    <a:pt x="22020" y="742855"/>
                  </a:moveTo>
                  <a:cubicBezTo>
                    <a:pt x="134701" y="1097471"/>
                    <a:pt x="652766" y="1214342"/>
                    <a:pt x="652766" y="1214342"/>
                  </a:cubicBezTo>
                  <a:cubicBezTo>
                    <a:pt x="653718" y="1211199"/>
                    <a:pt x="654480" y="1208056"/>
                    <a:pt x="655338" y="1205008"/>
                  </a:cubicBezTo>
                  <a:cubicBezTo>
                    <a:pt x="675149" y="1118235"/>
                    <a:pt x="685913" y="1028033"/>
                    <a:pt x="686294" y="935355"/>
                  </a:cubicBezTo>
                  <a:cubicBezTo>
                    <a:pt x="687913" y="561594"/>
                    <a:pt x="522178" y="226219"/>
                    <a:pt x="259574" y="0"/>
                  </a:cubicBezTo>
                  <a:cubicBezTo>
                    <a:pt x="215378" y="51530"/>
                    <a:pt x="-82278" y="414242"/>
                    <a:pt x="22020" y="742855"/>
                  </a:cubicBezTo>
                  <a:close/>
                </a:path>
              </a:pathLst>
            </a:custGeom>
            <a:grpFill/>
            <a:ln w="9525" cap="flat">
              <a:noFill/>
              <a:prstDash val="solid"/>
              <a:miter/>
            </a:ln>
          </p:spPr>
          <p:txBody>
            <a:bodyPr rtlCol="0" anchor="ctr"/>
            <a:lstStyle/>
            <a:p>
              <a:endParaRPr lang="fr-FR" sz="2400"/>
            </a:p>
          </p:txBody>
        </p:sp>
      </p:grpSp>
      <p:sp>
        <p:nvSpPr>
          <p:cNvPr id="23"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fr-FR"/>
              <a:t>Titre de la présentation sur une seule ligne</a:t>
            </a:r>
            <a:endParaRPr lang="fr-FR" dirty="0"/>
          </a:p>
        </p:txBody>
      </p:sp>
    </p:spTree>
    <p:extLst>
      <p:ext uri="{BB962C8B-B14F-4D97-AF65-F5344CB8AC3E}">
        <p14:creationId xmlns:p14="http://schemas.microsoft.com/office/powerpoint/2010/main" val="10344085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apo de titre 4">
    <p:bg>
      <p:bgPr>
        <a:solidFill>
          <a:schemeClr val="bg2"/>
        </a:solidFill>
        <a:effectLst/>
      </p:bgPr>
    </p:bg>
    <p:spTree>
      <p:nvGrpSpPr>
        <p:cNvPr id="1" name=""/>
        <p:cNvGrpSpPr/>
        <p:nvPr/>
      </p:nvGrpSpPr>
      <p:grpSpPr>
        <a:xfrm>
          <a:off x="0" y="0"/>
          <a:ext cx="0" cy="0"/>
          <a:chOff x="0" y="0"/>
          <a:chExt cx="0" cy="0"/>
        </a:xfrm>
      </p:grpSpPr>
      <p:grpSp>
        <p:nvGrpSpPr>
          <p:cNvPr id="20" name="Groupe 19"/>
          <p:cNvGrpSpPr/>
          <p:nvPr userDrawn="1"/>
        </p:nvGrpSpPr>
        <p:grpSpPr>
          <a:xfrm>
            <a:off x="3407701" y="2660915"/>
            <a:ext cx="7514832" cy="1629156"/>
            <a:chOff x="4528607" y="2228471"/>
            <a:chExt cx="2978905" cy="645803"/>
          </a:xfrm>
          <a:solidFill>
            <a:srgbClr val="00AC8C"/>
          </a:solidFill>
        </p:grpSpPr>
        <p:sp>
          <p:nvSpPr>
            <p:cNvPr id="21" name="Forme libre : forme 11">
              <a:extLst>
                <a:ext uri="{FF2B5EF4-FFF2-40B4-BE49-F238E27FC236}">
                  <a16:creationId xmlns:a16="http://schemas.microsoft.com/office/drawing/2014/main" id="{99B404BE-FE54-428A-911D-CAC51B52FD2D}"/>
                </a:ext>
              </a:extLst>
            </p:cNvPr>
            <p:cNvSpPr/>
            <p:nvPr/>
          </p:nvSpPr>
          <p:spPr>
            <a:xfrm rot="20377350" flipH="1" flipV="1">
              <a:off x="7129985" y="2228471"/>
              <a:ext cx="377527" cy="645803"/>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sp>
          <p:nvSpPr>
            <p:cNvPr id="22" name="Forme libre : forme 11">
              <a:extLst>
                <a:ext uri="{FF2B5EF4-FFF2-40B4-BE49-F238E27FC236}">
                  <a16:creationId xmlns:a16="http://schemas.microsoft.com/office/drawing/2014/main" id="{99B404BE-FE54-428A-911D-CAC51B52FD2D}"/>
                </a:ext>
              </a:extLst>
            </p:cNvPr>
            <p:cNvSpPr/>
            <p:nvPr userDrawn="1"/>
          </p:nvSpPr>
          <p:spPr>
            <a:xfrm rot="1222650" flipV="1">
              <a:off x="4528607" y="2228471"/>
              <a:ext cx="377527" cy="645803"/>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grpSp>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sp>
        <p:nvSpPr>
          <p:cNvPr id="23"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fr-FR"/>
              <a:t>Titre de la présentation sur une seule ligne</a:t>
            </a:r>
            <a:endParaRPr lang="fr-FR" dirty="0"/>
          </a:p>
        </p:txBody>
      </p:sp>
    </p:spTree>
    <p:extLst>
      <p:ext uri="{BB962C8B-B14F-4D97-AF65-F5344CB8AC3E}">
        <p14:creationId xmlns:p14="http://schemas.microsoft.com/office/powerpoint/2010/main" val="26208827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po de titre 5">
    <p:bg>
      <p:bgPr>
        <a:solidFill>
          <a:schemeClr val="accent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15" name="Groupe 14">
            <a:extLst>
              <a:ext uri="{FF2B5EF4-FFF2-40B4-BE49-F238E27FC236}">
                <a16:creationId xmlns:a16="http://schemas.microsoft.com/office/drawing/2014/main" id="{EF6742AF-C8D3-4ECE-A715-D2E9132A76D7}"/>
              </a:ext>
            </a:extLst>
          </p:cNvPr>
          <p:cNvGrpSpPr/>
          <p:nvPr userDrawn="1"/>
        </p:nvGrpSpPr>
        <p:grpSpPr>
          <a:xfrm>
            <a:off x="6774558" y="2383665"/>
            <a:ext cx="3589316" cy="1769235"/>
            <a:chOff x="1876472" y="1243012"/>
            <a:chExt cx="5386683" cy="2655188"/>
          </a:xfrm>
          <a:solidFill>
            <a:srgbClr val="FF9940"/>
          </a:solidFill>
        </p:grpSpPr>
        <p:sp>
          <p:nvSpPr>
            <p:cNvPr id="8" name="Forme libre : forme 7">
              <a:extLst>
                <a:ext uri="{FF2B5EF4-FFF2-40B4-BE49-F238E27FC236}">
                  <a16:creationId xmlns:a16="http://schemas.microsoft.com/office/drawing/2014/main" id="{E89B02AF-DB8F-42C4-A8A6-230344B46333}"/>
                </a:ext>
              </a:extLst>
            </p:cNvPr>
            <p:cNvSpPr/>
            <p:nvPr/>
          </p:nvSpPr>
          <p:spPr>
            <a:xfrm>
              <a:off x="5656023" y="229428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0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1" y="1257586"/>
                    <a:pt x="252143" y="1289495"/>
                  </a:cubicBezTo>
                  <a:cubicBezTo>
                    <a:pt x="438166" y="1143857"/>
                    <a:pt x="587423" y="946595"/>
                    <a:pt x="675434" y="708850"/>
                  </a:cubicBezTo>
                  <a:cubicBezTo>
                    <a:pt x="762493" y="473678"/>
                    <a:pt x="778399" y="229457"/>
                    <a:pt x="733918" y="0"/>
                  </a:cubicBezTo>
                  <a:cubicBezTo>
                    <a:pt x="702390" y="5715"/>
                    <a:pt x="168038" y="108966"/>
                    <a:pt x="32211" y="473202"/>
                  </a:cubicBezTo>
                  <a:close/>
                </a:path>
              </a:pathLst>
            </a:custGeom>
            <a:grpFill/>
            <a:ln w="9525" cap="flat">
              <a:noFill/>
              <a:prstDash val="solid"/>
              <a:miter/>
            </a:ln>
          </p:spPr>
          <p:txBody>
            <a:bodyPr rtlCol="0" anchor="ctr"/>
            <a:lstStyle/>
            <a:p>
              <a:endParaRPr lang="fr-FR" sz="2400"/>
            </a:p>
          </p:txBody>
        </p:sp>
        <p:sp>
          <p:nvSpPr>
            <p:cNvPr id="11" name="Forme libre : forme 10">
              <a:extLst>
                <a:ext uri="{FF2B5EF4-FFF2-40B4-BE49-F238E27FC236}">
                  <a16:creationId xmlns:a16="http://schemas.microsoft.com/office/drawing/2014/main" id="{68B4B2E3-6F03-4BD4-BB28-FCDF5C00B34A}"/>
                </a:ext>
              </a:extLst>
            </p:cNvPr>
            <p:cNvSpPr/>
            <p:nvPr/>
          </p:nvSpPr>
          <p:spPr>
            <a:xfrm>
              <a:off x="6505177" y="260870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1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2" y="1257586"/>
                    <a:pt x="252143" y="1289495"/>
                  </a:cubicBezTo>
                  <a:cubicBezTo>
                    <a:pt x="438167" y="1143857"/>
                    <a:pt x="587423" y="946594"/>
                    <a:pt x="675434" y="708851"/>
                  </a:cubicBezTo>
                  <a:cubicBezTo>
                    <a:pt x="762493" y="473678"/>
                    <a:pt x="778399" y="229457"/>
                    <a:pt x="733918" y="0"/>
                  </a:cubicBezTo>
                  <a:cubicBezTo>
                    <a:pt x="702485" y="5810"/>
                    <a:pt x="168037" y="109061"/>
                    <a:pt x="32211" y="473202"/>
                  </a:cubicBezTo>
                  <a:close/>
                </a:path>
              </a:pathLst>
            </a:custGeom>
            <a:grpFill/>
            <a:ln w="9525" cap="flat">
              <a:noFill/>
              <a:prstDash val="solid"/>
              <a:miter/>
            </a:ln>
          </p:spPr>
          <p:txBody>
            <a:bodyPr rtlCol="0" anchor="ctr"/>
            <a:lstStyle/>
            <a:p>
              <a:endParaRPr lang="fr-FR" sz="2400"/>
            </a:p>
          </p:txBody>
        </p:sp>
        <p:sp>
          <p:nvSpPr>
            <p:cNvPr id="12" name="Forme libre : forme 11">
              <a:extLst>
                <a:ext uri="{FF2B5EF4-FFF2-40B4-BE49-F238E27FC236}">
                  <a16:creationId xmlns:a16="http://schemas.microsoft.com/office/drawing/2014/main" id="{99B404BE-FE54-428A-911D-CAC51B52FD2D}"/>
                </a:ext>
              </a:extLst>
            </p:cNvPr>
            <p:cNvSpPr/>
            <p:nvPr/>
          </p:nvSpPr>
          <p:spPr>
            <a:xfrm>
              <a:off x="2704671" y="1549717"/>
              <a:ext cx="755433" cy="1292256"/>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sp>
          <p:nvSpPr>
            <p:cNvPr id="13" name="Forme libre : forme 12">
              <a:extLst>
                <a:ext uri="{FF2B5EF4-FFF2-40B4-BE49-F238E27FC236}">
                  <a16:creationId xmlns:a16="http://schemas.microsoft.com/office/drawing/2014/main" id="{19526F4F-A482-4075-A175-93D5B6F1862F}"/>
                </a:ext>
              </a:extLst>
            </p:cNvPr>
            <p:cNvSpPr/>
            <p:nvPr/>
          </p:nvSpPr>
          <p:spPr>
            <a:xfrm>
              <a:off x="1876472" y="1243012"/>
              <a:ext cx="755400" cy="1292255"/>
            </a:xfrm>
            <a:custGeom>
              <a:avLst/>
              <a:gdLst>
                <a:gd name="connsiteX0" fmla="*/ 724043 w 755400"/>
                <a:gd name="connsiteY0" fmla="*/ 816102 h 1292256"/>
                <a:gd name="connsiteX1" fmla="*/ 25574 w 755400"/>
                <a:gd name="connsiteY1" fmla="*/ 1292257 h 1292256"/>
                <a:gd name="connsiteX2" fmla="*/ 82534 w 755400"/>
                <a:gd name="connsiteY2" fmla="*/ 575977 h 1292256"/>
                <a:gd name="connsiteX3" fmla="*/ 499824 w 755400"/>
                <a:gd name="connsiteY3" fmla="*/ 0 h 1292256"/>
                <a:gd name="connsiteX4" fmla="*/ 724043 w 755400"/>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00" h="1292256">
                  <a:moveTo>
                    <a:pt x="724043" y="816102"/>
                  </a:moveTo>
                  <a:cubicBezTo>
                    <a:pt x="591074" y="1177671"/>
                    <a:pt x="65579" y="1284637"/>
                    <a:pt x="25574" y="1292257"/>
                  </a:cubicBezTo>
                  <a:cubicBezTo>
                    <a:pt x="-20717" y="1060609"/>
                    <a:pt x="-5572" y="813721"/>
                    <a:pt x="82534" y="575977"/>
                  </a:cubicBezTo>
                  <a:cubicBezTo>
                    <a:pt x="169592" y="340805"/>
                    <a:pt x="316563" y="145161"/>
                    <a:pt x="499824" y="0"/>
                  </a:cubicBezTo>
                  <a:cubicBezTo>
                    <a:pt x="519922" y="24860"/>
                    <a:pt x="858155" y="451295"/>
                    <a:pt x="724043" y="816102"/>
                  </a:cubicBezTo>
                  <a:close/>
                </a:path>
              </a:pathLst>
            </a:custGeom>
            <a:grpFill/>
            <a:ln w="9525" cap="flat">
              <a:noFill/>
              <a:prstDash val="solid"/>
              <a:miter/>
            </a:ln>
          </p:spPr>
          <p:txBody>
            <a:bodyPr rtlCol="0" anchor="ctr"/>
            <a:lstStyle/>
            <a:p>
              <a:endParaRPr lang="fr-FR" sz="2400"/>
            </a:p>
          </p:txBody>
        </p:sp>
      </p:grpSp>
      <p:sp>
        <p:nvSpPr>
          <p:cNvPr id="2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23"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5"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fr-FR"/>
              <a:t>Titre de la présentation sur une seule ligne</a:t>
            </a:r>
            <a:endParaRPr lang="fr-FR" dirty="0"/>
          </a:p>
        </p:txBody>
      </p:sp>
    </p:spTree>
    <p:extLst>
      <p:ext uri="{BB962C8B-B14F-4D97-AF65-F5344CB8AC3E}">
        <p14:creationId xmlns:p14="http://schemas.microsoft.com/office/powerpoint/2010/main" val="33995980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po de titre 6">
    <p:bg>
      <p:bgPr>
        <a:solidFill>
          <a:schemeClr val="tx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20" name="Groupe 19">
            <a:extLst>
              <a:ext uri="{FF2B5EF4-FFF2-40B4-BE49-F238E27FC236}">
                <a16:creationId xmlns:a16="http://schemas.microsoft.com/office/drawing/2014/main" id="{14A9D647-00F2-4C4B-BEB2-D75043DB8D0E}"/>
              </a:ext>
            </a:extLst>
          </p:cNvPr>
          <p:cNvGrpSpPr/>
          <p:nvPr userDrawn="1"/>
        </p:nvGrpSpPr>
        <p:grpSpPr>
          <a:xfrm>
            <a:off x="7002138" y="1700147"/>
            <a:ext cx="3394929" cy="3339213"/>
            <a:chOff x="2019290" y="61899"/>
            <a:chExt cx="5102087" cy="5018353"/>
          </a:xfrm>
          <a:solidFill>
            <a:srgbClr val="00AC8C"/>
          </a:solidFill>
        </p:grpSpPr>
        <p:sp>
          <p:nvSpPr>
            <p:cNvPr id="14" name="Forme libre : forme 13">
              <a:extLst>
                <a:ext uri="{FF2B5EF4-FFF2-40B4-BE49-F238E27FC236}">
                  <a16:creationId xmlns:a16="http://schemas.microsoft.com/office/drawing/2014/main" id="{0A3EC673-E299-4D73-87EC-841B629A6F7B}"/>
                </a:ext>
              </a:extLst>
            </p:cNvPr>
            <p:cNvSpPr/>
            <p:nvPr/>
          </p:nvSpPr>
          <p:spPr>
            <a:xfrm>
              <a:off x="3946207" y="61899"/>
              <a:ext cx="1278731" cy="636387"/>
            </a:xfrm>
            <a:custGeom>
              <a:avLst/>
              <a:gdLst>
                <a:gd name="connsiteX0" fmla="*/ 636651 w 1278731"/>
                <a:gd name="connsiteY0" fmla="*/ 636378 h 636387"/>
                <a:gd name="connsiteX1" fmla="*/ 1278731 w 1278731"/>
                <a:gd name="connsiteY1" fmla="*/ 184226 h 636387"/>
                <a:gd name="connsiteX2" fmla="*/ 637127 w 1278731"/>
                <a:gd name="connsiteY2" fmla="*/ 13 h 636387"/>
                <a:gd name="connsiteX3" fmla="*/ 0 w 1278731"/>
                <a:gd name="connsiteY3" fmla="*/ 174987 h 636387"/>
                <a:gd name="connsiteX4" fmla="*/ 636651 w 1278731"/>
                <a:gd name="connsiteY4" fmla="*/ 636378 h 636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8731" h="636387">
                  <a:moveTo>
                    <a:pt x="636651" y="636378"/>
                  </a:moveTo>
                  <a:cubicBezTo>
                    <a:pt x="994505" y="638759"/>
                    <a:pt x="1259015" y="216516"/>
                    <a:pt x="1278731" y="184226"/>
                  </a:cubicBezTo>
                  <a:cubicBezTo>
                    <a:pt x="1092422" y="68402"/>
                    <a:pt x="872681" y="1060"/>
                    <a:pt x="637127" y="13"/>
                  </a:cubicBezTo>
                  <a:cubicBezTo>
                    <a:pt x="404146" y="-1035"/>
                    <a:pt x="186023" y="63068"/>
                    <a:pt x="0" y="174987"/>
                  </a:cubicBezTo>
                  <a:cubicBezTo>
                    <a:pt x="15145" y="200609"/>
                    <a:pt x="275558" y="633997"/>
                    <a:pt x="636651" y="636378"/>
                  </a:cubicBezTo>
                  <a:close/>
                </a:path>
              </a:pathLst>
            </a:custGeom>
            <a:grpFill/>
            <a:ln w="9525" cap="flat">
              <a:noFill/>
              <a:prstDash val="solid"/>
              <a:miter/>
            </a:ln>
          </p:spPr>
          <p:txBody>
            <a:bodyPr rtlCol="0" anchor="ctr"/>
            <a:lstStyle/>
            <a:p>
              <a:endParaRPr lang="fr-FR" sz="2400"/>
            </a:p>
          </p:txBody>
        </p:sp>
        <p:sp>
          <p:nvSpPr>
            <p:cNvPr id="16" name="Forme libre : forme 15">
              <a:extLst>
                <a:ext uri="{FF2B5EF4-FFF2-40B4-BE49-F238E27FC236}">
                  <a16:creationId xmlns:a16="http://schemas.microsoft.com/office/drawing/2014/main" id="{CF3A35DC-7A8C-4C7B-88C4-1FD4E5E65E5A}"/>
                </a:ext>
              </a:extLst>
            </p:cNvPr>
            <p:cNvSpPr/>
            <p:nvPr/>
          </p:nvSpPr>
          <p:spPr>
            <a:xfrm>
              <a:off x="2019290" y="1219294"/>
              <a:ext cx="690590" cy="1213103"/>
            </a:xfrm>
            <a:custGeom>
              <a:avLst/>
              <a:gdLst>
                <a:gd name="connsiteX0" fmla="*/ 666569 w 690590"/>
                <a:gd name="connsiteY0" fmla="*/ 750189 h 1213103"/>
                <a:gd name="connsiteX1" fmla="*/ 435207 w 690590"/>
                <a:gd name="connsiteY1" fmla="*/ 0 h 1213103"/>
                <a:gd name="connsiteX2" fmla="*/ 10 w 690590"/>
                <a:gd name="connsiteY2" fmla="*/ 932021 h 1213103"/>
                <a:gd name="connsiteX3" fmla="*/ 31157 w 690590"/>
                <a:gd name="connsiteY3" fmla="*/ 1213104 h 1213103"/>
                <a:gd name="connsiteX4" fmla="*/ 666569 w 690590"/>
                <a:gd name="connsiteY4" fmla="*/ 750189 h 1213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590" h="1213103">
                  <a:moveTo>
                    <a:pt x="666569" y="750189"/>
                  </a:moveTo>
                  <a:cubicBezTo>
                    <a:pt x="779060" y="411575"/>
                    <a:pt x="461401" y="30575"/>
                    <a:pt x="435207" y="0"/>
                  </a:cubicBezTo>
                  <a:cubicBezTo>
                    <a:pt x="170412" y="223933"/>
                    <a:pt x="1629" y="558070"/>
                    <a:pt x="10" y="932021"/>
                  </a:cubicBezTo>
                  <a:cubicBezTo>
                    <a:pt x="-371" y="1028700"/>
                    <a:pt x="10392" y="1122712"/>
                    <a:pt x="31157" y="1213104"/>
                  </a:cubicBezTo>
                  <a:cubicBezTo>
                    <a:pt x="60970" y="1206532"/>
                    <a:pt x="552841" y="1092613"/>
                    <a:pt x="666569" y="750189"/>
                  </a:cubicBezTo>
                  <a:close/>
                </a:path>
              </a:pathLst>
            </a:custGeom>
            <a:grpFill/>
            <a:ln w="9525" cap="flat">
              <a:noFill/>
              <a:prstDash val="solid"/>
              <a:miter/>
            </a:ln>
          </p:spPr>
          <p:txBody>
            <a:bodyPr rtlCol="0" anchor="ctr"/>
            <a:lstStyle/>
            <a:p>
              <a:endParaRPr lang="fr-FR" sz="2400"/>
            </a:p>
          </p:txBody>
        </p:sp>
        <p:sp>
          <p:nvSpPr>
            <p:cNvPr id="17" name="Forme libre : forme 16">
              <a:extLst>
                <a:ext uri="{FF2B5EF4-FFF2-40B4-BE49-F238E27FC236}">
                  <a16:creationId xmlns:a16="http://schemas.microsoft.com/office/drawing/2014/main" id="{5D2C7748-445A-4908-A98D-8C1800ABBEA7}"/>
                </a:ext>
              </a:extLst>
            </p:cNvPr>
            <p:cNvSpPr/>
            <p:nvPr/>
          </p:nvSpPr>
          <p:spPr>
            <a:xfrm>
              <a:off x="2496692" y="4219701"/>
              <a:ext cx="1029858" cy="848932"/>
            </a:xfrm>
            <a:custGeom>
              <a:avLst/>
              <a:gdLst>
                <a:gd name="connsiteX0" fmla="*/ 782003 w 1029858"/>
                <a:gd name="connsiteY0" fmla="*/ 100934 h 848932"/>
                <a:gd name="connsiteX1" fmla="*/ 0 w 1029858"/>
                <a:gd name="connsiteY1" fmla="*/ 87980 h 848932"/>
                <a:gd name="connsiteX2" fmla="*/ 1025843 w 1029858"/>
                <a:gd name="connsiteY2" fmla="*/ 848932 h 848932"/>
                <a:gd name="connsiteX3" fmla="*/ 782003 w 1029858"/>
                <a:gd name="connsiteY3" fmla="*/ 100934 h 848932"/>
              </a:gdLst>
              <a:ahLst/>
              <a:cxnLst>
                <a:cxn ang="0">
                  <a:pos x="connsiteX0" y="connsiteY0"/>
                </a:cxn>
                <a:cxn ang="0">
                  <a:pos x="connsiteX1" y="connsiteY1"/>
                </a:cxn>
                <a:cxn ang="0">
                  <a:pos x="connsiteX2" y="connsiteY2"/>
                </a:cxn>
                <a:cxn ang="0">
                  <a:pos x="connsiteX3" y="connsiteY3"/>
                </a:cxn>
              </a:cxnLst>
              <a:rect l="l" t="t" r="r" b="b"/>
              <a:pathLst>
                <a:path w="1029858" h="848932">
                  <a:moveTo>
                    <a:pt x="782003" y="100934"/>
                  </a:moveTo>
                  <a:cubicBezTo>
                    <a:pt x="500824" y="-106140"/>
                    <a:pt x="53912" y="65977"/>
                    <a:pt x="0" y="87980"/>
                  </a:cubicBezTo>
                  <a:cubicBezTo>
                    <a:pt x="168783" y="504127"/>
                    <a:pt x="559403" y="806927"/>
                    <a:pt x="1025843" y="848932"/>
                  </a:cubicBezTo>
                  <a:cubicBezTo>
                    <a:pt x="1028033" y="826358"/>
                    <a:pt x="1074896" y="316770"/>
                    <a:pt x="782003" y="100934"/>
                  </a:cubicBezTo>
                  <a:close/>
                </a:path>
              </a:pathLst>
            </a:custGeom>
            <a:grpFill/>
            <a:ln w="9525" cap="flat">
              <a:noFill/>
              <a:prstDash val="solid"/>
              <a:miter/>
            </a:ln>
          </p:spPr>
          <p:txBody>
            <a:bodyPr rtlCol="0" anchor="ctr"/>
            <a:lstStyle/>
            <a:p>
              <a:endParaRPr lang="fr-FR" sz="2400"/>
            </a:p>
          </p:txBody>
        </p:sp>
        <p:sp>
          <p:nvSpPr>
            <p:cNvPr id="18" name="Forme libre : forme 17">
              <a:extLst>
                <a:ext uri="{FF2B5EF4-FFF2-40B4-BE49-F238E27FC236}">
                  <a16:creationId xmlns:a16="http://schemas.microsoft.com/office/drawing/2014/main" id="{D5AF26B3-A801-478A-995F-0DB30CC90980}"/>
                </a:ext>
              </a:extLst>
            </p:cNvPr>
            <p:cNvSpPr/>
            <p:nvPr/>
          </p:nvSpPr>
          <p:spPr>
            <a:xfrm>
              <a:off x="5578922" y="4238632"/>
              <a:ext cx="1038571" cy="841620"/>
            </a:xfrm>
            <a:custGeom>
              <a:avLst/>
              <a:gdLst>
                <a:gd name="connsiteX0" fmla="*/ 256474 w 1038571"/>
                <a:gd name="connsiteY0" fmla="*/ 96385 h 841620"/>
                <a:gd name="connsiteX1" fmla="*/ 2918 w 1038571"/>
                <a:gd name="connsiteY1" fmla="*/ 841621 h 841620"/>
                <a:gd name="connsiteX2" fmla="*/ 1038572 w 1038571"/>
                <a:gd name="connsiteY2" fmla="*/ 93623 h 841620"/>
                <a:gd name="connsiteX3" fmla="*/ 256474 w 1038571"/>
                <a:gd name="connsiteY3" fmla="*/ 96385 h 841620"/>
              </a:gdLst>
              <a:ahLst/>
              <a:cxnLst>
                <a:cxn ang="0">
                  <a:pos x="connsiteX0" y="connsiteY0"/>
                </a:cxn>
                <a:cxn ang="0">
                  <a:pos x="connsiteX1" y="connsiteY1"/>
                </a:cxn>
                <a:cxn ang="0">
                  <a:pos x="connsiteX2" y="connsiteY2"/>
                </a:cxn>
                <a:cxn ang="0">
                  <a:pos x="connsiteX3" y="connsiteY3"/>
                </a:cxn>
              </a:cxnLst>
              <a:rect l="l" t="t" r="r" b="b"/>
              <a:pathLst>
                <a:path w="1038571" h="841620">
                  <a:moveTo>
                    <a:pt x="256474" y="96385"/>
                  </a:moveTo>
                  <a:cubicBezTo>
                    <a:pt x="-42040" y="310221"/>
                    <a:pt x="1680" y="828095"/>
                    <a:pt x="2918" y="841621"/>
                  </a:cubicBezTo>
                  <a:cubicBezTo>
                    <a:pt x="470215" y="805521"/>
                    <a:pt x="864550" y="507484"/>
                    <a:pt x="1038572" y="93623"/>
                  </a:cubicBezTo>
                  <a:cubicBezTo>
                    <a:pt x="984660" y="70953"/>
                    <a:pt x="540224" y="-106879"/>
                    <a:pt x="256474" y="96385"/>
                  </a:cubicBezTo>
                  <a:close/>
                </a:path>
              </a:pathLst>
            </a:custGeom>
            <a:grpFill/>
            <a:ln w="9525" cap="flat">
              <a:noFill/>
              <a:prstDash val="solid"/>
              <a:miter/>
            </a:ln>
          </p:spPr>
          <p:txBody>
            <a:bodyPr rtlCol="0" anchor="ctr"/>
            <a:lstStyle/>
            <a:p>
              <a:endParaRPr lang="fr-FR" sz="2400"/>
            </a:p>
          </p:txBody>
        </p:sp>
        <p:sp>
          <p:nvSpPr>
            <p:cNvPr id="19" name="Forme libre : forme 18">
              <a:extLst>
                <a:ext uri="{FF2B5EF4-FFF2-40B4-BE49-F238E27FC236}">
                  <a16:creationId xmlns:a16="http://schemas.microsoft.com/office/drawing/2014/main" id="{D7071253-7A44-447C-B7DF-70C0E1AD248E}"/>
                </a:ext>
              </a:extLst>
            </p:cNvPr>
            <p:cNvSpPr/>
            <p:nvPr/>
          </p:nvSpPr>
          <p:spPr>
            <a:xfrm>
              <a:off x="6435072" y="1236916"/>
              <a:ext cx="686305" cy="1214342"/>
            </a:xfrm>
            <a:custGeom>
              <a:avLst/>
              <a:gdLst>
                <a:gd name="connsiteX0" fmla="*/ 22020 w 686305"/>
                <a:gd name="connsiteY0" fmla="*/ 742855 h 1214342"/>
                <a:gd name="connsiteX1" fmla="*/ 652766 w 686305"/>
                <a:gd name="connsiteY1" fmla="*/ 1214342 h 1214342"/>
                <a:gd name="connsiteX2" fmla="*/ 655338 w 686305"/>
                <a:gd name="connsiteY2" fmla="*/ 1205008 h 1214342"/>
                <a:gd name="connsiteX3" fmla="*/ 686294 w 686305"/>
                <a:gd name="connsiteY3" fmla="*/ 935355 h 1214342"/>
                <a:gd name="connsiteX4" fmla="*/ 259574 w 686305"/>
                <a:gd name="connsiteY4" fmla="*/ 0 h 1214342"/>
                <a:gd name="connsiteX5" fmla="*/ 22020 w 686305"/>
                <a:gd name="connsiteY5" fmla="*/ 742855 h 121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305" h="1214342">
                  <a:moveTo>
                    <a:pt x="22020" y="742855"/>
                  </a:moveTo>
                  <a:cubicBezTo>
                    <a:pt x="134701" y="1097471"/>
                    <a:pt x="652766" y="1214342"/>
                    <a:pt x="652766" y="1214342"/>
                  </a:cubicBezTo>
                  <a:cubicBezTo>
                    <a:pt x="653718" y="1211199"/>
                    <a:pt x="654480" y="1208056"/>
                    <a:pt x="655338" y="1205008"/>
                  </a:cubicBezTo>
                  <a:cubicBezTo>
                    <a:pt x="675149" y="1118235"/>
                    <a:pt x="685913" y="1028033"/>
                    <a:pt x="686294" y="935355"/>
                  </a:cubicBezTo>
                  <a:cubicBezTo>
                    <a:pt x="687913" y="561594"/>
                    <a:pt x="522178" y="226219"/>
                    <a:pt x="259574" y="0"/>
                  </a:cubicBezTo>
                  <a:cubicBezTo>
                    <a:pt x="215378" y="51530"/>
                    <a:pt x="-82278" y="414242"/>
                    <a:pt x="22020" y="742855"/>
                  </a:cubicBezTo>
                  <a:close/>
                </a:path>
              </a:pathLst>
            </a:custGeom>
            <a:grpFill/>
            <a:ln w="9525" cap="flat">
              <a:noFill/>
              <a:prstDash val="solid"/>
              <a:miter/>
            </a:ln>
          </p:spPr>
          <p:txBody>
            <a:bodyPr rtlCol="0" anchor="ctr"/>
            <a:lstStyle/>
            <a:p>
              <a:endParaRPr lang="fr-FR" sz="2400"/>
            </a:p>
          </p:txBody>
        </p:sp>
      </p:grpSp>
      <p:sp>
        <p:nvSpPr>
          <p:cNvPr id="23"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fr-FR"/>
              <a:t>Titre de la présentation sur une seule ligne</a:t>
            </a:r>
            <a:endParaRPr lang="fr-FR" dirty="0"/>
          </a:p>
        </p:txBody>
      </p:sp>
    </p:spTree>
    <p:extLst>
      <p:ext uri="{BB962C8B-B14F-4D97-AF65-F5344CB8AC3E}">
        <p14:creationId xmlns:p14="http://schemas.microsoft.com/office/powerpoint/2010/main" val="1448410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apo de titre 7">
    <p:bg>
      <p:bgPr>
        <a:solidFill>
          <a:schemeClr val="bg2"/>
        </a:solidFill>
        <a:effectLst/>
      </p:bgPr>
    </p:bg>
    <p:spTree>
      <p:nvGrpSpPr>
        <p:cNvPr id="1" name=""/>
        <p:cNvGrpSpPr/>
        <p:nvPr/>
      </p:nvGrpSpPr>
      <p:grpSpPr>
        <a:xfrm>
          <a:off x="0" y="0"/>
          <a:ext cx="0" cy="0"/>
          <a:chOff x="0" y="0"/>
          <a:chExt cx="0" cy="0"/>
        </a:xfrm>
      </p:grpSpPr>
      <p:grpSp>
        <p:nvGrpSpPr>
          <p:cNvPr id="40" name="Groupe 39"/>
          <p:cNvGrpSpPr/>
          <p:nvPr userDrawn="1"/>
        </p:nvGrpSpPr>
        <p:grpSpPr>
          <a:xfrm>
            <a:off x="3407701" y="2660915"/>
            <a:ext cx="7514832" cy="1629156"/>
            <a:chOff x="4528607" y="2228471"/>
            <a:chExt cx="2978905" cy="645803"/>
          </a:xfrm>
          <a:solidFill>
            <a:srgbClr val="FF9940"/>
          </a:solidFill>
        </p:grpSpPr>
        <p:sp>
          <p:nvSpPr>
            <p:cNvPr id="41" name="Forme libre : forme 11">
              <a:extLst>
                <a:ext uri="{FF2B5EF4-FFF2-40B4-BE49-F238E27FC236}">
                  <a16:creationId xmlns:a16="http://schemas.microsoft.com/office/drawing/2014/main" id="{99B404BE-FE54-428A-911D-CAC51B52FD2D}"/>
                </a:ext>
              </a:extLst>
            </p:cNvPr>
            <p:cNvSpPr/>
            <p:nvPr/>
          </p:nvSpPr>
          <p:spPr>
            <a:xfrm rot="20377350" flipH="1" flipV="1">
              <a:off x="7129985" y="2228471"/>
              <a:ext cx="377527" cy="645803"/>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sp>
          <p:nvSpPr>
            <p:cNvPr id="42" name="Forme libre : forme 11">
              <a:extLst>
                <a:ext uri="{FF2B5EF4-FFF2-40B4-BE49-F238E27FC236}">
                  <a16:creationId xmlns:a16="http://schemas.microsoft.com/office/drawing/2014/main" id="{99B404BE-FE54-428A-911D-CAC51B52FD2D}"/>
                </a:ext>
              </a:extLst>
            </p:cNvPr>
            <p:cNvSpPr/>
            <p:nvPr userDrawn="1"/>
          </p:nvSpPr>
          <p:spPr>
            <a:xfrm rot="1222650" flipV="1">
              <a:off x="4528607" y="2228471"/>
              <a:ext cx="377527" cy="645803"/>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grpSp>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sp>
        <p:nvSpPr>
          <p:cNvPr id="23"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fr-FR"/>
              <a:t>Titre de la présentation sur une seule ligne</a:t>
            </a:r>
            <a:endParaRPr lang="fr-FR" dirty="0"/>
          </a:p>
        </p:txBody>
      </p:sp>
    </p:spTree>
    <p:extLst>
      <p:ext uri="{BB962C8B-B14F-4D97-AF65-F5344CB8AC3E}">
        <p14:creationId xmlns:p14="http://schemas.microsoft.com/office/powerpoint/2010/main" val="1381033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apo de titre 8">
    <p:bg>
      <p:bgPr>
        <a:solidFill>
          <a:schemeClr val="accent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15" name="Groupe 14">
            <a:extLst>
              <a:ext uri="{FF2B5EF4-FFF2-40B4-BE49-F238E27FC236}">
                <a16:creationId xmlns:a16="http://schemas.microsoft.com/office/drawing/2014/main" id="{EF6742AF-C8D3-4ECE-A715-D2E9132A76D7}"/>
              </a:ext>
            </a:extLst>
          </p:cNvPr>
          <p:cNvGrpSpPr/>
          <p:nvPr userDrawn="1"/>
        </p:nvGrpSpPr>
        <p:grpSpPr>
          <a:xfrm>
            <a:off x="6774558" y="2383665"/>
            <a:ext cx="3589316" cy="1769235"/>
            <a:chOff x="1876472" y="1243012"/>
            <a:chExt cx="5386683" cy="2655188"/>
          </a:xfrm>
          <a:solidFill>
            <a:srgbClr val="FFE800"/>
          </a:solidFill>
        </p:grpSpPr>
        <p:sp>
          <p:nvSpPr>
            <p:cNvPr id="8" name="Forme libre : forme 7">
              <a:extLst>
                <a:ext uri="{FF2B5EF4-FFF2-40B4-BE49-F238E27FC236}">
                  <a16:creationId xmlns:a16="http://schemas.microsoft.com/office/drawing/2014/main" id="{E89B02AF-DB8F-42C4-A8A6-230344B46333}"/>
                </a:ext>
              </a:extLst>
            </p:cNvPr>
            <p:cNvSpPr/>
            <p:nvPr/>
          </p:nvSpPr>
          <p:spPr>
            <a:xfrm>
              <a:off x="5656023" y="229428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0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1" y="1257586"/>
                    <a:pt x="252143" y="1289495"/>
                  </a:cubicBezTo>
                  <a:cubicBezTo>
                    <a:pt x="438166" y="1143857"/>
                    <a:pt x="587423" y="946595"/>
                    <a:pt x="675434" y="708850"/>
                  </a:cubicBezTo>
                  <a:cubicBezTo>
                    <a:pt x="762493" y="473678"/>
                    <a:pt x="778399" y="229457"/>
                    <a:pt x="733918" y="0"/>
                  </a:cubicBezTo>
                  <a:cubicBezTo>
                    <a:pt x="702390" y="5715"/>
                    <a:pt x="168038" y="108966"/>
                    <a:pt x="32211" y="473202"/>
                  </a:cubicBezTo>
                  <a:close/>
                </a:path>
              </a:pathLst>
            </a:custGeom>
            <a:grpFill/>
            <a:ln w="9525" cap="flat">
              <a:noFill/>
              <a:prstDash val="solid"/>
              <a:miter/>
            </a:ln>
          </p:spPr>
          <p:txBody>
            <a:bodyPr rtlCol="0" anchor="ctr"/>
            <a:lstStyle/>
            <a:p>
              <a:endParaRPr lang="fr-FR" sz="2400"/>
            </a:p>
          </p:txBody>
        </p:sp>
        <p:sp>
          <p:nvSpPr>
            <p:cNvPr id="11" name="Forme libre : forme 10">
              <a:extLst>
                <a:ext uri="{FF2B5EF4-FFF2-40B4-BE49-F238E27FC236}">
                  <a16:creationId xmlns:a16="http://schemas.microsoft.com/office/drawing/2014/main" id="{68B4B2E3-6F03-4BD4-BB28-FCDF5C00B34A}"/>
                </a:ext>
              </a:extLst>
            </p:cNvPr>
            <p:cNvSpPr/>
            <p:nvPr/>
          </p:nvSpPr>
          <p:spPr>
            <a:xfrm>
              <a:off x="6505177" y="260870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1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2" y="1257586"/>
                    <a:pt x="252143" y="1289495"/>
                  </a:cubicBezTo>
                  <a:cubicBezTo>
                    <a:pt x="438167" y="1143857"/>
                    <a:pt x="587423" y="946594"/>
                    <a:pt x="675434" y="708851"/>
                  </a:cubicBezTo>
                  <a:cubicBezTo>
                    <a:pt x="762493" y="473678"/>
                    <a:pt x="778399" y="229457"/>
                    <a:pt x="733918" y="0"/>
                  </a:cubicBezTo>
                  <a:cubicBezTo>
                    <a:pt x="702485" y="5810"/>
                    <a:pt x="168037" y="109061"/>
                    <a:pt x="32211" y="473202"/>
                  </a:cubicBezTo>
                  <a:close/>
                </a:path>
              </a:pathLst>
            </a:custGeom>
            <a:grpFill/>
            <a:ln w="9525" cap="flat">
              <a:noFill/>
              <a:prstDash val="solid"/>
              <a:miter/>
            </a:ln>
          </p:spPr>
          <p:txBody>
            <a:bodyPr rtlCol="0" anchor="ctr"/>
            <a:lstStyle/>
            <a:p>
              <a:endParaRPr lang="fr-FR" sz="2400"/>
            </a:p>
          </p:txBody>
        </p:sp>
        <p:sp>
          <p:nvSpPr>
            <p:cNvPr id="12" name="Forme libre : forme 11">
              <a:extLst>
                <a:ext uri="{FF2B5EF4-FFF2-40B4-BE49-F238E27FC236}">
                  <a16:creationId xmlns:a16="http://schemas.microsoft.com/office/drawing/2014/main" id="{99B404BE-FE54-428A-911D-CAC51B52FD2D}"/>
                </a:ext>
              </a:extLst>
            </p:cNvPr>
            <p:cNvSpPr/>
            <p:nvPr/>
          </p:nvSpPr>
          <p:spPr>
            <a:xfrm>
              <a:off x="2704671" y="1549717"/>
              <a:ext cx="755433" cy="1292256"/>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sp>
          <p:nvSpPr>
            <p:cNvPr id="13" name="Forme libre : forme 12">
              <a:extLst>
                <a:ext uri="{FF2B5EF4-FFF2-40B4-BE49-F238E27FC236}">
                  <a16:creationId xmlns:a16="http://schemas.microsoft.com/office/drawing/2014/main" id="{19526F4F-A482-4075-A175-93D5B6F1862F}"/>
                </a:ext>
              </a:extLst>
            </p:cNvPr>
            <p:cNvSpPr/>
            <p:nvPr/>
          </p:nvSpPr>
          <p:spPr>
            <a:xfrm>
              <a:off x="1876472" y="1243012"/>
              <a:ext cx="755400" cy="1292255"/>
            </a:xfrm>
            <a:custGeom>
              <a:avLst/>
              <a:gdLst>
                <a:gd name="connsiteX0" fmla="*/ 724043 w 755400"/>
                <a:gd name="connsiteY0" fmla="*/ 816102 h 1292256"/>
                <a:gd name="connsiteX1" fmla="*/ 25574 w 755400"/>
                <a:gd name="connsiteY1" fmla="*/ 1292257 h 1292256"/>
                <a:gd name="connsiteX2" fmla="*/ 82534 w 755400"/>
                <a:gd name="connsiteY2" fmla="*/ 575977 h 1292256"/>
                <a:gd name="connsiteX3" fmla="*/ 499824 w 755400"/>
                <a:gd name="connsiteY3" fmla="*/ 0 h 1292256"/>
                <a:gd name="connsiteX4" fmla="*/ 724043 w 755400"/>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00" h="1292256">
                  <a:moveTo>
                    <a:pt x="724043" y="816102"/>
                  </a:moveTo>
                  <a:cubicBezTo>
                    <a:pt x="591074" y="1177671"/>
                    <a:pt x="65579" y="1284637"/>
                    <a:pt x="25574" y="1292257"/>
                  </a:cubicBezTo>
                  <a:cubicBezTo>
                    <a:pt x="-20717" y="1060609"/>
                    <a:pt x="-5572" y="813721"/>
                    <a:pt x="82534" y="575977"/>
                  </a:cubicBezTo>
                  <a:cubicBezTo>
                    <a:pt x="169592" y="340805"/>
                    <a:pt x="316563" y="145161"/>
                    <a:pt x="499824" y="0"/>
                  </a:cubicBezTo>
                  <a:cubicBezTo>
                    <a:pt x="519922" y="24860"/>
                    <a:pt x="858155" y="451295"/>
                    <a:pt x="724043" y="816102"/>
                  </a:cubicBezTo>
                  <a:close/>
                </a:path>
              </a:pathLst>
            </a:custGeom>
            <a:grpFill/>
            <a:ln w="9525" cap="flat">
              <a:noFill/>
              <a:prstDash val="solid"/>
              <a:miter/>
            </a:ln>
          </p:spPr>
          <p:txBody>
            <a:bodyPr rtlCol="0" anchor="ctr"/>
            <a:lstStyle/>
            <a:p>
              <a:endParaRPr lang="fr-FR" sz="2400"/>
            </a:p>
          </p:txBody>
        </p:sp>
      </p:grpSp>
      <p:sp>
        <p:nvSpPr>
          <p:cNvPr id="2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23"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5"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fr-FR"/>
              <a:t>Titre de la présentation sur une seule ligne</a:t>
            </a:r>
            <a:endParaRPr lang="fr-FR" dirty="0"/>
          </a:p>
        </p:txBody>
      </p:sp>
    </p:spTree>
    <p:extLst>
      <p:ext uri="{BB962C8B-B14F-4D97-AF65-F5344CB8AC3E}">
        <p14:creationId xmlns:p14="http://schemas.microsoft.com/office/powerpoint/2010/main" val="18235795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apo de titre 10">
    <p:bg>
      <p:bgPr>
        <a:solidFill>
          <a:schemeClr val="tx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20" name="Groupe 19">
            <a:extLst>
              <a:ext uri="{FF2B5EF4-FFF2-40B4-BE49-F238E27FC236}">
                <a16:creationId xmlns:a16="http://schemas.microsoft.com/office/drawing/2014/main" id="{14A9D647-00F2-4C4B-BEB2-D75043DB8D0E}"/>
              </a:ext>
            </a:extLst>
          </p:cNvPr>
          <p:cNvGrpSpPr/>
          <p:nvPr userDrawn="1"/>
        </p:nvGrpSpPr>
        <p:grpSpPr>
          <a:xfrm>
            <a:off x="7002138" y="1700147"/>
            <a:ext cx="3394929" cy="3339213"/>
            <a:chOff x="2019290" y="61899"/>
            <a:chExt cx="5102087" cy="5018353"/>
          </a:xfrm>
          <a:solidFill>
            <a:srgbClr val="5770BE"/>
          </a:solidFill>
        </p:grpSpPr>
        <p:sp>
          <p:nvSpPr>
            <p:cNvPr id="14" name="Forme libre : forme 13">
              <a:extLst>
                <a:ext uri="{FF2B5EF4-FFF2-40B4-BE49-F238E27FC236}">
                  <a16:creationId xmlns:a16="http://schemas.microsoft.com/office/drawing/2014/main" id="{0A3EC673-E299-4D73-87EC-841B629A6F7B}"/>
                </a:ext>
              </a:extLst>
            </p:cNvPr>
            <p:cNvSpPr/>
            <p:nvPr/>
          </p:nvSpPr>
          <p:spPr>
            <a:xfrm>
              <a:off x="3946207" y="61899"/>
              <a:ext cx="1278731" cy="636387"/>
            </a:xfrm>
            <a:custGeom>
              <a:avLst/>
              <a:gdLst>
                <a:gd name="connsiteX0" fmla="*/ 636651 w 1278731"/>
                <a:gd name="connsiteY0" fmla="*/ 636378 h 636387"/>
                <a:gd name="connsiteX1" fmla="*/ 1278731 w 1278731"/>
                <a:gd name="connsiteY1" fmla="*/ 184226 h 636387"/>
                <a:gd name="connsiteX2" fmla="*/ 637127 w 1278731"/>
                <a:gd name="connsiteY2" fmla="*/ 13 h 636387"/>
                <a:gd name="connsiteX3" fmla="*/ 0 w 1278731"/>
                <a:gd name="connsiteY3" fmla="*/ 174987 h 636387"/>
                <a:gd name="connsiteX4" fmla="*/ 636651 w 1278731"/>
                <a:gd name="connsiteY4" fmla="*/ 636378 h 636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8731" h="636387">
                  <a:moveTo>
                    <a:pt x="636651" y="636378"/>
                  </a:moveTo>
                  <a:cubicBezTo>
                    <a:pt x="994505" y="638759"/>
                    <a:pt x="1259015" y="216516"/>
                    <a:pt x="1278731" y="184226"/>
                  </a:cubicBezTo>
                  <a:cubicBezTo>
                    <a:pt x="1092422" y="68402"/>
                    <a:pt x="872681" y="1060"/>
                    <a:pt x="637127" y="13"/>
                  </a:cubicBezTo>
                  <a:cubicBezTo>
                    <a:pt x="404146" y="-1035"/>
                    <a:pt x="186023" y="63068"/>
                    <a:pt x="0" y="174987"/>
                  </a:cubicBezTo>
                  <a:cubicBezTo>
                    <a:pt x="15145" y="200609"/>
                    <a:pt x="275558" y="633997"/>
                    <a:pt x="636651" y="636378"/>
                  </a:cubicBezTo>
                  <a:close/>
                </a:path>
              </a:pathLst>
            </a:custGeom>
            <a:grpFill/>
            <a:ln w="9525" cap="flat">
              <a:noFill/>
              <a:prstDash val="solid"/>
              <a:miter/>
            </a:ln>
          </p:spPr>
          <p:txBody>
            <a:bodyPr rtlCol="0" anchor="ctr"/>
            <a:lstStyle/>
            <a:p>
              <a:endParaRPr lang="fr-FR" sz="2400"/>
            </a:p>
          </p:txBody>
        </p:sp>
        <p:sp>
          <p:nvSpPr>
            <p:cNvPr id="16" name="Forme libre : forme 15">
              <a:extLst>
                <a:ext uri="{FF2B5EF4-FFF2-40B4-BE49-F238E27FC236}">
                  <a16:creationId xmlns:a16="http://schemas.microsoft.com/office/drawing/2014/main" id="{CF3A35DC-7A8C-4C7B-88C4-1FD4E5E65E5A}"/>
                </a:ext>
              </a:extLst>
            </p:cNvPr>
            <p:cNvSpPr/>
            <p:nvPr/>
          </p:nvSpPr>
          <p:spPr>
            <a:xfrm>
              <a:off x="2019290" y="1219294"/>
              <a:ext cx="690590" cy="1213103"/>
            </a:xfrm>
            <a:custGeom>
              <a:avLst/>
              <a:gdLst>
                <a:gd name="connsiteX0" fmla="*/ 666569 w 690590"/>
                <a:gd name="connsiteY0" fmla="*/ 750189 h 1213103"/>
                <a:gd name="connsiteX1" fmla="*/ 435207 w 690590"/>
                <a:gd name="connsiteY1" fmla="*/ 0 h 1213103"/>
                <a:gd name="connsiteX2" fmla="*/ 10 w 690590"/>
                <a:gd name="connsiteY2" fmla="*/ 932021 h 1213103"/>
                <a:gd name="connsiteX3" fmla="*/ 31157 w 690590"/>
                <a:gd name="connsiteY3" fmla="*/ 1213104 h 1213103"/>
                <a:gd name="connsiteX4" fmla="*/ 666569 w 690590"/>
                <a:gd name="connsiteY4" fmla="*/ 750189 h 1213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590" h="1213103">
                  <a:moveTo>
                    <a:pt x="666569" y="750189"/>
                  </a:moveTo>
                  <a:cubicBezTo>
                    <a:pt x="779060" y="411575"/>
                    <a:pt x="461401" y="30575"/>
                    <a:pt x="435207" y="0"/>
                  </a:cubicBezTo>
                  <a:cubicBezTo>
                    <a:pt x="170412" y="223933"/>
                    <a:pt x="1629" y="558070"/>
                    <a:pt x="10" y="932021"/>
                  </a:cubicBezTo>
                  <a:cubicBezTo>
                    <a:pt x="-371" y="1028700"/>
                    <a:pt x="10392" y="1122712"/>
                    <a:pt x="31157" y="1213104"/>
                  </a:cubicBezTo>
                  <a:cubicBezTo>
                    <a:pt x="60970" y="1206532"/>
                    <a:pt x="552841" y="1092613"/>
                    <a:pt x="666569" y="750189"/>
                  </a:cubicBezTo>
                  <a:close/>
                </a:path>
              </a:pathLst>
            </a:custGeom>
            <a:grpFill/>
            <a:ln w="9525" cap="flat">
              <a:noFill/>
              <a:prstDash val="solid"/>
              <a:miter/>
            </a:ln>
          </p:spPr>
          <p:txBody>
            <a:bodyPr rtlCol="0" anchor="ctr"/>
            <a:lstStyle/>
            <a:p>
              <a:endParaRPr lang="fr-FR" sz="2400"/>
            </a:p>
          </p:txBody>
        </p:sp>
        <p:sp>
          <p:nvSpPr>
            <p:cNvPr id="17" name="Forme libre : forme 16">
              <a:extLst>
                <a:ext uri="{FF2B5EF4-FFF2-40B4-BE49-F238E27FC236}">
                  <a16:creationId xmlns:a16="http://schemas.microsoft.com/office/drawing/2014/main" id="{5D2C7748-445A-4908-A98D-8C1800ABBEA7}"/>
                </a:ext>
              </a:extLst>
            </p:cNvPr>
            <p:cNvSpPr/>
            <p:nvPr/>
          </p:nvSpPr>
          <p:spPr>
            <a:xfrm>
              <a:off x="2496692" y="4219701"/>
              <a:ext cx="1029858" cy="848932"/>
            </a:xfrm>
            <a:custGeom>
              <a:avLst/>
              <a:gdLst>
                <a:gd name="connsiteX0" fmla="*/ 782003 w 1029858"/>
                <a:gd name="connsiteY0" fmla="*/ 100934 h 848932"/>
                <a:gd name="connsiteX1" fmla="*/ 0 w 1029858"/>
                <a:gd name="connsiteY1" fmla="*/ 87980 h 848932"/>
                <a:gd name="connsiteX2" fmla="*/ 1025843 w 1029858"/>
                <a:gd name="connsiteY2" fmla="*/ 848932 h 848932"/>
                <a:gd name="connsiteX3" fmla="*/ 782003 w 1029858"/>
                <a:gd name="connsiteY3" fmla="*/ 100934 h 848932"/>
              </a:gdLst>
              <a:ahLst/>
              <a:cxnLst>
                <a:cxn ang="0">
                  <a:pos x="connsiteX0" y="connsiteY0"/>
                </a:cxn>
                <a:cxn ang="0">
                  <a:pos x="connsiteX1" y="connsiteY1"/>
                </a:cxn>
                <a:cxn ang="0">
                  <a:pos x="connsiteX2" y="connsiteY2"/>
                </a:cxn>
                <a:cxn ang="0">
                  <a:pos x="connsiteX3" y="connsiteY3"/>
                </a:cxn>
              </a:cxnLst>
              <a:rect l="l" t="t" r="r" b="b"/>
              <a:pathLst>
                <a:path w="1029858" h="848932">
                  <a:moveTo>
                    <a:pt x="782003" y="100934"/>
                  </a:moveTo>
                  <a:cubicBezTo>
                    <a:pt x="500824" y="-106140"/>
                    <a:pt x="53912" y="65977"/>
                    <a:pt x="0" y="87980"/>
                  </a:cubicBezTo>
                  <a:cubicBezTo>
                    <a:pt x="168783" y="504127"/>
                    <a:pt x="559403" y="806927"/>
                    <a:pt x="1025843" y="848932"/>
                  </a:cubicBezTo>
                  <a:cubicBezTo>
                    <a:pt x="1028033" y="826358"/>
                    <a:pt x="1074896" y="316770"/>
                    <a:pt x="782003" y="100934"/>
                  </a:cubicBezTo>
                  <a:close/>
                </a:path>
              </a:pathLst>
            </a:custGeom>
            <a:grpFill/>
            <a:ln w="9525" cap="flat">
              <a:noFill/>
              <a:prstDash val="solid"/>
              <a:miter/>
            </a:ln>
          </p:spPr>
          <p:txBody>
            <a:bodyPr rtlCol="0" anchor="ctr"/>
            <a:lstStyle/>
            <a:p>
              <a:endParaRPr lang="fr-FR" sz="2400"/>
            </a:p>
          </p:txBody>
        </p:sp>
        <p:sp>
          <p:nvSpPr>
            <p:cNvPr id="18" name="Forme libre : forme 17">
              <a:extLst>
                <a:ext uri="{FF2B5EF4-FFF2-40B4-BE49-F238E27FC236}">
                  <a16:creationId xmlns:a16="http://schemas.microsoft.com/office/drawing/2014/main" id="{D5AF26B3-A801-478A-995F-0DB30CC90980}"/>
                </a:ext>
              </a:extLst>
            </p:cNvPr>
            <p:cNvSpPr/>
            <p:nvPr/>
          </p:nvSpPr>
          <p:spPr>
            <a:xfrm>
              <a:off x="5578922" y="4238632"/>
              <a:ext cx="1038571" cy="841620"/>
            </a:xfrm>
            <a:custGeom>
              <a:avLst/>
              <a:gdLst>
                <a:gd name="connsiteX0" fmla="*/ 256474 w 1038571"/>
                <a:gd name="connsiteY0" fmla="*/ 96385 h 841620"/>
                <a:gd name="connsiteX1" fmla="*/ 2918 w 1038571"/>
                <a:gd name="connsiteY1" fmla="*/ 841621 h 841620"/>
                <a:gd name="connsiteX2" fmla="*/ 1038572 w 1038571"/>
                <a:gd name="connsiteY2" fmla="*/ 93623 h 841620"/>
                <a:gd name="connsiteX3" fmla="*/ 256474 w 1038571"/>
                <a:gd name="connsiteY3" fmla="*/ 96385 h 841620"/>
              </a:gdLst>
              <a:ahLst/>
              <a:cxnLst>
                <a:cxn ang="0">
                  <a:pos x="connsiteX0" y="connsiteY0"/>
                </a:cxn>
                <a:cxn ang="0">
                  <a:pos x="connsiteX1" y="connsiteY1"/>
                </a:cxn>
                <a:cxn ang="0">
                  <a:pos x="connsiteX2" y="connsiteY2"/>
                </a:cxn>
                <a:cxn ang="0">
                  <a:pos x="connsiteX3" y="connsiteY3"/>
                </a:cxn>
              </a:cxnLst>
              <a:rect l="l" t="t" r="r" b="b"/>
              <a:pathLst>
                <a:path w="1038571" h="841620">
                  <a:moveTo>
                    <a:pt x="256474" y="96385"/>
                  </a:moveTo>
                  <a:cubicBezTo>
                    <a:pt x="-42040" y="310221"/>
                    <a:pt x="1680" y="828095"/>
                    <a:pt x="2918" y="841621"/>
                  </a:cubicBezTo>
                  <a:cubicBezTo>
                    <a:pt x="470215" y="805521"/>
                    <a:pt x="864550" y="507484"/>
                    <a:pt x="1038572" y="93623"/>
                  </a:cubicBezTo>
                  <a:cubicBezTo>
                    <a:pt x="984660" y="70953"/>
                    <a:pt x="540224" y="-106879"/>
                    <a:pt x="256474" y="96385"/>
                  </a:cubicBezTo>
                  <a:close/>
                </a:path>
              </a:pathLst>
            </a:custGeom>
            <a:grpFill/>
            <a:ln w="9525" cap="flat">
              <a:noFill/>
              <a:prstDash val="solid"/>
              <a:miter/>
            </a:ln>
          </p:spPr>
          <p:txBody>
            <a:bodyPr rtlCol="0" anchor="ctr"/>
            <a:lstStyle/>
            <a:p>
              <a:endParaRPr lang="fr-FR" sz="2400"/>
            </a:p>
          </p:txBody>
        </p:sp>
        <p:sp>
          <p:nvSpPr>
            <p:cNvPr id="19" name="Forme libre : forme 18">
              <a:extLst>
                <a:ext uri="{FF2B5EF4-FFF2-40B4-BE49-F238E27FC236}">
                  <a16:creationId xmlns:a16="http://schemas.microsoft.com/office/drawing/2014/main" id="{D7071253-7A44-447C-B7DF-70C0E1AD248E}"/>
                </a:ext>
              </a:extLst>
            </p:cNvPr>
            <p:cNvSpPr/>
            <p:nvPr/>
          </p:nvSpPr>
          <p:spPr>
            <a:xfrm>
              <a:off x="6435072" y="1236916"/>
              <a:ext cx="686305" cy="1214342"/>
            </a:xfrm>
            <a:custGeom>
              <a:avLst/>
              <a:gdLst>
                <a:gd name="connsiteX0" fmla="*/ 22020 w 686305"/>
                <a:gd name="connsiteY0" fmla="*/ 742855 h 1214342"/>
                <a:gd name="connsiteX1" fmla="*/ 652766 w 686305"/>
                <a:gd name="connsiteY1" fmla="*/ 1214342 h 1214342"/>
                <a:gd name="connsiteX2" fmla="*/ 655338 w 686305"/>
                <a:gd name="connsiteY2" fmla="*/ 1205008 h 1214342"/>
                <a:gd name="connsiteX3" fmla="*/ 686294 w 686305"/>
                <a:gd name="connsiteY3" fmla="*/ 935355 h 1214342"/>
                <a:gd name="connsiteX4" fmla="*/ 259574 w 686305"/>
                <a:gd name="connsiteY4" fmla="*/ 0 h 1214342"/>
                <a:gd name="connsiteX5" fmla="*/ 22020 w 686305"/>
                <a:gd name="connsiteY5" fmla="*/ 742855 h 121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305" h="1214342">
                  <a:moveTo>
                    <a:pt x="22020" y="742855"/>
                  </a:moveTo>
                  <a:cubicBezTo>
                    <a:pt x="134701" y="1097471"/>
                    <a:pt x="652766" y="1214342"/>
                    <a:pt x="652766" y="1214342"/>
                  </a:cubicBezTo>
                  <a:cubicBezTo>
                    <a:pt x="653718" y="1211199"/>
                    <a:pt x="654480" y="1208056"/>
                    <a:pt x="655338" y="1205008"/>
                  </a:cubicBezTo>
                  <a:cubicBezTo>
                    <a:pt x="675149" y="1118235"/>
                    <a:pt x="685913" y="1028033"/>
                    <a:pt x="686294" y="935355"/>
                  </a:cubicBezTo>
                  <a:cubicBezTo>
                    <a:pt x="687913" y="561594"/>
                    <a:pt x="522178" y="226219"/>
                    <a:pt x="259574" y="0"/>
                  </a:cubicBezTo>
                  <a:cubicBezTo>
                    <a:pt x="215378" y="51530"/>
                    <a:pt x="-82278" y="414242"/>
                    <a:pt x="22020" y="742855"/>
                  </a:cubicBezTo>
                  <a:close/>
                </a:path>
              </a:pathLst>
            </a:custGeom>
            <a:grpFill/>
            <a:ln w="9525" cap="flat">
              <a:noFill/>
              <a:prstDash val="solid"/>
              <a:miter/>
            </a:ln>
          </p:spPr>
          <p:txBody>
            <a:bodyPr rtlCol="0" anchor="ctr"/>
            <a:lstStyle/>
            <a:p>
              <a:endParaRPr lang="fr-FR" sz="2400"/>
            </a:p>
          </p:txBody>
        </p:sp>
      </p:grpSp>
      <p:sp>
        <p:nvSpPr>
          <p:cNvPr id="23"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fr-FR"/>
              <a:t>Titre de la présentation sur une seule ligne</a:t>
            </a:r>
            <a:endParaRPr lang="fr-FR" dirty="0"/>
          </a:p>
        </p:txBody>
      </p:sp>
    </p:spTree>
    <p:extLst>
      <p:ext uri="{BB962C8B-B14F-4D97-AF65-F5344CB8AC3E}">
        <p14:creationId xmlns:p14="http://schemas.microsoft.com/office/powerpoint/2010/main" val="15136190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Diapo avec titre + texte">
    <p:spTree>
      <p:nvGrpSpPr>
        <p:cNvPr id="1" name=""/>
        <p:cNvGrpSpPr/>
        <p:nvPr/>
      </p:nvGrpSpPr>
      <p:grpSpPr>
        <a:xfrm>
          <a:off x="0" y="0"/>
          <a:ext cx="0" cy="0"/>
          <a:chOff x="0" y="0"/>
          <a:chExt cx="0" cy="0"/>
        </a:xfrm>
      </p:grpSpPr>
      <p:sp>
        <p:nvSpPr>
          <p:cNvPr id="6" name="Espace réservé de la date 5">
            <a:extLst>
              <a:ext uri="{FF2B5EF4-FFF2-40B4-BE49-F238E27FC236}">
                <a16:creationId xmlns:a16="http://schemas.microsoft.com/office/drawing/2014/main" id="{BA039719-59E1-499E-AE38-46FC3D06F2F1}"/>
              </a:ext>
            </a:extLst>
          </p:cNvPr>
          <p:cNvSpPr>
            <a:spLocks noGrp="1"/>
          </p:cNvSpPr>
          <p:nvPr>
            <p:ph type="dt" sz="half" idx="16"/>
          </p:nvPr>
        </p:nvSpPr>
        <p:spPr/>
        <p:txBody>
          <a:bodyPr/>
          <a:lstStyle/>
          <a:p>
            <a:pPr algn="r"/>
            <a:r>
              <a:rPr lang="fr-FR" cap="all"/>
              <a:t>XX/XX/2021</a:t>
            </a:r>
            <a:endParaRPr lang="fr-FR" cap="all" dirty="0"/>
          </a:p>
        </p:txBody>
      </p:sp>
      <p:sp>
        <p:nvSpPr>
          <p:cNvPr id="7" name="Espace réservé du pied de page 6">
            <a:extLst>
              <a:ext uri="{FF2B5EF4-FFF2-40B4-BE49-F238E27FC236}">
                <a16:creationId xmlns:a16="http://schemas.microsoft.com/office/drawing/2014/main" id="{54460079-5C05-4907-83D0-F6C237D493D1}"/>
              </a:ext>
            </a:extLst>
          </p:cNvPr>
          <p:cNvSpPr>
            <a:spLocks noGrp="1"/>
          </p:cNvSpPr>
          <p:nvPr>
            <p:ph type="ftr" sz="quarter" idx="17"/>
          </p:nvPr>
        </p:nvSpPr>
        <p:spPr/>
        <p:txBody>
          <a:bodyPr/>
          <a:lstStyle/>
          <a:p>
            <a:r>
              <a:rPr lang="fr-FR"/>
              <a:t>Titre de la présentation sur une seule ligne</a:t>
            </a:r>
            <a:endParaRPr lang="fr-FR" dirty="0"/>
          </a:p>
        </p:txBody>
      </p:sp>
      <p:sp>
        <p:nvSpPr>
          <p:cNvPr id="11"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8"/>
          </p:nvPr>
        </p:nvSpPr>
        <p:spPr/>
        <p:txBody>
          <a:bodyPr/>
          <a:lstStyle/>
          <a:p>
            <a:fld id="{733122C9-A0B9-462F-8757-0847AD287B63}" type="slidenum">
              <a:rPr lang="fr-FR" smtClean="0"/>
              <a:pPr/>
              <a:t>‹N°›</a:t>
            </a:fld>
            <a:endParaRPr lang="fr-FR" dirty="0"/>
          </a:p>
        </p:txBody>
      </p:sp>
      <p:sp>
        <p:nvSpPr>
          <p:cNvPr id="28" name="Espace réservé du texte 7"/>
          <p:cNvSpPr>
            <a:spLocks noGrp="1"/>
          </p:cNvSpPr>
          <p:nvPr>
            <p:ph type="body" sz="quarter" idx="13" hasCustomPrompt="1"/>
          </p:nvPr>
        </p:nvSpPr>
        <p:spPr bwMode="gray">
          <a:xfrm>
            <a:off x="367242" y="1316765"/>
            <a:ext cx="11459060" cy="4580259"/>
          </a:xfrm>
        </p:spPr>
        <p:txBody>
          <a:bodyPr/>
          <a:lstStyle>
            <a:lvl1pPr marL="0" indent="0">
              <a:spcBef>
                <a:spcPts val="400"/>
              </a:spcBef>
              <a:spcAft>
                <a:spcPts val="800"/>
              </a:spcAft>
              <a:buFontTx/>
              <a:buNone/>
              <a:defRPr b="1">
                <a:solidFill>
                  <a:srgbClr val="262626"/>
                </a:solidFill>
                <a:latin typeface="+mn-lt"/>
              </a:defRPr>
            </a:lvl1pPr>
            <a:lvl2pPr marL="179992" indent="0">
              <a:spcBef>
                <a:spcPts val="600"/>
              </a:spcBef>
              <a:spcAft>
                <a:spcPts val="800"/>
              </a:spcAft>
              <a:buFontTx/>
              <a:buNone/>
              <a:defRPr>
                <a:solidFill>
                  <a:srgbClr val="262626"/>
                </a:solidFill>
              </a:defRPr>
            </a:lvl2pPr>
          </a:lstStyle>
          <a:p>
            <a:pPr lvl="0"/>
            <a:r>
              <a:rPr lang="fr-FR" dirty="0"/>
              <a:t>Texte de niveau 1</a:t>
            </a:r>
          </a:p>
          <a:p>
            <a:pPr lvl="1"/>
            <a:r>
              <a:rPr lang="fr-FR" dirty="0"/>
              <a:t>Texte de niveau 2</a:t>
            </a:r>
          </a:p>
          <a:p>
            <a:pPr lvl="2"/>
            <a:r>
              <a:rPr lang="fr-FR" dirty="0"/>
              <a:t>Texte de niveau 3</a:t>
            </a:r>
          </a:p>
        </p:txBody>
      </p:sp>
      <p:grpSp>
        <p:nvGrpSpPr>
          <p:cNvPr id="29" name="Groupe 28">
            <a:extLst>
              <a:ext uri="{FF2B5EF4-FFF2-40B4-BE49-F238E27FC236}">
                <a16:creationId xmlns:a16="http://schemas.microsoft.com/office/drawing/2014/main" id="{D839141D-2A12-43BD-965E-1AFB5ACCCEC3}"/>
              </a:ext>
            </a:extLst>
          </p:cNvPr>
          <p:cNvGrpSpPr/>
          <p:nvPr userDrawn="1"/>
        </p:nvGrpSpPr>
        <p:grpSpPr>
          <a:xfrm>
            <a:off x="11337925" y="238141"/>
            <a:ext cx="365127" cy="507984"/>
            <a:chOff x="2724335" y="0"/>
            <a:chExt cx="3694565" cy="5140087"/>
          </a:xfrm>
        </p:grpSpPr>
        <p:grpSp>
          <p:nvGrpSpPr>
            <p:cNvPr id="30" name="Groupe 29">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37"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sz="2400"/>
              </a:p>
            </p:txBody>
          </p:sp>
          <p:sp>
            <p:nvSpPr>
              <p:cNvPr id="38"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39"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sz="2400"/>
              </a:p>
            </p:txBody>
          </p:sp>
          <p:sp>
            <p:nvSpPr>
              <p:cNvPr id="44"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5"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sz="2400"/>
              </a:p>
            </p:txBody>
          </p:sp>
        </p:grpSp>
        <p:grpSp>
          <p:nvGrpSpPr>
            <p:cNvPr id="31" name="Groupe 30">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2"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sz="2400"/>
              </a:p>
            </p:txBody>
          </p:sp>
          <p:sp>
            <p:nvSpPr>
              <p:cNvPr id="33"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sz="2400"/>
              </a:p>
            </p:txBody>
          </p:sp>
          <p:sp>
            <p:nvSpPr>
              <p:cNvPr id="34"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sz="2400"/>
              </a:p>
            </p:txBody>
          </p:sp>
          <p:sp>
            <p:nvSpPr>
              <p:cNvPr id="35"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sz="2400"/>
              </a:p>
            </p:txBody>
          </p:sp>
          <p:sp>
            <p:nvSpPr>
              <p:cNvPr id="36"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sz="2400"/>
              </a:p>
            </p:txBody>
          </p:sp>
        </p:grpSp>
      </p:grpSp>
      <p:sp>
        <p:nvSpPr>
          <p:cNvPr id="24" name="Titre 1"/>
          <p:cNvSpPr>
            <a:spLocks noGrp="1"/>
          </p:cNvSpPr>
          <p:nvPr>
            <p:ph type="title" hasCustomPrompt="1"/>
          </p:nvPr>
        </p:nvSpPr>
        <p:spPr bwMode="gray">
          <a:xfrm>
            <a:off x="367242" y="371400"/>
            <a:ext cx="10876937" cy="849249"/>
          </a:xfrm>
        </p:spPr>
        <p:txBody>
          <a:bodyPr/>
          <a:lstStyle>
            <a:lvl1pPr>
              <a:defRPr sz="2547">
                <a:solidFill>
                  <a:srgbClr val="262626"/>
                </a:solidFill>
              </a:defRPr>
            </a:lvl1pPr>
          </a:lstStyle>
          <a:p>
            <a:r>
              <a:rPr lang="fr-FR" dirty="0"/>
              <a:t>Titre de la diapositive</a:t>
            </a:r>
          </a:p>
        </p:txBody>
      </p:sp>
    </p:spTree>
    <p:extLst>
      <p:ext uri="{BB962C8B-B14F-4D97-AF65-F5344CB8AC3E}">
        <p14:creationId xmlns:p14="http://schemas.microsoft.com/office/powerpoint/2010/main" val="1313725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apo texte + photo">
    <p:spTree>
      <p:nvGrpSpPr>
        <p:cNvPr id="1" name=""/>
        <p:cNvGrpSpPr/>
        <p:nvPr/>
      </p:nvGrpSpPr>
      <p:grpSpPr>
        <a:xfrm>
          <a:off x="0" y="0"/>
          <a:ext cx="0" cy="0"/>
          <a:chOff x="0" y="0"/>
          <a:chExt cx="0" cy="0"/>
        </a:xfrm>
      </p:grpSpPr>
      <p:sp>
        <p:nvSpPr>
          <p:cNvPr id="9" name="Espace réservé pour une image  8">
            <a:extLst>
              <a:ext uri="{FF2B5EF4-FFF2-40B4-BE49-F238E27FC236}">
                <a16:creationId xmlns:a16="http://schemas.microsoft.com/office/drawing/2014/main" id="{BD8E2D2A-F96C-4939-9C63-67C838C0FDF3}"/>
              </a:ext>
            </a:extLst>
          </p:cNvPr>
          <p:cNvSpPr>
            <a:spLocks noGrp="1"/>
          </p:cNvSpPr>
          <p:nvPr>
            <p:ph type="pic" sz="quarter" idx="15" hasCustomPrompt="1"/>
          </p:nvPr>
        </p:nvSpPr>
        <p:spPr>
          <a:xfrm>
            <a:off x="6303435" y="1316767"/>
            <a:ext cx="5397500" cy="3902936"/>
          </a:xfrm>
          <a:solidFill>
            <a:schemeClr val="bg1">
              <a:lumMod val="85000"/>
            </a:schemeClr>
          </a:solidFill>
          <a:ln>
            <a:noFill/>
          </a:ln>
        </p:spPr>
        <p:txBody>
          <a:bodyPr bIns="504000" anchor="ctr"/>
          <a:lstStyle>
            <a:lvl1pPr algn="ctr">
              <a:defRPr sz="900">
                <a:solidFill>
                  <a:schemeClr val="bg1"/>
                </a:solidFill>
              </a:defRPr>
            </a:lvl1pPr>
          </a:lstStyle>
          <a:p>
            <a:r>
              <a:rPr lang="fr-FR" dirty="0"/>
              <a:t>Sélectionner l’icône pour insérer une image</a:t>
            </a:r>
          </a:p>
        </p:txBody>
      </p:sp>
      <p:sp>
        <p:nvSpPr>
          <p:cNvPr id="15" name="Espace réservé du texte 14">
            <a:extLst>
              <a:ext uri="{FF2B5EF4-FFF2-40B4-BE49-F238E27FC236}">
                <a16:creationId xmlns:a16="http://schemas.microsoft.com/office/drawing/2014/main" id="{21CA591B-C37B-41A1-8191-C1F660677F8D}"/>
              </a:ext>
            </a:extLst>
          </p:cNvPr>
          <p:cNvSpPr>
            <a:spLocks noGrp="1"/>
          </p:cNvSpPr>
          <p:nvPr>
            <p:ph type="body" sz="quarter" idx="16" hasCustomPrompt="1"/>
          </p:nvPr>
        </p:nvSpPr>
        <p:spPr>
          <a:xfrm>
            <a:off x="6314499" y="5306485"/>
            <a:ext cx="5397503" cy="611715"/>
          </a:xfrm>
        </p:spPr>
        <p:txBody>
          <a:bodyPr/>
          <a:lstStyle>
            <a:lvl1pPr>
              <a:defRPr sz="951">
                <a:solidFill>
                  <a:schemeClr val="tx1"/>
                </a:solidFill>
              </a:defRPr>
            </a:lvl1pPr>
          </a:lstStyle>
          <a:p>
            <a:pPr lvl="0"/>
            <a:r>
              <a:rPr lang="fr-FR" dirty="0"/>
              <a:t>Niveau 4 Lorem ipsum </a:t>
            </a:r>
            <a:r>
              <a:rPr lang="fr-FR" dirty="0" err="1"/>
              <a:t>dolor</a:t>
            </a:r>
            <a:r>
              <a:rPr lang="fr-FR" dirty="0"/>
              <a:t> </a:t>
            </a:r>
            <a:r>
              <a:rPr lang="fr-FR" dirty="0" err="1"/>
              <a:t>sit</a:t>
            </a:r>
            <a:r>
              <a:rPr lang="fr-FR" dirty="0"/>
              <a:t> </a:t>
            </a:r>
            <a:r>
              <a:rPr lang="fr-FR" dirty="0" err="1"/>
              <a:t>amet</a:t>
            </a:r>
            <a:endParaRPr lang="fr-FR" dirty="0"/>
          </a:p>
        </p:txBody>
      </p:sp>
      <p:sp>
        <p:nvSpPr>
          <p:cNvPr id="11" name="Espace réservé de la date 5">
            <a:extLst>
              <a:ext uri="{FF2B5EF4-FFF2-40B4-BE49-F238E27FC236}">
                <a16:creationId xmlns:a16="http://schemas.microsoft.com/office/drawing/2014/main" id="{BA039719-59E1-499E-AE38-46FC3D06F2F1}"/>
              </a:ext>
            </a:extLst>
          </p:cNvPr>
          <p:cNvSpPr>
            <a:spLocks noGrp="1"/>
          </p:cNvSpPr>
          <p:nvPr>
            <p:ph type="dt" sz="half" idx="17"/>
          </p:nvPr>
        </p:nvSpPr>
        <p:spPr>
          <a:xfrm>
            <a:off x="10266300" y="6212909"/>
            <a:ext cx="1560000" cy="282572"/>
          </a:xfrm>
        </p:spPr>
        <p:txBody>
          <a:bodyPr/>
          <a:lstStyle/>
          <a:p>
            <a:pPr algn="r"/>
            <a:r>
              <a:rPr lang="fr-FR" cap="all"/>
              <a:t>XX/XX/2021</a:t>
            </a:r>
            <a:endParaRPr lang="fr-FR" cap="all" dirty="0"/>
          </a:p>
        </p:txBody>
      </p:sp>
      <p:sp>
        <p:nvSpPr>
          <p:cNvPr id="13" name="Espace réservé du pied de page 6">
            <a:extLst>
              <a:ext uri="{FF2B5EF4-FFF2-40B4-BE49-F238E27FC236}">
                <a16:creationId xmlns:a16="http://schemas.microsoft.com/office/drawing/2014/main" id="{54460079-5C05-4907-83D0-F6C237D493D1}"/>
              </a:ext>
            </a:extLst>
          </p:cNvPr>
          <p:cNvSpPr>
            <a:spLocks noGrp="1"/>
          </p:cNvSpPr>
          <p:nvPr>
            <p:ph type="ftr" sz="quarter" idx="18"/>
          </p:nvPr>
        </p:nvSpPr>
        <p:spPr>
          <a:xfrm>
            <a:off x="367241" y="6213309"/>
            <a:ext cx="4114800" cy="282163"/>
          </a:xfrm>
        </p:spPr>
        <p:txBody>
          <a:bodyPr/>
          <a:lstStyle/>
          <a:p>
            <a:r>
              <a:rPr lang="fr-FR"/>
              <a:t>Titre de la présentation sur une seule ligne</a:t>
            </a:r>
            <a:endParaRPr lang="fr-FR" dirty="0"/>
          </a:p>
        </p:txBody>
      </p:sp>
      <p:sp>
        <p:nvSpPr>
          <p:cNvPr id="14"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9"/>
          </p:nvPr>
        </p:nvSpPr>
        <p:spPr>
          <a:xfrm>
            <a:off x="8452756" y="6212906"/>
            <a:ext cx="1800000" cy="246221"/>
          </a:xfrm>
        </p:spPr>
        <p:txBody>
          <a:bodyPr/>
          <a:lstStyle/>
          <a:p>
            <a:fld id="{733122C9-A0B9-462F-8757-0847AD287B63}" type="slidenum">
              <a:rPr lang="fr-FR" smtClean="0"/>
              <a:pPr/>
              <a:t>‹N°›</a:t>
            </a:fld>
            <a:endParaRPr lang="fr-FR" dirty="0"/>
          </a:p>
        </p:txBody>
      </p:sp>
      <p:sp>
        <p:nvSpPr>
          <p:cNvPr id="17" name="Espace réservé du texte 7"/>
          <p:cNvSpPr>
            <a:spLocks noGrp="1"/>
          </p:cNvSpPr>
          <p:nvPr>
            <p:ph type="body" sz="quarter" idx="13" hasCustomPrompt="1"/>
          </p:nvPr>
        </p:nvSpPr>
        <p:spPr bwMode="gray">
          <a:xfrm>
            <a:off x="367241" y="1316765"/>
            <a:ext cx="5472731" cy="4580259"/>
          </a:xfrm>
        </p:spPr>
        <p:txBody>
          <a:bodyPr/>
          <a:lstStyle>
            <a:lvl1pPr marL="0" indent="0">
              <a:spcBef>
                <a:spcPts val="400"/>
              </a:spcBef>
              <a:spcAft>
                <a:spcPts val="800"/>
              </a:spcAft>
              <a:buFontTx/>
              <a:buNone/>
              <a:defRPr b="1">
                <a:solidFill>
                  <a:srgbClr val="262626"/>
                </a:solidFill>
                <a:latin typeface="+mn-lt"/>
              </a:defRPr>
            </a:lvl1pPr>
            <a:lvl2pPr marL="179992" indent="0">
              <a:spcBef>
                <a:spcPts val="600"/>
              </a:spcBef>
              <a:spcAft>
                <a:spcPts val="800"/>
              </a:spcAft>
              <a:buFontTx/>
              <a:buNone/>
              <a:defRPr>
                <a:solidFill>
                  <a:srgbClr val="262626"/>
                </a:solidFill>
              </a:defRPr>
            </a:lvl2pPr>
          </a:lstStyle>
          <a:p>
            <a:pPr lvl="0"/>
            <a:r>
              <a:rPr lang="fr-FR" dirty="0"/>
              <a:t>Texte de niveau 1</a:t>
            </a:r>
          </a:p>
          <a:p>
            <a:pPr lvl="1"/>
            <a:r>
              <a:rPr lang="fr-FR" dirty="0"/>
              <a:t>Texte de niveau 2</a:t>
            </a:r>
          </a:p>
          <a:p>
            <a:pPr lvl="2"/>
            <a:r>
              <a:rPr lang="fr-FR" dirty="0"/>
              <a:t>Texte de niveau 3</a:t>
            </a:r>
          </a:p>
        </p:txBody>
      </p:sp>
      <p:grpSp>
        <p:nvGrpSpPr>
          <p:cNvPr id="31" name="Groupe 30">
            <a:extLst>
              <a:ext uri="{FF2B5EF4-FFF2-40B4-BE49-F238E27FC236}">
                <a16:creationId xmlns:a16="http://schemas.microsoft.com/office/drawing/2014/main" id="{D839141D-2A12-43BD-965E-1AFB5ACCCEC3}"/>
              </a:ext>
            </a:extLst>
          </p:cNvPr>
          <p:cNvGrpSpPr/>
          <p:nvPr userDrawn="1"/>
        </p:nvGrpSpPr>
        <p:grpSpPr>
          <a:xfrm>
            <a:off x="11337925" y="238141"/>
            <a:ext cx="365127" cy="507984"/>
            <a:chOff x="2724335" y="0"/>
            <a:chExt cx="3694565" cy="5140087"/>
          </a:xfrm>
        </p:grpSpPr>
        <p:grpSp>
          <p:nvGrpSpPr>
            <p:cNvPr id="32" name="Groupe 31">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39"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sz="2400"/>
              </a:p>
            </p:txBody>
          </p:sp>
          <p:sp>
            <p:nvSpPr>
              <p:cNvPr id="40"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1"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sz="2400"/>
              </a:p>
            </p:txBody>
          </p:sp>
          <p:sp>
            <p:nvSpPr>
              <p:cNvPr id="42"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3"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sz="2400"/>
              </a:p>
            </p:txBody>
          </p:sp>
        </p:grpSp>
        <p:grpSp>
          <p:nvGrpSpPr>
            <p:cNvPr id="33" name="Groupe 32">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4"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sz="2400"/>
              </a:p>
            </p:txBody>
          </p:sp>
          <p:sp>
            <p:nvSpPr>
              <p:cNvPr id="35"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sz="2400"/>
              </a:p>
            </p:txBody>
          </p:sp>
          <p:sp>
            <p:nvSpPr>
              <p:cNvPr id="36"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sz="2400"/>
              </a:p>
            </p:txBody>
          </p:sp>
          <p:sp>
            <p:nvSpPr>
              <p:cNvPr id="37"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sz="2400"/>
              </a:p>
            </p:txBody>
          </p:sp>
          <p:sp>
            <p:nvSpPr>
              <p:cNvPr id="38"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sz="2400"/>
              </a:p>
            </p:txBody>
          </p:sp>
        </p:grpSp>
      </p:grpSp>
      <p:sp>
        <p:nvSpPr>
          <p:cNvPr id="22" name="Titre 1"/>
          <p:cNvSpPr>
            <a:spLocks noGrp="1"/>
          </p:cNvSpPr>
          <p:nvPr>
            <p:ph type="title" hasCustomPrompt="1"/>
          </p:nvPr>
        </p:nvSpPr>
        <p:spPr bwMode="gray">
          <a:xfrm>
            <a:off x="367242" y="371400"/>
            <a:ext cx="10876937" cy="849249"/>
          </a:xfrm>
        </p:spPr>
        <p:txBody>
          <a:bodyPr/>
          <a:lstStyle>
            <a:lvl1pPr>
              <a:defRPr sz="2547">
                <a:solidFill>
                  <a:srgbClr val="262626"/>
                </a:solidFill>
              </a:defRPr>
            </a:lvl1pPr>
          </a:lstStyle>
          <a:p>
            <a:r>
              <a:rPr lang="fr-FR" dirty="0"/>
              <a:t>Titre de la diapositive</a:t>
            </a:r>
          </a:p>
        </p:txBody>
      </p:sp>
    </p:spTree>
    <p:extLst>
      <p:ext uri="{BB962C8B-B14F-4D97-AF65-F5344CB8AC3E}">
        <p14:creationId xmlns:p14="http://schemas.microsoft.com/office/powerpoint/2010/main" val="21825868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apo 2 photos">
    <p:spTree>
      <p:nvGrpSpPr>
        <p:cNvPr id="1" name=""/>
        <p:cNvGrpSpPr/>
        <p:nvPr/>
      </p:nvGrpSpPr>
      <p:grpSpPr>
        <a:xfrm>
          <a:off x="0" y="0"/>
          <a:ext cx="0" cy="0"/>
          <a:chOff x="0" y="0"/>
          <a:chExt cx="0" cy="0"/>
        </a:xfrm>
      </p:grpSpPr>
      <p:sp>
        <p:nvSpPr>
          <p:cNvPr id="9" name="Espace réservé pour une image  8">
            <a:extLst>
              <a:ext uri="{FF2B5EF4-FFF2-40B4-BE49-F238E27FC236}">
                <a16:creationId xmlns:a16="http://schemas.microsoft.com/office/drawing/2014/main" id="{BD8E2D2A-F96C-4939-9C63-67C838C0FDF3}"/>
              </a:ext>
            </a:extLst>
          </p:cNvPr>
          <p:cNvSpPr>
            <a:spLocks noGrp="1"/>
          </p:cNvSpPr>
          <p:nvPr>
            <p:ph type="pic" sz="quarter" idx="15" hasCustomPrompt="1"/>
          </p:nvPr>
        </p:nvSpPr>
        <p:spPr>
          <a:xfrm>
            <a:off x="6303435" y="1316767"/>
            <a:ext cx="5397500" cy="3902936"/>
          </a:xfrm>
          <a:solidFill>
            <a:schemeClr val="bg1">
              <a:lumMod val="85000"/>
            </a:schemeClr>
          </a:solidFill>
          <a:ln>
            <a:noFill/>
          </a:ln>
        </p:spPr>
        <p:txBody>
          <a:bodyPr bIns="504000" anchor="ctr"/>
          <a:lstStyle>
            <a:lvl1pPr algn="ctr">
              <a:defRPr sz="900">
                <a:solidFill>
                  <a:schemeClr val="bg1"/>
                </a:solidFill>
              </a:defRPr>
            </a:lvl1pPr>
          </a:lstStyle>
          <a:p>
            <a:r>
              <a:rPr lang="fr-FR" dirty="0"/>
              <a:t>Sélectionner l’icône pour insérer une image</a:t>
            </a:r>
          </a:p>
        </p:txBody>
      </p:sp>
      <p:sp>
        <p:nvSpPr>
          <p:cNvPr id="15" name="Espace réservé du texte 14">
            <a:extLst>
              <a:ext uri="{FF2B5EF4-FFF2-40B4-BE49-F238E27FC236}">
                <a16:creationId xmlns:a16="http://schemas.microsoft.com/office/drawing/2014/main" id="{21CA591B-C37B-41A1-8191-C1F660677F8D}"/>
              </a:ext>
            </a:extLst>
          </p:cNvPr>
          <p:cNvSpPr>
            <a:spLocks noGrp="1"/>
          </p:cNvSpPr>
          <p:nvPr>
            <p:ph type="body" sz="quarter" idx="16" hasCustomPrompt="1"/>
          </p:nvPr>
        </p:nvSpPr>
        <p:spPr>
          <a:xfrm>
            <a:off x="6314499" y="5306485"/>
            <a:ext cx="5397503" cy="611715"/>
          </a:xfrm>
        </p:spPr>
        <p:txBody>
          <a:bodyPr/>
          <a:lstStyle>
            <a:lvl1pPr>
              <a:defRPr sz="951">
                <a:solidFill>
                  <a:schemeClr val="tx1"/>
                </a:solidFill>
              </a:defRPr>
            </a:lvl1pPr>
          </a:lstStyle>
          <a:p>
            <a:pPr lvl="0"/>
            <a:r>
              <a:rPr lang="fr-FR" dirty="0"/>
              <a:t>Niveau 4 Lorem ipsum </a:t>
            </a:r>
            <a:r>
              <a:rPr lang="fr-FR" dirty="0" err="1"/>
              <a:t>dolor</a:t>
            </a:r>
            <a:r>
              <a:rPr lang="fr-FR" dirty="0"/>
              <a:t> </a:t>
            </a:r>
            <a:r>
              <a:rPr lang="fr-FR" dirty="0" err="1"/>
              <a:t>sit</a:t>
            </a:r>
            <a:r>
              <a:rPr lang="fr-FR" dirty="0"/>
              <a:t> </a:t>
            </a:r>
            <a:r>
              <a:rPr lang="fr-FR" dirty="0" err="1"/>
              <a:t>amet</a:t>
            </a:r>
            <a:endParaRPr lang="fr-FR" dirty="0"/>
          </a:p>
        </p:txBody>
      </p:sp>
      <p:sp>
        <p:nvSpPr>
          <p:cNvPr id="11" name="Espace réservé de la date 5">
            <a:extLst>
              <a:ext uri="{FF2B5EF4-FFF2-40B4-BE49-F238E27FC236}">
                <a16:creationId xmlns:a16="http://schemas.microsoft.com/office/drawing/2014/main" id="{BA039719-59E1-499E-AE38-46FC3D06F2F1}"/>
              </a:ext>
            </a:extLst>
          </p:cNvPr>
          <p:cNvSpPr>
            <a:spLocks noGrp="1"/>
          </p:cNvSpPr>
          <p:nvPr>
            <p:ph type="dt" sz="half" idx="17"/>
          </p:nvPr>
        </p:nvSpPr>
        <p:spPr>
          <a:xfrm>
            <a:off x="10266300" y="6212909"/>
            <a:ext cx="1560000" cy="282572"/>
          </a:xfrm>
        </p:spPr>
        <p:txBody>
          <a:bodyPr/>
          <a:lstStyle/>
          <a:p>
            <a:pPr algn="r"/>
            <a:r>
              <a:rPr lang="fr-FR" cap="all"/>
              <a:t>XX/XX/2021</a:t>
            </a:r>
            <a:endParaRPr lang="fr-FR" cap="all" dirty="0"/>
          </a:p>
        </p:txBody>
      </p:sp>
      <p:sp>
        <p:nvSpPr>
          <p:cNvPr id="13" name="Espace réservé du pied de page 6">
            <a:extLst>
              <a:ext uri="{FF2B5EF4-FFF2-40B4-BE49-F238E27FC236}">
                <a16:creationId xmlns:a16="http://schemas.microsoft.com/office/drawing/2014/main" id="{54460079-5C05-4907-83D0-F6C237D493D1}"/>
              </a:ext>
            </a:extLst>
          </p:cNvPr>
          <p:cNvSpPr>
            <a:spLocks noGrp="1"/>
          </p:cNvSpPr>
          <p:nvPr>
            <p:ph type="ftr" sz="quarter" idx="18"/>
          </p:nvPr>
        </p:nvSpPr>
        <p:spPr>
          <a:xfrm>
            <a:off x="367241" y="6213309"/>
            <a:ext cx="4114800" cy="282163"/>
          </a:xfrm>
        </p:spPr>
        <p:txBody>
          <a:bodyPr/>
          <a:lstStyle/>
          <a:p>
            <a:r>
              <a:rPr lang="fr-FR"/>
              <a:t>Titre de la présentation sur une seule ligne</a:t>
            </a:r>
            <a:endParaRPr lang="fr-FR" dirty="0"/>
          </a:p>
        </p:txBody>
      </p:sp>
      <p:sp>
        <p:nvSpPr>
          <p:cNvPr id="14"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9"/>
          </p:nvPr>
        </p:nvSpPr>
        <p:spPr>
          <a:xfrm>
            <a:off x="8452756" y="6212906"/>
            <a:ext cx="1800000" cy="246221"/>
          </a:xfrm>
        </p:spPr>
        <p:txBody>
          <a:bodyPr/>
          <a:lstStyle/>
          <a:p>
            <a:fld id="{733122C9-A0B9-462F-8757-0847AD287B63}" type="slidenum">
              <a:rPr lang="fr-FR" smtClean="0"/>
              <a:pPr/>
              <a:t>‹N°›</a:t>
            </a:fld>
            <a:endParaRPr lang="fr-FR" dirty="0"/>
          </a:p>
        </p:txBody>
      </p:sp>
      <p:sp>
        <p:nvSpPr>
          <p:cNvPr id="33" name="Espace réservé pour une image  8">
            <a:extLst>
              <a:ext uri="{FF2B5EF4-FFF2-40B4-BE49-F238E27FC236}">
                <a16:creationId xmlns:a16="http://schemas.microsoft.com/office/drawing/2014/main" id="{BD8E2D2A-F96C-4939-9C63-67C838C0FDF3}"/>
              </a:ext>
            </a:extLst>
          </p:cNvPr>
          <p:cNvSpPr>
            <a:spLocks noGrp="1"/>
          </p:cNvSpPr>
          <p:nvPr>
            <p:ph type="pic" sz="quarter" idx="20" hasCustomPrompt="1"/>
          </p:nvPr>
        </p:nvSpPr>
        <p:spPr>
          <a:xfrm>
            <a:off x="367242" y="1316765"/>
            <a:ext cx="5397500" cy="3902936"/>
          </a:xfrm>
          <a:solidFill>
            <a:schemeClr val="bg1">
              <a:lumMod val="85000"/>
            </a:schemeClr>
          </a:solidFill>
          <a:ln>
            <a:noFill/>
          </a:ln>
        </p:spPr>
        <p:txBody>
          <a:bodyPr bIns="504000" anchor="ctr"/>
          <a:lstStyle>
            <a:lvl1pPr algn="ctr">
              <a:defRPr sz="900">
                <a:solidFill>
                  <a:schemeClr val="bg1"/>
                </a:solidFill>
              </a:defRPr>
            </a:lvl1pPr>
          </a:lstStyle>
          <a:p>
            <a:r>
              <a:rPr lang="fr-FR" dirty="0"/>
              <a:t>Sélectionner l’icône pour insérer une image</a:t>
            </a:r>
          </a:p>
        </p:txBody>
      </p:sp>
      <p:sp>
        <p:nvSpPr>
          <p:cNvPr id="34" name="Espace réservé du texte 14">
            <a:extLst>
              <a:ext uri="{FF2B5EF4-FFF2-40B4-BE49-F238E27FC236}">
                <a16:creationId xmlns:a16="http://schemas.microsoft.com/office/drawing/2014/main" id="{21CA591B-C37B-41A1-8191-C1F660677F8D}"/>
              </a:ext>
            </a:extLst>
          </p:cNvPr>
          <p:cNvSpPr>
            <a:spLocks noGrp="1"/>
          </p:cNvSpPr>
          <p:nvPr>
            <p:ph type="body" sz="quarter" idx="21" hasCustomPrompt="1"/>
          </p:nvPr>
        </p:nvSpPr>
        <p:spPr>
          <a:xfrm>
            <a:off x="378306" y="5306484"/>
            <a:ext cx="5397503" cy="611715"/>
          </a:xfrm>
        </p:spPr>
        <p:txBody>
          <a:bodyPr/>
          <a:lstStyle>
            <a:lvl1pPr>
              <a:defRPr sz="951">
                <a:solidFill>
                  <a:schemeClr val="tx1"/>
                </a:solidFill>
              </a:defRPr>
            </a:lvl1pPr>
          </a:lstStyle>
          <a:p>
            <a:pPr lvl="0"/>
            <a:r>
              <a:rPr lang="fr-FR" dirty="0"/>
              <a:t>Niveau 4 Lorem ipsum </a:t>
            </a:r>
            <a:r>
              <a:rPr lang="fr-FR" dirty="0" err="1"/>
              <a:t>dolor</a:t>
            </a:r>
            <a:r>
              <a:rPr lang="fr-FR" dirty="0"/>
              <a:t> </a:t>
            </a:r>
            <a:r>
              <a:rPr lang="fr-FR" dirty="0" err="1"/>
              <a:t>sit</a:t>
            </a:r>
            <a:r>
              <a:rPr lang="fr-FR" dirty="0"/>
              <a:t> </a:t>
            </a:r>
            <a:r>
              <a:rPr lang="fr-FR" dirty="0" err="1"/>
              <a:t>amet</a:t>
            </a:r>
            <a:endParaRPr lang="fr-FR" dirty="0"/>
          </a:p>
        </p:txBody>
      </p:sp>
      <p:grpSp>
        <p:nvGrpSpPr>
          <p:cNvPr id="31" name="Groupe 30">
            <a:extLst>
              <a:ext uri="{FF2B5EF4-FFF2-40B4-BE49-F238E27FC236}">
                <a16:creationId xmlns:a16="http://schemas.microsoft.com/office/drawing/2014/main" id="{D839141D-2A12-43BD-965E-1AFB5ACCCEC3}"/>
              </a:ext>
            </a:extLst>
          </p:cNvPr>
          <p:cNvGrpSpPr/>
          <p:nvPr userDrawn="1"/>
        </p:nvGrpSpPr>
        <p:grpSpPr>
          <a:xfrm>
            <a:off x="11337925" y="238141"/>
            <a:ext cx="365127" cy="507984"/>
            <a:chOff x="2724335" y="0"/>
            <a:chExt cx="3694565" cy="5140087"/>
          </a:xfrm>
        </p:grpSpPr>
        <p:grpSp>
          <p:nvGrpSpPr>
            <p:cNvPr id="32" name="Groupe 31">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41"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sz="2400"/>
              </a:p>
            </p:txBody>
          </p:sp>
          <p:sp>
            <p:nvSpPr>
              <p:cNvPr id="42"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3"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sz="2400"/>
              </a:p>
            </p:txBody>
          </p:sp>
          <p:sp>
            <p:nvSpPr>
              <p:cNvPr id="44"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5"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sz="2400"/>
              </a:p>
            </p:txBody>
          </p:sp>
        </p:grpSp>
        <p:grpSp>
          <p:nvGrpSpPr>
            <p:cNvPr id="35" name="Groupe 34">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6"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sz="2400"/>
              </a:p>
            </p:txBody>
          </p:sp>
          <p:sp>
            <p:nvSpPr>
              <p:cNvPr id="37"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sz="2400"/>
              </a:p>
            </p:txBody>
          </p:sp>
          <p:sp>
            <p:nvSpPr>
              <p:cNvPr id="38"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sz="2400"/>
              </a:p>
            </p:txBody>
          </p:sp>
          <p:sp>
            <p:nvSpPr>
              <p:cNvPr id="39"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sz="2400"/>
              </a:p>
            </p:txBody>
          </p:sp>
          <p:sp>
            <p:nvSpPr>
              <p:cNvPr id="40"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sz="2400"/>
              </a:p>
            </p:txBody>
          </p:sp>
        </p:grpSp>
      </p:grpSp>
      <p:sp>
        <p:nvSpPr>
          <p:cNvPr id="23" name="Titre 1"/>
          <p:cNvSpPr>
            <a:spLocks noGrp="1"/>
          </p:cNvSpPr>
          <p:nvPr>
            <p:ph type="title" hasCustomPrompt="1"/>
          </p:nvPr>
        </p:nvSpPr>
        <p:spPr bwMode="gray">
          <a:xfrm>
            <a:off x="367242" y="371400"/>
            <a:ext cx="10876937" cy="849249"/>
          </a:xfrm>
        </p:spPr>
        <p:txBody>
          <a:bodyPr/>
          <a:lstStyle>
            <a:lvl1pPr>
              <a:defRPr sz="2547">
                <a:solidFill>
                  <a:srgbClr val="262626"/>
                </a:solidFill>
              </a:defRPr>
            </a:lvl1pPr>
          </a:lstStyle>
          <a:p>
            <a:r>
              <a:rPr lang="fr-FR" dirty="0"/>
              <a:t>Titre de la diapositive</a:t>
            </a:r>
          </a:p>
        </p:txBody>
      </p:sp>
    </p:spTree>
    <p:extLst>
      <p:ext uri="{BB962C8B-B14F-4D97-AF65-F5344CB8AC3E}">
        <p14:creationId xmlns:p14="http://schemas.microsoft.com/office/powerpoint/2010/main" val="36564312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apo 1 photo">
    <p:spTree>
      <p:nvGrpSpPr>
        <p:cNvPr id="1" name=""/>
        <p:cNvGrpSpPr/>
        <p:nvPr/>
      </p:nvGrpSpPr>
      <p:grpSpPr>
        <a:xfrm>
          <a:off x="0" y="0"/>
          <a:ext cx="0" cy="0"/>
          <a:chOff x="0" y="0"/>
          <a:chExt cx="0" cy="0"/>
        </a:xfrm>
      </p:grpSpPr>
      <p:sp>
        <p:nvSpPr>
          <p:cNvPr id="33" name="Espace réservé pour une image  8">
            <a:extLst>
              <a:ext uri="{FF2B5EF4-FFF2-40B4-BE49-F238E27FC236}">
                <a16:creationId xmlns:a16="http://schemas.microsoft.com/office/drawing/2014/main" id="{BD8E2D2A-F96C-4939-9C63-67C838C0FDF3}"/>
              </a:ext>
            </a:extLst>
          </p:cNvPr>
          <p:cNvSpPr>
            <a:spLocks noGrp="1"/>
          </p:cNvSpPr>
          <p:nvPr>
            <p:ph type="pic" sz="quarter" idx="20" hasCustomPrompt="1"/>
          </p:nvPr>
        </p:nvSpPr>
        <p:spPr>
          <a:xfrm>
            <a:off x="435109" y="1316765"/>
            <a:ext cx="11299113" cy="3902936"/>
          </a:xfrm>
          <a:solidFill>
            <a:schemeClr val="bg1">
              <a:lumMod val="85000"/>
            </a:schemeClr>
          </a:solidFill>
          <a:ln>
            <a:noFill/>
          </a:ln>
        </p:spPr>
        <p:txBody>
          <a:bodyPr bIns="504000" anchor="ctr"/>
          <a:lstStyle>
            <a:lvl1pPr algn="ctr">
              <a:defRPr sz="900">
                <a:solidFill>
                  <a:schemeClr val="bg1"/>
                </a:solidFill>
              </a:defRPr>
            </a:lvl1pPr>
          </a:lstStyle>
          <a:p>
            <a:r>
              <a:rPr lang="fr-FR" dirty="0"/>
              <a:t>Sélectionner l’icône pour insérer une image</a:t>
            </a:r>
          </a:p>
        </p:txBody>
      </p:sp>
      <p:sp>
        <p:nvSpPr>
          <p:cNvPr id="11" name="Espace réservé de la date 5">
            <a:extLst>
              <a:ext uri="{FF2B5EF4-FFF2-40B4-BE49-F238E27FC236}">
                <a16:creationId xmlns:a16="http://schemas.microsoft.com/office/drawing/2014/main" id="{BA039719-59E1-499E-AE38-46FC3D06F2F1}"/>
              </a:ext>
            </a:extLst>
          </p:cNvPr>
          <p:cNvSpPr>
            <a:spLocks noGrp="1"/>
          </p:cNvSpPr>
          <p:nvPr>
            <p:ph type="dt" sz="half" idx="17"/>
          </p:nvPr>
        </p:nvSpPr>
        <p:spPr>
          <a:xfrm>
            <a:off x="10266300" y="6212909"/>
            <a:ext cx="1560000" cy="282572"/>
          </a:xfrm>
        </p:spPr>
        <p:txBody>
          <a:bodyPr/>
          <a:lstStyle/>
          <a:p>
            <a:pPr algn="r"/>
            <a:r>
              <a:rPr lang="fr-FR" cap="all"/>
              <a:t>XX/XX/2021</a:t>
            </a:r>
            <a:endParaRPr lang="fr-FR" cap="all" dirty="0"/>
          </a:p>
        </p:txBody>
      </p:sp>
      <p:sp>
        <p:nvSpPr>
          <p:cNvPr id="13" name="Espace réservé du pied de page 6">
            <a:extLst>
              <a:ext uri="{FF2B5EF4-FFF2-40B4-BE49-F238E27FC236}">
                <a16:creationId xmlns:a16="http://schemas.microsoft.com/office/drawing/2014/main" id="{54460079-5C05-4907-83D0-F6C237D493D1}"/>
              </a:ext>
            </a:extLst>
          </p:cNvPr>
          <p:cNvSpPr>
            <a:spLocks noGrp="1"/>
          </p:cNvSpPr>
          <p:nvPr>
            <p:ph type="ftr" sz="quarter" idx="18"/>
          </p:nvPr>
        </p:nvSpPr>
        <p:spPr>
          <a:xfrm>
            <a:off x="367241" y="6213309"/>
            <a:ext cx="4114800" cy="282163"/>
          </a:xfrm>
        </p:spPr>
        <p:txBody>
          <a:bodyPr/>
          <a:lstStyle/>
          <a:p>
            <a:r>
              <a:rPr lang="fr-FR"/>
              <a:t>Titre de la présentation sur une seule ligne</a:t>
            </a:r>
            <a:endParaRPr lang="fr-FR" dirty="0"/>
          </a:p>
        </p:txBody>
      </p:sp>
      <p:sp>
        <p:nvSpPr>
          <p:cNvPr id="14"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9"/>
          </p:nvPr>
        </p:nvSpPr>
        <p:spPr>
          <a:xfrm>
            <a:off x="8452756" y="6212906"/>
            <a:ext cx="1800000" cy="246221"/>
          </a:xfrm>
        </p:spPr>
        <p:txBody>
          <a:bodyPr/>
          <a:lstStyle/>
          <a:p>
            <a:fld id="{733122C9-A0B9-462F-8757-0847AD287B63}" type="slidenum">
              <a:rPr lang="fr-FR" smtClean="0"/>
              <a:pPr/>
              <a:t>‹N°›</a:t>
            </a:fld>
            <a:endParaRPr lang="fr-FR" dirty="0"/>
          </a:p>
        </p:txBody>
      </p:sp>
      <p:sp>
        <p:nvSpPr>
          <p:cNvPr id="34" name="Espace réservé du texte 14">
            <a:extLst>
              <a:ext uri="{FF2B5EF4-FFF2-40B4-BE49-F238E27FC236}">
                <a16:creationId xmlns:a16="http://schemas.microsoft.com/office/drawing/2014/main" id="{21CA591B-C37B-41A1-8191-C1F660677F8D}"/>
              </a:ext>
            </a:extLst>
          </p:cNvPr>
          <p:cNvSpPr>
            <a:spLocks noGrp="1"/>
          </p:cNvSpPr>
          <p:nvPr>
            <p:ph type="body" sz="quarter" idx="21" hasCustomPrompt="1"/>
          </p:nvPr>
        </p:nvSpPr>
        <p:spPr>
          <a:xfrm>
            <a:off x="446172" y="5306484"/>
            <a:ext cx="11270976" cy="611715"/>
          </a:xfrm>
        </p:spPr>
        <p:txBody>
          <a:bodyPr/>
          <a:lstStyle>
            <a:lvl1pPr>
              <a:defRPr sz="951">
                <a:solidFill>
                  <a:schemeClr val="tx1"/>
                </a:solidFill>
              </a:defRPr>
            </a:lvl1pPr>
          </a:lstStyle>
          <a:p>
            <a:pPr lvl="0"/>
            <a:r>
              <a:rPr lang="fr-FR" dirty="0"/>
              <a:t>Niveau 4 Lorem ipsum </a:t>
            </a:r>
            <a:r>
              <a:rPr lang="fr-FR" dirty="0" err="1"/>
              <a:t>dolor</a:t>
            </a:r>
            <a:r>
              <a:rPr lang="fr-FR" dirty="0"/>
              <a:t> </a:t>
            </a:r>
            <a:r>
              <a:rPr lang="fr-FR" dirty="0" err="1"/>
              <a:t>sit</a:t>
            </a:r>
            <a:r>
              <a:rPr lang="fr-FR" dirty="0"/>
              <a:t> </a:t>
            </a:r>
            <a:r>
              <a:rPr lang="fr-FR" dirty="0" err="1"/>
              <a:t>amet</a:t>
            </a:r>
            <a:endParaRPr lang="fr-FR" dirty="0"/>
          </a:p>
        </p:txBody>
      </p:sp>
      <p:grpSp>
        <p:nvGrpSpPr>
          <p:cNvPr id="31" name="Groupe 30">
            <a:extLst>
              <a:ext uri="{FF2B5EF4-FFF2-40B4-BE49-F238E27FC236}">
                <a16:creationId xmlns:a16="http://schemas.microsoft.com/office/drawing/2014/main" id="{D839141D-2A12-43BD-965E-1AFB5ACCCEC3}"/>
              </a:ext>
            </a:extLst>
          </p:cNvPr>
          <p:cNvGrpSpPr/>
          <p:nvPr userDrawn="1"/>
        </p:nvGrpSpPr>
        <p:grpSpPr>
          <a:xfrm>
            <a:off x="11337925" y="238141"/>
            <a:ext cx="365127" cy="507984"/>
            <a:chOff x="2724335" y="0"/>
            <a:chExt cx="3694565" cy="5140087"/>
          </a:xfrm>
        </p:grpSpPr>
        <p:grpSp>
          <p:nvGrpSpPr>
            <p:cNvPr id="32" name="Groupe 31">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41"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sz="2400"/>
              </a:p>
            </p:txBody>
          </p:sp>
          <p:sp>
            <p:nvSpPr>
              <p:cNvPr id="42"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3"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sz="2400"/>
              </a:p>
            </p:txBody>
          </p:sp>
          <p:sp>
            <p:nvSpPr>
              <p:cNvPr id="44"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5"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sz="2400"/>
              </a:p>
            </p:txBody>
          </p:sp>
        </p:grpSp>
        <p:grpSp>
          <p:nvGrpSpPr>
            <p:cNvPr id="35" name="Groupe 34">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6"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sz="2400"/>
              </a:p>
            </p:txBody>
          </p:sp>
          <p:sp>
            <p:nvSpPr>
              <p:cNvPr id="37"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sz="2400"/>
              </a:p>
            </p:txBody>
          </p:sp>
          <p:sp>
            <p:nvSpPr>
              <p:cNvPr id="38"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sz="2400"/>
              </a:p>
            </p:txBody>
          </p:sp>
          <p:sp>
            <p:nvSpPr>
              <p:cNvPr id="39"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sz="2400"/>
              </a:p>
            </p:txBody>
          </p:sp>
          <p:sp>
            <p:nvSpPr>
              <p:cNvPr id="40"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sz="2400"/>
              </a:p>
            </p:txBody>
          </p:sp>
        </p:grpSp>
      </p:grpSp>
      <p:sp>
        <p:nvSpPr>
          <p:cNvPr id="21" name="Titre 1"/>
          <p:cNvSpPr>
            <a:spLocks noGrp="1"/>
          </p:cNvSpPr>
          <p:nvPr>
            <p:ph type="title" hasCustomPrompt="1"/>
          </p:nvPr>
        </p:nvSpPr>
        <p:spPr bwMode="gray">
          <a:xfrm>
            <a:off x="435109" y="371400"/>
            <a:ext cx="10809071" cy="849249"/>
          </a:xfrm>
        </p:spPr>
        <p:txBody>
          <a:bodyPr/>
          <a:lstStyle>
            <a:lvl1pPr>
              <a:defRPr sz="2547">
                <a:solidFill>
                  <a:srgbClr val="262626"/>
                </a:solidFill>
              </a:defRPr>
            </a:lvl1pPr>
          </a:lstStyle>
          <a:p>
            <a:r>
              <a:rPr lang="fr-FR" dirty="0"/>
              <a:t>Titre de la diapositive</a:t>
            </a:r>
          </a:p>
        </p:txBody>
      </p:sp>
    </p:spTree>
    <p:extLst>
      <p:ext uri="{BB962C8B-B14F-4D97-AF65-F5344CB8AC3E}">
        <p14:creationId xmlns:p14="http://schemas.microsoft.com/office/powerpoint/2010/main" val="3518940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apo courante">
    <p:spTree>
      <p:nvGrpSpPr>
        <p:cNvPr id="1" name=""/>
        <p:cNvGrpSpPr/>
        <p:nvPr/>
      </p:nvGrpSpPr>
      <p:grpSpPr>
        <a:xfrm>
          <a:off x="0" y="0"/>
          <a:ext cx="0" cy="0"/>
          <a:chOff x="0" y="0"/>
          <a:chExt cx="0" cy="0"/>
        </a:xfrm>
      </p:grpSpPr>
      <p:sp>
        <p:nvSpPr>
          <p:cNvPr id="6" name="Espace réservé de la date 5">
            <a:extLst>
              <a:ext uri="{FF2B5EF4-FFF2-40B4-BE49-F238E27FC236}">
                <a16:creationId xmlns:a16="http://schemas.microsoft.com/office/drawing/2014/main" id="{BA039719-59E1-499E-AE38-46FC3D06F2F1}"/>
              </a:ext>
            </a:extLst>
          </p:cNvPr>
          <p:cNvSpPr>
            <a:spLocks noGrp="1"/>
          </p:cNvSpPr>
          <p:nvPr>
            <p:ph type="dt" sz="half" idx="16"/>
          </p:nvPr>
        </p:nvSpPr>
        <p:spPr/>
        <p:txBody>
          <a:bodyPr/>
          <a:lstStyle/>
          <a:p>
            <a:pPr algn="r"/>
            <a:r>
              <a:rPr lang="fr-FR" cap="all"/>
              <a:t>XX/XX/2021</a:t>
            </a:r>
            <a:endParaRPr lang="fr-FR" cap="all" dirty="0"/>
          </a:p>
        </p:txBody>
      </p:sp>
      <p:sp>
        <p:nvSpPr>
          <p:cNvPr id="7" name="Espace réservé du pied de page 6">
            <a:extLst>
              <a:ext uri="{FF2B5EF4-FFF2-40B4-BE49-F238E27FC236}">
                <a16:creationId xmlns:a16="http://schemas.microsoft.com/office/drawing/2014/main" id="{54460079-5C05-4907-83D0-F6C237D493D1}"/>
              </a:ext>
            </a:extLst>
          </p:cNvPr>
          <p:cNvSpPr>
            <a:spLocks noGrp="1"/>
          </p:cNvSpPr>
          <p:nvPr>
            <p:ph type="ftr" sz="quarter" idx="17"/>
          </p:nvPr>
        </p:nvSpPr>
        <p:spPr/>
        <p:txBody>
          <a:bodyPr/>
          <a:lstStyle/>
          <a:p>
            <a:r>
              <a:rPr lang="fr-FR"/>
              <a:t>Titre de la présentation sur une seule ligne</a:t>
            </a:r>
            <a:endParaRPr lang="fr-FR" dirty="0"/>
          </a:p>
        </p:txBody>
      </p:sp>
      <p:sp>
        <p:nvSpPr>
          <p:cNvPr id="11"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8"/>
          </p:nvPr>
        </p:nvSpPr>
        <p:spPr/>
        <p:txBody>
          <a:bodyPr/>
          <a:lstStyle/>
          <a:p>
            <a:fld id="{733122C9-A0B9-462F-8757-0847AD287B63}" type="slidenum">
              <a:rPr lang="fr-FR" smtClean="0"/>
              <a:pPr/>
              <a:t>‹N°›</a:t>
            </a:fld>
            <a:endParaRPr lang="fr-FR" dirty="0"/>
          </a:p>
        </p:txBody>
      </p:sp>
      <p:grpSp>
        <p:nvGrpSpPr>
          <p:cNvPr id="27" name="Groupe 26">
            <a:extLst>
              <a:ext uri="{FF2B5EF4-FFF2-40B4-BE49-F238E27FC236}">
                <a16:creationId xmlns:a16="http://schemas.microsoft.com/office/drawing/2014/main" id="{D839141D-2A12-43BD-965E-1AFB5ACCCEC3}"/>
              </a:ext>
            </a:extLst>
          </p:cNvPr>
          <p:cNvGrpSpPr/>
          <p:nvPr userDrawn="1"/>
        </p:nvGrpSpPr>
        <p:grpSpPr>
          <a:xfrm>
            <a:off x="11337925" y="238141"/>
            <a:ext cx="365127" cy="507984"/>
            <a:chOff x="2724335" y="0"/>
            <a:chExt cx="3694565" cy="5140087"/>
          </a:xfrm>
        </p:grpSpPr>
        <p:grpSp>
          <p:nvGrpSpPr>
            <p:cNvPr id="28" name="Groupe 27">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35"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sz="2400"/>
              </a:p>
            </p:txBody>
          </p:sp>
          <p:sp>
            <p:nvSpPr>
              <p:cNvPr id="36"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37"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sz="2400"/>
              </a:p>
            </p:txBody>
          </p:sp>
          <p:sp>
            <p:nvSpPr>
              <p:cNvPr id="38"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39"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sz="2400"/>
              </a:p>
            </p:txBody>
          </p:sp>
        </p:grpSp>
        <p:grpSp>
          <p:nvGrpSpPr>
            <p:cNvPr id="29" name="Groupe 28">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0"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sz="2400"/>
              </a:p>
            </p:txBody>
          </p:sp>
          <p:sp>
            <p:nvSpPr>
              <p:cNvPr id="31"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sz="2400"/>
              </a:p>
            </p:txBody>
          </p:sp>
          <p:sp>
            <p:nvSpPr>
              <p:cNvPr id="32"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sz="2400"/>
              </a:p>
            </p:txBody>
          </p:sp>
          <p:sp>
            <p:nvSpPr>
              <p:cNvPr id="33"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sz="2400"/>
              </a:p>
            </p:txBody>
          </p:sp>
          <p:sp>
            <p:nvSpPr>
              <p:cNvPr id="34"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sz="2400"/>
              </a:p>
            </p:txBody>
          </p:sp>
        </p:grpSp>
      </p:grpSp>
    </p:spTree>
    <p:extLst>
      <p:ext uri="{BB962C8B-B14F-4D97-AF65-F5344CB8AC3E}">
        <p14:creationId xmlns:p14="http://schemas.microsoft.com/office/powerpoint/2010/main" val="3136666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Couverture FR">
    <p:spTree>
      <p:nvGrpSpPr>
        <p:cNvPr id="1" name=""/>
        <p:cNvGrpSpPr/>
        <p:nvPr/>
      </p:nvGrpSpPr>
      <p:grpSpPr>
        <a:xfrm>
          <a:off x="0" y="0"/>
          <a:ext cx="0" cy="0"/>
          <a:chOff x="0" y="0"/>
          <a:chExt cx="0" cy="0"/>
        </a:xfrm>
      </p:grpSpPr>
      <p:sp>
        <p:nvSpPr>
          <p:cNvPr id="2" name="ZoneTexte 1"/>
          <p:cNvSpPr txBox="1"/>
          <p:nvPr userDrawn="1"/>
        </p:nvSpPr>
        <p:spPr>
          <a:xfrm>
            <a:off x="365190" y="6059015"/>
            <a:ext cx="4569829" cy="761299"/>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947" b="1" kern="1200" cap="all" baseline="0" dirty="0">
                <a:solidFill>
                  <a:schemeClr val="tx2"/>
                </a:solidFill>
                <a:latin typeface="+mn-lt"/>
                <a:ea typeface="+mn-ea"/>
                <a:cs typeface="+mn-cs"/>
              </a:rPr>
              <a:t>Connaître, évaluer, protéger</a:t>
            </a:r>
          </a:p>
          <a:p>
            <a:endParaRPr lang="fr-FR" sz="2400" dirty="0"/>
          </a:p>
        </p:txBody>
      </p:sp>
      <p:grpSp>
        <p:nvGrpSpPr>
          <p:cNvPr id="15" name="Graphique 2">
            <a:extLst>
              <a:ext uri="{FF2B5EF4-FFF2-40B4-BE49-F238E27FC236}">
                <a16:creationId xmlns:a16="http://schemas.microsoft.com/office/drawing/2014/main" id="{441A5E56-2E95-41CA-AAB0-759EE6144DD3}"/>
              </a:ext>
            </a:extLst>
          </p:cNvPr>
          <p:cNvGrpSpPr/>
          <p:nvPr userDrawn="1"/>
        </p:nvGrpSpPr>
        <p:grpSpPr>
          <a:xfrm>
            <a:off x="485450" y="490301"/>
            <a:ext cx="2434167" cy="1700065"/>
            <a:chOff x="2471737" y="1104900"/>
            <a:chExt cx="4200493" cy="2933699"/>
          </a:xfrm>
        </p:grpSpPr>
        <p:grpSp>
          <p:nvGrpSpPr>
            <p:cNvPr id="16" name="Graphique 2">
              <a:extLst>
                <a:ext uri="{FF2B5EF4-FFF2-40B4-BE49-F238E27FC236}">
                  <a16:creationId xmlns:a16="http://schemas.microsoft.com/office/drawing/2014/main" id="{449FE406-B627-4201-A48F-A2354F4D9824}"/>
                </a:ext>
              </a:extLst>
            </p:cNvPr>
            <p:cNvGrpSpPr/>
            <p:nvPr/>
          </p:nvGrpSpPr>
          <p:grpSpPr>
            <a:xfrm>
              <a:off x="2471737" y="3195351"/>
              <a:ext cx="4200493" cy="843248"/>
              <a:chOff x="2471737" y="3195351"/>
              <a:chExt cx="4200493" cy="843248"/>
            </a:xfrm>
            <a:solidFill>
              <a:srgbClr val="000000"/>
            </a:solidFill>
          </p:grpSpPr>
          <p:sp>
            <p:nvSpPr>
              <p:cNvPr id="22" name="Forme libre : forme 21">
                <a:extLst>
                  <a:ext uri="{FF2B5EF4-FFF2-40B4-BE49-F238E27FC236}">
                    <a16:creationId xmlns:a16="http://schemas.microsoft.com/office/drawing/2014/main" id="{C910B22B-3BD7-402A-AEC9-1C03E747DCA5}"/>
                  </a:ext>
                </a:extLst>
              </p:cNvPr>
              <p:cNvSpPr/>
              <p:nvPr/>
            </p:nvSpPr>
            <p:spPr>
              <a:xfrm>
                <a:off x="3415855" y="3211258"/>
                <a:ext cx="749807" cy="821340"/>
              </a:xfrm>
              <a:custGeom>
                <a:avLst/>
                <a:gdLst>
                  <a:gd name="connsiteX0" fmla="*/ 444913 w 749807"/>
                  <a:gd name="connsiteY0" fmla="*/ 0 h 821340"/>
                  <a:gd name="connsiteX1" fmla="*/ 159258 w 749807"/>
                  <a:gd name="connsiteY1" fmla="*/ 114300 h 821340"/>
                  <a:gd name="connsiteX2" fmla="*/ 159258 w 749807"/>
                  <a:gd name="connsiteY2" fmla="*/ 0 h 821340"/>
                  <a:gd name="connsiteX3" fmla="*/ 0 w 749807"/>
                  <a:gd name="connsiteY3" fmla="*/ 0 h 821340"/>
                  <a:gd name="connsiteX4" fmla="*/ 0 w 749807"/>
                  <a:gd name="connsiteY4" fmla="*/ 821341 h 821340"/>
                  <a:gd name="connsiteX5" fmla="*/ 159258 w 749807"/>
                  <a:gd name="connsiteY5" fmla="*/ 821341 h 821340"/>
                  <a:gd name="connsiteX6" fmla="*/ 159258 w 749807"/>
                  <a:gd name="connsiteY6" fmla="*/ 321945 h 821340"/>
                  <a:gd name="connsiteX7" fmla="*/ 416147 w 749807"/>
                  <a:gd name="connsiteY7" fmla="*/ 131254 h 821340"/>
                  <a:gd name="connsiteX8" fmla="*/ 589978 w 749807"/>
                  <a:gd name="connsiteY8" fmla="*/ 276701 h 821340"/>
                  <a:gd name="connsiteX9" fmla="*/ 590550 w 749807"/>
                  <a:gd name="connsiteY9" fmla="*/ 276701 h 821340"/>
                  <a:gd name="connsiteX10" fmla="*/ 590550 w 749807"/>
                  <a:gd name="connsiteY10" fmla="*/ 821245 h 821340"/>
                  <a:gd name="connsiteX11" fmla="*/ 749808 w 749807"/>
                  <a:gd name="connsiteY11" fmla="*/ 821245 h 821340"/>
                  <a:gd name="connsiteX12" fmla="*/ 749808 w 749807"/>
                  <a:gd name="connsiteY12" fmla="*/ 276796 h 821340"/>
                  <a:gd name="connsiteX13" fmla="*/ 444913 w 749807"/>
                  <a:gd name="connsiteY13" fmla="*/ 0 h 821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9807" h="821340">
                    <a:moveTo>
                      <a:pt x="444913" y="0"/>
                    </a:moveTo>
                    <a:cubicBezTo>
                      <a:pt x="248126" y="0"/>
                      <a:pt x="160972" y="112109"/>
                      <a:pt x="159258" y="114300"/>
                    </a:cubicBezTo>
                    <a:lnTo>
                      <a:pt x="159258" y="0"/>
                    </a:lnTo>
                    <a:lnTo>
                      <a:pt x="0" y="0"/>
                    </a:lnTo>
                    <a:lnTo>
                      <a:pt x="0" y="821341"/>
                    </a:lnTo>
                    <a:lnTo>
                      <a:pt x="159258" y="821341"/>
                    </a:lnTo>
                    <a:lnTo>
                      <a:pt x="159258" y="321945"/>
                    </a:lnTo>
                    <a:cubicBezTo>
                      <a:pt x="162687" y="201263"/>
                      <a:pt x="314420" y="131254"/>
                      <a:pt x="416147" y="131254"/>
                    </a:cubicBezTo>
                    <a:cubicBezTo>
                      <a:pt x="492157" y="131254"/>
                      <a:pt x="589978" y="183261"/>
                      <a:pt x="589978" y="276701"/>
                    </a:cubicBezTo>
                    <a:lnTo>
                      <a:pt x="590550" y="276701"/>
                    </a:lnTo>
                    <a:lnTo>
                      <a:pt x="590550" y="821245"/>
                    </a:lnTo>
                    <a:lnTo>
                      <a:pt x="749808" y="821245"/>
                    </a:lnTo>
                    <a:lnTo>
                      <a:pt x="749808" y="276796"/>
                    </a:lnTo>
                    <a:cubicBezTo>
                      <a:pt x="749713" y="92107"/>
                      <a:pt x="612743" y="0"/>
                      <a:pt x="444913" y="0"/>
                    </a:cubicBezTo>
                    <a:close/>
                  </a:path>
                </a:pathLst>
              </a:custGeom>
              <a:solidFill>
                <a:srgbClr val="3C3C3C"/>
              </a:solidFill>
              <a:ln w="9525" cap="flat">
                <a:noFill/>
                <a:prstDash val="solid"/>
                <a:miter/>
              </a:ln>
            </p:spPr>
            <p:txBody>
              <a:bodyPr rtlCol="0" anchor="ctr"/>
              <a:lstStyle/>
              <a:p>
                <a:endParaRPr lang="fr-FR" sz="2400"/>
              </a:p>
            </p:txBody>
          </p:sp>
          <p:sp>
            <p:nvSpPr>
              <p:cNvPr id="23" name="Forme libre : forme 22">
                <a:extLst>
                  <a:ext uri="{FF2B5EF4-FFF2-40B4-BE49-F238E27FC236}">
                    <a16:creationId xmlns:a16="http://schemas.microsoft.com/office/drawing/2014/main" id="{864E6E91-5585-4F6F-ACE6-4A6FF76C47A8}"/>
                  </a:ext>
                </a:extLst>
              </p:cNvPr>
              <p:cNvSpPr/>
              <p:nvPr/>
            </p:nvSpPr>
            <p:spPr>
              <a:xfrm>
                <a:off x="6005059" y="3199161"/>
                <a:ext cx="667170" cy="837247"/>
              </a:xfrm>
              <a:custGeom>
                <a:avLst/>
                <a:gdLst>
                  <a:gd name="connsiteX0" fmla="*/ 413552 w 667170"/>
                  <a:gd name="connsiteY0" fmla="*/ 346234 h 837247"/>
                  <a:gd name="connsiteX1" fmla="*/ 413552 w 667170"/>
                  <a:gd name="connsiteY1" fmla="*/ 346043 h 837247"/>
                  <a:gd name="connsiteX2" fmla="*/ 270391 w 667170"/>
                  <a:gd name="connsiteY2" fmla="*/ 346043 h 837247"/>
                  <a:gd name="connsiteX3" fmla="*/ 151614 w 667170"/>
                  <a:gd name="connsiteY3" fmla="*/ 241649 h 837247"/>
                  <a:gd name="connsiteX4" fmla="*/ 323255 w 667170"/>
                  <a:gd name="connsiteY4" fmla="*/ 139256 h 837247"/>
                  <a:gd name="connsiteX5" fmla="*/ 571952 w 667170"/>
                  <a:gd name="connsiteY5" fmla="*/ 184309 h 837247"/>
                  <a:gd name="connsiteX6" fmla="*/ 626531 w 667170"/>
                  <a:gd name="connsiteY6" fmla="*/ 55912 h 837247"/>
                  <a:gd name="connsiteX7" fmla="*/ 339161 w 667170"/>
                  <a:gd name="connsiteY7" fmla="*/ 0 h 837247"/>
                  <a:gd name="connsiteX8" fmla="*/ 357 w 667170"/>
                  <a:gd name="connsiteY8" fmla="*/ 243650 h 837247"/>
                  <a:gd name="connsiteX9" fmla="*/ 253627 w 667170"/>
                  <a:gd name="connsiteY9" fmla="*/ 491204 h 837247"/>
                  <a:gd name="connsiteX10" fmla="*/ 253627 w 667170"/>
                  <a:gd name="connsiteY10" fmla="*/ 491395 h 837247"/>
                  <a:gd name="connsiteX11" fmla="*/ 396788 w 667170"/>
                  <a:gd name="connsiteY11" fmla="*/ 491395 h 837247"/>
                  <a:gd name="connsiteX12" fmla="*/ 515564 w 667170"/>
                  <a:gd name="connsiteY12" fmla="*/ 595694 h 837247"/>
                  <a:gd name="connsiteX13" fmla="*/ 343924 w 667170"/>
                  <a:gd name="connsiteY13" fmla="*/ 698087 h 837247"/>
                  <a:gd name="connsiteX14" fmla="*/ 68080 w 667170"/>
                  <a:gd name="connsiteY14" fmla="*/ 640842 h 837247"/>
                  <a:gd name="connsiteX15" fmla="*/ 13978 w 667170"/>
                  <a:gd name="connsiteY15" fmla="*/ 768572 h 837247"/>
                  <a:gd name="connsiteX16" fmla="*/ 328017 w 667170"/>
                  <a:gd name="connsiteY16" fmla="*/ 837247 h 837247"/>
                  <a:gd name="connsiteX17" fmla="*/ 666821 w 667170"/>
                  <a:gd name="connsiteY17" fmla="*/ 593598 h 837247"/>
                  <a:gd name="connsiteX18" fmla="*/ 413552 w 667170"/>
                  <a:gd name="connsiteY18" fmla="*/ 346234 h 83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70" h="837247">
                    <a:moveTo>
                      <a:pt x="413552" y="346234"/>
                    </a:moveTo>
                    <a:lnTo>
                      <a:pt x="413552" y="346043"/>
                    </a:lnTo>
                    <a:lnTo>
                      <a:pt x="270391" y="346043"/>
                    </a:lnTo>
                    <a:cubicBezTo>
                      <a:pt x="190857" y="346043"/>
                      <a:pt x="148376" y="315373"/>
                      <a:pt x="151614" y="241649"/>
                    </a:cubicBezTo>
                    <a:cubicBezTo>
                      <a:pt x="154948" y="163830"/>
                      <a:pt x="239720" y="139256"/>
                      <a:pt x="323255" y="139256"/>
                    </a:cubicBezTo>
                    <a:cubicBezTo>
                      <a:pt x="442317" y="139256"/>
                      <a:pt x="530233" y="167545"/>
                      <a:pt x="571952" y="184309"/>
                    </a:cubicBezTo>
                    <a:lnTo>
                      <a:pt x="626531" y="55912"/>
                    </a:lnTo>
                    <a:cubicBezTo>
                      <a:pt x="580716" y="36004"/>
                      <a:pt x="478608" y="0"/>
                      <a:pt x="339161" y="0"/>
                    </a:cubicBezTo>
                    <a:cubicBezTo>
                      <a:pt x="199906" y="0"/>
                      <a:pt x="8549" y="55245"/>
                      <a:pt x="357" y="243650"/>
                    </a:cubicBezTo>
                    <a:cubicBezTo>
                      <a:pt x="-7644" y="427196"/>
                      <a:pt x="120086" y="488252"/>
                      <a:pt x="253627" y="491204"/>
                    </a:cubicBezTo>
                    <a:lnTo>
                      <a:pt x="253627" y="491395"/>
                    </a:lnTo>
                    <a:lnTo>
                      <a:pt x="396788" y="491395"/>
                    </a:lnTo>
                    <a:cubicBezTo>
                      <a:pt x="476321" y="491395"/>
                      <a:pt x="518803" y="522065"/>
                      <a:pt x="515564" y="595694"/>
                    </a:cubicBezTo>
                    <a:cubicBezTo>
                      <a:pt x="512231" y="673513"/>
                      <a:pt x="427458" y="698087"/>
                      <a:pt x="343924" y="698087"/>
                    </a:cubicBezTo>
                    <a:cubicBezTo>
                      <a:pt x="174855" y="698087"/>
                      <a:pt x="68080" y="640842"/>
                      <a:pt x="68080" y="640842"/>
                    </a:cubicBezTo>
                    <a:lnTo>
                      <a:pt x="13978" y="768572"/>
                    </a:lnTo>
                    <a:cubicBezTo>
                      <a:pt x="13978" y="768572"/>
                      <a:pt x="135612" y="837247"/>
                      <a:pt x="328017" y="837247"/>
                    </a:cubicBezTo>
                    <a:cubicBezTo>
                      <a:pt x="467177" y="837247"/>
                      <a:pt x="658630" y="782003"/>
                      <a:pt x="666821" y="593598"/>
                    </a:cubicBezTo>
                    <a:cubicBezTo>
                      <a:pt x="674727" y="410337"/>
                      <a:pt x="547092" y="349282"/>
                      <a:pt x="413552" y="346234"/>
                    </a:cubicBezTo>
                    <a:close/>
                  </a:path>
                </a:pathLst>
              </a:custGeom>
              <a:solidFill>
                <a:srgbClr val="3C3C3C"/>
              </a:solidFill>
              <a:ln w="9525" cap="flat">
                <a:noFill/>
                <a:prstDash val="solid"/>
                <a:miter/>
              </a:ln>
            </p:spPr>
            <p:txBody>
              <a:bodyPr rtlCol="0" anchor="ctr"/>
              <a:lstStyle/>
              <a:p>
                <a:endParaRPr lang="fr-FR" sz="2400"/>
              </a:p>
            </p:txBody>
          </p:sp>
          <p:sp>
            <p:nvSpPr>
              <p:cNvPr id="24" name="Forme libre : forme 23">
                <a:extLst>
                  <a:ext uri="{FF2B5EF4-FFF2-40B4-BE49-F238E27FC236}">
                    <a16:creationId xmlns:a16="http://schemas.microsoft.com/office/drawing/2014/main" id="{1FA0679D-AE7B-46B1-934A-E8319FC98439}"/>
                  </a:ext>
                </a:extLst>
              </p:cNvPr>
              <p:cNvSpPr/>
              <p:nvPr/>
            </p:nvSpPr>
            <p:spPr>
              <a:xfrm>
                <a:off x="5090064" y="3195351"/>
                <a:ext cx="793527" cy="843248"/>
              </a:xfrm>
              <a:custGeom>
                <a:avLst/>
                <a:gdLst>
                  <a:gd name="connsiteX0" fmla="*/ 403765 w 793527"/>
                  <a:gd name="connsiteY0" fmla="*/ 0 h 843248"/>
                  <a:gd name="connsiteX1" fmla="*/ 0 w 793527"/>
                  <a:gd name="connsiteY1" fmla="*/ 429578 h 843248"/>
                  <a:gd name="connsiteX2" fmla="*/ 440722 w 793527"/>
                  <a:gd name="connsiteY2" fmla="*/ 843248 h 843248"/>
                  <a:gd name="connsiteX3" fmla="*/ 753808 w 793527"/>
                  <a:gd name="connsiteY3" fmla="*/ 774573 h 843248"/>
                  <a:gd name="connsiteX4" fmla="*/ 695134 w 793527"/>
                  <a:gd name="connsiteY4" fmla="*/ 652081 h 843248"/>
                  <a:gd name="connsiteX5" fmla="*/ 435769 w 793527"/>
                  <a:gd name="connsiteY5" fmla="*/ 703040 h 843248"/>
                  <a:gd name="connsiteX6" fmla="*/ 165163 w 793527"/>
                  <a:gd name="connsiteY6" fmla="*/ 491204 h 843248"/>
                  <a:gd name="connsiteX7" fmla="*/ 632460 w 793527"/>
                  <a:gd name="connsiteY7" fmla="*/ 491204 h 843248"/>
                  <a:gd name="connsiteX8" fmla="*/ 793528 w 793527"/>
                  <a:gd name="connsiteY8" fmla="*/ 491204 h 843248"/>
                  <a:gd name="connsiteX9" fmla="*/ 793528 w 793527"/>
                  <a:gd name="connsiteY9" fmla="*/ 419671 h 843248"/>
                  <a:gd name="connsiteX10" fmla="*/ 403765 w 793527"/>
                  <a:gd name="connsiteY10" fmla="*/ 0 h 843248"/>
                  <a:gd name="connsiteX11" fmla="*/ 167068 w 793527"/>
                  <a:gd name="connsiteY11" fmla="*/ 359950 h 843248"/>
                  <a:gd name="connsiteX12" fmla="*/ 409670 w 793527"/>
                  <a:gd name="connsiteY12" fmla="*/ 135255 h 843248"/>
                  <a:gd name="connsiteX13" fmla="*/ 630460 w 793527"/>
                  <a:gd name="connsiteY13" fmla="*/ 359950 h 843248"/>
                  <a:gd name="connsiteX14" fmla="*/ 167068 w 793527"/>
                  <a:gd name="connsiteY14" fmla="*/ 359950 h 84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3527" h="843248">
                    <a:moveTo>
                      <a:pt x="403765" y="0"/>
                    </a:moveTo>
                    <a:cubicBezTo>
                      <a:pt x="173069" y="0"/>
                      <a:pt x="0" y="133255"/>
                      <a:pt x="0" y="429578"/>
                    </a:cubicBezTo>
                    <a:cubicBezTo>
                      <a:pt x="0" y="725900"/>
                      <a:pt x="218218" y="843248"/>
                      <a:pt x="440722" y="843248"/>
                    </a:cubicBezTo>
                    <a:cubicBezTo>
                      <a:pt x="645985" y="843248"/>
                      <a:pt x="753808" y="774573"/>
                      <a:pt x="753808" y="774573"/>
                    </a:cubicBezTo>
                    <a:lnTo>
                      <a:pt x="695134" y="652081"/>
                    </a:lnTo>
                    <a:cubicBezTo>
                      <a:pt x="695134" y="652081"/>
                      <a:pt x="615601" y="703040"/>
                      <a:pt x="435769" y="703040"/>
                    </a:cubicBezTo>
                    <a:cubicBezTo>
                      <a:pt x="314039" y="703040"/>
                      <a:pt x="183070" y="666274"/>
                      <a:pt x="165163" y="491204"/>
                    </a:cubicBezTo>
                    <a:lnTo>
                      <a:pt x="632460" y="491204"/>
                    </a:lnTo>
                    <a:lnTo>
                      <a:pt x="793528" y="491204"/>
                    </a:lnTo>
                    <a:lnTo>
                      <a:pt x="793528" y="419671"/>
                    </a:lnTo>
                    <a:cubicBezTo>
                      <a:pt x="793528" y="149162"/>
                      <a:pt x="668274" y="0"/>
                      <a:pt x="403765" y="0"/>
                    </a:cubicBezTo>
                    <a:close/>
                    <a:moveTo>
                      <a:pt x="167068" y="359950"/>
                    </a:moveTo>
                    <a:cubicBezTo>
                      <a:pt x="184975" y="186880"/>
                      <a:pt x="274415" y="135255"/>
                      <a:pt x="409670" y="135255"/>
                    </a:cubicBezTo>
                    <a:cubicBezTo>
                      <a:pt x="554831" y="135255"/>
                      <a:pt x="620458" y="204883"/>
                      <a:pt x="630460" y="359950"/>
                    </a:cubicBezTo>
                    <a:lnTo>
                      <a:pt x="167068" y="359950"/>
                    </a:lnTo>
                    <a:close/>
                  </a:path>
                </a:pathLst>
              </a:custGeom>
              <a:solidFill>
                <a:srgbClr val="3C3C3C"/>
              </a:solidFill>
              <a:ln w="9525" cap="flat">
                <a:noFill/>
                <a:prstDash val="solid"/>
                <a:miter/>
              </a:ln>
            </p:spPr>
            <p:txBody>
              <a:bodyPr rtlCol="0" anchor="ctr"/>
              <a:lstStyle/>
              <a:p>
                <a:endParaRPr lang="fr-FR" sz="2400"/>
              </a:p>
            </p:txBody>
          </p:sp>
          <p:sp>
            <p:nvSpPr>
              <p:cNvPr id="25" name="Forme libre : forme 24">
                <a:extLst>
                  <a:ext uri="{FF2B5EF4-FFF2-40B4-BE49-F238E27FC236}">
                    <a16:creationId xmlns:a16="http://schemas.microsoft.com/office/drawing/2014/main" id="{024850A8-8D36-482C-89B1-9A0DF65551BD}"/>
                  </a:ext>
                </a:extLst>
              </p:cNvPr>
              <p:cNvSpPr/>
              <p:nvPr/>
            </p:nvSpPr>
            <p:spPr>
              <a:xfrm>
                <a:off x="4311705" y="3199161"/>
                <a:ext cx="667170" cy="837247"/>
              </a:xfrm>
              <a:custGeom>
                <a:avLst/>
                <a:gdLst>
                  <a:gd name="connsiteX0" fmla="*/ 413552 w 667170"/>
                  <a:gd name="connsiteY0" fmla="*/ 346234 h 837247"/>
                  <a:gd name="connsiteX1" fmla="*/ 413552 w 667170"/>
                  <a:gd name="connsiteY1" fmla="*/ 346043 h 837247"/>
                  <a:gd name="connsiteX2" fmla="*/ 270391 w 667170"/>
                  <a:gd name="connsiteY2" fmla="*/ 346043 h 837247"/>
                  <a:gd name="connsiteX3" fmla="*/ 151614 w 667170"/>
                  <a:gd name="connsiteY3" fmla="*/ 241649 h 837247"/>
                  <a:gd name="connsiteX4" fmla="*/ 323255 w 667170"/>
                  <a:gd name="connsiteY4" fmla="*/ 139256 h 837247"/>
                  <a:gd name="connsiteX5" fmla="*/ 571952 w 667170"/>
                  <a:gd name="connsiteY5" fmla="*/ 184309 h 837247"/>
                  <a:gd name="connsiteX6" fmla="*/ 626531 w 667170"/>
                  <a:gd name="connsiteY6" fmla="*/ 55912 h 837247"/>
                  <a:gd name="connsiteX7" fmla="*/ 339161 w 667170"/>
                  <a:gd name="connsiteY7" fmla="*/ 0 h 837247"/>
                  <a:gd name="connsiteX8" fmla="*/ 357 w 667170"/>
                  <a:gd name="connsiteY8" fmla="*/ 243650 h 837247"/>
                  <a:gd name="connsiteX9" fmla="*/ 253627 w 667170"/>
                  <a:gd name="connsiteY9" fmla="*/ 491204 h 837247"/>
                  <a:gd name="connsiteX10" fmla="*/ 253627 w 667170"/>
                  <a:gd name="connsiteY10" fmla="*/ 491395 h 837247"/>
                  <a:gd name="connsiteX11" fmla="*/ 396788 w 667170"/>
                  <a:gd name="connsiteY11" fmla="*/ 491395 h 837247"/>
                  <a:gd name="connsiteX12" fmla="*/ 515564 w 667170"/>
                  <a:gd name="connsiteY12" fmla="*/ 595694 h 837247"/>
                  <a:gd name="connsiteX13" fmla="*/ 343924 w 667170"/>
                  <a:gd name="connsiteY13" fmla="*/ 698087 h 837247"/>
                  <a:gd name="connsiteX14" fmla="*/ 68080 w 667170"/>
                  <a:gd name="connsiteY14" fmla="*/ 640842 h 837247"/>
                  <a:gd name="connsiteX15" fmla="*/ 13978 w 667170"/>
                  <a:gd name="connsiteY15" fmla="*/ 768572 h 837247"/>
                  <a:gd name="connsiteX16" fmla="*/ 328017 w 667170"/>
                  <a:gd name="connsiteY16" fmla="*/ 837247 h 837247"/>
                  <a:gd name="connsiteX17" fmla="*/ 666821 w 667170"/>
                  <a:gd name="connsiteY17" fmla="*/ 593598 h 837247"/>
                  <a:gd name="connsiteX18" fmla="*/ 413552 w 667170"/>
                  <a:gd name="connsiteY18" fmla="*/ 346234 h 83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70" h="837247">
                    <a:moveTo>
                      <a:pt x="413552" y="346234"/>
                    </a:moveTo>
                    <a:lnTo>
                      <a:pt x="413552" y="346043"/>
                    </a:lnTo>
                    <a:lnTo>
                      <a:pt x="270391" y="346043"/>
                    </a:lnTo>
                    <a:cubicBezTo>
                      <a:pt x="190857" y="346043"/>
                      <a:pt x="148376" y="315373"/>
                      <a:pt x="151614" y="241649"/>
                    </a:cubicBezTo>
                    <a:cubicBezTo>
                      <a:pt x="154948" y="163830"/>
                      <a:pt x="239720" y="139256"/>
                      <a:pt x="323255" y="139256"/>
                    </a:cubicBezTo>
                    <a:cubicBezTo>
                      <a:pt x="442317" y="139256"/>
                      <a:pt x="530233" y="167545"/>
                      <a:pt x="571952" y="184309"/>
                    </a:cubicBezTo>
                    <a:lnTo>
                      <a:pt x="626531" y="55912"/>
                    </a:lnTo>
                    <a:cubicBezTo>
                      <a:pt x="580715" y="36004"/>
                      <a:pt x="478607" y="0"/>
                      <a:pt x="339161" y="0"/>
                    </a:cubicBezTo>
                    <a:cubicBezTo>
                      <a:pt x="199906" y="0"/>
                      <a:pt x="8549" y="55245"/>
                      <a:pt x="357" y="243650"/>
                    </a:cubicBezTo>
                    <a:cubicBezTo>
                      <a:pt x="-7644" y="427196"/>
                      <a:pt x="120086" y="488252"/>
                      <a:pt x="253627" y="491204"/>
                    </a:cubicBezTo>
                    <a:lnTo>
                      <a:pt x="253627" y="491395"/>
                    </a:lnTo>
                    <a:lnTo>
                      <a:pt x="396788" y="491395"/>
                    </a:lnTo>
                    <a:cubicBezTo>
                      <a:pt x="476321" y="491395"/>
                      <a:pt x="518803" y="522065"/>
                      <a:pt x="515564" y="595694"/>
                    </a:cubicBezTo>
                    <a:cubicBezTo>
                      <a:pt x="512231" y="673513"/>
                      <a:pt x="427458" y="698087"/>
                      <a:pt x="343924" y="698087"/>
                    </a:cubicBezTo>
                    <a:cubicBezTo>
                      <a:pt x="174855" y="698087"/>
                      <a:pt x="68080" y="640842"/>
                      <a:pt x="68080" y="640842"/>
                    </a:cubicBezTo>
                    <a:lnTo>
                      <a:pt x="13978" y="768572"/>
                    </a:lnTo>
                    <a:cubicBezTo>
                      <a:pt x="13978" y="768572"/>
                      <a:pt x="135612" y="837247"/>
                      <a:pt x="328017" y="837247"/>
                    </a:cubicBezTo>
                    <a:cubicBezTo>
                      <a:pt x="467273" y="837247"/>
                      <a:pt x="658630" y="782003"/>
                      <a:pt x="666821" y="593598"/>
                    </a:cubicBezTo>
                    <a:cubicBezTo>
                      <a:pt x="674727" y="410337"/>
                      <a:pt x="547092" y="349282"/>
                      <a:pt x="413552" y="346234"/>
                    </a:cubicBezTo>
                    <a:close/>
                  </a:path>
                </a:pathLst>
              </a:custGeom>
              <a:solidFill>
                <a:srgbClr val="3C3C3C"/>
              </a:solidFill>
              <a:ln w="9525" cap="flat">
                <a:noFill/>
                <a:prstDash val="solid"/>
                <a:miter/>
              </a:ln>
            </p:spPr>
            <p:txBody>
              <a:bodyPr rtlCol="0" anchor="ctr"/>
              <a:lstStyle/>
              <a:p>
                <a:endParaRPr lang="fr-FR" sz="2400"/>
              </a:p>
            </p:txBody>
          </p:sp>
          <p:sp>
            <p:nvSpPr>
              <p:cNvPr id="34" name="Forme libre : forme 33">
                <a:extLst>
                  <a:ext uri="{FF2B5EF4-FFF2-40B4-BE49-F238E27FC236}">
                    <a16:creationId xmlns:a16="http://schemas.microsoft.com/office/drawing/2014/main" id="{C4D8D355-EDAD-414F-BF39-20AEE0C91120}"/>
                  </a:ext>
                </a:extLst>
              </p:cNvPr>
              <p:cNvSpPr/>
              <p:nvPr/>
            </p:nvSpPr>
            <p:spPr>
              <a:xfrm>
                <a:off x="2471737" y="3201066"/>
                <a:ext cx="761618" cy="833246"/>
              </a:xfrm>
              <a:custGeom>
                <a:avLst/>
                <a:gdLst>
                  <a:gd name="connsiteX0" fmla="*/ 378714 w 761618"/>
                  <a:gd name="connsiteY0" fmla="*/ 0 h 833246"/>
                  <a:gd name="connsiteX1" fmla="*/ 66485 w 761618"/>
                  <a:gd name="connsiteY1" fmla="*/ 51244 h 833246"/>
                  <a:gd name="connsiteX2" fmla="*/ 129445 w 761618"/>
                  <a:gd name="connsiteY2" fmla="*/ 179546 h 833246"/>
                  <a:gd name="connsiteX3" fmla="*/ 396716 w 761618"/>
                  <a:gd name="connsiteY3" fmla="*/ 139255 h 833246"/>
                  <a:gd name="connsiteX4" fmla="*/ 602552 w 761618"/>
                  <a:gd name="connsiteY4" fmla="*/ 288798 h 833246"/>
                  <a:gd name="connsiteX5" fmla="*/ 602552 w 761618"/>
                  <a:gd name="connsiteY5" fmla="*/ 338233 h 833246"/>
                  <a:gd name="connsiteX6" fmla="*/ 288322 w 761618"/>
                  <a:gd name="connsiteY6" fmla="*/ 338233 h 833246"/>
                  <a:gd name="connsiteX7" fmla="*/ 0 w 761618"/>
                  <a:gd name="connsiteY7" fmla="*/ 584645 h 833246"/>
                  <a:gd name="connsiteX8" fmla="*/ 310991 w 761618"/>
                  <a:gd name="connsiteY8" fmla="*/ 833247 h 833246"/>
                  <a:gd name="connsiteX9" fmla="*/ 602552 w 761618"/>
                  <a:gd name="connsiteY9" fmla="*/ 718756 h 833246"/>
                  <a:gd name="connsiteX10" fmla="*/ 602552 w 761618"/>
                  <a:gd name="connsiteY10" fmla="*/ 833247 h 833246"/>
                  <a:gd name="connsiteX11" fmla="*/ 761619 w 761618"/>
                  <a:gd name="connsiteY11" fmla="*/ 833247 h 833246"/>
                  <a:gd name="connsiteX12" fmla="*/ 761619 w 761618"/>
                  <a:gd name="connsiteY12" fmla="*/ 243554 h 833246"/>
                  <a:gd name="connsiteX13" fmla="*/ 378714 w 761618"/>
                  <a:gd name="connsiteY13" fmla="*/ 0 h 833246"/>
                  <a:gd name="connsiteX14" fmla="*/ 602552 w 761618"/>
                  <a:gd name="connsiteY14" fmla="*/ 507206 h 833246"/>
                  <a:gd name="connsiteX15" fmla="*/ 340328 w 761618"/>
                  <a:gd name="connsiteY15" fmla="*/ 701992 h 833246"/>
                  <a:gd name="connsiteX16" fmla="*/ 163068 w 761618"/>
                  <a:gd name="connsiteY16" fmla="*/ 582644 h 833246"/>
                  <a:gd name="connsiteX17" fmla="*/ 298323 w 761618"/>
                  <a:gd name="connsiteY17" fmla="*/ 463296 h 833246"/>
                  <a:gd name="connsiteX18" fmla="*/ 602647 w 761618"/>
                  <a:gd name="connsiteY18" fmla="*/ 463296 h 833246"/>
                  <a:gd name="connsiteX19" fmla="*/ 602647 w 761618"/>
                  <a:gd name="connsiteY19" fmla="*/ 507206 h 83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61618" h="833246">
                    <a:moveTo>
                      <a:pt x="378714" y="0"/>
                    </a:moveTo>
                    <a:cubicBezTo>
                      <a:pt x="232886" y="0"/>
                      <a:pt x="123063" y="30861"/>
                      <a:pt x="66485" y="51244"/>
                    </a:cubicBezTo>
                    <a:lnTo>
                      <a:pt x="129445" y="179546"/>
                    </a:lnTo>
                    <a:cubicBezTo>
                      <a:pt x="180880" y="162687"/>
                      <a:pt x="274320" y="139255"/>
                      <a:pt x="396716" y="139255"/>
                    </a:cubicBezTo>
                    <a:cubicBezTo>
                      <a:pt x="491204" y="139255"/>
                      <a:pt x="602552" y="164973"/>
                      <a:pt x="602552" y="288798"/>
                    </a:cubicBezTo>
                    <a:cubicBezTo>
                      <a:pt x="602552" y="288798"/>
                      <a:pt x="602361" y="334042"/>
                      <a:pt x="602552" y="338233"/>
                    </a:cubicBezTo>
                    <a:lnTo>
                      <a:pt x="288322" y="338233"/>
                    </a:lnTo>
                    <a:cubicBezTo>
                      <a:pt x="129254" y="338042"/>
                      <a:pt x="0" y="393763"/>
                      <a:pt x="0" y="584645"/>
                    </a:cubicBezTo>
                    <a:cubicBezTo>
                      <a:pt x="0" y="755332"/>
                      <a:pt x="139732" y="833247"/>
                      <a:pt x="310991" y="833247"/>
                    </a:cubicBezTo>
                    <a:cubicBezTo>
                      <a:pt x="513779" y="833247"/>
                      <a:pt x="602552" y="718756"/>
                      <a:pt x="602552" y="718756"/>
                    </a:cubicBezTo>
                    <a:lnTo>
                      <a:pt x="602552" y="833247"/>
                    </a:lnTo>
                    <a:lnTo>
                      <a:pt x="761619" y="833247"/>
                    </a:lnTo>
                    <a:lnTo>
                      <a:pt x="761619" y="243554"/>
                    </a:lnTo>
                    <a:cubicBezTo>
                      <a:pt x="752475" y="55150"/>
                      <a:pt x="536067" y="0"/>
                      <a:pt x="378714" y="0"/>
                    </a:cubicBezTo>
                    <a:close/>
                    <a:moveTo>
                      <a:pt x="602552" y="507206"/>
                    </a:moveTo>
                    <a:cubicBezTo>
                      <a:pt x="602552" y="630364"/>
                      <a:pt x="445294" y="701992"/>
                      <a:pt x="340328" y="701992"/>
                    </a:cubicBezTo>
                    <a:cubicBezTo>
                      <a:pt x="262795" y="701992"/>
                      <a:pt x="163068" y="676084"/>
                      <a:pt x="163068" y="582644"/>
                    </a:cubicBezTo>
                    <a:cubicBezTo>
                      <a:pt x="163068" y="489204"/>
                      <a:pt x="216789" y="463296"/>
                      <a:pt x="298323" y="463296"/>
                    </a:cubicBezTo>
                    <a:lnTo>
                      <a:pt x="602647" y="463296"/>
                    </a:lnTo>
                    <a:lnTo>
                      <a:pt x="602647" y="507206"/>
                    </a:lnTo>
                    <a:close/>
                  </a:path>
                </a:pathLst>
              </a:custGeom>
              <a:solidFill>
                <a:srgbClr val="3C3C3C"/>
              </a:solidFill>
              <a:ln w="9525" cap="flat">
                <a:noFill/>
                <a:prstDash val="solid"/>
                <a:miter/>
              </a:ln>
            </p:spPr>
            <p:txBody>
              <a:bodyPr rtlCol="0" anchor="ctr"/>
              <a:lstStyle/>
              <a:p>
                <a:endParaRPr lang="fr-FR" sz="2400"/>
              </a:p>
            </p:txBody>
          </p:sp>
        </p:grpSp>
        <p:sp>
          <p:nvSpPr>
            <p:cNvPr id="17" name="Forme libre : forme 16">
              <a:extLst>
                <a:ext uri="{FF2B5EF4-FFF2-40B4-BE49-F238E27FC236}">
                  <a16:creationId xmlns:a16="http://schemas.microsoft.com/office/drawing/2014/main" id="{7148A700-F7D8-4402-9F95-58B18F8C236D}"/>
                </a:ext>
              </a:extLst>
            </p:cNvPr>
            <p:cNvSpPr/>
            <p:nvPr/>
          </p:nvSpPr>
          <p:spPr>
            <a:xfrm>
              <a:off x="4142993" y="1104900"/>
              <a:ext cx="859916" cy="433102"/>
            </a:xfrm>
            <a:custGeom>
              <a:avLst/>
              <a:gdLst>
                <a:gd name="connsiteX0" fmla="*/ 859917 w 859916"/>
                <a:gd name="connsiteY0" fmla="*/ 124968 h 433102"/>
                <a:gd name="connsiteX1" fmla="*/ 431387 w 859916"/>
                <a:gd name="connsiteY1" fmla="*/ 0 h 433102"/>
                <a:gd name="connsiteX2" fmla="*/ 0 w 859916"/>
                <a:gd name="connsiteY2" fmla="*/ 118967 h 433102"/>
                <a:gd name="connsiteX3" fmla="*/ 430435 w 859916"/>
                <a:gd name="connsiteY3" fmla="*/ 433102 h 433102"/>
                <a:gd name="connsiteX4" fmla="*/ 859917 w 859916"/>
                <a:gd name="connsiteY4" fmla="*/ 124968 h 43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916" h="433102">
                  <a:moveTo>
                    <a:pt x="859917" y="124968"/>
                  </a:moveTo>
                  <a:cubicBezTo>
                    <a:pt x="742759" y="49720"/>
                    <a:pt x="588645" y="0"/>
                    <a:pt x="431387" y="0"/>
                  </a:cubicBezTo>
                  <a:cubicBezTo>
                    <a:pt x="285274" y="0"/>
                    <a:pt x="134779" y="35719"/>
                    <a:pt x="0" y="118967"/>
                  </a:cubicBezTo>
                  <a:cubicBezTo>
                    <a:pt x="0" y="118967"/>
                    <a:pt x="183642" y="432530"/>
                    <a:pt x="430435" y="433102"/>
                  </a:cubicBezTo>
                  <a:cubicBezTo>
                    <a:pt x="677132" y="433673"/>
                    <a:pt x="859917" y="124968"/>
                    <a:pt x="859917" y="124968"/>
                  </a:cubicBezTo>
                  <a:close/>
                </a:path>
              </a:pathLst>
            </a:custGeom>
            <a:solidFill>
              <a:srgbClr val="FFE800"/>
            </a:solidFill>
            <a:ln w="9525" cap="flat">
              <a:noFill/>
              <a:prstDash val="solid"/>
              <a:miter/>
            </a:ln>
          </p:spPr>
          <p:txBody>
            <a:bodyPr rtlCol="0" anchor="ctr"/>
            <a:lstStyle/>
            <a:p>
              <a:endParaRPr lang="fr-FR" sz="2400"/>
            </a:p>
          </p:txBody>
        </p:sp>
        <p:sp>
          <p:nvSpPr>
            <p:cNvPr id="18" name="Forme libre : forme 17">
              <a:extLst>
                <a:ext uri="{FF2B5EF4-FFF2-40B4-BE49-F238E27FC236}">
                  <a16:creationId xmlns:a16="http://schemas.microsoft.com/office/drawing/2014/main" id="{043231D7-5025-44C3-900B-149CF010FC9F}"/>
                </a:ext>
              </a:extLst>
            </p:cNvPr>
            <p:cNvSpPr/>
            <p:nvPr/>
          </p:nvSpPr>
          <p:spPr>
            <a:xfrm>
              <a:off x="3749374" y="1300924"/>
              <a:ext cx="466844" cy="817244"/>
            </a:xfrm>
            <a:custGeom>
              <a:avLst/>
              <a:gdLst>
                <a:gd name="connsiteX0" fmla="*/ 287416 w 466844"/>
                <a:gd name="connsiteY0" fmla="*/ 0 h 817244"/>
                <a:gd name="connsiteX1" fmla="*/ 40051 w 466844"/>
                <a:gd name="connsiteY1" fmla="*/ 371570 h 817244"/>
                <a:gd name="connsiteX2" fmla="*/ 24145 w 466844"/>
                <a:gd name="connsiteY2" fmla="*/ 817245 h 817244"/>
                <a:gd name="connsiteX3" fmla="*/ 451722 w 466844"/>
                <a:gd name="connsiteY3" fmla="*/ 506444 h 817244"/>
                <a:gd name="connsiteX4" fmla="*/ 287416 w 466844"/>
                <a:gd name="connsiteY4" fmla="*/ 0 h 817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844" h="817244">
                  <a:moveTo>
                    <a:pt x="287416" y="0"/>
                  </a:moveTo>
                  <a:cubicBezTo>
                    <a:pt x="175021" y="94488"/>
                    <a:pt x="88915" y="222123"/>
                    <a:pt x="40051" y="371570"/>
                  </a:cubicBezTo>
                  <a:cubicBezTo>
                    <a:pt x="-8907" y="521018"/>
                    <a:pt x="-11479" y="669322"/>
                    <a:pt x="24145" y="817245"/>
                  </a:cubicBezTo>
                  <a:cubicBezTo>
                    <a:pt x="24145" y="817245"/>
                    <a:pt x="374855" y="740855"/>
                    <a:pt x="451722" y="506444"/>
                  </a:cubicBezTo>
                  <a:cubicBezTo>
                    <a:pt x="528589" y="272034"/>
                    <a:pt x="287416" y="0"/>
                    <a:pt x="287416" y="0"/>
                  </a:cubicBezTo>
                  <a:close/>
                </a:path>
              </a:pathLst>
            </a:custGeom>
            <a:solidFill>
              <a:srgbClr val="FF9940"/>
            </a:solidFill>
            <a:ln w="9525" cap="flat">
              <a:noFill/>
              <a:prstDash val="solid"/>
              <a:miter/>
            </a:ln>
          </p:spPr>
          <p:txBody>
            <a:bodyPr rtlCol="0" anchor="ctr"/>
            <a:lstStyle/>
            <a:p>
              <a:endParaRPr lang="fr-FR" sz="2400"/>
            </a:p>
          </p:txBody>
        </p:sp>
        <p:sp>
          <p:nvSpPr>
            <p:cNvPr id="19" name="Forme libre : forme 18">
              <a:extLst>
                <a:ext uri="{FF2B5EF4-FFF2-40B4-BE49-F238E27FC236}">
                  <a16:creationId xmlns:a16="http://schemas.microsoft.com/office/drawing/2014/main" id="{A057539C-0DF8-4385-B5A0-076759EE1E9E}"/>
                </a:ext>
              </a:extLst>
            </p:cNvPr>
            <p:cNvSpPr/>
            <p:nvPr/>
          </p:nvSpPr>
          <p:spPr>
            <a:xfrm>
              <a:off x="3810094" y="2167431"/>
              <a:ext cx="695999" cy="571005"/>
            </a:xfrm>
            <a:custGeom>
              <a:avLst/>
              <a:gdLst>
                <a:gd name="connsiteX0" fmla="*/ 0 w 695999"/>
                <a:gd name="connsiteY0" fmla="*/ 63418 h 571005"/>
                <a:gd name="connsiteX1" fmla="*/ 274034 w 695999"/>
                <a:gd name="connsiteY1" fmla="*/ 414986 h 571005"/>
                <a:gd name="connsiteX2" fmla="*/ 693611 w 695999"/>
                <a:gd name="connsiteY2" fmla="*/ 571006 h 571005"/>
                <a:gd name="connsiteX3" fmla="*/ 529400 w 695999"/>
                <a:gd name="connsiteY3" fmla="*/ 65133 h 571005"/>
                <a:gd name="connsiteX4" fmla="*/ 0 w 695999"/>
                <a:gd name="connsiteY4" fmla="*/ 63418 h 57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999" h="571005">
                  <a:moveTo>
                    <a:pt x="0" y="63418"/>
                  </a:moveTo>
                  <a:cubicBezTo>
                    <a:pt x="57436" y="202198"/>
                    <a:pt x="148876" y="322022"/>
                    <a:pt x="274034" y="414986"/>
                  </a:cubicBezTo>
                  <a:cubicBezTo>
                    <a:pt x="400241" y="508712"/>
                    <a:pt x="552926" y="561671"/>
                    <a:pt x="693611" y="571006"/>
                  </a:cubicBezTo>
                  <a:cubicBezTo>
                    <a:pt x="693611" y="571006"/>
                    <a:pt x="728758" y="210675"/>
                    <a:pt x="529400" y="65133"/>
                  </a:cubicBezTo>
                  <a:cubicBezTo>
                    <a:pt x="330041" y="-80409"/>
                    <a:pt x="0" y="63418"/>
                    <a:pt x="0" y="63418"/>
                  </a:cubicBezTo>
                  <a:close/>
                </a:path>
              </a:pathLst>
            </a:custGeom>
            <a:solidFill>
              <a:srgbClr val="E1000F"/>
            </a:solidFill>
            <a:ln w="9525" cap="flat">
              <a:noFill/>
              <a:prstDash val="solid"/>
              <a:miter/>
            </a:ln>
          </p:spPr>
          <p:txBody>
            <a:bodyPr rtlCol="0" anchor="ctr"/>
            <a:lstStyle/>
            <a:p>
              <a:endParaRPr lang="fr-FR" sz="2400"/>
            </a:p>
          </p:txBody>
        </p:sp>
        <p:sp>
          <p:nvSpPr>
            <p:cNvPr id="20" name="Forme libre : forme 19">
              <a:extLst>
                <a:ext uri="{FF2B5EF4-FFF2-40B4-BE49-F238E27FC236}">
                  <a16:creationId xmlns:a16="http://schemas.microsoft.com/office/drawing/2014/main" id="{C9A25EC6-816D-4BF1-B5DF-B2396460CD9C}"/>
                </a:ext>
              </a:extLst>
            </p:cNvPr>
            <p:cNvSpPr/>
            <p:nvPr/>
          </p:nvSpPr>
          <p:spPr>
            <a:xfrm>
              <a:off x="4633686" y="2165635"/>
              <a:ext cx="694216" cy="572421"/>
            </a:xfrm>
            <a:custGeom>
              <a:avLst/>
              <a:gdLst>
                <a:gd name="connsiteX0" fmla="*/ 3178 w 694216"/>
                <a:gd name="connsiteY0" fmla="*/ 572422 h 572421"/>
                <a:gd name="connsiteX1" fmla="*/ 420087 w 694216"/>
                <a:gd name="connsiteY1" fmla="*/ 414783 h 572421"/>
                <a:gd name="connsiteX2" fmla="*/ 694217 w 694216"/>
                <a:gd name="connsiteY2" fmla="*/ 61024 h 572421"/>
                <a:gd name="connsiteX3" fmla="*/ 161960 w 694216"/>
                <a:gd name="connsiteY3" fmla="*/ 66930 h 572421"/>
                <a:gd name="connsiteX4" fmla="*/ 3178 w 694216"/>
                <a:gd name="connsiteY4" fmla="*/ 572422 h 572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216" h="572421">
                  <a:moveTo>
                    <a:pt x="3178" y="572422"/>
                  </a:moveTo>
                  <a:cubicBezTo>
                    <a:pt x="160817" y="556705"/>
                    <a:pt x="292738" y="506985"/>
                    <a:pt x="420087" y="414783"/>
                  </a:cubicBezTo>
                  <a:cubicBezTo>
                    <a:pt x="543341" y="325533"/>
                    <a:pt x="637162" y="199327"/>
                    <a:pt x="694217" y="61024"/>
                  </a:cubicBezTo>
                  <a:cubicBezTo>
                    <a:pt x="694217" y="61024"/>
                    <a:pt x="360080" y="-80136"/>
                    <a:pt x="161960" y="66930"/>
                  </a:cubicBezTo>
                  <a:cubicBezTo>
                    <a:pt x="-36160" y="213996"/>
                    <a:pt x="3178" y="572422"/>
                    <a:pt x="3178" y="572422"/>
                  </a:cubicBezTo>
                  <a:close/>
                </a:path>
              </a:pathLst>
            </a:custGeom>
            <a:solidFill>
              <a:srgbClr val="5770BE"/>
            </a:solidFill>
            <a:ln w="9525" cap="flat">
              <a:noFill/>
              <a:prstDash val="solid"/>
              <a:miter/>
            </a:ln>
          </p:spPr>
          <p:txBody>
            <a:bodyPr rtlCol="0" anchor="ctr"/>
            <a:lstStyle/>
            <a:p>
              <a:endParaRPr lang="fr-FR" sz="2400"/>
            </a:p>
          </p:txBody>
        </p:sp>
        <p:sp>
          <p:nvSpPr>
            <p:cNvPr id="21" name="Forme libre : forme 20">
              <a:extLst>
                <a:ext uri="{FF2B5EF4-FFF2-40B4-BE49-F238E27FC236}">
                  <a16:creationId xmlns:a16="http://schemas.microsoft.com/office/drawing/2014/main" id="{B6F03869-A025-426A-8DB2-BBE57A2FA149}"/>
                </a:ext>
              </a:extLst>
            </p:cNvPr>
            <p:cNvSpPr/>
            <p:nvPr/>
          </p:nvSpPr>
          <p:spPr>
            <a:xfrm>
              <a:off x="4920405" y="1302353"/>
              <a:ext cx="465742" cy="817435"/>
            </a:xfrm>
            <a:custGeom>
              <a:avLst/>
              <a:gdLst>
                <a:gd name="connsiteX0" fmla="*/ 441883 w 465742"/>
                <a:gd name="connsiteY0" fmla="*/ 817436 h 817435"/>
                <a:gd name="connsiteX1" fmla="*/ 427024 w 465742"/>
                <a:gd name="connsiteY1" fmla="*/ 371189 h 817435"/>
                <a:gd name="connsiteX2" fmla="*/ 180707 w 465742"/>
                <a:gd name="connsiteY2" fmla="*/ 0 h 817435"/>
                <a:gd name="connsiteX3" fmla="*/ 14687 w 465742"/>
                <a:gd name="connsiteY3" fmla="*/ 504158 h 817435"/>
                <a:gd name="connsiteX4" fmla="*/ 441883 w 465742"/>
                <a:gd name="connsiteY4" fmla="*/ 817436 h 81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742" h="817435">
                  <a:moveTo>
                    <a:pt x="441883" y="817436"/>
                  </a:moveTo>
                  <a:cubicBezTo>
                    <a:pt x="476268" y="675799"/>
                    <a:pt x="475316" y="520827"/>
                    <a:pt x="427024" y="371189"/>
                  </a:cubicBezTo>
                  <a:cubicBezTo>
                    <a:pt x="378732" y="221552"/>
                    <a:pt x="292340" y="97917"/>
                    <a:pt x="180707" y="0"/>
                  </a:cubicBezTo>
                  <a:cubicBezTo>
                    <a:pt x="180707" y="0"/>
                    <a:pt x="-61037" y="269272"/>
                    <a:pt x="14687" y="504158"/>
                  </a:cubicBezTo>
                  <a:cubicBezTo>
                    <a:pt x="90410" y="739045"/>
                    <a:pt x="441883" y="817436"/>
                    <a:pt x="441883" y="817436"/>
                  </a:cubicBezTo>
                  <a:close/>
                </a:path>
              </a:pathLst>
            </a:custGeom>
            <a:solidFill>
              <a:srgbClr val="00AC8C"/>
            </a:solidFill>
            <a:ln w="9525" cap="flat">
              <a:noFill/>
              <a:prstDash val="solid"/>
              <a:miter/>
            </a:ln>
          </p:spPr>
          <p:txBody>
            <a:bodyPr rtlCol="0" anchor="ctr"/>
            <a:lstStyle/>
            <a:p>
              <a:endParaRPr lang="fr-FR" sz="2400"/>
            </a:p>
          </p:txBody>
        </p:sp>
      </p:grpSp>
      <p:sp>
        <p:nvSpPr>
          <p:cNvPr id="36" name="Espace réservé du texte 10">
            <a:extLst>
              <a:ext uri="{FF2B5EF4-FFF2-40B4-BE49-F238E27FC236}">
                <a16:creationId xmlns:a16="http://schemas.microsoft.com/office/drawing/2014/main" id="{F1AA8A00-22A6-4AC2-960F-2483AE678205}"/>
              </a:ext>
            </a:extLst>
          </p:cNvPr>
          <p:cNvSpPr>
            <a:spLocks noGrp="1"/>
          </p:cNvSpPr>
          <p:nvPr>
            <p:ph type="body" sz="quarter" idx="14" hasCustomPrompt="1"/>
          </p:nvPr>
        </p:nvSpPr>
        <p:spPr bwMode="gray">
          <a:xfrm>
            <a:off x="480000" y="3128061"/>
            <a:ext cx="11232000" cy="2769600"/>
          </a:xfrm>
        </p:spPr>
        <p:txBody>
          <a:bodyPr/>
          <a:lstStyle>
            <a:lvl1pPr>
              <a:lnSpc>
                <a:spcPct val="90000"/>
              </a:lnSpc>
              <a:spcAft>
                <a:spcPts val="0"/>
              </a:spcAft>
              <a:defRPr sz="4333" b="1" cap="all" baseline="0">
                <a:solidFill>
                  <a:srgbClr val="262626"/>
                </a:solidFill>
              </a:defRPr>
            </a:lvl1pPr>
            <a:lvl2pPr marL="0" indent="0">
              <a:spcBef>
                <a:spcPts val="667"/>
              </a:spcBef>
              <a:spcAft>
                <a:spcPts val="0"/>
              </a:spcAft>
              <a:buNone/>
              <a:defRPr sz="2467" baseline="0"/>
            </a:lvl2pPr>
          </a:lstStyle>
          <a:p>
            <a:pPr lvl="0"/>
            <a:r>
              <a:rPr lang="fr-FR" dirty="0"/>
              <a:t>Titre de la présentation </a:t>
            </a:r>
            <a:br>
              <a:rPr lang="fr-FR" dirty="0"/>
            </a:br>
            <a:r>
              <a:rPr lang="fr-FR" dirty="0"/>
              <a:t>sur deux lignes maximum</a:t>
            </a:r>
          </a:p>
          <a:p>
            <a:pPr lvl="1"/>
            <a:r>
              <a:rPr lang="fr-FR" dirty="0"/>
              <a:t>Sous-titre de la présentation </a:t>
            </a:r>
            <a:br>
              <a:rPr lang="fr-FR" dirty="0"/>
            </a:br>
            <a:r>
              <a:rPr lang="fr-FR" dirty="0"/>
              <a:t>sur deux lignes maximum</a:t>
            </a:r>
          </a:p>
        </p:txBody>
      </p:sp>
      <p:sp>
        <p:nvSpPr>
          <p:cNvPr id="7" name="Espace réservé de la date 6">
            <a:extLst>
              <a:ext uri="{FF2B5EF4-FFF2-40B4-BE49-F238E27FC236}">
                <a16:creationId xmlns:a16="http://schemas.microsoft.com/office/drawing/2014/main" id="{972FC0E8-6F73-4131-92BB-23652B1A5AB6}"/>
              </a:ext>
            </a:extLst>
          </p:cNvPr>
          <p:cNvSpPr>
            <a:spLocks noGrp="1"/>
          </p:cNvSpPr>
          <p:nvPr>
            <p:ph type="dt" sz="half" idx="15"/>
          </p:nvPr>
        </p:nvSpPr>
        <p:spPr>
          <a:xfrm>
            <a:off x="10266300" y="6212901"/>
            <a:ext cx="1560000" cy="282572"/>
          </a:xfrm>
        </p:spPr>
        <p:txBody>
          <a:bodyPr>
            <a:noAutofit/>
          </a:bodyPr>
          <a:lstStyle/>
          <a:p>
            <a:pPr algn="r"/>
            <a:r>
              <a:rPr lang="fr-FR" cap="all"/>
              <a:t>XX/XX/2021</a:t>
            </a:r>
            <a:endParaRPr lang="fr-FR" cap="all" dirty="0"/>
          </a:p>
        </p:txBody>
      </p:sp>
      <p:sp>
        <p:nvSpPr>
          <p:cNvPr id="9" name="Espace réservé du numéro de diapositive 8">
            <a:extLst>
              <a:ext uri="{FF2B5EF4-FFF2-40B4-BE49-F238E27FC236}">
                <a16:creationId xmlns:a16="http://schemas.microsoft.com/office/drawing/2014/main" id="{471DF7BD-76CD-45EB-8FE8-07FE684BDF9D}"/>
              </a:ext>
            </a:extLst>
          </p:cNvPr>
          <p:cNvSpPr>
            <a:spLocks noGrp="1"/>
          </p:cNvSpPr>
          <p:nvPr>
            <p:ph type="sldNum" sz="quarter" idx="17"/>
          </p:nvPr>
        </p:nvSpPr>
        <p:spPr/>
        <p:txBody>
          <a:bodyPr>
            <a:noAutofit/>
          </a:body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13953092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_Couverture GB">
    <p:spTree>
      <p:nvGrpSpPr>
        <p:cNvPr id="1" name=""/>
        <p:cNvGrpSpPr/>
        <p:nvPr/>
      </p:nvGrpSpPr>
      <p:grpSpPr>
        <a:xfrm>
          <a:off x="0" y="0"/>
          <a:ext cx="0" cy="0"/>
          <a:chOff x="0" y="0"/>
          <a:chExt cx="0" cy="0"/>
        </a:xfrm>
      </p:grpSpPr>
      <p:sp>
        <p:nvSpPr>
          <p:cNvPr id="26" name="ZoneTexte 25"/>
          <p:cNvSpPr txBox="1"/>
          <p:nvPr userDrawn="1"/>
        </p:nvSpPr>
        <p:spPr>
          <a:xfrm>
            <a:off x="365190" y="6059015"/>
            <a:ext cx="4962725" cy="761299"/>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947" b="1" kern="1200" cap="all" baseline="0" dirty="0" err="1">
                <a:solidFill>
                  <a:schemeClr val="tx2"/>
                </a:solidFill>
                <a:latin typeface="+mn-lt"/>
                <a:ea typeface="+mn-ea"/>
                <a:cs typeface="+mn-cs"/>
              </a:rPr>
              <a:t>Investigate</a:t>
            </a:r>
            <a:r>
              <a:rPr lang="fr-FR" sz="1947" b="1" kern="1200" cap="all" baseline="0" dirty="0">
                <a:solidFill>
                  <a:schemeClr val="tx2"/>
                </a:solidFill>
                <a:latin typeface="+mn-lt"/>
                <a:ea typeface="+mn-ea"/>
                <a:cs typeface="+mn-cs"/>
              </a:rPr>
              <a:t>, </a:t>
            </a:r>
            <a:r>
              <a:rPr lang="fr-FR" sz="1947" b="1" kern="1200" cap="all" baseline="0" dirty="0" err="1">
                <a:solidFill>
                  <a:schemeClr val="tx2"/>
                </a:solidFill>
                <a:latin typeface="+mn-lt"/>
                <a:ea typeface="+mn-ea"/>
                <a:cs typeface="+mn-cs"/>
              </a:rPr>
              <a:t>evaluate</a:t>
            </a:r>
            <a:r>
              <a:rPr lang="fr-FR" sz="1947" b="1" kern="1200" cap="all" baseline="0" dirty="0">
                <a:solidFill>
                  <a:schemeClr val="tx2"/>
                </a:solidFill>
                <a:latin typeface="+mn-lt"/>
                <a:ea typeface="+mn-ea"/>
                <a:cs typeface="+mn-cs"/>
              </a:rPr>
              <a:t>, </a:t>
            </a:r>
            <a:r>
              <a:rPr lang="fr-FR" sz="1947" b="1" kern="1200" cap="all" baseline="0" dirty="0" err="1">
                <a:solidFill>
                  <a:schemeClr val="tx2"/>
                </a:solidFill>
                <a:latin typeface="+mn-lt"/>
                <a:ea typeface="+mn-ea"/>
                <a:cs typeface="+mn-cs"/>
              </a:rPr>
              <a:t>protect</a:t>
            </a:r>
            <a:endParaRPr lang="fr-FR" sz="1947" b="1" kern="1200" cap="all" baseline="0" dirty="0">
              <a:solidFill>
                <a:schemeClr val="tx2"/>
              </a:solidFill>
              <a:latin typeface="+mn-lt"/>
              <a:ea typeface="+mn-ea"/>
              <a:cs typeface="+mn-cs"/>
            </a:endParaRPr>
          </a:p>
          <a:p>
            <a:endParaRPr lang="fr-FR" sz="2400" dirty="0"/>
          </a:p>
        </p:txBody>
      </p:sp>
      <p:grpSp>
        <p:nvGrpSpPr>
          <p:cNvPr id="15" name="Graphique 2">
            <a:extLst>
              <a:ext uri="{FF2B5EF4-FFF2-40B4-BE49-F238E27FC236}">
                <a16:creationId xmlns:a16="http://schemas.microsoft.com/office/drawing/2014/main" id="{441A5E56-2E95-41CA-AAB0-759EE6144DD3}"/>
              </a:ext>
            </a:extLst>
          </p:cNvPr>
          <p:cNvGrpSpPr/>
          <p:nvPr userDrawn="1"/>
        </p:nvGrpSpPr>
        <p:grpSpPr>
          <a:xfrm>
            <a:off x="485450" y="490301"/>
            <a:ext cx="2434167" cy="1700065"/>
            <a:chOff x="2471737" y="1104900"/>
            <a:chExt cx="4200493" cy="2933699"/>
          </a:xfrm>
        </p:grpSpPr>
        <p:grpSp>
          <p:nvGrpSpPr>
            <p:cNvPr id="16" name="Graphique 2">
              <a:extLst>
                <a:ext uri="{FF2B5EF4-FFF2-40B4-BE49-F238E27FC236}">
                  <a16:creationId xmlns:a16="http://schemas.microsoft.com/office/drawing/2014/main" id="{449FE406-B627-4201-A48F-A2354F4D9824}"/>
                </a:ext>
              </a:extLst>
            </p:cNvPr>
            <p:cNvGrpSpPr/>
            <p:nvPr/>
          </p:nvGrpSpPr>
          <p:grpSpPr>
            <a:xfrm>
              <a:off x="2471737" y="3195351"/>
              <a:ext cx="4200493" cy="843248"/>
              <a:chOff x="2471737" y="3195351"/>
              <a:chExt cx="4200493" cy="843248"/>
            </a:xfrm>
            <a:solidFill>
              <a:srgbClr val="000000"/>
            </a:solidFill>
          </p:grpSpPr>
          <p:sp>
            <p:nvSpPr>
              <p:cNvPr id="22" name="Forme libre : forme 21">
                <a:extLst>
                  <a:ext uri="{FF2B5EF4-FFF2-40B4-BE49-F238E27FC236}">
                    <a16:creationId xmlns:a16="http://schemas.microsoft.com/office/drawing/2014/main" id="{C910B22B-3BD7-402A-AEC9-1C03E747DCA5}"/>
                  </a:ext>
                </a:extLst>
              </p:cNvPr>
              <p:cNvSpPr/>
              <p:nvPr/>
            </p:nvSpPr>
            <p:spPr>
              <a:xfrm>
                <a:off x="3415855" y="3211258"/>
                <a:ext cx="749807" cy="821340"/>
              </a:xfrm>
              <a:custGeom>
                <a:avLst/>
                <a:gdLst>
                  <a:gd name="connsiteX0" fmla="*/ 444913 w 749807"/>
                  <a:gd name="connsiteY0" fmla="*/ 0 h 821340"/>
                  <a:gd name="connsiteX1" fmla="*/ 159258 w 749807"/>
                  <a:gd name="connsiteY1" fmla="*/ 114300 h 821340"/>
                  <a:gd name="connsiteX2" fmla="*/ 159258 w 749807"/>
                  <a:gd name="connsiteY2" fmla="*/ 0 h 821340"/>
                  <a:gd name="connsiteX3" fmla="*/ 0 w 749807"/>
                  <a:gd name="connsiteY3" fmla="*/ 0 h 821340"/>
                  <a:gd name="connsiteX4" fmla="*/ 0 w 749807"/>
                  <a:gd name="connsiteY4" fmla="*/ 821341 h 821340"/>
                  <a:gd name="connsiteX5" fmla="*/ 159258 w 749807"/>
                  <a:gd name="connsiteY5" fmla="*/ 821341 h 821340"/>
                  <a:gd name="connsiteX6" fmla="*/ 159258 w 749807"/>
                  <a:gd name="connsiteY6" fmla="*/ 321945 h 821340"/>
                  <a:gd name="connsiteX7" fmla="*/ 416147 w 749807"/>
                  <a:gd name="connsiteY7" fmla="*/ 131254 h 821340"/>
                  <a:gd name="connsiteX8" fmla="*/ 589978 w 749807"/>
                  <a:gd name="connsiteY8" fmla="*/ 276701 h 821340"/>
                  <a:gd name="connsiteX9" fmla="*/ 590550 w 749807"/>
                  <a:gd name="connsiteY9" fmla="*/ 276701 h 821340"/>
                  <a:gd name="connsiteX10" fmla="*/ 590550 w 749807"/>
                  <a:gd name="connsiteY10" fmla="*/ 821245 h 821340"/>
                  <a:gd name="connsiteX11" fmla="*/ 749808 w 749807"/>
                  <a:gd name="connsiteY11" fmla="*/ 821245 h 821340"/>
                  <a:gd name="connsiteX12" fmla="*/ 749808 w 749807"/>
                  <a:gd name="connsiteY12" fmla="*/ 276796 h 821340"/>
                  <a:gd name="connsiteX13" fmla="*/ 444913 w 749807"/>
                  <a:gd name="connsiteY13" fmla="*/ 0 h 821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9807" h="821340">
                    <a:moveTo>
                      <a:pt x="444913" y="0"/>
                    </a:moveTo>
                    <a:cubicBezTo>
                      <a:pt x="248126" y="0"/>
                      <a:pt x="160972" y="112109"/>
                      <a:pt x="159258" y="114300"/>
                    </a:cubicBezTo>
                    <a:lnTo>
                      <a:pt x="159258" y="0"/>
                    </a:lnTo>
                    <a:lnTo>
                      <a:pt x="0" y="0"/>
                    </a:lnTo>
                    <a:lnTo>
                      <a:pt x="0" y="821341"/>
                    </a:lnTo>
                    <a:lnTo>
                      <a:pt x="159258" y="821341"/>
                    </a:lnTo>
                    <a:lnTo>
                      <a:pt x="159258" y="321945"/>
                    </a:lnTo>
                    <a:cubicBezTo>
                      <a:pt x="162687" y="201263"/>
                      <a:pt x="314420" y="131254"/>
                      <a:pt x="416147" y="131254"/>
                    </a:cubicBezTo>
                    <a:cubicBezTo>
                      <a:pt x="492157" y="131254"/>
                      <a:pt x="589978" y="183261"/>
                      <a:pt x="589978" y="276701"/>
                    </a:cubicBezTo>
                    <a:lnTo>
                      <a:pt x="590550" y="276701"/>
                    </a:lnTo>
                    <a:lnTo>
                      <a:pt x="590550" y="821245"/>
                    </a:lnTo>
                    <a:lnTo>
                      <a:pt x="749808" y="821245"/>
                    </a:lnTo>
                    <a:lnTo>
                      <a:pt x="749808" y="276796"/>
                    </a:lnTo>
                    <a:cubicBezTo>
                      <a:pt x="749713" y="92107"/>
                      <a:pt x="612743" y="0"/>
                      <a:pt x="444913" y="0"/>
                    </a:cubicBezTo>
                    <a:close/>
                  </a:path>
                </a:pathLst>
              </a:custGeom>
              <a:solidFill>
                <a:srgbClr val="3C3C3C"/>
              </a:solidFill>
              <a:ln w="9525" cap="flat">
                <a:noFill/>
                <a:prstDash val="solid"/>
                <a:miter/>
              </a:ln>
            </p:spPr>
            <p:txBody>
              <a:bodyPr rtlCol="0" anchor="ctr"/>
              <a:lstStyle/>
              <a:p>
                <a:endParaRPr lang="fr-FR" sz="2400"/>
              </a:p>
            </p:txBody>
          </p:sp>
          <p:sp>
            <p:nvSpPr>
              <p:cNvPr id="23" name="Forme libre : forme 22">
                <a:extLst>
                  <a:ext uri="{FF2B5EF4-FFF2-40B4-BE49-F238E27FC236}">
                    <a16:creationId xmlns:a16="http://schemas.microsoft.com/office/drawing/2014/main" id="{864E6E91-5585-4F6F-ACE6-4A6FF76C47A8}"/>
                  </a:ext>
                </a:extLst>
              </p:cNvPr>
              <p:cNvSpPr/>
              <p:nvPr/>
            </p:nvSpPr>
            <p:spPr>
              <a:xfrm>
                <a:off x="6005059" y="3199161"/>
                <a:ext cx="667170" cy="837247"/>
              </a:xfrm>
              <a:custGeom>
                <a:avLst/>
                <a:gdLst>
                  <a:gd name="connsiteX0" fmla="*/ 413552 w 667170"/>
                  <a:gd name="connsiteY0" fmla="*/ 346234 h 837247"/>
                  <a:gd name="connsiteX1" fmla="*/ 413552 w 667170"/>
                  <a:gd name="connsiteY1" fmla="*/ 346043 h 837247"/>
                  <a:gd name="connsiteX2" fmla="*/ 270391 w 667170"/>
                  <a:gd name="connsiteY2" fmla="*/ 346043 h 837247"/>
                  <a:gd name="connsiteX3" fmla="*/ 151614 w 667170"/>
                  <a:gd name="connsiteY3" fmla="*/ 241649 h 837247"/>
                  <a:gd name="connsiteX4" fmla="*/ 323255 w 667170"/>
                  <a:gd name="connsiteY4" fmla="*/ 139256 h 837247"/>
                  <a:gd name="connsiteX5" fmla="*/ 571952 w 667170"/>
                  <a:gd name="connsiteY5" fmla="*/ 184309 h 837247"/>
                  <a:gd name="connsiteX6" fmla="*/ 626531 w 667170"/>
                  <a:gd name="connsiteY6" fmla="*/ 55912 h 837247"/>
                  <a:gd name="connsiteX7" fmla="*/ 339161 w 667170"/>
                  <a:gd name="connsiteY7" fmla="*/ 0 h 837247"/>
                  <a:gd name="connsiteX8" fmla="*/ 357 w 667170"/>
                  <a:gd name="connsiteY8" fmla="*/ 243650 h 837247"/>
                  <a:gd name="connsiteX9" fmla="*/ 253627 w 667170"/>
                  <a:gd name="connsiteY9" fmla="*/ 491204 h 837247"/>
                  <a:gd name="connsiteX10" fmla="*/ 253627 w 667170"/>
                  <a:gd name="connsiteY10" fmla="*/ 491395 h 837247"/>
                  <a:gd name="connsiteX11" fmla="*/ 396788 w 667170"/>
                  <a:gd name="connsiteY11" fmla="*/ 491395 h 837247"/>
                  <a:gd name="connsiteX12" fmla="*/ 515564 w 667170"/>
                  <a:gd name="connsiteY12" fmla="*/ 595694 h 837247"/>
                  <a:gd name="connsiteX13" fmla="*/ 343924 w 667170"/>
                  <a:gd name="connsiteY13" fmla="*/ 698087 h 837247"/>
                  <a:gd name="connsiteX14" fmla="*/ 68080 w 667170"/>
                  <a:gd name="connsiteY14" fmla="*/ 640842 h 837247"/>
                  <a:gd name="connsiteX15" fmla="*/ 13978 w 667170"/>
                  <a:gd name="connsiteY15" fmla="*/ 768572 h 837247"/>
                  <a:gd name="connsiteX16" fmla="*/ 328017 w 667170"/>
                  <a:gd name="connsiteY16" fmla="*/ 837247 h 837247"/>
                  <a:gd name="connsiteX17" fmla="*/ 666821 w 667170"/>
                  <a:gd name="connsiteY17" fmla="*/ 593598 h 837247"/>
                  <a:gd name="connsiteX18" fmla="*/ 413552 w 667170"/>
                  <a:gd name="connsiteY18" fmla="*/ 346234 h 83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70" h="837247">
                    <a:moveTo>
                      <a:pt x="413552" y="346234"/>
                    </a:moveTo>
                    <a:lnTo>
                      <a:pt x="413552" y="346043"/>
                    </a:lnTo>
                    <a:lnTo>
                      <a:pt x="270391" y="346043"/>
                    </a:lnTo>
                    <a:cubicBezTo>
                      <a:pt x="190857" y="346043"/>
                      <a:pt x="148376" y="315373"/>
                      <a:pt x="151614" y="241649"/>
                    </a:cubicBezTo>
                    <a:cubicBezTo>
                      <a:pt x="154948" y="163830"/>
                      <a:pt x="239720" y="139256"/>
                      <a:pt x="323255" y="139256"/>
                    </a:cubicBezTo>
                    <a:cubicBezTo>
                      <a:pt x="442317" y="139256"/>
                      <a:pt x="530233" y="167545"/>
                      <a:pt x="571952" y="184309"/>
                    </a:cubicBezTo>
                    <a:lnTo>
                      <a:pt x="626531" y="55912"/>
                    </a:lnTo>
                    <a:cubicBezTo>
                      <a:pt x="580716" y="36004"/>
                      <a:pt x="478608" y="0"/>
                      <a:pt x="339161" y="0"/>
                    </a:cubicBezTo>
                    <a:cubicBezTo>
                      <a:pt x="199906" y="0"/>
                      <a:pt x="8549" y="55245"/>
                      <a:pt x="357" y="243650"/>
                    </a:cubicBezTo>
                    <a:cubicBezTo>
                      <a:pt x="-7644" y="427196"/>
                      <a:pt x="120086" y="488252"/>
                      <a:pt x="253627" y="491204"/>
                    </a:cubicBezTo>
                    <a:lnTo>
                      <a:pt x="253627" y="491395"/>
                    </a:lnTo>
                    <a:lnTo>
                      <a:pt x="396788" y="491395"/>
                    </a:lnTo>
                    <a:cubicBezTo>
                      <a:pt x="476321" y="491395"/>
                      <a:pt x="518803" y="522065"/>
                      <a:pt x="515564" y="595694"/>
                    </a:cubicBezTo>
                    <a:cubicBezTo>
                      <a:pt x="512231" y="673513"/>
                      <a:pt x="427458" y="698087"/>
                      <a:pt x="343924" y="698087"/>
                    </a:cubicBezTo>
                    <a:cubicBezTo>
                      <a:pt x="174855" y="698087"/>
                      <a:pt x="68080" y="640842"/>
                      <a:pt x="68080" y="640842"/>
                    </a:cubicBezTo>
                    <a:lnTo>
                      <a:pt x="13978" y="768572"/>
                    </a:lnTo>
                    <a:cubicBezTo>
                      <a:pt x="13978" y="768572"/>
                      <a:pt x="135612" y="837247"/>
                      <a:pt x="328017" y="837247"/>
                    </a:cubicBezTo>
                    <a:cubicBezTo>
                      <a:pt x="467177" y="837247"/>
                      <a:pt x="658630" y="782003"/>
                      <a:pt x="666821" y="593598"/>
                    </a:cubicBezTo>
                    <a:cubicBezTo>
                      <a:pt x="674727" y="410337"/>
                      <a:pt x="547092" y="349282"/>
                      <a:pt x="413552" y="346234"/>
                    </a:cubicBezTo>
                    <a:close/>
                  </a:path>
                </a:pathLst>
              </a:custGeom>
              <a:solidFill>
                <a:srgbClr val="3C3C3C"/>
              </a:solidFill>
              <a:ln w="9525" cap="flat">
                <a:noFill/>
                <a:prstDash val="solid"/>
                <a:miter/>
              </a:ln>
            </p:spPr>
            <p:txBody>
              <a:bodyPr rtlCol="0" anchor="ctr"/>
              <a:lstStyle/>
              <a:p>
                <a:endParaRPr lang="fr-FR" sz="2400"/>
              </a:p>
            </p:txBody>
          </p:sp>
          <p:sp>
            <p:nvSpPr>
              <p:cNvPr id="24" name="Forme libre : forme 23">
                <a:extLst>
                  <a:ext uri="{FF2B5EF4-FFF2-40B4-BE49-F238E27FC236}">
                    <a16:creationId xmlns:a16="http://schemas.microsoft.com/office/drawing/2014/main" id="{1FA0679D-AE7B-46B1-934A-E8319FC98439}"/>
                  </a:ext>
                </a:extLst>
              </p:cNvPr>
              <p:cNvSpPr/>
              <p:nvPr/>
            </p:nvSpPr>
            <p:spPr>
              <a:xfrm>
                <a:off x="5090064" y="3195351"/>
                <a:ext cx="793527" cy="843248"/>
              </a:xfrm>
              <a:custGeom>
                <a:avLst/>
                <a:gdLst>
                  <a:gd name="connsiteX0" fmla="*/ 403765 w 793527"/>
                  <a:gd name="connsiteY0" fmla="*/ 0 h 843248"/>
                  <a:gd name="connsiteX1" fmla="*/ 0 w 793527"/>
                  <a:gd name="connsiteY1" fmla="*/ 429578 h 843248"/>
                  <a:gd name="connsiteX2" fmla="*/ 440722 w 793527"/>
                  <a:gd name="connsiteY2" fmla="*/ 843248 h 843248"/>
                  <a:gd name="connsiteX3" fmla="*/ 753808 w 793527"/>
                  <a:gd name="connsiteY3" fmla="*/ 774573 h 843248"/>
                  <a:gd name="connsiteX4" fmla="*/ 695134 w 793527"/>
                  <a:gd name="connsiteY4" fmla="*/ 652081 h 843248"/>
                  <a:gd name="connsiteX5" fmla="*/ 435769 w 793527"/>
                  <a:gd name="connsiteY5" fmla="*/ 703040 h 843248"/>
                  <a:gd name="connsiteX6" fmla="*/ 165163 w 793527"/>
                  <a:gd name="connsiteY6" fmla="*/ 491204 h 843248"/>
                  <a:gd name="connsiteX7" fmla="*/ 632460 w 793527"/>
                  <a:gd name="connsiteY7" fmla="*/ 491204 h 843248"/>
                  <a:gd name="connsiteX8" fmla="*/ 793528 w 793527"/>
                  <a:gd name="connsiteY8" fmla="*/ 491204 h 843248"/>
                  <a:gd name="connsiteX9" fmla="*/ 793528 w 793527"/>
                  <a:gd name="connsiteY9" fmla="*/ 419671 h 843248"/>
                  <a:gd name="connsiteX10" fmla="*/ 403765 w 793527"/>
                  <a:gd name="connsiteY10" fmla="*/ 0 h 843248"/>
                  <a:gd name="connsiteX11" fmla="*/ 167068 w 793527"/>
                  <a:gd name="connsiteY11" fmla="*/ 359950 h 843248"/>
                  <a:gd name="connsiteX12" fmla="*/ 409670 w 793527"/>
                  <a:gd name="connsiteY12" fmla="*/ 135255 h 843248"/>
                  <a:gd name="connsiteX13" fmla="*/ 630460 w 793527"/>
                  <a:gd name="connsiteY13" fmla="*/ 359950 h 843248"/>
                  <a:gd name="connsiteX14" fmla="*/ 167068 w 793527"/>
                  <a:gd name="connsiteY14" fmla="*/ 359950 h 84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3527" h="843248">
                    <a:moveTo>
                      <a:pt x="403765" y="0"/>
                    </a:moveTo>
                    <a:cubicBezTo>
                      <a:pt x="173069" y="0"/>
                      <a:pt x="0" y="133255"/>
                      <a:pt x="0" y="429578"/>
                    </a:cubicBezTo>
                    <a:cubicBezTo>
                      <a:pt x="0" y="725900"/>
                      <a:pt x="218218" y="843248"/>
                      <a:pt x="440722" y="843248"/>
                    </a:cubicBezTo>
                    <a:cubicBezTo>
                      <a:pt x="645985" y="843248"/>
                      <a:pt x="753808" y="774573"/>
                      <a:pt x="753808" y="774573"/>
                    </a:cubicBezTo>
                    <a:lnTo>
                      <a:pt x="695134" y="652081"/>
                    </a:lnTo>
                    <a:cubicBezTo>
                      <a:pt x="695134" y="652081"/>
                      <a:pt x="615601" y="703040"/>
                      <a:pt x="435769" y="703040"/>
                    </a:cubicBezTo>
                    <a:cubicBezTo>
                      <a:pt x="314039" y="703040"/>
                      <a:pt x="183070" y="666274"/>
                      <a:pt x="165163" y="491204"/>
                    </a:cubicBezTo>
                    <a:lnTo>
                      <a:pt x="632460" y="491204"/>
                    </a:lnTo>
                    <a:lnTo>
                      <a:pt x="793528" y="491204"/>
                    </a:lnTo>
                    <a:lnTo>
                      <a:pt x="793528" y="419671"/>
                    </a:lnTo>
                    <a:cubicBezTo>
                      <a:pt x="793528" y="149162"/>
                      <a:pt x="668274" y="0"/>
                      <a:pt x="403765" y="0"/>
                    </a:cubicBezTo>
                    <a:close/>
                    <a:moveTo>
                      <a:pt x="167068" y="359950"/>
                    </a:moveTo>
                    <a:cubicBezTo>
                      <a:pt x="184975" y="186880"/>
                      <a:pt x="274415" y="135255"/>
                      <a:pt x="409670" y="135255"/>
                    </a:cubicBezTo>
                    <a:cubicBezTo>
                      <a:pt x="554831" y="135255"/>
                      <a:pt x="620458" y="204883"/>
                      <a:pt x="630460" y="359950"/>
                    </a:cubicBezTo>
                    <a:lnTo>
                      <a:pt x="167068" y="359950"/>
                    </a:lnTo>
                    <a:close/>
                  </a:path>
                </a:pathLst>
              </a:custGeom>
              <a:solidFill>
                <a:srgbClr val="3C3C3C"/>
              </a:solidFill>
              <a:ln w="9525" cap="flat">
                <a:noFill/>
                <a:prstDash val="solid"/>
                <a:miter/>
              </a:ln>
            </p:spPr>
            <p:txBody>
              <a:bodyPr rtlCol="0" anchor="ctr"/>
              <a:lstStyle/>
              <a:p>
                <a:endParaRPr lang="fr-FR" sz="2400"/>
              </a:p>
            </p:txBody>
          </p:sp>
          <p:sp>
            <p:nvSpPr>
              <p:cNvPr id="25" name="Forme libre : forme 24">
                <a:extLst>
                  <a:ext uri="{FF2B5EF4-FFF2-40B4-BE49-F238E27FC236}">
                    <a16:creationId xmlns:a16="http://schemas.microsoft.com/office/drawing/2014/main" id="{024850A8-8D36-482C-89B1-9A0DF65551BD}"/>
                  </a:ext>
                </a:extLst>
              </p:cNvPr>
              <p:cNvSpPr/>
              <p:nvPr/>
            </p:nvSpPr>
            <p:spPr>
              <a:xfrm>
                <a:off x="4311705" y="3199161"/>
                <a:ext cx="667170" cy="837247"/>
              </a:xfrm>
              <a:custGeom>
                <a:avLst/>
                <a:gdLst>
                  <a:gd name="connsiteX0" fmla="*/ 413552 w 667170"/>
                  <a:gd name="connsiteY0" fmla="*/ 346234 h 837247"/>
                  <a:gd name="connsiteX1" fmla="*/ 413552 w 667170"/>
                  <a:gd name="connsiteY1" fmla="*/ 346043 h 837247"/>
                  <a:gd name="connsiteX2" fmla="*/ 270391 w 667170"/>
                  <a:gd name="connsiteY2" fmla="*/ 346043 h 837247"/>
                  <a:gd name="connsiteX3" fmla="*/ 151614 w 667170"/>
                  <a:gd name="connsiteY3" fmla="*/ 241649 h 837247"/>
                  <a:gd name="connsiteX4" fmla="*/ 323255 w 667170"/>
                  <a:gd name="connsiteY4" fmla="*/ 139256 h 837247"/>
                  <a:gd name="connsiteX5" fmla="*/ 571952 w 667170"/>
                  <a:gd name="connsiteY5" fmla="*/ 184309 h 837247"/>
                  <a:gd name="connsiteX6" fmla="*/ 626531 w 667170"/>
                  <a:gd name="connsiteY6" fmla="*/ 55912 h 837247"/>
                  <a:gd name="connsiteX7" fmla="*/ 339161 w 667170"/>
                  <a:gd name="connsiteY7" fmla="*/ 0 h 837247"/>
                  <a:gd name="connsiteX8" fmla="*/ 357 w 667170"/>
                  <a:gd name="connsiteY8" fmla="*/ 243650 h 837247"/>
                  <a:gd name="connsiteX9" fmla="*/ 253627 w 667170"/>
                  <a:gd name="connsiteY9" fmla="*/ 491204 h 837247"/>
                  <a:gd name="connsiteX10" fmla="*/ 253627 w 667170"/>
                  <a:gd name="connsiteY10" fmla="*/ 491395 h 837247"/>
                  <a:gd name="connsiteX11" fmla="*/ 396788 w 667170"/>
                  <a:gd name="connsiteY11" fmla="*/ 491395 h 837247"/>
                  <a:gd name="connsiteX12" fmla="*/ 515564 w 667170"/>
                  <a:gd name="connsiteY12" fmla="*/ 595694 h 837247"/>
                  <a:gd name="connsiteX13" fmla="*/ 343924 w 667170"/>
                  <a:gd name="connsiteY13" fmla="*/ 698087 h 837247"/>
                  <a:gd name="connsiteX14" fmla="*/ 68080 w 667170"/>
                  <a:gd name="connsiteY14" fmla="*/ 640842 h 837247"/>
                  <a:gd name="connsiteX15" fmla="*/ 13978 w 667170"/>
                  <a:gd name="connsiteY15" fmla="*/ 768572 h 837247"/>
                  <a:gd name="connsiteX16" fmla="*/ 328017 w 667170"/>
                  <a:gd name="connsiteY16" fmla="*/ 837247 h 837247"/>
                  <a:gd name="connsiteX17" fmla="*/ 666821 w 667170"/>
                  <a:gd name="connsiteY17" fmla="*/ 593598 h 837247"/>
                  <a:gd name="connsiteX18" fmla="*/ 413552 w 667170"/>
                  <a:gd name="connsiteY18" fmla="*/ 346234 h 83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67170" h="837247">
                    <a:moveTo>
                      <a:pt x="413552" y="346234"/>
                    </a:moveTo>
                    <a:lnTo>
                      <a:pt x="413552" y="346043"/>
                    </a:lnTo>
                    <a:lnTo>
                      <a:pt x="270391" y="346043"/>
                    </a:lnTo>
                    <a:cubicBezTo>
                      <a:pt x="190857" y="346043"/>
                      <a:pt x="148376" y="315373"/>
                      <a:pt x="151614" y="241649"/>
                    </a:cubicBezTo>
                    <a:cubicBezTo>
                      <a:pt x="154948" y="163830"/>
                      <a:pt x="239720" y="139256"/>
                      <a:pt x="323255" y="139256"/>
                    </a:cubicBezTo>
                    <a:cubicBezTo>
                      <a:pt x="442317" y="139256"/>
                      <a:pt x="530233" y="167545"/>
                      <a:pt x="571952" y="184309"/>
                    </a:cubicBezTo>
                    <a:lnTo>
                      <a:pt x="626531" y="55912"/>
                    </a:lnTo>
                    <a:cubicBezTo>
                      <a:pt x="580715" y="36004"/>
                      <a:pt x="478607" y="0"/>
                      <a:pt x="339161" y="0"/>
                    </a:cubicBezTo>
                    <a:cubicBezTo>
                      <a:pt x="199906" y="0"/>
                      <a:pt x="8549" y="55245"/>
                      <a:pt x="357" y="243650"/>
                    </a:cubicBezTo>
                    <a:cubicBezTo>
                      <a:pt x="-7644" y="427196"/>
                      <a:pt x="120086" y="488252"/>
                      <a:pt x="253627" y="491204"/>
                    </a:cubicBezTo>
                    <a:lnTo>
                      <a:pt x="253627" y="491395"/>
                    </a:lnTo>
                    <a:lnTo>
                      <a:pt x="396788" y="491395"/>
                    </a:lnTo>
                    <a:cubicBezTo>
                      <a:pt x="476321" y="491395"/>
                      <a:pt x="518803" y="522065"/>
                      <a:pt x="515564" y="595694"/>
                    </a:cubicBezTo>
                    <a:cubicBezTo>
                      <a:pt x="512231" y="673513"/>
                      <a:pt x="427458" y="698087"/>
                      <a:pt x="343924" y="698087"/>
                    </a:cubicBezTo>
                    <a:cubicBezTo>
                      <a:pt x="174855" y="698087"/>
                      <a:pt x="68080" y="640842"/>
                      <a:pt x="68080" y="640842"/>
                    </a:cubicBezTo>
                    <a:lnTo>
                      <a:pt x="13978" y="768572"/>
                    </a:lnTo>
                    <a:cubicBezTo>
                      <a:pt x="13978" y="768572"/>
                      <a:pt x="135612" y="837247"/>
                      <a:pt x="328017" y="837247"/>
                    </a:cubicBezTo>
                    <a:cubicBezTo>
                      <a:pt x="467273" y="837247"/>
                      <a:pt x="658630" y="782003"/>
                      <a:pt x="666821" y="593598"/>
                    </a:cubicBezTo>
                    <a:cubicBezTo>
                      <a:pt x="674727" y="410337"/>
                      <a:pt x="547092" y="349282"/>
                      <a:pt x="413552" y="346234"/>
                    </a:cubicBezTo>
                    <a:close/>
                  </a:path>
                </a:pathLst>
              </a:custGeom>
              <a:solidFill>
                <a:srgbClr val="3C3C3C"/>
              </a:solidFill>
              <a:ln w="9525" cap="flat">
                <a:noFill/>
                <a:prstDash val="solid"/>
                <a:miter/>
              </a:ln>
            </p:spPr>
            <p:txBody>
              <a:bodyPr rtlCol="0" anchor="ctr"/>
              <a:lstStyle/>
              <a:p>
                <a:endParaRPr lang="fr-FR" sz="2400"/>
              </a:p>
            </p:txBody>
          </p:sp>
          <p:sp>
            <p:nvSpPr>
              <p:cNvPr id="34" name="Forme libre : forme 33">
                <a:extLst>
                  <a:ext uri="{FF2B5EF4-FFF2-40B4-BE49-F238E27FC236}">
                    <a16:creationId xmlns:a16="http://schemas.microsoft.com/office/drawing/2014/main" id="{C4D8D355-EDAD-414F-BF39-20AEE0C91120}"/>
                  </a:ext>
                </a:extLst>
              </p:cNvPr>
              <p:cNvSpPr/>
              <p:nvPr/>
            </p:nvSpPr>
            <p:spPr>
              <a:xfrm>
                <a:off x="2471737" y="3201066"/>
                <a:ext cx="761618" cy="833246"/>
              </a:xfrm>
              <a:custGeom>
                <a:avLst/>
                <a:gdLst>
                  <a:gd name="connsiteX0" fmla="*/ 378714 w 761618"/>
                  <a:gd name="connsiteY0" fmla="*/ 0 h 833246"/>
                  <a:gd name="connsiteX1" fmla="*/ 66485 w 761618"/>
                  <a:gd name="connsiteY1" fmla="*/ 51244 h 833246"/>
                  <a:gd name="connsiteX2" fmla="*/ 129445 w 761618"/>
                  <a:gd name="connsiteY2" fmla="*/ 179546 h 833246"/>
                  <a:gd name="connsiteX3" fmla="*/ 396716 w 761618"/>
                  <a:gd name="connsiteY3" fmla="*/ 139255 h 833246"/>
                  <a:gd name="connsiteX4" fmla="*/ 602552 w 761618"/>
                  <a:gd name="connsiteY4" fmla="*/ 288798 h 833246"/>
                  <a:gd name="connsiteX5" fmla="*/ 602552 w 761618"/>
                  <a:gd name="connsiteY5" fmla="*/ 338233 h 833246"/>
                  <a:gd name="connsiteX6" fmla="*/ 288322 w 761618"/>
                  <a:gd name="connsiteY6" fmla="*/ 338233 h 833246"/>
                  <a:gd name="connsiteX7" fmla="*/ 0 w 761618"/>
                  <a:gd name="connsiteY7" fmla="*/ 584645 h 833246"/>
                  <a:gd name="connsiteX8" fmla="*/ 310991 w 761618"/>
                  <a:gd name="connsiteY8" fmla="*/ 833247 h 833246"/>
                  <a:gd name="connsiteX9" fmla="*/ 602552 w 761618"/>
                  <a:gd name="connsiteY9" fmla="*/ 718756 h 833246"/>
                  <a:gd name="connsiteX10" fmla="*/ 602552 w 761618"/>
                  <a:gd name="connsiteY10" fmla="*/ 833247 h 833246"/>
                  <a:gd name="connsiteX11" fmla="*/ 761619 w 761618"/>
                  <a:gd name="connsiteY11" fmla="*/ 833247 h 833246"/>
                  <a:gd name="connsiteX12" fmla="*/ 761619 w 761618"/>
                  <a:gd name="connsiteY12" fmla="*/ 243554 h 833246"/>
                  <a:gd name="connsiteX13" fmla="*/ 378714 w 761618"/>
                  <a:gd name="connsiteY13" fmla="*/ 0 h 833246"/>
                  <a:gd name="connsiteX14" fmla="*/ 602552 w 761618"/>
                  <a:gd name="connsiteY14" fmla="*/ 507206 h 833246"/>
                  <a:gd name="connsiteX15" fmla="*/ 340328 w 761618"/>
                  <a:gd name="connsiteY15" fmla="*/ 701992 h 833246"/>
                  <a:gd name="connsiteX16" fmla="*/ 163068 w 761618"/>
                  <a:gd name="connsiteY16" fmla="*/ 582644 h 833246"/>
                  <a:gd name="connsiteX17" fmla="*/ 298323 w 761618"/>
                  <a:gd name="connsiteY17" fmla="*/ 463296 h 833246"/>
                  <a:gd name="connsiteX18" fmla="*/ 602647 w 761618"/>
                  <a:gd name="connsiteY18" fmla="*/ 463296 h 833246"/>
                  <a:gd name="connsiteX19" fmla="*/ 602647 w 761618"/>
                  <a:gd name="connsiteY19" fmla="*/ 507206 h 83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61618" h="833246">
                    <a:moveTo>
                      <a:pt x="378714" y="0"/>
                    </a:moveTo>
                    <a:cubicBezTo>
                      <a:pt x="232886" y="0"/>
                      <a:pt x="123063" y="30861"/>
                      <a:pt x="66485" y="51244"/>
                    </a:cubicBezTo>
                    <a:lnTo>
                      <a:pt x="129445" y="179546"/>
                    </a:lnTo>
                    <a:cubicBezTo>
                      <a:pt x="180880" y="162687"/>
                      <a:pt x="274320" y="139255"/>
                      <a:pt x="396716" y="139255"/>
                    </a:cubicBezTo>
                    <a:cubicBezTo>
                      <a:pt x="491204" y="139255"/>
                      <a:pt x="602552" y="164973"/>
                      <a:pt x="602552" y="288798"/>
                    </a:cubicBezTo>
                    <a:cubicBezTo>
                      <a:pt x="602552" y="288798"/>
                      <a:pt x="602361" y="334042"/>
                      <a:pt x="602552" y="338233"/>
                    </a:cubicBezTo>
                    <a:lnTo>
                      <a:pt x="288322" y="338233"/>
                    </a:lnTo>
                    <a:cubicBezTo>
                      <a:pt x="129254" y="338042"/>
                      <a:pt x="0" y="393763"/>
                      <a:pt x="0" y="584645"/>
                    </a:cubicBezTo>
                    <a:cubicBezTo>
                      <a:pt x="0" y="755332"/>
                      <a:pt x="139732" y="833247"/>
                      <a:pt x="310991" y="833247"/>
                    </a:cubicBezTo>
                    <a:cubicBezTo>
                      <a:pt x="513779" y="833247"/>
                      <a:pt x="602552" y="718756"/>
                      <a:pt x="602552" y="718756"/>
                    </a:cubicBezTo>
                    <a:lnTo>
                      <a:pt x="602552" y="833247"/>
                    </a:lnTo>
                    <a:lnTo>
                      <a:pt x="761619" y="833247"/>
                    </a:lnTo>
                    <a:lnTo>
                      <a:pt x="761619" y="243554"/>
                    </a:lnTo>
                    <a:cubicBezTo>
                      <a:pt x="752475" y="55150"/>
                      <a:pt x="536067" y="0"/>
                      <a:pt x="378714" y="0"/>
                    </a:cubicBezTo>
                    <a:close/>
                    <a:moveTo>
                      <a:pt x="602552" y="507206"/>
                    </a:moveTo>
                    <a:cubicBezTo>
                      <a:pt x="602552" y="630364"/>
                      <a:pt x="445294" y="701992"/>
                      <a:pt x="340328" y="701992"/>
                    </a:cubicBezTo>
                    <a:cubicBezTo>
                      <a:pt x="262795" y="701992"/>
                      <a:pt x="163068" y="676084"/>
                      <a:pt x="163068" y="582644"/>
                    </a:cubicBezTo>
                    <a:cubicBezTo>
                      <a:pt x="163068" y="489204"/>
                      <a:pt x="216789" y="463296"/>
                      <a:pt x="298323" y="463296"/>
                    </a:cubicBezTo>
                    <a:lnTo>
                      <a:pt x="602647" y="463296"/>
                    </a:lnTo>
                    <a:lnTo>
                      <a:pt x="602647" y="507206"/>
                    </a:lnTo>
                    <a:close/>
                  </a:path>
                </a:pathLst>
              </a:custGeom>
              <a:solidFill>
                <a:srgbClr val="3C3C3C"/>
              </a:solidFill>
              <a:ln w="9525" cap="flat">
                <a:noFill/>
                <a:prstDash val="solid"/>
                <a:miter/>
              </a:ln>
            </p:spPr>
            <p:txBody>
              <a:bodyPr rtlCol="0" anchor="ctr"/>
              <a:lstStyle/>
              <a:p>
                <a:endParaRPr lang="fr-FR" sz="2400"/>
              </a:p>
            </p:txBody>
          </p:sp>
        </p:grpSp>
        <p:sp>
          <p:nvSpPr>
            <p:cNvPr id="17" name="Forme libre : forme 16">
              <a:extLst>
                <a:ext uri="{FF2B5EF4-FFF2-40B4-BE49-F238E27FC236}">
                  <a16:creationId xmlns:a16="http://schemas.microsoft.com/office/drawing/2014/main" id="{7148A700-F7D8-4402-9F95-58B18F8C236D}"/>
                </a:ext>
              </a:extLst>
            </p:cNvPr>
            <p:cNvSpPr/>
            <p:nvPr/>
          </p:nvSpPr>
          <p:spPr>
            <a:xfrm>
              <a:off x="4142993" y="1104900"/>
              <a:ext cx="859916" cy="433102"/>
            </a:xfrm>
            <a:custGeom>
              <a:avLst/>
              <a:gdLst>
                <a:gd name="connsiteX0" fmla="*/ 859917 w 859916"/>
                <a:gd name="connsiteY0" fmla="*/ 124968 h 433102"/>
                <a:gd name="connsiteX1" fmla="*/ 431387 w 859916"/>
                <a:gd name="connsiteY1" fmla="*/ 0 h 433102"/>
                <a:gd name="connsiteX2" fmla="*/ 0 w 859916"/>
                <a:gd name="connsiteY2" fmla="*/ 118967 h 433102"/>
                <a:gd name="connsiteX3" fmla="*/ 430435 w 859916"/>
                <a:gd name="connsiteY3" fmla="*/ 433102 h 433102"/>
                <a:gd name="connsiteX4" fmla="*/ 859917 w 859916"/>
                <a:gd name="connsiteY4" fmla="*/ 124968 h 43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916" h="433102">
                  <a:moveTo>
                    <a:pt x="859917" y="124968"/>
                  </a:moveTo>
                  <a:cubicBezTo>
                    <a:pt x="742759" y="49720"/>
                    <a:pt x="588645" y="0"/>
                    <a:pt x="431387" y="0"/>
                  </a:cubicBezTo>
                  <a:cubicBezTo>
                    <a:pt x="285274" y="0"/>
                    <a:pt x="134779" y="35719"/>
                    <a:pt x="0" y="118967"/>
                  </a:cubicBezTo>
                  <a:cubicBezTo>
                    <a:pt x="0" y="118967"/>
                    <a:pt x="183642" y="432530"/>
                    <a:pt x="430435" y="433102"/>
                  </a:cubicBezTo>
                  <a:cubicBezTo>
                    <a:pt x="677132" y="433673"/>
                    <a:pt x="859917" y="124968"/>
                    <a:pt x="859917" y="124968"/>
                  </a:cubicBezTo>
                  <a:close/>
                </a:path>
              </a:pathLst>
            </a:custGeom>
            <a:solidFill>
              <a:srgbClr val="FFE800"/>
            </a:solidFill>
            <a:ln w="9525" cap="flat">
              <a:noFill/>
              <a:prstDash val="solid"/>
              <a:miter/>
            </a:ln>
          </p:spPr>
          <p:txBody>
            <a:bodyPr rtlCol="0" anchor="ctr"/>
            <a:lstStyle/>
            <a:p>
              <a:endParaRPr lang="fr-FR" sz="2400"/>
            </a:p>
          </p:txBody>
        </p:sp>
        <p:sp>
          <p:nvSpPr>
            <p:cNvPr id="18" name="Forme libre : forme 17">
              <a:extLst>
                <a:ext uri="{FF2B5EF4-FFF2-40B4-BE49-F238E27FC236}">
                  <a16:creationId xmlns:a16="http://schemas.microsoft.com/office/drawing/2014/main" id="{043231D7-5025-44C3-900B-149CF010FC9F}"/>
                </a:ext>
              </a:extLst>
            </p:cNvPr>
            <p:cNvSpPr/>
            <p:nvPr/>
          </p:nvSpPr>
          <p:spPr>
            <a:xfrm>
              <a:off x="3749374" y="1300924"/>
              <a:ext cx="466844" cy="817244"/>
            </a:xfrm>
            <a:custGeom>
              <a:avLst/>
              <a:gdLst>
                <a:gd name="connsiteX0" fmla="*/ 287416 w 466844"/>
                <a:gd name="connsiteY0" fmla="*/ 0 h 817244"/>
                <a:gd name="connsiteX1" fmla="*/ 40051 w 466844"/>
                <a:gd name="connsiteY1" fmla="*/ 371570 h 817244"/>
                <a:gd name="connsiteX2" fmla="*/ 24145 w 466844"/>
                <a:gd name="connsiteY2" fmla="*/ 817245 h 817244"/>
                <a:gd name="connsiteX3" fmla="*/ 451722 w 466844"/>
                <a:gd name="connsiteY3" fmla="*/ 506444 h 817244"/>
                <a:gd name="connsiteX4" fmla="*/ 287416 w 466844"/>
                <a:gd name="connsiteY4" fmla="*/ 0 h 817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844" h="817244">
                  <a:moveTo>
                    <a:pt x="287416" y="0"/>
                  </a:moveTo>
                  <a:cubicBezTo>
                    <a:pt x="175021" y="94488"/>
                    <a:pt x="88915" y="222123"/>
                    <a:pt x="40051" y="371570"/>
                  </a:cubicBezTo>
                  <a:cubicBezTo>
                    <a:pt x="-8907" y="521018"/>
                    <a:pt x="-11479" y="669322"/>
                    <a:pt x="24145" y="817245"/>
                  </a:cubicBezTo>
                  <a:cubicBezTo>
                    <a:pt x="24145" y="817245"/>
                    <a:pt x="374855" y="740855"/>
                    <a:pt x="451722" y="506444"/>
                  </a:cubicBezTo>
                  <a:cubicBezTo>
                    <a:pt x="528589" y="272034"/>
                    <a:pt x="287416" y="0"/>
                    <a:pt x="287416" y="0"/>
                  </a:cubicBezTo>
                  <a:close/>
                </a:path>
              </a:pathLst>
            </a:custGeom>
            <a:solidFill>
              <a:srgbClr val="FF9940"/>
            </a:solidFill>
            <a:ln w="9525" cap="flat">
              <a:noFill/>
              <a:prstDash val="solid"/>
              <a:miter/>
            </a:ln>
          </p:spPr>
          <p:txBody>
            <a:bodyPr rtlCol="0" anchor="ctr"/>
            <a:lstStyle/>
            <a:p>
              <a:endParaRPr lang="fr-FR" sz="2400"/>
            </a:p>
          </p:txBody>
        </p:sp>
        <p:sp>
          <p:nvSpPr>
            <p:cNvPr id="19" name="Forme libre : forme 18">
              <a:extLst>
                <a:ext uri="{FF2B5EF4-FFF2-40B4-BE49-F238E27FC236}">
                  <a16:creationId xmlns:a16="http://schemas.microsoft.com/office/drawing/2014/main" id="{A057539C-0DF8-4385-B5A0-076759EE1E9E}"/>
                </a:ext>
              </a:extLst>
            </p:cNvPr>
            <p:cNvSpPr/>
            <p:nvPr/>
          </p:nvSpPr>
          <p:spPr>
            <a:xfrm>
              <a:off x="3810094" y="2167431"/>
              <a:ext cx="695999" cy="571005"/>
            </a:xfrm>
            <a:custGeom>
              <a:avLst/>
              <a:gdLst>
                <a:gd name="connsiteX0" fmla="*/ 0 w 695999"/>
                <a:gd name="connsiteY0" fmla="*/ 63418 h 571005"/>
                <a:gd name="connsiteX1" fmla="*/ 274034 w 695999"/>
                <a:gd name="connsiteY1" fmla="*/ 414986 h 571005"/>
                <a:gd name="connsiteX2" fmla="*/ 693611 w 695999"/>
                <a:gd name="connsiteY2" fmla="*/ 571006 h 571005"/>
                <a:gd name="connsiteX3" fmla="*/ 529400 w 695999"/>
                <a:gd name="connsiteY3" fmla="*/ 65133 h 571005"/>
                <a:gd name="connsiteX4" fmla="*/ 0 w 695999"/>
                <a:gd name="connsiteY4" fmla="*/ 63418 h 57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999" h="571005">
                  <a:moveTo>
                    <a:pt x="0" y="63418"/>
                  </a:moveTo>
                  <a:cubicBezTo>
                    <a:pt x="57436" y="202198"/>
                    <a:pt x="148876" y="322022"/>
                    <a:pt x="274034" y="414986"/>
                  </a:cubicBezTo>
                  <a:cubicBezTo>
                    <a:pt x="400241" y="508712"/>
                    <a:pt x="552926" y="561671"/>
                    <a:pt x="693611" y="571006"/>
                  </a:cubicBezTo>
                  <a:cubicBezTo>
                    <a:pt x="693611" y="571006"/>
                    <a:pt x="728758" y="210675"/>
                    <a:pt x="529400" y="65133"/>
                  </a:cubicBezTo>
                  <a:cubicBezTo>
                    <a:pt x="330041" y="-80409"/>
                    <a:pt x="0" y="63418"/>
                    <a:pt x="0" y="63418"/>
                  </a:cubicBezTo>
                  <a:close/>
                </a:path>
              </a:pathLst>
            </a:custGeom>
            <a:solidFill>
              <a:srgbClr val="E1000F"/>
            </a:solidFill>
            <a:ln w="9525" cap="flat">
              <a:noFill/>
              <a:prstDash val="solid"/>
              <a:miter/>
            </a:ln>
          </p:spPr>
          <p:txBody>
            <a:bodyPr rtlCol="0" anchor="ctr"/>
            <a:lstStyle/>
            <a:p>
              <a:endParaRPr lang="fr-FR" sz="2400"/>
            </a:p>
          </p:txBody>
        </p:sp>
        <p:sp>
          <p:nvSpPr>
            <p:cNvPr id="20" name="Forme libre : forme 19">
              <a:extLst>
                <a:ext uri="{FF2B5EF4-FFF2-40B4-BE49-F238E27FC236}">
                  <a16:creationId xmlns:a16="http://schemas.microsoft.com/office/drawing/2014/main" id="{C9A25EC6-816D-4BF1-B5DF-B2396460CD9C}"/>
                </a:ext>
              </a:extLst>
            </p:cNvPr>
            <p:cNvSpPr/>
            <p:nvPr/>
          </p:nvSpPr>
          <p:spPr>
            <a:xfrm>
              <a:off x="4633686" y="2165635"/>
              <a:ext cx="694216" cy="572421"/>
            </a:xfrm>
            <a:custGeom>
              <a:avLst/>
              <a:gdLst>
                <a:gd name="connsiteX0" fmla="*/ 3178 w 694216"/>
                <a:gd name="connsiteY0" fmla="*/ 572422 h 572421"/>
                <a:gd name="connsiteX1" fmla="*/ 420087 w 694216"/>
                <a:gd name="connsiteY1" fmla="*/ 414783 h 572421"/>
                <a:gd name="connsiteX2" fmla="*/ 694217 w 694216"/>
                <a:gd name="connsiteY2" fmla="*/ 61024 h 572421"/>
                <a:gd name="connsiteX3" fmla="*/ 161960 w 694216"/>
                <a:gd name="connsiteY3" fmla="*/ 66930 h 572421"/>
                <a:gd name="connsiteX4" fmla="*/ 3178 w 694216"/>
                <a:gd name="connsiteY4" fmla="*/ 572422 h 572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4216" h="572421">
                  <a:moveTo>
                    <a:pt x="3178" y="572422"/>
                  </a:moveTo>
                  <a:cubicBezTo>
                    <a:pt x="160817" y="556705"/>
                    <a:pt x="292738" y="506985"/>
                    <a:pt x="420087" y="414783"/>
                  </a:cubicBezTo>
                  <a:cubicBezTo>
                    <a:pt x="543341" y="325533"/>
                    <a:pt x="637162" y="199327"/>
                    <a:pt x="694217" y="61024"/>
                  </a:cubicBezTo>
                  <a:cubicBezTo>
                    <a:pt x="694217" y="61024"/>
                    <a:pt x="360080" y="-80136"/>
                    <a:pt x="161960" y="66930"/>
                  </a:cubicBezTo>
                  <a:cubicBezTo>
                    <a:pt x="-36160" y="213996"/>
                    <a:pt x="3178" y="572422"/>
                    <a:pt x="3178" y="572422"/>
                  </a:cubicBezTo>
                  <a:close/>
                </a:path>
              </a:pathLst>
            </a:custGeom>
            <a:solidFill>
              <a:srgbClr val="5770BE"/>
            </a:solidFill>
            <a:ln w="9525" cap="flat">
              <a:noFill/>
              <a:prstDash val="solid"/>
              <a:miter/>
            </a:ln>
          </p:spPr>
          <p:txBody>
            <a:bodyPr rtlCol="0" anchor="ctr"/>
            <a:lstStyle/>
            <a:p>
              <a:endParaRPr lang="fr-FR" sz="2400"/>
            </a:p>
          </p:txBody>
        </p:sp>
        <p:sp>
          <p:nvSpPr>
            <p:cNvPr id="21" name="Forme libre : forme 20">
              <a:extLst>
                <a:ext uri="{FF2B5EF4-FFF2-40B4-BE49-F238E27FC236}">
                  <a16:creationId xmlns:a16="http://schemas.microsoft.com/office/drawing/2014/main" id="{B6F03869-A025-426A-8DB2-BBE57A2FA149}"/>
                </a:ext>
              </a:extLst>
            </p:cNvPr>
            <p:cNvSpPr/>
            <p:nvPr/>
          </p:nvSpPr>
          <p:spPr>
            <a:xfrm>
              <a:off x="4920405" y="1302353"/>
              <a:ext cx="465742" cy="817435"/>
            </a:xfrm>
            <a:custGeom>
              <a:avLst/>
              <a:gdLst>
                <a:gd name="connsiteX0" fmla="*/ 441883 w 465742"/>
                <a:gd name="connsiteY0" fmla="*/ 817436 h 817435"/>
                <a:gd name="connsiteX1" fmla="*/ 427024 w 465742"/>
                <a:gd name="connsiteY1" fmla="*/ 371189 h 817435"/>
                <a:gd name="connsiteX2" fmla="*/ 180707 w 465742"/>
                <a:gd name="connsiteY2" fmla="*/ 0 h 817435"/>
                <a:gd name="connsiteX3" fmla="*/ 14687 w 465742"/>
                <a:gd name="connsiteY3" fmla="*/ 504158 h 817435"/>
                <a:gd name="connsiteX4" fmla="*/ 441883 w 465742"/>
                <a:gd name="connsiteY4" fmla="*/ 817436 h 81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742" h="817435">
                  <a:moveTo>
                    <a:pt x="441883" y="817436"/>
                  </a:moveTo>
                  <a:cubicBezTo>
                    <a:pt x="476268" y="675799"/>
                    <a:pt x="475316" y="520827"/>
                    <a:pt x="427024" y="371189"/>
                  </a:cubicBezTo>
                  <a:cubicBezTo>
                    <a:pt x="378732" y="221552"/>
                    <a:pt x="292340" y="97917"/>
                    <a:pt x="180707" y="0"/>
                  </a:cubicBezTo>
                  <a:cubicBezTo>
                    <a:pt x="180707" y="0"/>
                    <a:pt x="-61037" y="269272"/>
                    <a:pt x="14687" y="504158"/>
                  </a:cubicBezTo>
                  <a:cubicBezTo>
                    <a:pt x="90410" y="739045"/>
                    <a:pt x="441883" y="817436"/>
                    <a:pt x="441883" y="817436"/>
                  </a:cubicBezTo>
                  <a:close/>
                </a:path>
              </a:pathLst>
            </a:custGeom>
            <a:solidFill>
              <a:srgbClr val="00AC8C"/>
            </a:solidFill>
            <a:ln w="9525" cap="flat">
              <a:noFill/>
              <a:prstDash val="solid"/>
              <a:miter/>
            </a:ln>
          </p:spPr>
          <p:txBody>
            <a:bodyPr rtlCol="0" anchor="ctr"/>
            <a:lstStyle/>
            <a:p>
              <a:endParaRPr lang="fr-FR" sz="2400"/>
            </a:p>
          </p:txBody>
        </p:sp>
      </p:grpSp>
      <p:sp>
        <p:nvSpPr>
          <p:cNvPr id="36" name="Espace réservé du texte 10">
            <a:extLst>
              <a:ext uri="{FF2B5EF4-FFF2-40B4-BE49-F238E27FC236}">
                <a16:creationId xmlns:a16="http://schemas.microsoft.com/office/drawing/2014/main" id="{F1AA8A00-22A6-4AC2-960F-2483AE678205}"/>
              </a:ext>
            </a:extLst>
          </p:cNvPr>
          <p:cNvSpPr>
            <a:spLocks noGrp="1"/>
          </p:cNvSpPr>
          <p:nvPr>
            <p:ph type="body" sz="quarter" idx="14" hasCustomPrompt="1"/>
          </p:nvPr>
        </p:nvSpPr>
        <p:spPr bwMode="gray">
          <a:xfrm>
            <a:off x="480000" y="3128061"/>
            <a:ext cx="11232000" cy="2769600"/>
          </a:xfrm>
        </p:spPr>
        <p:txBody>
          <a:bodyPr/>
          <a:lstStyle>
            <a:lvl1pPr>
              <a:lnSpc>
                <a:spcPct val="90000"/>
              </a:lnSpc>
              <a:spcAft>
                <a:spcPts val="0"/>
              </a:spcAft>
              <a:defRPr sz="4333" b="1" cap="all" baseline="0">
                <a:solidFill>
                  <a:srgbClr val="262626"/>
                </a:solidFill>
              </a:defRPr>
            </a:lvl1pPr>
            <a:lvl2pPr marL="0" indent="0">
              <a:spcBef>
                <a:spcPts val="667"/>
              </a:spcBef>
              <a:spcAft>
                <a:spcPts val="0"/>
              </a:spcAft>
              <a:buNone/>
              <a:defRPr sz="2467" baseline="0"/>
            </a:lvl2pPr>
          </a:lstStyle>
          <a:p>
            <a:pPr lvl="0"/>
            <a:r>
              <a:rPr lang="fr-FR" dirty="0"/>
              <a:t>Titre de la présentation </a:t>
            </a:r>
            <a:br>
              <a:rPr lang="fr-FR" dirty="0"/>
            </a:br>
            <a:r>
              <a:rPr lang="fr-FR" dirty="0"/>
              <a:t>sur deux lignes maximum</a:t>
            </a:r>
          </a:p>
          <a:p>
            <a:pPr lvl="1"/>
            <a:r>
              <a:rPr lang="fr-FR" dirty="0"/>
              <a:t>Sous-titre de la présentation </a:t>
            </a:r>
            <a:br>
              <a:rPr lang="fr-FR" dirty="0"/>
            </a:br>
            <a:r>
              <a:rPr lang="fr-FR" dirty="0"/>
              <a:t>sur deux lignes maximum</a:t>
            </a:r>
          </a:p>
        </p:txBody>
      </p:sp>
      <p:sp>
        <p:nvSpPr>
          <p:cNvPr id="7" name="Espace réservé de la date 6">
            <a:extLst>
              <a:ext uri="{FF2B5EF4-FFF2-40B4-BE49-F238E27FC236}">
                <a16:creationId xmlns:a16="http://schemas.microsoft.com/office/drawing/2014/main" id="{972FC0E8-6F73-4131-92BB-23652B1A5AB6}"/>
              </a:ext>
            </a:extLst>
          </p:cNvPr>
          <p:cNvSpPr>
            <a:spLocks noGrp="1"/>
          </p:cNvSpPr>
          <p:nvPr>
            <p:ph type="dt" sz="half" idx="15"/>
          </p:nvPr>
        </p:nvSpPr>
        <p:spPr>
          <a:xfrm>
            <a:off x="10266300" y="6212901"/>
            <a:ext cx="1560000" cy="282572"/>
          </a:xfrm>
        </p:spPr>
        <p:txBody>
          <a:bodyPr>
            <a:noAutofit/>
          </a:bodyPr>
          <a:lstStyle/>
          <a:p>
            <a:pPr algn="r"/>
            <a:r>
              <a:rPr lang="fr-FR" cap="all"/>
              <a:t>XX/XX/2021</a:t>
            </a:r>
            <a:endParaRPr lang="fr-FR" cap="all" dirty="0"/>
          </a:p>
        </p:txBody>
      </p:sp>
      <p:sp>
        <p:nvSpPr>
          <p:cNvPr id="9" name="Espace réservé du numéro de diapositive 8">
            <a:extLst>
              <a:ext uri="{FF2B5EF4-FFF2-40B4-BE49-F238E27FC236}">
                <a16:creationId xmlns:a16="http://schemas.microsoft.com/office/drawing/2014/main" id="{471DF7BD-76CD-45EB-8FE8-07FE684BDF9D}"/>
              </a:ext>
            </a:extLst>
          </p:cNvPr>
          <p:cNvSpPr>
            <a:spLocks noGrp="1"/>
          </p:cNvSpPr>
          <p:nvPr>
            <p:ph type="sldNum" sz="quarter" idx="17"/>
          </p:nvPr>
        </p:nvSpPr>
        <p:spPr/>
        <p:txBody>
          <a:bodyPr>
            <a:noAutofit/>
          </a:body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85955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1200000"/>
            <a:ext cx="11232000" cy="960000"/>
          </a:xfrm>
        </p:spPr>
        <p:txBody>
          <a:bodyPr/>
          <a:lstStyle>
            <a:lvl1pPr>
              <a:defRPr>
                <a:solidFill>
                  <a:srgbClr val="262626"/>
                </a:solidFill>
              </a:defRPr>
            </a:lvl1pPr>
          </a:lstStyle>
          <a:p>
            <a:r>
              <a:rPr lang="fr-FR" dirty="0"/>
              <a:t>Sommaire</a:t>
            </a:r>
          </a:p>
        </p:txBody>
      </p:sp>
      <p:sp>
        <p:nvSpPr>
          <p:cNvPr id="8" name="Espace réservé du texte 7"/>
          <p:cNvSpPr>
            <a:spLocks noGrp="1"/>
          </p:cNvSpPr>
          <p:nvPr>
            <p:ph type="body" sz="quarter" idx="13" hasCustomPrompt="1"/>
          </p:nvPr>
        </p:nvSpPr>
        <p:spPr bwMode="gray">
          <a:xfrm>
            <a:off x="479997" y="2522624"/>
            <a:ext cx="3360000" cy="3374400"/>
          </a:xfrm>
        </p:spPr>
        <p:txBody>
          <a:bodyPr/>
          <a:lstStyle>
            <a:lvl1pPr marL="191995" indent="-191995">
              <a:spcBef>
                <a:spcPts val="533"/>
              </a:spcBef>
              <a:spcAft>
                <a:spcPts val="1067"/>
              </a:spcAft>
              <a:buFont typeface="+mj-lt"/>
              <a:buNone/>
              <a:defRPr b="1">
                <a:solidFill>
                  <a:schemeClr val="tx2"/>
                </a:solidFill>
              </a:defRPr>
            </a:lvl1pPr>
            <a:lvl2pPr marL="431989" indent="-191995">
              <a:spcBef>
                <a:spcPts val="800"/>
              </a:spcBef>
              <a:spcAft>
                <a:spcPts val="1067"/>
              </a:spcAft>
              <a:buFont typeface="+mj-lt"/>
              <a:buAutoNum type="alphaLcPeriod"/>
              <a:defRPr>
                <a:solidFill>
                  <a:srgbClr val="262626"/>
                </a:solidFill>
              </a:defRPr>
            </a:lvl2pPr>
          </a:lstStyle>
          <a:p>
            <a:pPr lvl="0"/>
            <a:r>
              <a:rPr lang="fr-FR" dirty="0"/>
              <a:t>1. Titre de la partie</a:t>
            </a:r>
          </a:p>
          <a:p>
            <a:pPr lvl="1"/>
            <a:r>
              <a:rPr lang="fr-FR" dirty="0"/>
              <a:t>Deuxième niveau</a:t>
            </a:r>
          </a:p>
        </p:txBody>
      </p:sp>
      <p:sp>
        <p:nvSpPr>
          <p:cNvPr id="9" name="Espace réservé du texte 7"/>
          <p:cNvSpPr>
            <a:spLocks noGrp="1"/>
          </p:cNvSpPr>
          <p:nvPr>
            <p:ph type="body" sz="quarter" idx="14" hasCustomPrompt="1"/>
          </p:nvPr>
        </p:nvSpPr>
        <p:spPr bwMode="gray">
          <a:xfrm>
            <a:off x="4416000" y="2524800"/>
            <a:ext cx="3360000" cy="3374400"/>
          </a:xfrm>
        </p:spPr>
        <p:txBody>
          <a:bodyPr/>
          <a:lstStyle>
            <a:lvl1pPr marL="191995" indent="-191995">
              <a:spcBef>
                <a:spcPts val="533"/>
              </a:spcBef>
              <a:spcAft>
                <a:spcPts val="1067"/>
              </a:spcAft>
              <a:buFont typeface="+mj-lt"/>
              <a:buNone/>
              <a:defRPr b="1">
                <a:solidFill>
                  <a:schemeClr val="accent2"/>
                </a:solidFill>
              </a:defRPr>
            </a:lvl1pPr>
            <a:lvl2pPr marL="431989" indent="-191995">
              <a:spcBef>
                <a:spcPts val="800"/>
              </a:spcBef>
              <a:spcAft>
                <a:spcPts val="1067"/>
              </a:spcAft>
              <a:buFont typeface="+mj-lt"/>
              <a:buAutoNum type="alphaLcPeriod"/>
              <a:defRPr>
                <a:solidFill>
                  <a:srgbClr val="262626"/>
                </a:solidFill>
              </a:defRPr>
            </a:lvl2pPr>
          </a:lstStyle>
          <a:p>
            <a:pPr lvl="0"/>
            <a:r>
              <a:rPr lang="fr-FR" dirty="0"/>
              <a:t>2. Titre de la partie</a:t>
            </a:r>
          </a:p>
          <a:p>
            <a:pPr lvl="1"/>
            <a:r>
              <a:rPr lang="fr-FR" dirty="0"/>
              <a:t>Deuxième niveau</a:t>
            </a:r>
          </a:p>
        </p:txBody>
      </p:sp>
      <p:sp>
        <p:nvSpPr>
          <p:cNvPr id="10" name="Espace réservé du texte 7"/>
          <p:cNvSpPr>
            <a:spLocks noGrp="1"/>
          </p:cNvSpPr>
          <p:nvPr>
            <p:ph type="body" sz="quarter" idx="15" hasCustomPrompt="1"/>
          </p:nvPr>
        </p:nvSpPr>
        <p:spPr bwMode="gray">
          <a:xfrm>
            <a:off x="8351999" y="2524800"/>
            <a:ext cx="3360000" cy="3374400"/>
          </a:xfrm>
        </p:spPr>
        <p:txBody>
          <a:bodyPr/>
          <a:lstStyle>
            <a:lvl1pPr marL="191995" indent="-191995">
              <a:spcBef>
                <a:spcPts val="533"/>
              </a:spcBef>
              <a:spcAft>
                <a:spcPts val="1067"/>
              </a:spcAft>
              <a:buFont typeface="+mj-lt"/>
              <a:buNone/>
              <a:defRPr b="1">
                <a:solidFill>
                  <a:srgbClr val="5770BE"/>
                </a:solidFill>
              </a:defRPr>
            </a:lvl1pPr>
            <a:lvl2pPr marL="431989" indent="-191995">
              <a:spcBef>
                <a:spcPts val="800"/>
              </a:spcBef>
              <a:spcAft>
                <a:spcPts val="1067"/>
              </a:spcAft>
              <a:buFont typeface="+mj-lt"/>
              <a:buAutoNum type="alphaLcPeriod"/>
              <a:defRPr>
                <a:solidFill>
                  <a:srgbClr val="262626"/>
                </a:solidFill>
              </a:defRPr>
            </a:lvl2pPr>
          </a:lstStyle>
          <a:p>
            <a:pPr lvl="0"/>
            <a:r>
              <a:rPr lang="fr-FR" dirty="0"/>
              <a:t>3. Titre de la partie</a:t>
            </a:r>
          </a:p>
          <a:p>
            <a:pPr lvl="1"/>
            <a:r>
              <a:rPr lang="fr-FR" dirty="0"/>
              <a:t>Deuxième niveau</a:t>
            </a:r>
          </a:p>
        </p:txBody>
      </p:sp>
      <p:sp>
        <p:nvSpPr>
          <p:cNvPr id="6" name="Espace réservé de la date 5">
            <a:extLst>
              <a:ext uri="{FF2B5EF4-FFF2-40B4-BE49-F238E27FC236}">
                <a16:creationId xmlns:a16="http://schemas.microsoft.com/office/drawing/2014/main" id="{BA039719-59E1-499E-AE38-46FC3D06F2F1}"/>
              </a:ext>
            </a:extLst>
          </p:cNvPr>
          <p:cNvSpPr>
            <a:spLocks noGrp="1"/>
          </p:cNvSpPr>
          <p:nvPr>
            <p:ph type="dt" sz="half" idx="16"/>
          </p:nvPr>
        </p:nvSpPr>
        <p:spPr/>
        <p:txBody>
          <a:bodyPr/>
          <a:lstStyle>
            <a:lvl1pPr>
              <a:defRPr>
                <a:solidFill>
                  <a:srgbClr val="262626"/>
                </a:solidFill>
              </a:defRPr>
            </a:lvl1pPr>
          </a:lstStyle>
          <a:p>
            <a:pPr algn="r"/>
            <a:r>
              <a:rPr lang="fr-FR" cap="all"/>
              <a:t>XX/XX/2021</a:t>
            </a:r>
            <a:endParaRPr lang="fr-FR" cap="all" dirty="0"/>
          </a:p>
        </p:txBody>
      </p:sp>
      <p:sp>
        <p:nvSpPr>
          <p:cNvPr id="7" name="Espace réservé du pied de page 6">
            <a:extLst>
              <a:ext uri="{FF2B5EF4-FFF2-40B4-BE49-F238E27FC236}">
                <a16:creationId xmlns:a16="http://schemas.microsoft.com/office/drawing/2014/main" id="{54460079-5C05-4907-83D0-F6C237D493D1}"/>
              </a:ext>
            </a:extLst>
          </p:cNvPr>
          <p:cNvSpPr>
            <a:spLocks noGrp="1"/>
          </p:cNvSpPr>
          <p:nvPr>
            <p:ph type="ftr" sz="quarter" idx="17"/>
          </p:nvPr>
        </p:nvSpPr>
        <p:spPr/>
        <p:txBody>
          <a:bodyPr/>
          <a:lstStyle>
            <a:lvl1pPr>
              <a:defRPr>
                <a:solidFill>
                  <a:srgbClr val="262626"/>
                </a:solidFill>
              </a:defRPr>
            </a:lvl1pPr>
          </a:lstStyle>
          <a:p>
            <a:r>
              <a:rPr lang="en-US"/>
              <a:t>SVEPM 2026   -   UNVEILING TEMPORAL AND REGIONAL FACTORS OF ANTIBIOTIC RESISTANCE   -   BAREILLE</a:t>
            </a:r>
            <a:endParaRPr lang="fr-FR" dirty="0"/>
          </a:p>
        </p:txBody>
      </p:sp>
      <p:sp>
        <p:nvSpPr>
          <p:cNvPr id="11"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8"/>
          </p:nvPr>
        </p:nvSpPr>
        <p:spPr/>
        <p:txBody>
          <a:bodyPr/>
          <a:lstStyle>
            <a:lvl1pPr>
              <a:defRPr>
                <a:solidFill>
                  <a:srgbClr val="262626"/>
                </a:solidFill>
              </a:defRPr>
            </a:lvl1pPr>
          </a:lstStyle>
          <a:p>
            <a:fld id="{733122C9-A0B9-462F-8757-0847AD287B63}" type="slidenum">
              <a:rPr lang="fr-FR" smtClean="0"/>
              <a:pPr/>
              <a:t>‹N°›</a:t>
            </a:fld>
            <a:endParaRPr lang="fr-FR" dirty="0"/>
          </a:p>
        </p:txBody>
      </p:sp>
      <p:grpSp>
        <p:nvGrpSpPr>
          <p:cNvPr id="42" name="Groupe 41">
            <a:extLst>
              <a:ext uri="{FF2B5EF4-FFF2-40B4-BE49-F238E27FC236}">
                <a16:creationId xmlns:a16="http://schemas.microsoft.com/office/drawing/2014/main" id="{DD31BDFD-FADC-44D8-B829-1A31B7858F66}"/>
              </a:ext>
            </a:extLst>
          </p:cNvPr>
          <p:cNvGrpSpPr/>
          <p:nvPr userDrawn="1"/>
        </p:nvGrpSpPr>
        <p:grpSpPr>
          <a:xfrm>
            <a:off x="11337925" y="238141"/>
            <a:ext cx="365127" cy="507984"/>
            <a:chOff x="2724335" y="0"/>
            <a:chExt cx="3694565" cy="5140087"/>
          </a:xfrm>
        </p:grpSpPr>
        <p:grpSp>
          <p:nvGrpSpPr>
            <p:cNvPr id="43" name="Groupe 42">
              <a:extLst>
                <a:ext uri="{FF2B5EF4-FFF2-40B4-BE49-F238E27FC236}">
                  <a16:creationId xmlns:a16="http://schemas.microsoft.com/office/drawing/2014/main" id="{68948EC5-1067-4566-82C7-B6A31FB381EE}"/>
                </a:ext>
              </a:extLst>
            </p:cNvPr>
            <p:cNvGrpSpPr/>
            <p:nvPr userDrawn="1"/>
          </p:nvGrpSpPr>
          <p:grpSpPr>
            <a:xfrm>
              <a:off x="2724335" y="4398358"/>
              <a:ext cx="3694565" cy="741729"/>
              <a:chOff x="2724335" y="4398358"/>
              <a:chExt cx="3694565" cy="741729"/>
            </a:xfrm>
          </p:grpSpPr>
          <p:sp>
            <p:nvSpPr>
              <p:cNvPr id="50" name="Forme libre : forme 49">
                <a:extLst>
                  <a:ext uri="{FF2B5EF4-FFF2-40B4-BE49-F238E27FC236}">
                    <a16:creationId xmlns:a16="http://schemas.microsoft.com/office/drawing/2014/main" id="{A9721D01-449C-4E27-8D95-CB388E166391}"/>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sz="2400"/>
              </a:p>
            </p:txBody>
          </p:sp>
          <p:sp>
            <p:nvSpPr>
              <p:cNvPr id="51" name="Forme libre : forme 50">
                <a:extLst>
                  <a:ext uri="{FF2B5EF4-FFF2-40B4-BE49-F238E27FC236}">
                    <a16:creationId xmlns:a16="http://schemas.microsoft.com/office/drawing/2014/main" id="{D4EF4E18-1600-4951-B2D3-81EA9BB0A9D0}"/>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52" name="Forme libre : forme 51">
                <a:extLst>
                  <a:ext uri="{FF2B5EF4-FFF2-40B4-BE49-F238E27FC236}">
                    <a16:creationId xmlns:a16="http://schemas.microsoft.com/office/drawing/2014/main" id="{3284962D-7A7F-4349-9250-20D40BD3FEC1}"/>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sz="2400"/>
              </a:p>
            </p:txBody>
          </p:sp>
          <p:sp>
            <p:nvSpPr>
              <p:cNvPr id="53" name="Forme libre : forme 52">
                <a:extLst>
                  <a:ext uri="{FF2B5EF4-FFF2-40B4-BE49-F238E27FC236}">
                    <a16:creationId xmlns:a16="http://schemas.microsoft.com/office/drawing/2014/main" id="{476FCF11-4108-40BC-8178-ADD787625181}"/>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54" name="Forme libre : forme 53">
                <a:extLst>
                  <a:ext uri="{FF2B5EF4-FFF2-40B4-BE49-F238E27FC236}">
                    <a16:creationId xmlns:a16="http://schemas.microsoft.com/office/drawing/2014/main" id="{D22E4527-8C28-490C-A537-25A59F3C9541}"/>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sz="2400"/>
              </a:p>
            </p:txBody>
          </p:sp>
        </p:grpSp>
        <p:grpSp>
          <p:nvGrpSpPr>
            <p:cNvPr id="44" name="Groupe 43">
              <a:extLst>
                <a:ext uri="{FF2B5EF4-FFF2-40B4-BE49-F238E27FC236}">
                  <a16:creationId xmlns:a16="http://schemas.microsoft.com/office/drawing/2014/main" id="{7A93ACC7-0FC5-4E42-9A92-E233EF4B3BDD}"/>
                </a:ext>
              </a:extLst>
            </p:cNvPr>
            <p:cNvGrpSpPr/>
            <p:nvPr userDrawn="1"/>
          </p:nvGrpSpPr>
          <p:grpSpPr>
            <a:xfrm>
              <a:off x="2752472" y="0"/>
              <a:ext cx="3638377" cy="3631244"/>
              <a:chOff x="2752472" y="0"/>
              <a:chExt cx="3638377" cy="3631244"/>
            </a:xfrm>
          </p:grpSpPr>
          <p:sp>
            <p:nvSpPr>
              <p:cNvPr id="45" name="Forme libre : forme 44">
                <a:extLst>
                  <a:ext uri="{FF2B5EF4-FFF2-40B4-BE49-F238E27FC236}">
                    <a16:creationId xmlns:a16="http://schemas.microsoft.com/office/drawing/2014/main" id="{57603CFD-4D04-4A34-A606-ACDAC0C83EBE}"/>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sz="2400"/>
              </a:p>
            </p:txBody>
          </p:sp>
          <p:sp>
            <p:nvSpPr>
              <p:cNvPr id="46" name="Forme libre : forme 45">
                <a:extLst>
                  <a:ext uri="{FF2B5EF4-FFF2-40B4-BE49-F238E27FC236}">
                    <a16:creationId xmlns:a16="http://schemas.microsoft.com/office/drawing/2014/main" id="{43458750-899D-4394-B830-1E9A3B51E930}"/>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sz="2400"/>
              </a:p>
            </p:txBody>
          </p:sp>
          <p:sp>
            <p:nvSpPr>
              <p:cNvPr id="47" name="Forme libre : forme 46">
                <a:extLst>
                  <a:ext uri="{FF2B5EF4-FFF2-40B4-BE49-F238E27FC236}">
                    <a16:creationId xmlns:a16="http://schemas.microsoft.com/office/drawing/2014/main" id="{091F78CC-3B11-43B4-8B6D-739240B1A3D0}"/>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sz="2400"/>
              </a:p>
            </p:txBody>
          </p:sp>
          <p:sp>
            <p:nvSpPr>
              <p:cNvPr id="48" name="Forme libre : forme 47">
                <a:extLst>
                  <a:ext uri="{FF2B5EF4-FFF2-40B4-BE49-F238E27FC236}">
                    <a16:creationId xmlns:a16="http://schemas.microsoft.com/office/drawing/2014/main" id="{25815A24-B8B0-4B4D-9625-670E8EA1BFD7}"/>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sz="2400"/>
              </a:p>
            </p:txBody>
          </p:sp>
          <p:sp>
            <p:nvSpPr>
              <p:cNvPr id="49" name="Forme libre : forme 48">
                <a:extLst>
                  <a:ext uri="{FF2B5EF4-FFF2-40B4-BE49-F238E27FC236}">
                    <a16:creationId xmlns:a16="http://schemas.microsoft.com/office/drawing/2014/main" id="{CC32A3B7-91D8-4CBD-9C74-C8A91E4E80F7}"/>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sz="2400"/>
              </a:p>
            </p:txBody>
          </p:sp>
        </p:grpSp>
      </p:grpSp>
    </p:spTree>
    <p:extLst>
      <p:ext uri="{BB962C8B-B14F-4D97-AF65-F5344CB8AC3E}">
        <p14:creationId xmlns:p14="http://schemas.microsoft.com/office/powerpoint/2010/main" val="5855927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apo de titre 1">
    <p:bg>
      <p:bgPr>
        <a:solidFill>
          <a:schemeClr val="accent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15" name="Groupe 14">
            <a:extLst>
              <a:ext uri="{FF2B5EF4-FFF2-40B4-BE49-F238E27FC236}">
                <a16:creationId xmlns:a16="http://schemas.microsoft.com/office/drawing/2014/main" id="{EF6742AF-C8D3-4ECE-A715-D2E9132A76D7}"/>
              </a:ext>
            </a:extLst>
          </p:cNvPr>
          <p:cNvGrpSpPr/>
          <p:nvPr userDrawn="1"/>
        </p:nvGrpSpPr>
        <p:grpSpPr>
          <a:xfrm>
            <a:off x="6774558" y="2383665"/>
            <a:ext cx="3589316" cy="1769235"/>
            <a:chOff x="1876472" y="1243012"/>
            <a:chExt cx="5386683" cy="2655188"/>
          </a:xfrm>
          <a:solidFill>
            <a:schemeClr val="bg2"/>
          </a:solidFill>
        </p:grpSpPr>
        <p:sp>
          <p:nvSpPr>
            <p:cNvPr id="8" name="Forme libre : forme 7">
              <a:extLst>
                <a:ext uri="{FF2B5EF4-FFF2-40B4-BE49-F238E27FC236}">
                  <a16:creationId xmlns:a16="http://schemas.microsoft.com/office/drawing/2014/main" id="{E89B02AF-DB8F-42C4-A8A6-230344B46333}"/>
                </a:ext>
              </a:extLst>
            </p:cNvPr>
            <p:cNvSpPr/>
            <p:nvPr/>
          </p:nvSpPr>
          <p:spPr>
            <a:xfrm>
              <a:off x="5656023" y="229428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0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1" y="1257586"/>
                    <a:pt x="252143" y="1289495"/>
                  </a:cubicBezTo>
                  <a:cubicBezTo>
                    <a:pt x="438166" y="1143857"/>
                    <a:pt x="587423" y="946595"/>
                    <a:pt x="675434" y="708850"/>
                  </a:cubicBezTo>
                  <a:cubicBezTo>
                    <a:pt x="762493" y="473678"/>
                    <a:pt x="778399" y="229457"/>
                    <a:pt x="733918" y="0"/>
                  </a:cubicBezTo>
                  <a:cubicBezTo>
                    <a:pt x="702390" y="5715"/>
                    <a:pt x="168038" y="108966"/>
                    <a:pt x="32211" y="473202"/>
                  </a:cubicBezTo>
                  <a:close/>
                </a:path>
              </a:pathLst>
            </a:custGeom>
            <a:grpFill/>
            <a:ln w="9525" cap="flat">
              <a:noFill/>
              <a:prstDash val="solid"/>
              <a:miter/>
            </a:ln>
          </p:spPr>
          <p:txBody>
            <a:bodyPr rtlCol="0" anchor="ctr"/>
            <a:lstStyle/>
            <a:p>
              <a:endParaRPr lang="fr-FR" sz="2400"/>
            </a:p>
          </p:txBody>
        </p:sp>
        <p:sp>
          <p:nvSpPr>
            <p:cNvPr id="11" name="Forme libre : forme 10">
              <a:extLst>
                <a:ext uri="{FF2B5EF4-FFF2-40B4-BE49-F238E27FC236}">
                  <a16:creationId xmlns:a16="http://schemas.microsoft.com/office/drawing/2014/main" id="{68B4B2E3-6F03-4BD4-BB28-FCDF5C00B34A}"/>
                </a:ext>
              </a:extLst>
            </p:cNvPr>
            <p:cNvSpPr/>
            <p:nvPr/>
          </p:nvSpPr>
          <p:spPr>
            <a:xfrm>
              <a:off x="6505177" y="260870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1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2" y="1257586"/>
                    <a:pt x="252143" y="1289495"/>
                  </a:cubicBezTo>
                  <a:cubicBezTo>
                    <a:pt x="438167" y="1143857"/>
                    <a:pt x="587423" y="946594"/>
                    <a:pt x="675434" y="708851"/>
                  </a:cubicBezTo>
                  <a:cubicBezTo>
                    <a:pt x="762493" y="473678"/>
                    <a:pt x="778399" y="229457"/>
                    <a:pt x="733918" y="0"/>
                  </a:cubicBezTo>
                  <a:cubicBezTo>
                    <a:pt x="702485" y="5810"/>
                    <a:pt x="168037" y="109061"/>
                    <a:pt x="32211" y="473202"/>
                  </a:cubicBezTo>
                  <a:close/>
                </a:path>
              </a:pathLst>
            </a:custGeom>
            <a:grpFill/>
            <a:ln w="9525" cap="flat">
              <a:noFill/>
              <a:prstDash val="solid"/>
              <a:miter/>
            </a:ln>
          </p:spPr>
          <p:txBody>
            <a:bodyPr rtlCol="0" anchor="ctr"/>
            <a:lstStyle/>
            <a:p>
              <a:endParaRPr lang="fr-FR" sz="2400"/>
            </a:p>
          </p:txBody>
        </p:sp>
        <p:sp>
          <p:nvSpPr>
            <p:cNvPr id="12" name="Forme libre : forme 11">
              <a:extLst>
                <a:ext uri="{FF2B5EF4-FFF2-40B4-BE49-F238E27FC236}">
                  <a16:creationId xmlns:a16="http://schemas.microsoft.com/office/drawing/2014/main" id="{99B404BE-FE54-428A-911D-CAC51B52FD2D}"/>
                </a:ext>
              </a:extLst>
            </p:cNvPr>
            <p:cNvSpPr/>
            <p:nvPr/>
          </p:nvSpPr>
          <p:spPr>
            <a:xfrm>
              <a:off x="2704671" y="1549717"/>
              <a:ext cx="755433" cy="1292256"/>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sp>
          <p:nvSpPr>
            <p:cNvPr id="13" name="Forme libre : forme 12">
              <a:extLst>
                <a:ext uri="{FF2B5EF4-FFF2-40B4-BE49-F238E27FC236}">
                  <a16:creationId xmlns:a16="http://schemas.microsoft.com/office/drawing/2014/main" id="{19526F4F-A482-4075-A175-93D5B6F1862F}"/>
                </a:ext>
              </a:extLst>
            </p:cNvPr>
            <p:cNvSpPr/>
            <p:nvPr/>
          </p:nvSpPr>
          <p:spPr>
            <a:xfrm>
              <a:off x="1876472" y="1243012"/>
              <a:ext cx="755400" cy="1292255"/>
            </a:xfrm>
            <a:custGeom>
              <a:avLst/>
              <a:gdLst>
                <a:gd name="connsiteX0" fmla="*/ 724043 w 755400"/>
                <a:gd name="connsiteY0" fmla="*/ 816102 h 1292256"/>
                <a:gd name="connsiteX1" fmla="*/ 25574 w 755400"/>
                <a:gd name="connsiteY1" fmla="*/ 1292257 h 1292256"/>
                <a:gd name="connsiteX2" fmla="*/ 82534 w 755400"/>
                <a:gd name="connsiteY2" fmla="*/ 575977 h 1292256"/>
                <a:gd name="connsiteX3" fmla="*/ 499824 w 755400"/>
                <a:gd name="connsiteY3" fmla="*/ 0 h 1292256"/>
                <a:gd name="connsiteX4" fmla="*/ 724043 w 755400"/>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00" h="1292256">
                  <a:moveTo>
                    <a:pt x="724043" y="816102"/>
                  </a:moveTo>
                  <a:cubicBezTo>
                    <a:pt x="591074" y="1177671"/>
                    <a:pt x="65579" y="1284637"/>
                    <a:pt x="25574" y="1292257"/>
                  </a:cubicBezTo>
                  <a:cubicBezTo>
                    <a:pt x="-20717" y="1060609"/>
                    <a:pt x="-5572" y="813721"/>
                    <a:pt x="82534" y="575977"/>
                  </a:cubicBezTo>
                  <a:cubicBezTo>
                    <a:pt x="169592" y="340805"/>
                    <a:pt x="316563" y="145161"/>
                    <a:pt x="499824" y="0"/>
                  </a:cubicBezTo>
                  <a:cubicBezTo>
                    <a:pt x="519922" y="24860"/>
                    <a:pt x="858155" y="451295"/>
                    <a:pt x="724043" y="816102"/>
                  </a:cubicBezTo>
                  <a:close/>
                </a:path>
              </a:pathLst>
            </a:custGeom>
            <a:grpFill/>
            <a:ln w="9525" cap="flat">
              <a:noFill/>
              <a:prstDash val="solid"/>
              <a:miter/>
            </a:ln>
          </p:spPr>
          <p:txBody>
            <a:bodyPr rtlCol="0" anchor="ctr"/>
            <a:lstStyle/>
            <a:p>
              <a:endParaRPr lang="fr-FR" sz="2400"/>
            </a:p>
          </p:txBody>
        </p:sp>
      </p:grpSp>
      <p:sp>
        <p:nvSpPr>
          <p:cNvPr id="2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23"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5"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en-US"/>
              <a:t>SVEPM 2026   -   UNVEILING TEMPORAL AND REGIONAL FACTORS OF ANTIBIOTIC RESISTANCE   -   BAREILLE</a:t>
            </a:r>
            <a:endParaRPr lang="fr-FR" dirty="0"/>
          </a:p>
        </p:txBody>
      </p:sp>
    </p:spTree>
    <p:extLst>
      <p:ext uri="{BB962C8B-B14F-4D97-AF65-F5344CB8AC3E}">
        <p14:creationId xmlns:p14="http://schemas.microsoft.com/office/powerpoint/2010/main" val="65550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apo de titre 2">
    <p:bg>
      <p:bgPr>
        <a:solidFill>
          <a:srgbClr val="FFE800"/>
        </a:solidFill>
        <a:effectLst/>
      </p:bgPr>
    </p:bg>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rgbClr val="262626"/>
                </a:solidFill>
              </a:defRPr>
            </a:lvl1pPr>
          </a:lstStyle>
          <a:p>
            <a:r>
              <a:rPr lang="fr-FR" dirty="0"/>
              <a:t>1. Titre de partie</a:t>
            </a:r>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rgbClr val="262626"/>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17" name="Groupe 16">
            <a:extLst>
              <a:ext uri="{FF2B5EF4-FFF2-40B4-BE49-F238E27FC236}">
                <a16:creationId xmlns:a16="http://schemas.microsoft.com/office/drawing/2014/main" id="{11EC5EB1-2433-445A-90EB-40A3439D696C}"/>
              </a:ext>
            </a:extLst>
          </p:cNvPr>
          <p:cNvGrpSpPr/>
          <p:nvPr userDrawn="1"/>
        </p:nvGrpSpPr>
        <p:grpSpPr>
          <a:xfrm>
            <a:off x="6360160" y="1702960"/>
            <a:ext cx="3413760" cy="3360563"/>
            <a:chOff x="2024062" y="61912"/>
            <a:chExt cx="5097779" cy="5018340"/>
          </a:xfrm>
          <a:solidFill>
            <a:srgbClr val="FF9940"/>
          </a:solidFill>
        </p:grpSpPr>
        <p:sp>
          <p:nvSpPr>
            <p:cNvPr id="18" name="Forme libre : forme 7">
              <a:extLst>
                <a:ext uri="{FF2B5EF4-FFF2-40B4-BE49-F238E27FC236}">
                  <a16:creationId xmlns:a16="http://schemas.microsoft.com/office/drawing/2014/main" id="{980A77CA-4106-4CFD-9089-5D17008DBD8F}"/>
                </a:ext>
              </a:extLst>
            </p:cNvPr>
            <p:cNvSpPr/>
            <p:nvPr/>
          </p:nvSpPr>
          <p:spPr>
            <a:xfrm>
              <a:off x="4123409" y="3661504"/>
              <a:ext cx="726675" cy="1418748"/>
            </a:xfrm>
            <a:custGeom>
              <a:avLst/>
              <a:gdLst>
                <a:gd name="connsiteX0" fmla="*/ 5487 w 726675"/>
                <a:gd name="connsiteY0" fmla="*/ 635032 h 1418748"/>
                <a:gd name="connsiteX1" fmla="*/ 407442 w 726675"/>
                <a:gd name="connsiteY1" fmla="*/ 1418749 h 1418748"/>
                <a:gd name="connsiteX2" fmla="*/ 712242 w 726675"/>
                <a:gd name="connsiteY2" fmla="*/ 734949 h 1418748"/>
                <a:gd name="connsiteX3" fmla="*/ 617373 w 726675"/>
                <a:gd name="connsiteY3" fmla="*/ 0 h 1418748"/>
                <a:gd name="connsiteX4" fmla="*/ 5487 w 726675"/>
                <a:gd name="connsiteY4" fmla="*/ 635032 h 1418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675" h="1418748">
                  <a:moveTo>
                    <a:pt x="5487" y="635032"/>
                  </a:moveTo>
                  <a:cubicBezTo>
                    <a:pt x="-52996" y="1032129"/>
                    <a:pt x="374581" y="1391888"/>
                    <a:pt x="407442" y="1418749"/>
                  </a:cubicBezTo>
                  <a:cubicBezTo>
                    <a:pt x="565176" y="1229868"/>
                    <a:pt x="674333" y="996315"/>
                    <a:pt x="712242" y="734949"/>
                  </a:cubicBezTo>
                  <a:cubicBezTo>
                    <a:pt x="749771" y="476345"/>
                    <a:pt x="712718" y="224028"/>
                    <a:pt x="617373" y="0"/>
                  </a:cubicBezTo>
                  <a:cubicBezTo>
                    <a:pt x="586512" y="12763"/>
                    <a:pt x="64447" y="234410"/>
                    <a:pt x="5487" y="635032"/>
                  </a:cubicBezTo>
                  <a:close/>
                </a:path>
              </a:pathLst>
            </a:custGeom>
            <a:grpFill/>
            <a:ln w="9525" cap="flat">
              <a:noFill/>
              <a:prstDash val="solid"/>
              <a:miter/>
            </a:ln>
          </p:spPr>
          <p:txBody>
            <a:bodyPr rtlCol="0" anchor="ctr"/>
            <a:lstStyle/>
            <a:p>
              <a:endParaRPr lang="fr-FR" sz="2400"/>
            </a:p>
          </p:txBody>
        </p:sp>
        <p:sp>
          <p:nvSpPr>
            <p:cNvPr id="19" name="Forme libre : forme 10">
              <a:extLst>
                <a:ext uri="{FF2B5EF4-FFF2-40B4-BE49-F238E27FC236}">
                  <a16:creationId xmlns:a16="http://schemas.microsoft.com/office/drawing/2014/main" id="{0249ABE6-2F7B-4AA0-8FB6-54E6BF81A1B2}"/>
                </a:ext>
              </a:extLst>
            </p:cNvPr>
            <p:cNvSpPr/>
            <p:nvPr/>
          </p:nvSpPr>
          <p:spPr>
            <a:xfrm>
              <a:off x="5837681" y="2484253"/>
              <a:ext cx="1284160" cy="839943"/>
            </a:xfrm>
            <a:custGeom>
              <a:avLst/>
              <a:gdLst>
                <a:gd name="connsiteX0" fmla="*/ 414814 w 1284160"/>
                <a:gd name="connsiteY0" fmla="*/ 783012 h 839943"/>
                <a:gd name="connsiteX1" fmla="*/ 1284161 w 1284160"/>
                <a:gd name="connsiteY1" fmla="*/ 643185 h 839943"/>
                <a:gd name="connsiteX2" fmla="*/ 316992 w 1284160"/>
                <a:gd name="connsiteY2" fmla="*/ 14345 h 839943"/>
                <a:gd name="connsiteX3" fmla="*/ 0 w 1284160"/>
                <a:gd name="connsiteY3" fmla="*/ 5105 h 839943"/>
                <a:gd name="connsiteX4" fmla="*/ 414814 w 1284160"/>
                <a:gd name="connsiteY4" fmla="*/ 783012 h 839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4160" h="839943">
                  <a:moveTo>
                    <a:pt x="414814" y="783012"/>
                  </a:moveTo>
                  <a:cubicBezTo>
                    <a:pt x="773430" y="960844"/>
                    <a:pt x="1246061" y="667474"/>
                    <a:pt x="1284161" y="643185"/>
                  </a:cubicBezTo>
                  <a:cubicBezTo>
                    <a:pt x="1076801" y="314096"/>
                    <a:pt x="732091" y="74447"/>
                    <a:pt x="316992" y="14345"/>
                  </a:cubicBezTo>
                  <a:cubicBezTo>
                    <a:pt x="209740" y="-1181"/>
                    <a:pt x="103537" y="-3848"/>
                    <a:pt x="0" y="5105"/>
                  </a:cubicBezTo>
                  <a:cubicBezTo>
                    <a:pt x="2572" y="39110"/>
                    <a:pt x="52292" y="603275"/>
                    <a:pt x="414814" y="783012"/>
                  </a:cubicBezTo>
                  <a:close/>
                </a:path>
              </a:pathLst>
            </a:custGeom>
            <a:grpFill/>
            <a:ln w="9525" cap="flat">
              <a:noFill/>
              <a:prstDash val="solid"/>
              <a:miter/>
            </a:ln>
          </p:spPr>
          <p:txBody>
            <a:bodyPr rtlCol="0" anchor="ctr"/>
            <a:lstStyle/>
            <a:p>
              <a:endParaRPr lang="fr-FR" sz="2400"/>
            </a:p>
          </p:txBody>
        </p:sp>
        <p:sp>
          <p:nvSpPr>
            <p:cNvPr id="20" name="Forme libre : forme 11">
              <a:extLst>
                <a:ext uri="{FF2B5EF4-FFF2-40B4-BE49-F238E27FC236}">
                  <a16:creationId xmlns:a16="http://schemas.microsoft.com/office/drawing/2014/main" id="{CF86E031-9A54-4E6A-8774-D463D2F85038}"/>
                </a:ext>
              </a:extLst>
            </p:cNvPr>
            <p:cNvSpPr/>
            <p:nvPr/>
          </p:nvSpPr>
          <p:spPr>
            <a:xfrm>
              <a:off x="5349048" y="61912"/>
              <a:ext cx="1045824" cy="1055342"/>
            </a:xfrm>
            <a:custGeom>
              <a:avLst/>
              <a:gdLst>
                <a:gd name="connsiteX0" fmla="*/ 868775 w 1045824"/>
                <a:gd name="connsiteY0" fmla="*/ 866585 h 1055342"/>
                <a:gd name="connsiteX1" fmla="*/ 1005269 w 1045824"/>
                <a:gd name="connsiteY1" fmla="*/ 0 h 1055342"/>
                <a:gd name="connsiteX2" fmla="*/ 0 w 1045824"/>
                <a:gd name="connsiteY2" fmla="*/ 1020604 h 1055342"/>
                <a:gd name="connsiteX3" fmla="*/ 868775 w 1045824"/>
                <a:gd name="connsiteY3" fmla="*/ 866585 h 1055342"/>
              </a:gdLst>
              <a:ahLst/>
              <a:cxnLst>
                <a:cxn ang="0">
                  <a:pos x="connsiteX0" y="connsiteY0"/>
                </a:cxn>
                <a:cxn ang="0">
                  <a:pos x="connsiteX1" y="connsiteY1"/>
                </a:cxn>
                <a:cxn ang="0">
                  <a:pos x="connsiteX2" y="connsiteY2"/>
                </a:cxn>
                <a:cxn ang="0">
                  <a:pos x="connsiteX3" y="connsiteY3"/>
                </a:cxn>
              </a:cxnLst>
              <a:rect l="l" t="t" r="r" b="b"/>
              <a:pathLst>
                <a:path w="1045824" h="1055342">
                  <a:moveTo>
                    <a:pt x="868775" y="866585"/>
                  </a:moveTo>
                  <a:cubicBezTo>
                    <a:pt x="1142714" y="586645"/>
                    <a:pt x="1021271" y="63341"/>
                    <a:pt x="1005269" y="0"/>
                  </a:cubicBezTo>
                  <a:cubicBezTo>
                    <a:pt x="516731" y="122587"/>
                    <a:pt x="119444" y="509111"/>
                    <a:pt x="0" y="1020604"/>
                  </a:cubicBezTo>
                  <a:cubicBezTo>
                    <a:pt x="24765" y="1026605"/>
                    <a:pt x="583406" y="1158145"/>
                    <a:pt x="868775" y="866585"/>
                  </a:cubicBezTo>
                  <a:close/>
                </a:path>
              </a:pathLst>
            </a:custGeom>
            <a:grpFill/>
            <a:ln w="9525" cap="flat">
              <a:noFill/>
              <a:prstDash val="solid"/>
              <a:miter/>
            </a:ln>
          </p:spPr>
          <p:txBody>
            <a:bodyPr rtlCol="0" anchor="ctr"/>
            <a:lstStyle/>
            <a:p>
              <a:endParaRPr lang="fr-FR" sz="2400"/>
            </a:p>
          </p:txBody>
        </p:sp>
        <p:sp>
          <p:nvSpPr>
            <p:cNvPr id="21" name="Forme libre : forme 12">
              <a:extLst>
                <a:ext uri="{FF2B5EF4-FFF2-40B4-BE49-F238E27FC236}">
                  <a16:creationId xmlns:a16="http://schemas.microsoft.com/office/drawing/2014/main" id="{C59B5725-5F9C-4F97-A8F1-326A63828549}"/>
                </a:ext>
              </a:extLst>
            </p:cNvPr>
            <p:cNvSpPr/>
            <p:nvPr/>
          </p:nvSpPr>
          <p:spPr>
            <a:xfrm>
              <a:off x="2839938" y="68103"/>
              <a:ext cx="853528" cy="1267015"/>
            </a:xfrm>
            <a:custGeom>
              <a:avLst/>
              <a:gdLst>
                <a:gd name="connsiteX0" fmla="*/ 790800 w 853528"/>
                <a:gd name="connsiteY0" fmla="*/ 397955 h 1267015"/>
                <a:gd name="connsiteX1" fmla="*/ 2702 w 853528"/>
                <a:gd name="connsiteY1" fmla="*/ 0 h 1267015"/>
                <a:gd name="connsiteX2" fmla="*/ 671738 w 853528"/>
                <a:gd name="connsiteY2" fmla="*/ 1267016 h 1267015"/>
                <a:gd name="connsiteX3" fmla="*/ 790800 w 853528"/>
                <a:gd name="connsiteY3" fmla="*/ 397955 h 1267015"/>
              </a:gdLst>
              <a:ahLst/>
              <a:cxnLst>
                <a:cxn ang="0">
                  <a:pos x="connsiteX0" y="connsiteY0"/>
                </a:cxn>
                <a:cxn ang="0">
                  <a:pos x="connsiteX1" y="connsiteY1"/>
                </a:cxn>
                <a:cxn ang="0">
                  <a:pos x="connsiteX2" y="connsiteY2"/>
                </a:cxn>
                <a:cxn ang="0">
                  <a:pos x="connsiteX3" y="connsiteY3"/>
                </a:cxn>
              </a:cxnLst>
              <a:rect l="l" t="t" r="r" b="b"/>
              <a:pathLst>
                <a:path w="853528" h="1267015">
                  <a:moveTo>
                    <a:pt x="790800" y="397955"/>
                  </a:moveTo>
                  <a:cubicBezTo>
                    <a:pt x="599824" y="33052"/>
                    <a:pt x="17846" y="762"/>
                    <a:pt x="2702" y="0"/>
                  </a:cubicBezTo>
                  <a:cubicBezTo>
                    <a:pt x="-30160" y="524637"/>
                    <a:pt x="239303" y="1009078"/>
                    <a:pt x="671738" y="1267016"/>
                  </a:cubicBezTo>
                  <a:cubicBezTo>
                    <a:pt x="705456" y="1210723"/>
                    <a:pt x="972347" y="744855"/>
                    <a:pt x="790800" y="397955"/>
                  </a:cubicBezTo>
                  <a:close/>
                </a:path>
              </a:pathLst>
            </a:custGeom>
            <a:grpFill/>
            <a:ln w="9525" cap="flat">
              <a:noFill/>
              <a:prstDash val="solid"/>
              <a:miter/>
            </a:ln>
          </p:spPr>
          <p:txBody>
            <a:bodyPr rtlCol="0" anchor="ctr"/>
            <a:lstStyle/>
            <a:p>
              <a:endParaRPr lang="fr-FR" sz="2400"/>
            </a:p>
          </p:txBody>
        </p:sp>
        <p:sp>
          <p:nvSpPr>
            <p:cNvPr id="22" name="Forme libre : forme 14">
              <a:extLst>
                <a:ext uri="{FF2B5EF4-FFF2-40B4-BE49-F238E27FC236}">
                  <a16:creationId xmlns:a16="http://schemas.microsoft.com/office/drawing/2014/main" id="{FABA9E58-4B46-4EE4-97E2-26E72D584C53}"/>
                </a:ext>
              </a:extLst>
            </p:cNvPr>
            <p:cNvSpPr/>
            <p:nvPr/>
          </p:nvSpPr>
          <p:spPr>
            <a:xfrm>
              <a:off x="2024062" y="2446286"/>
              <a:ext cx="1410176" cy="729358"/>
            </a:xfrm>
            <a:custGeom>
              <a:avLst/>
              <a:gdLst>
                <a:gd name="connsiteX0" fmla="*/ 622173 w 1410176"/>
                <a:gd name="connsiteY0" fmla="*/ 7258 h 729358"/>
                <a:gd name="connsiteX1" fmla="*/ 0 w 1410176"/>
                <a:gd name="connsiteY1" fmla="*/ 634194 h 729358"/>
                <a:gd name="connsiteX2" fmla="*/ 10001 w 1410176"/>
                <a:gd name="connsiteY2" fmla="*/ 638480 h 729358"/>
                <a:gd name="connsiteX3" fmla="*/ 304705 w 1410176"/>
                <a:gd name="connsiteY3" fmla="*/ 714966 h 729358"/>
                <a:gd name="connsiteX4" fmla="*/ 1410176 w 1410176"/>
                <a:gd name="connsiteY4" fmla="*/ 387020 h 729358"/>
                <a:gd name="connsiteX5" fmla="*/ 622173 w 1410176"/>
                <a:gd name="connsiteY5" fmla="*/ 7258 h 729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0176" h="729358">
                  <a:moveTo>
                    <a:pt x="622173" y="7258"/>
                  </a:moveTo>
                  <a:cubicBezTo>
                    <a:pt x="210693" y="76981"/>
                    <a:pt x="0" y="634194"/>
                    <a:pt x="0" y="634194"/>
                  </a:cubicBezTo>
                  <a:cubicBezTo>
                    <a:pt x="3334" y="635718"/>
                    <a:pt x="6668" y="637051"/>
                    <a:pt x="10001" y="638480"/>
                  </a:cubicBezTo>
                  <a:cubicBezTo>
                    <a:pt x="103251" y="674103"/>
                    <a:pt x="201740" y="700106"/>
                    <a:pt x="304705" y="714966"/>
                  </a:cubicBezTo>
                  <a:cubicBezTo>
                    <a:pt x="719614" y="775068"/>
                    <a:pt x="1117949" y="643338"/>
                    <a:pt x="1410176" y="387020"/>
                  </a:cubicBezTo>
                  <a:cubicBezTo>
                    <a:pt x="1359884" y="329870"/>
                    <a:pt x="1003459" y="-57417"/>
                    <a:pt x="622173" y="7258"/>
                  </a:cubicBezTo>
                  <a:close/>
                </a:path>
              </a:pathLst>
            </a:custGeom>
            <a:grpFill/>
            <a:ln w="9525" cap="flat">
              <a:noFill/>
              <a:prstDash val="solid"/>
              <a:miter/>
            </a:ln>
          </p:spPr>
          <p:txBody>
            <a:bodyPr rtlCol="0" anchor="ctr"/>
            <a:lstStyle/>
            <a:p>
              <a:endParaRPr lang="fr-FR" sz="2400"/>
            </a:p>
          </p:txBody>
        </p:sp>
      </p:grpSp>
      <p:sp>
        <p:nvSpPr>
          <p:cNvPr id="23"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a:xfrm>
            <a:off x="8452755" y="6212901"/>
            <a:ext cx="1800000" cy="246221"/>
          </a:xfrm>
        </p:spPr>
        <p:txBody>
          <a:bodyPr/>
          <a:lstStyle>
            <a:lvl1pPr>
              <a:defRPr>
                <a:solidFill>
                  <a:srgbClr val="262626"/>
                </a:solidFill>
              </a:defRPr>
            </a:lvl1pPr>
          </a:lstStyle>
          <a:p>
            <a:fld id="{733122C9-A0B9-462F-8757-0847AD287B63}" type="slidenum">
              <a:rPr lang="fr-FR" smtClean="0"/>
              <a:pPr/>
              <a:t>‹N°›</a:t>
            </a:fld>
            <a:endParaRPr lang="fr-FR" dirty="0"/>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rgbClr val="262626"/>
                </a:solidFill>
              </a:defRPr>
            </a:lvl1pPr>
          </a:lstStyle>
          <a:p>
            <a:pPr algn="r"/>
            <a:r>
              <a:rPr lang="fr-FR" cap="all"/>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rgbClr val="262626"/>
                </a:solidFill>
              </a:defRPr>
            </a:lvl1pPr>
          </a:lstStyle>
          <a:p>
            <a:r>
              <a:rPr lang="en-US"/>
              <a:t>SVEPM 2026   -   UNVEILING TEMPORAL AND REGIONAL FACTORS OF ANTIBIOTIC RESISTANCE   -   BAREILLE</a:t>
            </a:r>
            <a:endParaRPr lang="fr-FR" dirty="0"/>
          </a:p>
        </p:txBody>
      </p:sp>
    </p:spTree>
    <p:extLst>
      <p:ext uri="{BB962C8B-B14F-4D97-AF65-F5344CB8AC3E}">
        <p14:creationId xmlns:p14="http://schemas.microsoft.com/office/powerpoint/2010/main" val="2484258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apo de titre 3">
    <p:bg>
      <p:bgPr>
        <a:solidFill>
          <a:schemeClr val="tx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20" name="Groupe 19">
            <a:extLst>
              <a:ext uri="{FF2B5EF4-FFF2-40B4-BE49-F238E27FC236}">
                <a16:creationId xmlns:a16="http://schemas.microsoft.com/office/drawing/2014/main" id="{14A9D647-00F2-4C4B-BEB2-D75043DB8D0E}"/>
              </a:ext>
            </a:extLst>
          </p:cNvPr>
          <p:cNvGrpSpPr/>
          <p:nvPr userDrawn="1"/>
        </p:nvGrpSpPr>
        <p:grpSpPr>
          <a:xfrm>
            <a:off x="7002138" y="1700147"/>
            <a:ext cx="3394929" cy="3339213"/>
            <a:chOff x="2019290" y="61899"/>
            <a:chExt cx="5102087" cy="5018353"/>
          </a:xfrm>
          <a:solidFill>
            <a:srgbClr val="FFE800"/>
          </a:solidFill>
        </p:grpSpPr>
        <p:sp>
          <p:nvSpPr>
            <p:cNvPr id="14" name="Forme libre : forme 13">
              <a:extLst>
                <a:ext uri="{FF2B5EF4-FFF2-40B4-BE49-F238E27FC236}">
                  <a16:creationId xmlns:a16="http://schemas.microsoft.com/office/drawing/2014/main" id="{0A3EC673-E299-4D73-87EC-841B629A6F7B}"/>
                </a:ext>
              </a:extLst>
            </p:cNvPr>
            <p:cNvSpPr/>
            <p:nvPr/>
          </p:nvSpPr>
          <p:spPr>
            <a:xfrm>
              <a:off x="3946207" y="61899"/>
              <a:ext cx="1278731" cy="636387"/>
            </a:xfrm>
            <a:custGeom>
              <a:avLst/>
              <a:gdLst>
                <a:gd name="connsiteX0" fmla="*/ 636651 w 1278731"/>
                <a:gd name="connsiteY0" fmla="*/ 636378 h 636387"/>
                <a:gd name="connsiteX1" fmla="*/ 1278731 w 1278731"/>
                <a:gd name="connsiteY1" fmla="*/ 184226 h 636387"/>
                <a:gd name="connsiteX2" fmla="*/ 637127 w 1278731"/>
                <a:gd name="connsiteY2" fmla="*/ 13 h 636387"/>
                <a:gd name="connsiteX3" fmla="*/ 0 w 1278731"/>
                <a:gd name="connsiteY3" fmla="*/ 174987 h 636387"/>
                <a:gd name="connsiteX4" fmla="*/ 636651 w 1278731"/>
                <a:gd name="connsiteY4" fmla="*/ 636378 h 636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8731" h="636387">
                  <a:moveTo>
                    <a:pt x="636651" y="636378"/>
                  </a:moveTo>
                  <a:cubicBezTo>
                    <a:pt x="994505" y="638759"/>
                    <a:pt x="1259015" y="216516"/>
                    <a:pt x="1278731" y="184226"/>
                  </a:cubicBezTo>
                  <a:cubicBezTo>
                    <a:pt x="1092422" y="68402"/>
                    <a:pt x="872681" y="1060"/>
                    <a:pt x="637127" y="13"/>
                  </a:cubicBezTo>
                  <a:cubicBezTo>
                    <a:pt x="404146" y="-1035"/>
                    <a:pt x="186023" y="63068"/>
                    <a:pt x="0" y="174987"/>
                  </a:cubicBezTo>
                  <a:cubicBezTo>
                    <a:pt x="15145" y="200609"/>
                    <a:pt x="275558" y="633997"/>
                    <a:pt x="636651" y="636378"/>
                  </a:cubicBezTo>
                  <a:close/>
                </a:path>
              </a:pathLst>
            </a:custGeom>
            <a:grpFill/>
            <a:ln w="9525" cap="flat">
              <a:noFill/>
              <a:prstDash val="solid"/>
              <a:miter/>
            </a:ln>
          </p:spPr>
          <p:txBody>
            <a:bodyPr rtlCol="0" anchor="ctr"/>
            <a:lstStyle/>
            <a:p>
              <a:endParaRPr lang="fr-FR" sz="2400"/>
            </a:p>
          </p:txBody>
        </p:sp>
        <p:sp>
          <p:nvSpPr>
            <p:cNvPr id="16" name="Forme libre : forme 15">
              <a:extLst>
                <a:ext uri="{FF2B5EF4-FFF2-40B4-BE49-F238E27FC236}">
                  <a16:creationId xmlns:a16="http://schemas.microsoft.com/office/drawing/2014/main" id="{CF3A35DC-7A8C-4C7B-88C4-1FD4E5E65E5A}"/>
                </a:ext>
              </a:extLst>
            </p:cNvPr>
            <p:cNvSpPr/>
            <p:nvPr/>
          </p:nvSpPr>
          <p:spPr>
            <a:xfrm>
              <a:off x="2019290" y="1219294"/>
              <a:ext cx="690590" cy="1213103"/>
            </a:xfrm>
            <a:custGeom>
              <a:avLst/>
              <a:gdLst>
                <a:gd name="connsiteX0" fmla="*/ 666569 w 690590"/>
                <a:gd name="connsiteY0" fmla="*/ 750189 h 1213103"/>
                <a:gd name="connsiteX1" fmla="*/ 435207 w 690590"/>
                <a:gd name="connsiteY1" fmla="*/ 0 h 1213103"/>
                <a:gd name="connsiteX2" fmla="*/ 10 w 690590"/>
                <a:gd name="connsiteY2" fmla="*/ 932021 h 1213103"/>
                <a:gd name="connsiteX3" fmla="*/ 31157 w 690590"/>
                <a:gd name="connsiteY3" fmla="*/ 1213104 h 1213103"/>
                <a:gd name="connsiteX4" fmla="*/ 666569 w 690590"/>
                <a:gd name="connsiteY4" fmla="*/ 750189 h 1213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590" h="1213103">
                  <a:moveTo>
                    <a:pt x="666569" y="750189"/>
                  </a:moveTo>
                  <a:cubicBezTo>
                    <a:pt x="779060" y="411575"/>
                    <a:pt x="461401" y="30575"/>
                    <a:pt x="435207" y="0"/>
                  </a:cubicBezTo>
                  <a:cubicBezTo>
                    <a:pt x="170412" y="223933"/>
                    <a:pt x="1629" y="558070"/>
                    <a:pt x="10" y="932021"/>
                  </a:cubicBezTo>
                  <a:cubicBezTo>
                    <a:pt x="-371" y="1028700"/>
                    <a:pt x="10392" y="1122712"/>
                    <a:pt x="31157" y="1213104"/>
                  </a:cubicBezTo>
                  <a:cubicBezTo>
                    <a:pt x="60970" y="1206532"/>
                    <a:pt x="552841" y="1092613"/>
                    <a:pt x="666569" y="750189"/>
                  </a:cubicBezTo>
                  <a:close/>
                </a:path>
              </a:pathLst>
            </a:custGeom>
            <a:grpFill/>
            <a:ln w="9525" cap="flat">
              <a:noFill/>
              <a:prstDash val="solid"/>
              <a:miter/>
            </a:ln>
          </p:spPr>
          <p:txBody>
            <a:bodyPr rtlCol="0" anchor="ctr"/>
            <a:lstStyle/>
            <a:p>
              <a:endParaRPr lang="fr-FR" sz="2400"/>
            </a:p>
          </p:txBody>
        </p:sp>
        <p:sp>
          <p:nvSpPr>
            <p:cNvPr id="17" name="Forme libre : forme 16">
              <a:extLst>
                <a:ext uri="{FF2B5EF4-FFF2-40B4-BE49-F238E27FC236}">
                  <a16:creationId xmlns:a16="http://schemas.microsoft.com/office/drawing/2014/main" id="{5D2C7748-445A-4908-A98D-8C1800ABBEA7}"/>
                </a:ext>
              </a:extLst>
            </p:cNvPr>
            <p:cNvSpPr/>
            <p:nvPr/>
          </p:nvSpPr>
          <p:spPr>
            <a:xfrm>
              <a:off x="2496692" y="4219701"/>
              <a:ext cx="1029858" cy="848932"/>
            </a:xfrm>
            <a:custGeom>
              <a:avLst/>
              <a:gdLst>
                <a:gd name="connsiteX0" fmla="*/ 782003 w 1029858"/>
                <a:gd name="connsiteY0" fmla="*/ 100934 h 848932"/>
                <a:gd name="connsiteX1" fmla="*/ 0 w 1029858"/>
                <a:gd name="connsiteY1" fmla="*/ 87980 h 848932"/>
                <a:gd name="connsiteX2" fmla="*/ 1025843 w 1029858"/>
                <a:gd name="connsiteY2" fmla="*/ 848932 h 848932"/>
                <a:gd name="connsiteX3" fmla="*/ 782003 w 1029858"/>
                <a:gd name="connsiteY3" fmla="*/ 100934 h 848932"/>
              </a:gdLst>
              <a:ahLst/>
              <a:cxnLst>
                <a:cxn ang="0">
                  <a:pos x="connsiteX0" y="connsiteY0"/>
                </a:cxn>
                <a:cxn ang="0">
                  <a:pos x="connsiteX1" y="connsiteY1"/>
                </a:cxn>
                <a:cxn ang="0">
                  <a:pos x="connsiteX2" y="connsiteY2"/>
                </a:cxn>
                <a:cxn ang="0">
                  <a:pos x="connsiteX3" y="connsiteY3"/>
                </a:cxn>
              </a:cxnLst>
              <a:rect l="l" t="t" r="r" b="b"/>
              <a:pathLst>
                <a:path w="1029858" h="848932">
                  <a:moveTo>
                    <a:pt x="782003" y="100934"/>
                  </a:moveTo>
                  <a:cubicBezTo>
                    <a:pt x="500824" y="-106140"/>
                    <a:pt x="53912" y="65977"/>
                    <a:pt x="0" y="87980"/>
                  </a:cubicBezTo>
                  <a:cubicBezTo>
                    <a:pt x="168783" y="504127"/>
                    <a:pt x="559403" y="806927"/>
                    <a:pt x="1025843" y="848932"/>
                  </a:cubicBezTo>
                  <a:cubicBezTo>
                    <a:pt x="1028033" y="826358"/>
                    <a:pt x="1074896" y="316770"/>
                    <a:pt x="782003" y="100934"/>
                  </a:cubicBezTo>
                  <a:close/>
                </a:path>
              </a:pathLst>
            </a:custGeom>
            <a:grpFill/>
            <a:ln w="9525" cap="flat">
              <a:noFill/>
              <a:prstDash val="solid"/>
              <a:miter/>
            </a:ln>
          </p:spPr>
          <p:txBody>
            <a:bodyPr rtlCol="0" anchor="ctr"/>
            <a:lstStyle/>
            <a:p>
              <a:endParaRPr lang="fr-FR" sz="2400"/>
            </a:p>
          </p:txBody>
        </p:sp>
        <p:sp>
          <p:nvSpPr>
            <p:cNvPr id="18" name="Forme libre : forme 17">
              <a:extLst>
                <a:ext uri="{FF2B5EF4-FFF2-40B4-BE49-F238E27FC236}">
                  <a16:creationId xmlns:a16="http://schemas.microsoft.com/office/drawing/2014/main" id="{D5AF26B3-A801-478A-995F-0DB30CC90980}"/>
                </a:ext>
              </a:extLst>
            </p:cNvPr>
            <p:cNvSpPr/>
            <p:nvPr/>
          </p:nvSpPr>
          <p:spPr>
            <a:xfrm>
              <a:off x="5578922" y="4238632"/>
              <a:ext cx="1038571" cy="841620"/>
            </a:xfrm>
            <a:custGeom>
              <a:avLst/>
              <a:gdLst>
                <a:gd name="connsiteX0" fmla="*/ 256474 w 1038571"/>
                <a:gd name="connsiteY0" fmla="*/ 96385 h 841620"/>
                <a:gd name="connsiteX1" fmla="*/ 2918 w 1038571"/>
                <a:gd name="connsiteY1" fmla="*/ 841621 h 841620"/>
                <a:gd name="connsiteX2" fmla="*/ 1038572 w 1038571"/>
                <a:gd name="connsiteY2" fmla="*/ 93623 h 841620"/>
                <a:gd name="connsiteX3" fmla="*/ 256474 w 1038571"/>
                <a:gd name="connsiteY3" fmla="*/ 96385 h 841620"/>
              </a:gdLst>
              <a:ahLst/>
              <a:cxnLst>
                <a:cxn ang="0">
                  <a:pos x="connsiteX0" y="connsiteY0"/>
                </a:cxn>
                <a:cxn ang="0">
                  <a:pos x="connsiteX1" y="connsiteY1"/>
                </a:cxn>
                <a:cxn ang="0">
                  <a:pos x="connsiteX2" y="connsiteY2"/>
                </a:cxn>
                <a:cxn ang="0">
                  <a:pos x="connsiteX3" y="connsiteY3"/>
                </a:cxn>
              </a:cxnLst>
              <a:rect l="l" t="t" r="r" b="b"/>
              <a:pathLst>
                <a:path w="1038571" h="841620">
                  <a:moveTo>
                    <a:pt x="256474" y="96385"/>
                  </a:moveTo>
                  <a:cubicBezTo>
                    <a:pt x="-42040" y="310221"/>
                    <a:pt x="1680" y="828095"/>
                    <a:pt x="2918" y="841621"/>
                  </a:cubicBezTo>
                  <a:cubicBezTo>
                    <a:pt x="470215" y="805521"/>
                    <a:pt x="864550" y="507484"/>
                    <a:pt x="1038572" y="93623"/>
                  </a:cubicBezTo>
                  <a:cubicBezTo>
                    <a:pt x="984660" y="70953"/>
                    <a:pt x="540224" y="-106879"/>
                    <a:pt x="256474" y="96385"/>
                  </a:cubicBezTo>
                  <a:close/>
                </a:path>
              </a:pathLst>
            </a:custGeom>
            <a:grpFill/>
            <a:ln w="9525" cap="flat">
              <a:noFill/>
              <a:prstDash val="solid"/>
              <a:miter/>
            </a:ln>
          </p:spPr>
          <p:txBody>
            <a:bodyPr rtlCol="0" anchor="ctr"/>
            <a:lstStyle/>
            <a:p>
              <a:endParaRPr lang="fr-FR" sz="2400"/>
            </a:p>
          </p:txBody>
        </p:sp>
        <p:sp>
          <p:nvSpPr>
            <p:cNvPr id="19" name="Forme libre : forme 18">
              <a:extLst>
                <a:ext uri="{FF2B5EF4-FFF2-40B4-BE49-F238E27FC236}">
                  <a16:creationId xmlns:a16="http://schemas.microsoft.com/office/drawing/2014/main" id="{D7071253-7A44-447C-B7DF-70C0E1AD248E}"/>
                </a:ext>
              </a:extLst>
            </p:cNvPr>
            <p:cNvSpPr/>
            <p:nvPr/>
          </p:nvSpPr>
          <p:spPr>
            <a:xfrm>
              <a:off x="6435072" y="1236916"/>
              <a:ext cx="686305" cy="1214342"/>
            </a:xfrm>
            <a:custGeom>
              <a:avLst/>
              <a:gdLst>
                <a:gd name="connsiteX0" fmla="*/ 22020 w 686305"/>
                <a:gd name="connsiteY0" fmla="*/ 742855 h 1214342"/>
                <a:gd name="connsiteX1" fmla="*/ 652766 w 686305"/>
                <a:gd name="connsiteY1" fmla="*/ 1214342 h 1214342"/>
                <a:gd name="connsiteX2" fmla="*/ 655338 w 686305"/>
                <a:gd name="connsiteY2" fmla="*/ 1205008 h 1214342"/>
                <a:gd name="connsiteX3" fmla="*/ 686294 w 686305"/>
                <a:gd name="connsiteY3" fmla="*/ 935355 h 1214342"/>
                <a:gd name="connsiteX4" fmla="*/ 259574 w 686305"/>
                <a:gd name="connsiteY4" fmla="*/ 0 h 1214342"/>
                <a:gd name="connsiteX5" fmla="*/ 22020 w 686305"/>
                <a:gd name="connsiteY5" fmla="*/ 742855 h 121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305" h="1214342">
                  <a:moveTo>
                    <a:pt x="22020" y="742855"/>
                  </a:moveTo>
                  <a:cubicBezTo>
                    <a:pt x="134701" y="1097471"/>
                    <a:pt x="652766" y="1214342"/>
                    <a:pt x="652766" y="1214342"/>
                  </a:cubicBezTo>
                  <a:cubicBezTo>
                    <a:pt x="653718" y="1211199"/>
                    <a:pt x="654480" y="1208056"/>
                    <a:pt x="655338" y="1205008"/>
                  </a:cubicBezTo>
                  <a:cubicBezTo>
                    <a:pt x="675149" y="1118235"/>
                    <a:pt x="685913" y="1028033"/>
                    <a:pt x="686294" y="935355"/>
                  </a:cubicBezTo>
                  <a:cubicBezTo>
                    <a:pt x="687913" y="561594"/>
                    <a:pt x="522178" y="226219"/>
                    <a:pt x="259574" y="0"/>
                  </a:cubicBezTo>
                  <a:cubicBezTo>
                    <a:pt x="215378" y="51530"/>
                    <a:pt x="-82278" y="414242"/>
                    <a:pt x="22020" y="742855"/>
                  </a:cubicBezTo>
                  <a:close/>
                </a:path>
              </a:pathLst>
            </a:custGeom>
            <a:grpFill/>
            <a:ln w="9525" cap="flat">
              <a:noFill/>
              <a:prstDash val="solid"/>
              <a:miter/>
            </a:ln>
          </p:spPr>
          <p:txBody>
            <a:bodyPr rtlCol="0" anchor="ctr"/>
            <a:lstStyle/>
            <a:p>
              <a:endParaRPr lang="fr-FR" sz="2400"/>
            </a:p>
          </p:txBody>
        </p:sp>
      </p:grpSp>
      <p:sp>
        <p:nvSpPr>
          <p:cNvPr id="23"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en-US"/>
              <a:t>SVEPM 2026   -   UNVEILING TEMPORAL AND REGIONAL FACTORS OF ANTIBIOTIC RESISTANCE   -   BAREILLE</a:t>
            </a:r>
            <a:endParaRPr lang="fr-FR" dirty="0"/>
          </a:p>
        </p:txBody>
      </p:sp>
    </p:spTree>
    <p:extLst>
      <p:ext uri="{BB962C8B-B14F-4D97-AF65-F5344CB8AC3E}">
        <p14:creationId xmlns:p14="http://schemas.microsoft.com/office/powerpoint/2010/main" val="27032617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apo de titre 4">
    <p:bg>
      <p:bgPr>
        <a:solidFill>
          <a:schemeClr val="bg2"/>
        </a:solidFill>
        <a:effectLst/>
      </p:bgPr>
    </p:bg>
    <p:spTree>
      <p:nvGrpSpPr>
        <p:cNvPr id="1" name=""/>
        <p:cNvGrpSpPr/>
        <p:nvPr/>
      </p:nvGrpSpPr>
      <p:grpSpPr>
        <a:xfrm>
          <a:off x="0" y="0"/>
          <a:ext cx="0" cy="0"/>
          <a:chOff x="0" y="0"/>
          <a:chExt cx="0" cy="0"/>
        </a:xfrm>
      </p:grpSpPr>
      <p:grpSp>
        <p:nvGrpSpPr>
          <p:cNvPr id="20" name="Groupe 19"/>
          <p:cNvGrpSpPr/>
          <p:nvPr userDrawn="1"/>
        </p:nvGrpSpPr>
        <p:grpSpPr>
          <a:xfrm>
            <a:off x="3407701" y="2660915"/>
            <a:ext cx="7514832" cy="1629156"/>
            <a:chOff x="4528607" y="2228471"/>
            <a:chExt cx="2978905" cy="645803"/>
          </a:xfrm>
          <a:solidFill>
            <a:srgbClr val="00AC8C"/>
          </a:solidFill>
        </p:grpSpPr>
        <p:sp>
          <p:nvSpPr>
            <p:cNvPr id="21" name="Forme libre : forme 11">
              <a:extLst>
                <a:ext uri="{FF2B5EF4-FFF2-40B4-BE49-F238E27FC236}">
                  <a16:creationId xmlns:a16="http://schemas.microsoft.com/office/drawing/2014/main" id="{99B404BE-FE54-428A-911D-CAC51B52FD2D}"/>
                </a:ext>
              </a:extLst>
            </p:cNvPr>
            <p:cNvSpPr/>
            <p:nvPr/>
          </p:nvSpPr>
          <p:spPr>
            <a:xfrm rot="20377350" flipH="1" flipV="1">
              <a:off x="7129985" y="2228471"/>
              <a:ext cx="377527" cy="645803"/>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sp>
          <p:nvSpPr>
            <p:cNvPr id="22" name="Forme libre : forme 11">
              <a:extLst>
                <a:ext uri="{FF2B5EF4-FFF2-40B4-BE49-F238E27FC236}">
                  <a16:creationId xmlns:a16="http://schemas.microsoft.com/office/drawing/2014/main" id="{99B404BE-FE54-428A-911D-CAC51B52FD2D}"/>
                </a:ext>
              </a:extLst>
            </p:cNvPr>
            <p:cNvSpPr/>
            <p:nvPr userDrawn="1"/>
          </p:nvSpPr>
          <p:spPr>
            <a:xfrm rot="1222650" flipV="1">
              <a:off x="4528607" y="2228471"/>
              <a:ext cx="377527" cy="645803"/>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grpSp>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sp>
        <p:nvSpPr>
          <p:cNvPr id="23"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en-US"/>
              <a:t>SVEPM 2026   -   UNVEILING TEMPORAL AND REGIONAL FACTORS OF ANTIBIOTIC RESISTANCE   -   BAREILLE</a:t>
            </a:r>
            <a:endParaRPr lang="fr-FR" dirty="0"/>
          </a:p>
        </p:txBody>
      </p:sp>
    </p:spTree>
    <p:extLst>
      <p:ext uri="{BB962C8B-B14F-4D97-AF65-F5344CB8AC3E}">
        <p14:creationId xmlns:p14="http://schemas.microsoft.com/office/powerpoint/2010/main" val="24633277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apo de titre 5">
    <p:bg>
      <p:bgPr>
        <a:solidFill>
          <a:schemeClr val="accent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15" name="Groupe 14">
            <a:extLst>
              <a:ext uri="{FF2B5EF4-FFF2-40B4-BE49-F238E27FC236}">
                <a16:creationId xmlns:a16="http://schemas.microsoft.com/office/drawing/2014/main" id="{EF6742AF-C8D3-4ECE-A715-D2E9132A76D7}"/>
              </a:ext>
            </a:extLst>
          </p:cNvPr>
          <p:cNvGrpSpPr/>
          <p:nvPr userDrawn="1"/>
        </p:nvGrpSpPr>
        <p:grpSpPr>
          <a:xfrm>
            <a:off x="6774558" y="2383665"/>
            <a:ext cx="3589316" cy="1769235"/>
            <a:chOff x="1876472" y="1243012"/>
            <a:chExt cx="5386683" cy="2655188"/>
          </a:xfrm>
          <a:solidFill>
            <a:srgbClr val="FF9940"/>
          </a:solidFill>
        </p:grpSpPr>
        <p:sp>
          <p:nvSpPr>
            <p:cNvPr id="8" name="Forme libre : forme 7">
              <a:extLst>
                <a:ext uri="{FF2B5EF4-FFF2-40B4-BE49-F238E27FC236}">
                  <a16:creationId xmlns:a16="http://schemas.microsoft.com/office/drawing/2014/main" id="{E89B02AF-DB8F-42C4-A8A6-230344B46333}"/>
                </a:ext>
              </a:extLst>
            </p:cNvPr>
            <p:cNvSpPr/>
            <p:nvPr/>
          </p:nvSpPr>
          <p:spPr>
            <a:xfrm>
              <a:off x="5656023" y="229428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0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1" y="1257586"/>
                    <a:pt x="252143" y="1289495"/>
                  </a:cubicBezTo>
                  <a:cubicBezTo>
                    <a:pt x="438166" y="1143857"/>
                    <a:pt x="587423" y="946595"/>
                    <a:pt x="675434" y="708850"/>
                  </a:cubicBezTo>
                  <a:cubicBezTo>
                    <a:pt x="762493" y="473678"/>
                    <a:pt x="778399" y="229457"/>
                    <a:pt x="733918" y="0"/>
                  </a:cubicBezTo>
                  <a:cubicBezTo>
                    <a:pt x="702390" y="5715"/>
                    <a:pt x="168038" y="108966"/>
                    <a:pt x="32211" y="473202"/>
                  </a:cubicBezTo>
                  <a:close/>
                </a:path>
              </a:pathLst>
            </a:custGeom>
            <a:grpFill/>
            <a:ln w="9525" cap="flat">
              <a:noFill/>
              <a:prstDash val="solid"/>
              <a:miter/>
            </a:ln>
          </p:spPr>
          <p:txBody>
            <a:bodyPr rtlCol="0" anchor="ctr"/>
            <a:lstStyle/>
            <a:p>
              <a:endParaRPr lang="fr-FR" sz="2400"/>
            </a:p>
          </p:txBody>
        </p:sp>
        <p:sp>
          <p:nvSpPr>
            <p:cNvPr id="11" name="Forme libre : forme 10">
              <a:extLst>
                <a:ext uri="{FF2B5EF4-FFF2-40B4-BE49-F238E27FC236}">
                  <a16:creationId xmlns:a16="http://schemas.microsoft.com/office/drawing/2014/main" id="{68B4B2E3-6F03-4BD4-BB28-FCDF5C00B34A}"/>
                </a:ext>
              </a:extLst>
            </p:cNvPr>
            <p:cNvSpPr/>
            <p:nvPr/>
          </p:nvSpPr>
          <p:spPr>
            <a:xfrm>
              <a:off x="6505177" y="260870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1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2" y="1257586"/>
                    <a:pt x="252143" y="1289495"/>
                  </a:cubicBezTo>
                  <a:cubicBezTo>
                    <a:pt x="438167" y="1143857"/>
                    <a:pt x="587423" y="946594"/>
                    <a:pt x="675434" y="708851"/>
                  </a:cubicBezTo>
                  <a:cubicBezTo>
                    <a:pt x="762493" y="473678"/>
                    <a:pt x="778399" y="229457"/>
                    <a:pt x="733918" y="0"/>
                  </a:cubicBezTo>
                  <a:cubicBezTo>
                    <a:pt x="702485" y="5810"/>
                    <a:pt x="168037" y="109061"/>
                    <a:pt x="32211" y="473202"/>
                  </a:cubicBezTo>
                  <a:close/>
                </a:path>
              </a:pathLst>
            </a:custGeom>
            <a:grpFill/>
            <a:ln w="9525" cap="flat">
              <a:noFill/>
              <a:prstDash val="solid"/>
              <a:miter/>
            </a:ln>
          </p:spPr>
          <p:txBody>
            <a:bodyPr rtlCol="0" anchor="ctr"/>
            <a:lstStyle/>
            <a:p>
              <a:endParaRPr lang="fr-FR" sz="2400"/>
            </a:p>
          </p:txBody>
        </p:sp>
        <p:sp>
          <p:nvSpPr>
            <p:cNvPr id="12" name="Forme libre : forme 11">
              <a:extLst>
                <a:ext uri="{FF2B5EF4-FFF2-40B4-BE49-F238E27FC236}">
                  <a16:creationId xmlns:a16="http://schemas.microsoft.com/office/drawing/2014/main" id="{99B404BE-FE54-428A-911D-CAC51B52FD2D}"/>
                </a:ext>
              </a:extLst>
            </p:cNvPr>
            <p:cNvSpPr/>
            <p:nvPr/>
          </p:nvSpPr>
          <p:spPr>
            <a:xfrm>
              <a:off x="2704671" y="1549717"/>
              <a:ext cx="755433" cy="1292256"/>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sp>
          <p:nvSpPr>
            <p:cNvPr id="13" name="Forme libre : forme 12">
              <a:extLst>
                <a:ext uri="{FF2B5EF4-FFF2-40B4-BE49-F238E27FC236}">
                  <a16:creationId xmlns:a16="http://schemas.microsoft.com/office/drawing/2014/main" id="{19526F4F-A482-4075-A175-93D5B6F1862F}"/>
                </a:ext>
              </a:extLst>
            </p:cNvPr>
            <p:cNvSpPr/>
            <p:nvPr/>
          </p:nvSpPr>
          <p:spPr>
            <a:xfrm>
              <a:off x="1876472" y="1243012"/>
              <a:ext cx="755400" cy="1292255"/>
            </a:xfrm>
            <a:custGeom>
              <a:avLst/>
              <a:gdLst>
                <a:gd name="connsiteX0" fmla="*/ 724043 w 755400"/>
                <a:gd name="connsiteY0" fmla="*/ 816102 h 1292256"/>
                <a:gd name="connsiteX1" fmla="*/ 25574 w 755400"/>
                <a:gd name="connsiteY1" fmla="*/ 1292257 h 1292256"/>
                <a:gd name="connsiteX2" fmla="*/ 82534 w 755400"/>
                <a:gd name="connsiteY2" fmla="*/ 575977 h 1292256"/>
                <a:gd name="connsiteX3" fmla="*/ 499824 w 755400"/>
                <a:gd name="connsiteY3" fmla="*/ 0 h 1292256"/>
                <a:gd name="connsiteX4" fmla="*/ 724043 w 755400"/>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00" h="1292256">
                  <a:moveTo>
                    <a:pt x="724043" y="816102"/>
                  </a:moveTo>
                  <a:cubicBezTo>
                    <a:pt x="591074" y="1177671"/>
                    <a:pt x="65579" y="1284637"/>
                    <a:pt x="25574" y="1292257"/>
                  </a:cubicBezTo>
                  <a:cubicBezTo>
                    <a:pt x="-20717" y="1060609"/>
                    <a:pt x="-5572" y="813721"/>
                    <a:pt x="82534" y="575977"/>
                  </a:cubicBezTo>
                  <a:cubicBezTo>
                    <a:pt x="169592" y="340805"/>
                    <a:pt x="316563" y="145161"/>
                    <a:pt x="499824" y="0"/>
                  </a:cubicBezTo>
                  <a:cubicBezTo>
                    <a:pt x="519922" y="24860"/>
                    <a:pt x="858155" y="451295"/>
                    <a:pt x="724043" y="816102"/>
                  </a:cubicBezTo>
                  <a:close/>
                </a:path>
              </a:pathLst>
            </a:custGeom>
            <a:grpFill/>
            <a:ln w="9525" cap="flat">
              <a:noFill/>
              <a:prstDash val="solid"/>
              <a:miter/>
            </a:ln>
          </p:spPr>
          <p:txBody>
            <a:bodyPr rtlCol="0" anchor="ctr"/>
            <a:lstStyle/>
            <a:p>
              <a:endParaRPr lang="fr-FR" sz="2400"/>
            </a:p>
          </p:txBody>
        </p:sp>
      </p:grpSp>
      <p:sp>
        <p:nvSpPr>
          <p:cNvPr id="2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23"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5"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en-US"/>
              <a:t>SVEPM 2026   -   UNVEILING TEMPORAL AND REGIONAL FACTORS OF ANTIBIOTIC RESISTANCE   -   BAREILLE</a:t>
            </a:r>
            <a:endParaRPr lang="fr-FR" dirty="0"/>
          </a:p>
        </p:txBody>
      </p:sp>
    </p:spTree>
    <p:extLst>
      <p:ext uri="{BB962C8B-B14F-4D97-AF65-F5344CB8AC3E}">
        <p14:creationId xmlns:p14="http://schemas.microsoft.com/office/powerpoint/2010/main" val="24398436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apo de titre 6">
    <p:bg>
      <p:bgPr>
        <a:solidFill>
          <a:schemeClr val="tx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20" name="Groupe 19">
            <a:extLst>
              <a:ext uri="{FF2B5EF4-FFF2-40B4-BE49-F238E27FC236}">
                <a16:creationId xmlns:a16="http://schemas.microsoft.com/office/drawing/2014/main" id="{14A9D647-00F2-4C4B-BEB2-D75043DB8D0E}"/>
              </a:ext>
            </a:extLst>
          </p:cNvPr>
          <p:cNvGrpSpPr/>
          <p:nvPr userDrawn="1"/>
        </p:nvGrpSpPr>
        <p:grpSpPr>
          <a:xfrm>
            <a:off x="7002138" y="1700147"/>
            <a:ext cx="3394929" cy="3339213"/>
            <a:chOff x="2019290" y="61899"/>
            <a:chExt cx="5102087" cy="5018353"/>
          </a:xfrm>
          <a:solidFill>
            <a:srgbClr val="00AC8C"/>
          </a:solidFill>
        </p:grpSpPr>
        <p:sp>
          <p:nvSpPr>
            <p:cNvPr id="14" name="Forme libre : forme 13">
              <a:extLst>
                <a:ext uri="{FF2B5EF4-FFF2-40B4-BE49-F238E27FC236}">
                  <a16:creationId xmlns:a16="http://schemas.microsoft.com/office/drawing/2014/main" id="{0A3EC673-E299-4D73-87EC-841B629A6F7B}"/>
                </a:ext>
              </a:extLst>
            </p:cNvPr>
            <p:cNvSpPr/>
            <p:nvPr/>
          </p:nvSpPr>
          <p:spPr>
            <a:xfrm>
              <a:off x="3946207" y="61899"/>
              <a:ext cx="1278731" cy="636387"/>
            </a:xfrm>
            <a:custGeom>
              <a:avLst/>
              <a:gdLst>
                <a:gd name="connsiteX0" fmla="*/ 636651 w 1278731"/>
                <a:gd name="connsiteY0" fmla="*/ 636378 h 636387"/>
                <a:gd name="connsiteX1" fmla="*/ 1278731 w 1278731"/>
                <a:gd name="connsiteY1" fmla="*/ 184226 h 636387"/>
                <a:gd name="connsiteX2" fmla="*/ 637127 w 1278731"/>
                <a:gd name="connsiteY2" fmla="*/ 13 h 636387"/>
                <a:gd name="connsiteX3" fmla="*/ 0 w 1278731"/>
                <a:gd name="connsiteY3" fmla="*/ 174987 h 636387"/>
                <a:gd name="connsiteX4" fmla="*/ 636651 w 1278731"/>
                <a:gd name="connsiteY4" fmla="*/ 636378 h 636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8731" h="636387">
                  <a:moveTo>
                    <a:pt x="636651" y="636378"/>
                  </a:moveTo>
                  <a:cubicBezTo>
                    <a:pt x="994505" y="638759"/>
                    <a:pt x="1259015" y="216516"/>
                    <a:pt x="1278731" y="184226"/>
                  </a:cubicBezTo>
                  <a:cubicBezTo>
                    <a:pt x="1092422" y="68402"/>
                    <a:pt x="872681" y="1060"/>
                    <a:pt x="637127" y="13"/>
                  </a:cubicBezTo>
                  <a:cubicBezTo>
                    <a:pt x="404146" y="-1035"/>
                    <a:pt x="186023" y="63068"/>
                    <a:pt x="0" y="174987"/>
                  </a:cubicBezTo>
                  <a:cubicBezTo>
                    <a:pt x="15145" y="200609"/>
                    <a:pt x="275558" y="633997"/>
                    <a:pt x="636651" y="636378"/>
                  </a:cubicBezTo>
                  <a:close/>
                </a:path>
              </a:pathLst>
            </a:custGeom>
            <a:grpFill/>
            <a:ln w="9525" cap="flat">
              <a:noFill/>
              <a:prstDash val="solid"/>
              <a:miter/>
            </a:ln>
          </p:spPr>
          <p:txBody>
            <a:bodyPr rtlCol="0" anchor="ctr"/>
            <a:lstStyle/>
            <a:p>
              <a:endParaRPr lang="fr-FR" sz="2400"/>
            </a:p>
          </p:txBody>
        </p:sp>
        <p:sp>
          <p:nvSpPr>
            <p:cNvPr id="16" name="Forme libre : forme 15">
              <a:extLst>
                <a:ext uri="{FF2B5EF4-FFF2-40B4-BE49-F238E27FC236}">
                  <a16:creationId xmlns:a16="http://schemas.microsoft.com/office/drawing/2014/main" id="{CF3A35DC-7A8C-4C7B-88C4-1FD4E5E65E5A}"/>
                </a:ext>
              </a:extLst>
            </p:cNvPr>
            <p:cNvSpPr/>
            <p:nvPr/>
          </p:nvSpPr>
          <p:spPr>
            <a:xfrm>
              <a:off x="2019290" y="1219294"/>
              <a:ext cx="690590" cy="1213103"/>
            </a:xfrm>
            <a:custGeom>
              <a:avLst/>
              <a:gdLst>
                <a:gd name="connsiteX0" fmla="*/ 666569 w 690590"/>
                <a:gd name="connsiteY0" fmla="*/ 750189 h 1213103"/>
                <a:gd name="connsiteX1" fmla="*/ 435207 w 690590"/>
                <a:gd name="connsiteY1" fmla="*/ 0 h 1213103"/>
                <a:gd name="connsiteX2" fmla="*/ 10 w 690590"/>
                <a:gd name="connsiteY2" fmla="*/ 932021 h 1213103"/>
                <a:gd name="connsiteX3" fmla="*/ 31157 w 690590"/>
                <a:gd name="connsiteY3" fmla="*/ 1213104 h 1213103"/>
                <a:gd name="connsiteX4" fmla="*/ 666569 w 690590"/>
                <a:gd name="connsiteY4" fmla="*/ 750189 h 1213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590" h="1213103">
                  <a:moveTo>
                    <a:pt x="666569" y="750189"/>
                  </a:moveTo>
                  <a:cubicBezTo>
                    <a:pt x="779060" y="411575"/>
                    <a:pt x="461401" y="30575"/>
                    <a:pt x="435207" y="0"/>
                  </a:cubicBezTo>
                  <a:cubicBezTo>
                    <a:pt x="170412" y="223933"/>
                    <a:pt x="1629" y="558070"/>
                    <a:pt x="10" y="932021"/>
                  </a:cubicBezTo>
                  <a:cubicBezTo>
                    <a:pt x="-371" y="1028700"/>
                    <a:pt x="10392" y="1122712"/>
                    <a:pt x="31157" y="1213104"/>
                  </a:cubicBezTo>
                  <a:cubicBezTo>
                    <a:pt x="60970" y="1206532"/>
                    <a:pt x="552841" y="1092613"/>
                    <a:pt x="666569" y="750189"/>
                  </a:cubicBezTo>
                  <a:close/>
                </a:path>
              </a:pathLst>
            </a:custGeom>
            <a:grpFill/>
            <a:ln w="9525" cap="flat">
              <a:noFill/>
              <a:prstDash val="solid"/>
              <a:miter/>
            </a:ln>
          </p:spPr>
          <p:txBody>
            <a:bodyPr rtlCol="0" anchor="ctr"/>
            <a:lstStyle/>
            <a:p>
              <a:endParaRPr lang="fr-FR" sz="2400"/>
            </a:p>
          </p:txBody>
        </p:sp>
        <p:sp>
          <p:nvSpPr>
            <p:cNvPr id="17" name="Forme libre : forme 16">
              <a:extLst>
                <a:ext uri="{FF2B5EF4-FFF2-40B4-BE49-F238E27FC236}">
                  <a16:creationId xmlns:a16="http://schemas.microsoft.com/office/drawing/2014/main" id="{5D2C7748-445A-4908-A98D-8C1800ABBEA7}"/>
                </a:ext>
              </a:extLst>
            </p:cNvPr>
            <p:cNvSpPr/>
            <p:nvPr/>
          </p:nvSpPr>
          <p:spPr>
            <a:xfrm>
              <a:off x="2496692" y="4219701"/>
              <a:ext cx="1029858" cy="848932"/>
            </a:xfrm>
            <a:custGeom>
              <a:avLst/>
              <a:gdLst>
                <a:gd name="connsiteX0" fmla="*/ 782003 w 1029858"/>
                <a:gd name="connsiteY0" fmla="*/ 100934 h 848932"/>
                <a:gd name="connsiteX1" fmla="*/ 0 w 1029858"/>
                <a:gd name="connsiteY1" fmla="*/ 87980 h 848932"/>
                <a:gd name="connsiteX2" fmla="*/ 1025843 w 1029858"/>
                <a:gd name="connsiteY2" fmla="*/ 848932 h 848932"/>
                <a:gd name="connsiteX3" fmla="*/ 782003 w 1029858"/>
                <a:gd name="connsiteY3" fmla="*/ 100934 h 848932"/>
              </a:gdLst>
              <a:ahLst/>
              <a:cxnLst>
                <a:cxn ang="0">
                  <a:pos x="connsiteX0" y="connsiteY0"/>
                </a:cxn>
                <a:cxn ang="0">
                  <a:pos x="connsiteX1" y="connsiteY1"/>
                </a:cxn>
                <a:cxn ang="0">
                  <a:pos x="connsiteX2" y="connsiteY2"/>
                </a:cxn>
                <a:cxn ang="0">
                  <a:pos x="connsiteX3" y="connsiteY3"/>
                </a:cxn>
              </a:cxnLst>
              <a:rect l="l" t="t" r="r" b="b"/>
              <a:pathLst>
                <a:path w="1029858" h="848932">
                  <a:moveTo>
                    <a:pt x="782003" y="100934"/>
                  </a:moveTo>
                  <a:cubicBezTo>
                    <a:pt x="500824" y="-106140"/>
                    <a:pt x="53912" y="65977"/>
                    <a:pt x="0" y="87980"/>
                  </a:cubicBezTo>
                  <a:cubicBezTo>
                    <a:pt x="168783" y="504127"/>
                    <a:pt x="559403" y="806927"/>
                    <a:pt x="1025843" y="848932"/>
                  </a:cubicBezTo>
                  <a:cubicBezTo>
                    <a:pt x="1028033" y="826358"/>
                    <a:pt x="1074896" y="316770"/>
                    <a:pt x="782003" y="100934"/>
                  </a:cubicBezTo>
                  <a:close/>
                </a:path>
              </a:pathLst>
            </a:custGeom>
            <a:grpFill/>
            <a:ln w="9525" cap="flat">
              <a:noFill/>
              <a:prstDash val="solid"/>
              <a:miter/>
            </a:ln>
          </p:spPr>
          <p:txBody>
            <a:bodyPr rtlCol="0" anchor="ctr"/>
            <a:lstStyle/>
            <a:p>
              <a:endParaRPr lang="fr-FR" sz="2400"/>
            </a:p>
          </p:txBody>
        </p:sp>
        <p:sp>
          <p:nvSpPr>
            <p:cNvPr id="18" name="Forme libre : forme 17">
              <a:extLst>
                <a:ext uri="{FF2B5EF4-FFF2-40B4-BE49-F238E27FC236}">
                  <a16:creationId xmlns:a16="http://schemas.microsoft.com/office/drawing/2014/main" id="{D5AF26B3-A801-478A-995F-0DB30CC90980}"/>
                </a:ext>
              </a:extLst>
            </p:cNvPr>
            <p:cNvSpPr/>
            <p:nvPr/>
          </p:nvSpPr>
          <p:spPr>
            <a:xfrm>
              <a:off x="5578922" y="4238632"/>
              <a:ext cx="1038571" cy="841620"/>
            </a:xfrm>
            <a:custGeom>
              <a:avLst/>
              <a:gdLst>
                <a:gd name="connsiteX0" fmla="*/ 256474 w 1038571"/>
                <a:gd name="connsiteY0" fmla="*/ 96385 h 841620"/>
                <a:gd name="connsiteX1" fmla="*/ 2918 w 1038571"/>
                <a:gd name="connsiteY1" fmla="*/ 841621 h 841620"/>
                <a:gd name="connsiteX2" fmla="*/ 1038572 w 1038571"/>
                <a:gd name="connsiteY2" fmla="*/ 93623 h 841620"/>
                <a:gd name="connsiteX3" fmla="*/ 256474 w 1038571"/>
                <a:gd name="connsiteY3" fmla="*/ 96385 h 841620"/>
              </a:gdLst>
              <a:ahLst/>
              <a:cxnLst>
                <a:cxn ang="0">
                  <a:pos x="connsiteX0" y="connsiteY0"/>
                </a:cxn>
                <a:cxn ang="0">
                  <a:pos x="connsiteX1" y="connsiteY1"/>
                </a:cxn>
                <a:cxn ang="0">
                  <a:pos x="connsiteX2" y="connsiteY2"/>
                </a:cxn>
                <a:cxn ang="0">
                  <a:pos x="connsiteX3" y="connsiteY3"/>
                </a:cxn>
              </a:cxnLst>
              <a:rect l="l" t="t" r="r" b="b"/>
              <a:pathLst>
                <a:path w="1038571" h="841620">
                  <a:moveTo>
                    <a:pt x="256474" y="96385"/>
                  </a:moveTo>
                  <a:cubicBezTo>
                    <a:pt x="-42040" y="310221"/>
                    <a:pt x="1680" y="828095"/>
                    <a:pt x="2918" y="841621"/>
                  </a:cubicBezTo>
                  <a:cubicBezTo>
                    <a:pt x="470215" y="805521"/>
                    <a:pt x="864550" y="507484"/>
                    <a:pt x="1038572" y="93623"/>
                  </a:cubicBezTo>
                  <a:cubicBezTo>
                    <a:pt x="984660" y="70953"/>
                    <a:pt x="540224" y="-106879"/>
                    <a:pt x="256474" y="96385"/>
                  </a:cubicBezTo>
                  <a:close/>
                </a:path>
              </a:pathLst>
            </a:custGeom>
            <a:grpFill/>
            <a:ln w="9525" cap="flat">
              <a:noFill/>
              <a:prstDash val="solid"/>
              <a:miter/>
            </a:ln>
          </p:spPr>
          <p:txBody>
            <a:bodyPr rtlCol="0" anchor="ctr"/>
            <a:lstStyle/>
            <a:p>
              <a:endParaRPr lang="fr-FR" sz="2400"/>
            </a:p>
          </p:txBody>
        </p:sp>
        <p:sp>
          <p:nvSpPr>
            <p:cNvPr id="19" name="Forme libre : forme 18">
              <a:extLst>
                <a:ext uri="{FF2B5EF4-FFF2-40B4-BE49-F238E27FC236}">
                  <a16:creationId xmlns:a16="http://schemas.microsoft.com/office/drawing/2014/main" id="{D7071253-7A44-447C-B7DF-70C0E1AD248E}"/>
                </a:ext>
              </a:extLst>
            </p:cNvPr>
            <p:cNvSpPr/>
            <p:nvPr/>
          </p:nvSpPr>
          <p:spPr>
            <a:xfrm>
              <a:off x="6435072" y="1236916"/>
              <a:ext cx="686305" cy="1214342"/>
            </a:xfrm>
            <a:custGeom>
              <a:avLst/>
              <a:gdLst>
                <a:gd name="connsiteX0" fmla="*/ 22020 w 686305"/>
                <a:gd name="connsiteY0" fmla="*/ 742855 h 1214342"/>
                <a:gd name="connsiteX1" fmla="*/ 652766 w 686305"/>
                <a:gd name="connsiteY1" fmla="*/ 1214342 h 1214342"/>
                <a:gd name="connsiteX2" fmla="*/ 655338 w 686305"/>
                <a:gd name="connsiteY2" fmla="*/ 1205008 h 1214342"/>
                <a:gd name="connsiteX3" fmla="*/ 686294 w 686305"/>
                <a:gd name="connsiteY3" fmla="*/ 935355 h 1214342"/>
                <a:gd name="connsiteX4" fmla="*/ 259574 w 686305"/>
                <a:gd name="connsiteY4" fmla="*/ 0 h 1214342"/>
                <a:gd name="connsiteX5" fmla="*/ 22020 w 686305"/>
                <a:gd name="connsiteY5" fmla="*/ 742855 h 121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305" h="1214342">
                  <a:moveTo>
                    <a:pt x="22020" y="742855"/>
                  </a:moveTo>
                  <a:cubicBezTo>
                    <a:pt x="134701" y="1097471"/>
                    <a:pt x="652766" y="1214342"/>
                    <a:pt x="652766" y="1214342"/>
                  </a:cubicBezTo>
                  <a:cubicBezTo>
                    <a:pt x="653718" y="1211199"/>
                    <a:pt x="654480" y="1208056"/>
                    <a:pt x="655338" y="1205008"/>
                  </a:cubicBezTo>
                  <a:cubicBezTo>
                    <a:pt x="675149" y="1118235"/>
                    <a:pt x="685913" y="1028033"/>
                    <a:pt x="686294" y="935355"/>
                  </a:cubicBezTo>
                  <a:cubicBezTo>
                    <a:pt x="687913" y="561594"/>
                    <a:pt x="522178" y="226219"/>
                    <a:pt x="259574" y="0"/>
                  </a:cubicBezTo>
                  <a:cubicBezTo>
                    <a:pt x="215378" y="51530"/>
                    <a:pt x="-82278" y="414242"/>
                    <a:pt x="22020" y="742855"/>
                  </a:cubicBezTo>
                  <a:close/>
                </a:path>
              </a:pathLst>
            </a:custGeom>
            <a:grpFill/>
            <a:ln w="9525" cap="flat">
              <a:noFill/>
              <a:prstDash val="solid"/>
              <a:miter/>
            </a:ln>
          </p:spPr>
          <p:txBody>
            <a:bodyPr rtlCol="0" anchor="ctr"/>
            <a:lstStyle/>
            <a:p>
              <a:endParaRPr lang="fr-FR" sz="2400"/>
            </a:p>
          </p:txBody>
        </p:sp>
      </p:grpSp>
      <p:sp>
        <p:nvSpPr>
          <p:cNvPr id="23"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en-US"/>
              <a:t>SVEPM 2026   -   UNVEILING TEMPORAL AND REGIONAL FACTORS OF ANTIBIOTIC RESISTANCE   -   BAREILLE</a:t>
            </a:r>
            <a:endParaRPr lang="fr-FR" dirty="0"/>
          </a:p>
        </p:txBody>
      </p:sp>
    </p:spTree>
    <p:extLst>
      <p:ext uri="{BB962C8B-B14F-4D97-AF65-F5344CB8AC3E}">
        <p14:creationId xmlns:p14="http://schemas.microsoft.com/office/powerpoint/2010/main" val="14325401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apo de titre 7">
    <p:bg>
      <p:bgPr>
        <a:solidFill>
          <a:schemeClr val="bg2"/>
        </a:solidFill>
        <a:effectLst/>
      </p:bgPr>
    </p:bg>
    <p:spTree>
      <p:nvGrpSpPr>
        <p:cNvPr id="1" name=""/>
        <p:cNvGrpSpPr/>
        <p:nvPr/>
      </p:nvGrpSpPr>
      <p:grpSpPr>
        <a:xfrm>
          <a:off x="0" y="0"/>
          <a:ext cx="0" cy="0"/>
          <a:chOff x="0" y="0"/>
          <a:chExt cx="0" cy="0"/>
        </a:xfrm>
      </p:grpSpPr>
      <p:grpSp>
        <p:nvGrpSpPr>
          <p:cNvPr id="40" name="Groupe 39"/>
          <p:cNvGrpSpPr/>
          <p:nvPr userDrawn="1"/>
        </p:nvGrpSpPr>
        <p:grpSpPr>
          <a:xfrm>
            <a:off x="3407701" y="2660915"/>
            <a:ext cx="7514832" cy="1629156"/>
            <a:chOff x="4528607" y="2228471"/>
            <a:chExt cx="2978905" cy="645803"/>
          </a:xfrm>
          <a:solidFill>
            <a:srgbClr val="FF9940"/>
          </a:solidFill>
        </p:grpSpPr>
        <p:sp>
          <p:nvSpPr>
            <p:cNvPr id="41" name="Forme libre : forme 11">
              <a:extLst>
                <a:ext uri="{FF2B5EF4-FFF2-40B4-BE49-F238E27FC236}">
                  <a16:creationId xmlns:a16="http://schemas.microsoft.com/office/drawing/2014/main" id="{99B404BE-FE54-428A-911D-CAC51B52FD2D}"/>
                </a:ext>
              </a:extLst>
            </p:cNvPr>
            <p:cNvSpPr/>
            <p:nvPr/>
          </p:nvSpPr>
          <p:spPr>
            <a:xfrm rot="20377350" flipH="1" flipV="1">
              <a:off x="7129985" y="2228471"/>
              <a:ext cx="377527" cy="645803"/>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sp>
          <p:nvSpPr>
            <p:cNvPr id="42" name="Forme libre : forme 11">
              <a:extLst>
                <a:ext uri="{FF2B5EF4-FFF2-40B4-BE49-F238E27FC236}">
                  <a16:creationId xmlns:a16="http://schemas.microsoft.com/office/drawing/2014/main" id="{99B404BE-FE54-428A-911D-CAC51B52FD2D}"/>
                </a:ext>
              </a:extLst>
            </p:cNvPr>
            <p:cNvSpPr/>
            <p:nvPr userDrawn="1"/>
          </p:nvSpPr>
          <p:spPr>
            <a:xfrm rot="1222650" flipV="1">
              <a:off x="4528607" y="2228471"/>
              <a:ext cx="377527" cy="645803"/>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grpSp>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sp>
        <p:nvSpPr>
          <p:cNvPr id="23"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en-US"/>
              <a:t>SVEPM 2026   -   UNVEILING TEMPORAL AND REGIONAL FACTORS OF ANTIBIOTIC RESISTANCE   -   BAREILLE</a:t>
            </a:r>
            <a:endParaRPr lang="fr-FR" dirty="0"/>
          </a:p>
        </p:txBody>
      </p:sp>
    </p:spTree>
    <p:extLst>
      <p:ext uri="{BB962C8B-B14F-4D97-AF65-F5344CB8AC3E}">
        <p14:creationId xmlns:p14="http://schemas.microsoft.com/office/powerpoint/2010/main" val="31788316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apo de titre 8">
    <p:bg>
      <p:bgPr>
        <a:solidFill>
          <a:schemeClr val="accent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15" name="Groupe 14">
            <a:extLst>
              <a:ext uri="{FF2B5EF4-FFF2-40B4-BE49-F238E27FC236}">
                <a16:creationId xmlns:a16="http://schemas.microsoft.com/office/drawing/2014/main" id="{EF6742AF-C8D3-4ECE-A715-D2E9132A76D7}"/>
              </a:ext>
            </a:extLst>
          </p:cNvPr>
          <p:cNvGrpSpPr/>
          <p:nvPr userDrawn="1"/>
        </p:nvGrpSpPr>
        <p:grpSpPr>
          <a:xfrm>
            <a:off x="6774558" y="2383665"/>
            <a:ext cx="3589316" cy="1769235"/>
            <a:chOff x="1876472" y="1243012"/>
            <a:chExt cx="5386683" cy="2655188"/>
          </a:xfrm>
          <a:solidFill>
            <a:srgbClr val="FFE800"/>
          </a:solidFill>
        </p:grpSpPr>
        <p:sp>
          <p:nvSpPr>
            <p:cNvPr id="8" name="Forme libre : forme 7">
              <a:extLst>
                <a:ext uri="{FF2B5EF4-FFF2-40B4-BE49-F238E27FC236}">
                  <a16:creationId xmlns:a16="http://schemas.microsoft.com/office/drawing/2014/main" id="{E89B02AF-DB8F-42C4-A8A6-230344B46333}"/>
                </a:ext>
              </a:extLst>
            </p:cNvPr>
            <p:cNvSpPr/>
            <p:nvPr/>
          </p:nvSpPr>
          <p:spPr>
            <a:xfrm>
              <a:off x="5656023" y="229428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0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1" y="1257586"/>
                    <a:pt x="252143" y="1289495"/>
                  </a:cubicBezTo>
                  <a:cubicBezTo>
                    <a:pt x="438166" y="1143857"/>
                    <a:pt x="587423" y="946595"/>
                    <a:pt x="675434" y="708850"/>
                  </a:cubicBezTo>
                  <a:cubicBezTo>
                    <a:pt x="762493" y="473678"/>
                    <a:pt x="778399" y="229457"/>
                    <a:pt x="733918" y="0"/>
                  </a:cubicBezTo>
                  <a:cubicBezTo>
                    <a:pt x="702390" y="5715"/>
                    <a:pt x="168038" y="108966"/>
                    <a:pt x="32211" y="473202"/>
                  </a:cubicBezTo>
                  <a:close/>
                </a:path>
              </a:pathLst>
            </a:custGeom>
            <a:grpFill/>
            <a:ln w="9525" cap="flat">
              <a:noFill/>
              <a:prstDash val="solid"/>
              <a:miter/>
            </a:ln>
          </p:spPr>
          <p:txBody>
            <a:bodyPr rtlCol="0" anchor="ctr"/>
            <a:lstStyle/>
            <a:p>
              <a:endParaRPr lang="fr-FR" sz="2400"/>
            </a:p>
          </p:txBody>
        </p:sp>
        <p:sp>
          <p:nvSpPr>
            <p:cNvPr id="11" name="Forme libre : forme 10">
              <a:extLst>
                <a:ext uri="{FF2B5EF4-FFF2-40B4-BE49-F238E27FC236}">
                  <a16:creationId xmlns:a16="http://schemas.microsoft.com/office/drawing/2014/main" id="{68B4B2E3-6F03-4BD4-BB28-FCDF5C00B34A}"/>
                </a:ext>
              </a:extLst>
            </p:cNvPr>
            <p:cNvSpPr/>
            <p:nvPr/>
          </p:nvSpPr>
          <p:spPr>
            <a:xfrm>
              <a:off x="6505177" y="2608706"/>
              <a:ext cx="757978" cy="1289494"/>
            </a:xfrm>
            <a:custGeom>
              <a:avLst/>
              <a:gdLst>
                <a:gd name="connsiteX0" fmla="*/ 32211 w 757978"/>
                <a:gd name="connsiteY0" fmla="*/ 473202 h 1289494"/>
                <a:gd name="connsiteX1" fmla="*/ 252143 w 757978"/>
                <a:gd name="connsiteY1" fmla="*/ 1289495 h 1289494"/>
                <a:gd name="connsiteX2" fmla="*/ 675434 w 757978"/>
                <a:gd name="connsiteY2" fmla="*/ 708851 h 1289494"/>
                <a:gd name="connsiteX3" fmla="*/ 733918 w 757978"/>
                <a:gd name="connsiteY3" fmla="*/ 0 h 1289494"/>
                <a:gd name="connsiteX4" fmla="*/ 32211 w 757978"/>
                <a:gd name="connsiteY4" fmla="*/ 473202 h 1289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978" h="1289494">
                  <a:moveTo>
                    <a:pt x="32211" y="473202"/>
                  </a:moveTo>
                  <a:cubicBezTo>
                    <a:pt x="-102377" y="834104"/>
                    <a:pt x="226712" y="1257586"/>
                    <a:pt x="252143" y="1289495"/>
                  </a:cubicBezTo>
                  <a:cubicBezTo>
                    <a:pt x="438167" y="1143857"/>
                    <a:pt x="587423" y="946594"/>
                    <a:pt x="675434" y="708851"/>
                  </a:cubicBezTo>
                  <a:cubicBezTo>
                    <a:pt x="762493" y="473678"/>
                    <a:pt x="778399" y="229457"/>
                    <a:pt x="733918" y="0"/>
                  </a:cubicBezTo>
                  <a:cubicBezTo>
                    <a:pt x="702485" y="5810"/>
                    <a:pt x="168037" y="109061"/>
                    <a:pt x="32211" y="473202"/>
                  </a:cubicBezTo>
                  <a:close/>
                </a:path>
              </a:pathLst>
            </a:custGeom>
            <a:grpFill/>
            <a:ln w="9525" cap="flat">
              <a:noFill/>
              <a:prstDash val="solid"/>
              <a:miter/>
            </a:ln>
          </p:spPr>
          <p:txBody>
            <a:bodyPr rtlCol="0" anchor="ctr"/>
            <a:lstStyle/>
            <a:p>
              <a:endParaRPr lang="fr-FR" sz="2400"/>
            </a:p>
          </p:txBody>
        </p:sp>
        <p:sp>
          <p:nvSpPr>
            <p:cNvPr id="12" name="Forme libre : forme 11">
              <a:extLst>
                <a:ext uri="{FF2B5EF4-FFF2-40B4-BE49-F238E27FC236}">
                  <a16:creationId xmlns:a16="http://schemas.microsoft.com/office/drawing/2014/main" id="{99B404BE-FE54-428A-911D-CAC51B52FD2D}"/>
                </a:ext>
              </a:extLst>
            </p:cNvPr>
            <p:cNvSpPr/>
            <p:nvPr/>
          </p:nvSpPr>
          <p:spPr>
            <a:xfrm>
              <a:off x="2704671" y="1549717"/>
              <a:ext cx="755433" cy="1292256"/>
            </a:xfrm>
            <a:custGeom>
              <a:avLst/>
              <a:gdLst>
                <a:gd name="connsiteX0" fmla="*/ 724043 w 755433"/>
                <a:gd name="connsiteY0" fmla="*/ 816102 h 1292256"/>
                <a:gd name="connsiteX1" fmla="*/ 25574 w 755433"/>
                <a:gd name="connsiteY1" fmla="*/ 1292257 h 1292256"/>
                <a:gd name="connsiteX2" fmla="*/ 82534 w 755433"/>
                <a:gd name="connsiteY2" fmla="*/ 575977 h 1292256"/>
                <a:gd name="connsiteX3" fmla="*/ 499824 w 755433"/>
                <a:gd name="connsiteY3" fmla="*/ 0 h 1292256"/>
                <a:gd name="connsiteX4" fmla="*/ 724043 w 755433"/>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33" h="1292256">
                  <a:moveTo>
                    <a:pt x="724043" y="816102"/>
                  </a:moveTo>
                  <a:cubicBezTo>
                    <a:pt x="591074" y="1177671"/>
                    <a:pt x="65579" y="1284637"/>
                    <a:pt x="25574" y="1292257"/>
                  </a:cubicBezTo>
                  <a:cubicBezTo>
                    <a:pt x="-20717" y="1060609"/>
                    <a:pt x="-5572" y="813721"/>
                    <a:pt x="82534" y="575977"/>
                  </a:cubicBezTo>
                  <a:cubicBezTo>
                    <a:pt x="169592" y="340805"/>
                    <a:pt x="316658" y="145161"/>
                    <a:pt x="499824" y="0"/>
                  </a:cubicBezTo>
                  <a:cubicBezTo>
                    <a:pt x="519922" y="24860"/>
                    <a:pt x="858250" y="451295"/>
                    <a:pt x="724043" y="816102"/>
                  </a:cubicBezTo>
                  <a:close/>
                </a:path>
              </a:pathLst>
            </a:custGeom>
            <a:grpFill/>
            <a:ln w="9525" cap="flat">
              <a:noFill/>
              <a:prstDash val="solid"/>
              <a:miter/>
            </a:ln>
          </p:spPr>
          <p:txBody>
            <a:bodyPr rtlCol="0" anchor="ctr"/>
            <a:lstStyle/>
            <a:p>
              <a:endParaRPr lang="fr-FR" sz="2400"/>
            </a:p>
          </p:txBody>
        </p:sp>
        <p:sp>
          <p:nvSpPr>
            <p:cNvPr id="13" name="Forme libre : forme 12">
              <a:extLst>
                <a:ext uri="{FF2B5EF4-FFF2-40B4-BE49-F238E27FC236}">
                  <a16:creationId xmlns:a16="http://schemas.microsoft.com/office/drawing/2014/main" id="{19526F4F-A482-4075-A175-93D5B6F1862F}"/>
                </a:ext>
              </a:extLst>
            </p:cNvPr>
            <p:cNvSpPr/>
            <p:nvPr/>
          </p:nvSpPr>
          <p:spPr>
            <a:xfrm>
              <a:off x="1876472" y="1243012"/>
              <a:ext cx="755400" cy="1292255"/>
            </a:xfrm>
            <a:custGeom>
              <a:avLst/>
              <a:gdLst>
                <a:gd name="connsiteX0" fmla="*/ 724043 w 755400"/>
                <a:gd name="connsiteY0" fmla="*/ 816102 h 1292256"/>
                <a:gd name="connsiteX1" fmla="*/ 25574 w 755400"/>
                <a:gd name="connsiteY1" fmla="*/ 1292257 h 1292256"/>
                <a:gd name="connsiteX2" fmla="*/ 82534 w 755400"/>
                <a:gd name="connsiteY2" fmla="*/ 575977 h 1292256"/>
                <a:gd name="connsiteX3" fmla="*/ 499824 w 755400"/>
                <a:gd name="connsiteY3" fmla="*/ 0 h 1292256"/>
                <a:gd name="connsiteX4" fmla="*/ 724043 w 755400"/>
                <a:gd name="connsiteY4" fmla="*/ 816102 h 1292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400" h="1292256">
                  <a:moveTo>
                    <a:pt x="724043" y="816102"/>
                  </a:moveTo>
                  <a:cubicBezTo>
                    <a:pt x="591074" y="1177671"/>
                    <a:pt x="65579" y="1284637"/>
                    <a:pt x="25574" y="1292257"/>
                  </a:cubicBezTo>
                  <a:cubicBezTo>
                    <a:pt x="-20717" y="1060609"/>
                    <a:pt x="-5572" y="813721"/>
                    <a:pt x="82534" y="575977"/>
                  </a:cubicBezTo>
                  <a:cubicBezTo>
                    <a:pt x="169592" y="340805"/>
                    <a:pt x="316563" y="145161"/>
                    <a:pt x="499824" y="0"/>
                  </a:cubicBezTo>
                  <a:cubicBezTo>
                    <a:pt x="519922" y="24860"/>
                    <a:pt x="858155" y="451295"/>
                    <a:pt x="724043" y="816102"/>
                  </a:cubicBezTo>
                  <a:close/>
                </a:path>
              </a:pathLst>
            </a:custGeom>
            <a:grpFill/>
            <a:ln w="9525" cap="flat">
              <a:noFill/>
              <a:prstDash val="solid"/>
              <a:miter/>
            </a:ln>
          </p:spPr>
          <p:txBody>
            <a:bodyPr rtlCol="0" anchor="ctr"/>
            <a:lstStyle/>
            <a:p>
              <a:endParaRPr lang="fr-FR" sz="2400"/>
            </a:p>
          </p:txBody>
        </p:sp>
      </p:grpSp>
      <p:sp>
        <p:nvSpPr>
          <p:cNvPr id="22"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23"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5"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en-US"/>
              <a:t>SVEPM 2026   -   UNVEILING TEMPORAL AND REGIONAL FACTORS OF ANTIBIOTIC RESISTANCE   -   BAREILLE</a:t>
            </a:r>
            <a:endParaRPr lang="fr-FR" dirty="0"/>
          </a:p>
        </p:txBody>
      </p:sp>
    </p:spTree>
    <p:extLst>
      <p:ext uri="{BB962C8B-B14F-4D97-AF65-F5344CB8AC3E}">
        <p14:creationId xmlns:p14="http://schemas.microsoft.com/office/powerpoint/2010/main" val="33336115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iapo de titre 10">
    <p:bg>
      <p:bgPr>
        <a:solidFill>
          <a:schemeClr val="tx2"/>
        </a:solidFill>
        <a:effectLst/>
      </p:bgPr>
    </p:bg>
    <p:spTree>
      <p:nvGrpSpPr>
        <p:cNvPr id="1" name=""/>
        <p:cNvGrpSpPr/>
        <p:nvPr/>
      </p:nvGrpSpPr>
      <p:grpSpPr>
        <a:xfrm>
          <a:off x="0" y="0"/>
          <a:ext cx="0" cy="0"/>
          <a:chOff x="0" y="0"/>
          <a:chExt cx="0" cy="0"/>
        </a:xfrm>
      </p:grpSpPr>
      <p:sp>
        <p:nvSpPr>
          <p:cNvPr id="10" name="Espace réservé du numéro de diapositive 9">
            <a:extLst>
              <a:ext uri="{FF2B5EF4-FFF2-40B4-BE49-F238E27FC236}">
                <a16:creationId xmlns:a16="http://schemas.microsoft.com/office/drawing/2014/main" id="{91A7E33E-EFFD-4ECA-B675-CED70E08C3CD}"/>
              </a:ext>
            </a:extLst>
          </p:cNvPr>
          <p:cNvSpPr>
            <a:spLocks noGrp="1"/>
          </p:cNvSpPr>
          <p:nvPr>
            <p:ph type="sldNum" sz="quarter" idx="19"/>
          </p:nvPr>
        </p:nvSpPr>
        <p:spPr/>
        <p:txBody>
          <a:bodyPr/>
          <a:lstStyle>
            <a:lvl1pPr>
              <a:defRPr>
                <a:solidFill>
                  <a:schemeClr val="bg1"/>
                </a:solidFill>
              </a:defRPr>
            </a:lvl1pPr>
          </a:lstStyle>
          <a:p>
            <a:fld id="{733122C9-A0B9-462F-8757-0847AD287B63}" type="slidenum">
              <a:rPr lang="fr-FR" smtClean="0"/>
              <a:pPr/>
              <a:t>‹N°›</a:t>
            </a:fld>
            <a:endParaRPr lang="fr-FR" dirty="0"/>
          </a:p>
        </p:txBody>
      </p:sp>
      <p:grpSp>
        <p:nvGrpSpPr>
          <p:cNvPr id="24" name="Groupe 23">
            <a:extLst>
              <a:ext uri="{FF2B5EF4-FFF2-40B4-BE49-F238E27FC236}">
                <a16:creationId xmlns:a16="http://schemas.microsoft.com/office/drawing/2014/main" id="{98AE072A-0DE3-445C-991B-1FF54D483686}"/>
              </a:ext>
            </a:extLst>
          </p:cNvPr>
          <p:cNvGrpSpPr/>
          <p:nvPr userDrawn="1"/>
        </p:nvGrpSpPr>
        <p:grpSpPr>
          <a:xfrm>
            <a:off x="11341101" y="240140"/>
            <a:ext cx="361951" cy="502176"/>
            <a:chOff x="2719388" y="0"/>
            <a:chExt cx="3708400" cy="5145088"/>
          </a:xfrm>
          <a:solidFill>
            <a:schemeClr val="bg1"/>
          </a:solidFill>
        </p:grpSpPr>
        <p:sp>
          <p:nvSpPr>
            <p:cNvPr id="25" name="Freeform 5">
              <a:extLst>
                <a:ext uri="{FF2B5EF4-FFF2-40B4-BE49-F238E27FC236}">
                  <a16:creationId xmlns:a16="http://schemas.microsoft.com/office/drawing/2014/main" id="{96EAAAE4-81CD-4923-9B00-96AA869903B0}"/>
                </a:ext>
              </a:extLst>
            </p:cNvPr>
            <p:cNvSpPr>
              <a:spLocks/>
            </p:cNvSpPr>
            <p:nvPr userDrawn="1"/>
          </p:nvSpPr>
          <p:spPr bwMode="auto">
            <a:xfrm>
              <a:off x="3552825" y="4416425"/>
              <a:ext cx="658813" cy="723900"/>
            </a:xfrm>
            <a:custGeom>
              <a:avLst/>
              <a:gdLst>
                <a:gd name="T0" fmla="*/ 258 w 434"/>
                <a:gd name="T1" fmla="*/ 0 h 477"/>
                <a:gd name="T2" fmla="*/ 92 w 434"/>
                <a:gd name="T3" fmla="*/ 67 h 477"/>
                <a:gd name="T4" fmla="*/ 92 w 434"/>
                <a:gd name="T5" fmla="*/ 0 h 477"/>
                <a:gd name="T6" fmla="*/ 0 w 434"/>
                <a:gd name="T7" fmla="*/ 0 h 477"/>
                <a:gd name="T8" fmla="*/ 0 w 434"/>
                <a:gd name="T9" fmla="*/ 477 h 477"/>
                <a:gd name="T10" fmla="*/ 92 w 434"/>
                <a:gd name="T11" fmla="*/ 477 h 477"/>
                <a:gd name="T12" fmla="*/ 92 w 434"/>
                <a:gd name="T13" fmla="*/ 187 h 477"/>
                <a:gd name="T14" fmla="*/ 241 w 434"/>
                <a:gd name="T15" fmla="*/ 76 h 477"/>
                <a:gd name="T16" fmla="*/ 342 w 434"/>
                <a:gd name="T17" fmla="*/ 161 h 477"/>
                <a:gd name="T18" fmla="*/ 342 w 434"/>
                <a:gd name="T19" fmla="*/ 161 h 477"/>
                <a:gd name="T20" fmla="*/ 342 w 434"/>
                <a:gd name="T21" fmla="*/ 477 h 477"/>
                <a:gd name="T22" fmla="*/ 434 w 434"/>
                <a:gd name="T23" fmla="*/ 477 h 477"/>
                <a:gd name="T24" fmla="*/ 434 w 434"/>
                <a:gd name="T25" fmla="*/ 161 h 477"/>
                <a:gd name="T26" fmla="*/ 258 w 434"/>
                <a:gd name="T27"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4" h="477">
                  <a:moveTo>
                    <a:pt x="258" y="0"/>
                  </a:moveTo>
                  <a:cubicBezTo>
                    <a:pt x="144" y="0"/>
                    <a:pt x="93" y="65"/>
                    <a:pt x="92" y="67"/>
                  </a:cubicBezTo>
                  <a:cubicBezTo>
                    <a:pt x="92" y="0"/>
                    <a:pt x="92" y="0"/>
                    <a:pt x="92" y="0"/>
                  </a:cubicBezTo>
                  <a:cubicBezTo>
                    <a:pt x="0" y="0"/>
                    <a:pt x="0" y="0"/>
                    <a:pt x="0" y="0"/>
                  </a:cubicBezTo>
                  <a:cubicBezTo>
                    <a:pt x="0" y="477"/>
                    <a:pt x="0" y="477"/>
                    <a:pt x="0" y="477"/>
                  </a:cubicBezTo>
                  <a:cubicBezTo>
                    <a:pt x="92" y="477"/>
                    <a:pt x="92" y="477"/>
                    <a:pt x="92" y="477"/>
                  </a:cubicBezTo>
                  <a:cubicBezTo>
                    <a:pt x="92" y="187"/>
                    <a:pt x="92" y="187"/>
                    <a:pt x="92" y="187"/>
                  </a:cubicBezTo>
                  <a:cubicBezTo>
                    <a:pt x="94" y="117"/>
                    <a:pt x="182" y="76"/>
                    <a:pt x="241" y="76"/>
                  </a:cubicBezTo>
                  <a:cubicBezTo>
                    <a:pt x="285" y="76"/>
                    <a:pt x="342" y="107"/>
                    <a:pt x="342" y="161"/>
                  </a:cubicBezTo>
                  <a:cubicBezTo>
                    <a:pt x="342" y="161"/>
                    <a:pt x="342" y="161"/>
                    <a:pt x="342" y="161"/>
                  </a:cubicBezTo>
                  <a:cubicBezTo>
                    <a:pt x="342" y="477"/>
                    <a:pt x="342" y="477"/>
                    <a:pt x="342" y="477"/>
                  </a:cubicBezTo>
                  <a:cubicBezTo>
                    <a:pt x="434" y="477"/>
                    <a:pt x="434" y="477"/>
                    <a:pt x="434" y="477"/>
                  </a:cubicBezTo>
                  <a:cubicBezTo>
                    <a:pt x="434" y="161"/>
                    <a:pt x="434" y="161"/>
                    <a:pt x="434" y="161"/>
                  </a:cubicBezTo>
                  <a:cubicBezTo>
                    <a:pt x="434" y="54"/>
                    <a:pt x="355" y="0"/>
                    <a:pt x="2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6" name="Freeform 6">
              <a:extLst>
                <a:ext uri="{FF2B5EF4-FFF2-40B4-BE49-F238E27FC236}">
                  <a16:creationId xmlns:a16="http://schemas.microsoft.com/office/drawing/2014/main" id="{0BCD58C1-66D1-49A9-817D-EA1CCE188603}"/>
                </a:ext>
              </a:extLst>
            </p:cNvPr>
            <p:cNvSpPr>
              <a:spLocks/>
            </p:cNvSpPr>
            <p:nvPr userDrawn="1"/>
          </p:nvSpPr>
          <p:spPr bwMode="auto">
            <a:xfrm>
              <a:off x="5826125" y="4405313"/>
              <a:ext cx="601663" cy="738188"/>
            </a:xfrm>
            <a:custGeom>
              <a:avLst/>
              <a:gdLst>
                <a:gd name="T0" fmla="*/ 245 w 396"/>
                <a:gd name="T1" fmla="*/ 201 h 486"/>
                <a:gd name="T2" fmla="*/ 245 w 396"/>
                <a:gd name="T3" fmla="*/ 201 h 486"/>
                <a:gd name="T4" fmla="*/ 162 w 396"/>
                <a:gd name="T5" fmla="*/ 201 h 486"/>
                <a:gd name="T6" fmla="*/ 93 w 396"/>
                <a:gd name="T7" fmla="*/ 140 h 486"/>
                <a:gd name="T8" fmla="*/ 192 w 396"/>
                <a:gd name="T9" fmla="*/ 81 h 486"/>
                <a:gd name="T10" fmla="*/ 336 w 396"/>
                <a:gd name="T11" fmla="*/ 107 h 486"/>
                <a:gd name="T12" fmla="*/ 368 w 396"/>
                <a:gd name="T13" fmla="*/ 33 h 486"/>
                <a:gd name="T14" fmla="*/ 201 w 396"/>
                <a:gd name="T15" fmla="*/ 0 h 486"/>
                <a:gd name="T16" fmla="*/ 5 w 396"/>
                <a:gd name="T17" fmla="*/ 142 h 486"/>
                <a:gd name="T18" fmla="*/ 152 w 396"/>
                <a:gd name="T19" fmla="*/ 285 h 486"/>
                <a:gd name="T20" fmla="*/ 152 w 396"/>
                <a:gd name="T21" fmla="*/ 285 h 486"/>
                <a:gd name="T22" fmla="*/ 235 w 396"/>
                <a:gd name="T23" fmla="*/ 285 h 486"/>
                <a:gd name="T24" fmla="*/ 304 w 396"/>
                <a:gd name="T25" fmla="*/ 346 h 486"/>
                <a:gd name="T26" fmla="*/ 204 w 396"/>
                <a:gd name="T27" fmla="*/ 405 h 486"/>
                <a:gd name="T28" fmla="*/ 44 w 396"/>
                <a:gd name="T29" fmla="*/ 372 h 486"/>
                <a:gd name="T30" fmla="*/ 13 w 396"/>
                <a:gd name="T31" fmla="*/ 446 h 486"/>
                <a:gd name="T32" fmla="*/ 195 w 396"/>
                <a:gd name="T33" fmla="*/ 486 h 486"/>
                <a:gd name="T34" fmla="*/ 391 w 396"/>
                <a:gd name="T35" fmla="*/ 345 h 486"/>
                <a:gd name="T36" fmla="*/ 245 w 396"/>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6" h="486">
                  <a:moveTo>
                    <a:pt x="245" y="201"/>
                  </a:moveTo>
                  <a:cubicBezTo>
                    <a:pt x="245" y="201"/>
                    <a:pt x="245" y="201"/>
                    <a:pt x="245" y="201"/>
                  </a:cubicBezTo>
                  <a:cubicBezTo>
                    <a:pt x="162" y="201"/>
                    <a:pt x="162" y="201"/>
                    <a:pt x="162" y="201"/>
                  </a:cubicBezTo>
                  <a:cubicBezTo>
                    <a:pt x="115" y="201"/>
                    <a:pt x="91" y="183"/>
                    <a:pt x="93" y="140"/>
                  </a:cubicBezTo>
                  <a:cubicBezTo>
                    <a:pt x="95" y="95"/>
                    <a:pt x="144" y="81"/>
                    <a:pt x="192" y="81"/>
                  </a:cubicBezTo>
                  <a:cubicBezTo>
                    <a:pt x="261" y="81"/>
                    <a:pt x="312" y="98"/>
                    <a:pt x="336" y="107"/>
                  </a:cubicBezTo>
                  <a:cubicBezTo>
                    <a:pt x="368" y="33"/>
                    <a:pt x="368" y="33"/>
                    <a:pt x="368" y="33"/>
                  </a:cubicBezTo>
                  <a:cubicBezTo>
                    <a:pt x="341" y="21"/>
                    <a:pt x="282" y="0"/>
                    <a:pt x="201" y="0"/>
                  </a:cubicBezTo>
                  <a:cubicBezTo>
                    <a:pt x="121" y="0"/>
                    <a:pt x="10" y="32"/>
                    <a:pt x="5" y="142"/>
                  </a:cubicBezTo>
                  <a:cubicBezTo>
                    <a:pt x="0" y="248"/>
                    <a:pt x="74" y="283"/>
                    <a:pt x="152" y="285"/>
                  </a:cubicBezTo>
                  <a:cubicBezTo>
                    <a:pt x="152" y="285"/>
                    <a:pt x="152" y="285"/>
                    <a:pt x="152" y="285"/>
                  </a:cubicBezTo>
                  <a:cubicBezTo>
                    <a:pt x="235" y="285"/>
                    <a:pt x="235" y="285"/>
                    <a:pt x="235" y="285"/>
                  </a:cubicBezTo>
                  <a:cubicBezTo>
                    <a:pt x="281" y="285"/>
                    <a:pt x="306" y="303"/>
                    <a:pt x="304" y="346"/>
                  </a:cubicBezTo>
                  <a:cubicBezTo>
                    <a:pt x="302" y="391"/>
                    <a:pt x="253" y="405"/>
                    <a:pt x="204" y="405"/>
                  </a:cubicBezTo>
                  <a:cubicBezTo>
                    <a:pt x="106" y="405"/>
                    <a:pt x="44" y="372"/>
                    <a:pt x="44" y="372"/>
                  </a:cubicBezTo>
                  <a:cubicBezTo>
                    <a:pt x="13" y="446"/>
                    <a:pt x="13" y="446"/>
                    <a:pt x="13" y="446"/>
                  </a:cubicBezTo>
                  <a:cubicBezTo>
                    <a:pt x="13" y="446"/>
                    <a:pt x="83" y="486"/>
                    <a:pt x="195" y="486"/>
                  </a:cubicBezTo>
                  <a:cubicBezTo>
                    <a:pt x="276" y="486"/>
                    <a:pt x="387" y="454"/>
                    <a:pt x="391" y="345"/>
                  </a:cubicBezTo>
                  <a:cubicBezTo>
                    <a:pt x="396" y="238"/>
                    <a:pt x="322" y="203"/>
                    <a:pt x="245"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7" name="Freeform 7">
              <a:extLst>
                <a:ext uri="{FF2B5EF4-FFF2-40B4-BE49-F238E27FC236}">
                  <a16:creationId xmlns:a16="http://schemas.microsoft.com/office/drawing/2014/main" id="{1AE8DB6E-B1F5-4293-BB50-9FC333A20607}"/>
                </a:ext>
              </a:extLst>
            </p:cNvPr>
            <p:cNvSpPr>
              <a:spLocks noEditPoints="1"/>
            </p:cNvSpPr>
            <p:nvPr userDrawn="1"/>
          </p:nvSpPr>
          <p:spPr bwMode="auto">
            <a:xfrm>
              <a:off x="5026025" y="4402138"/>
              <a:ext cx="700088" cy="742950"/>
            </a:xfrm>
            <a:custGeom>
              <a:avLst/>
              <a:gdLst>
                <a:gd name="T0" fmla="*/ 234 w 460"/>
                <a:gd name="T1" fmla="*/ 0 h 489"/>
                <a:gd name="T2" fmla="*/ 0 w 460"/>
                <a:gd name="T3" fmla="*/ 249 h 489"/>
                <a:gd name="T4" fmla="*/ 256 w 460"/>
                <a:gd name="T5" fmla="*/ 489 h 489"/>
                <a:gd name="T6" fmla="*/ 437 w 460"/>
                <a:gd name="T7" fmla="*/ 449 h 489"/>
                <a:gd name="T8" fmla="*/ 403 w 460"/>
                <a:gd name="T9" fmla="*/ 378 h 489"/>
                <a:gd name="T10" fmla="*/ 253 w 460"/>
                <a:gd name="T11" fmla="*/ 408 h 489"/>
                <a:gd name="T12" fmla="*/ 96 w 460"/>
                <a:gd name="T13" fmla="*/ 285 h 489"/>
                <a:gd name="T14" fmla="*/ 367 w 460"/>
                <a:gd name="T15" fmla="*/ 285 h 489"/>
                <a:gd name="T16" fmla="*/ 460 w 460"/>
                <a:gd name="T17" fmla="*/ 285 h 489"/>
                <a:gd name="T18" fmla="*/ 460 w 460"/>
                <a:gd name="T19" fmla="*/ 243 h 489"/>
                <a:gd name="T20" fmla="*/ 234 w 460"/>
                <a:gd name="T21" fmla="*/ 0 h 489"/>
                <a:gd name="T22" fmla="*/ 97 w 460"/>
                <a:gd name="T23" fmla="*/ 209 h 489"/>
                <a:gd name="T24" fmla="*/ 238 w 460"/>
                <a:gd name="T25" fmla="*/ 79 h 489"/>
                <a:gd name="T26" fmla="*/ 366 w 460"/>
                <a:gd name="T27" fmla="*/ 209 h 489"/>
                <a:gd name="T28" fmla="*/ 97 w 460"/>
                <a:gd name="T29" fmla="*/ 20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0" h="489">
                  <a:moveTo>
                    <a:pt x="234" y="0"/>
                  </a:moveTo>
                  <a:cubicBezTo>
                    <a:pt x="101" y="0"/>
                    <a:pt x="0" y="77"/>
                    <a:pt x="0" y="249"/>
                  </a:cubicBezTo>
                  <a:cubicBezTo>
                    <a:pt x="0" y="421"/>
                    <a:pt x="127" y="489"/>
                    <a:pt x="256" y="489"/>
                  </a:cubicBezTo>
                  <a:cubicBezTo>
                    <a:pt x="375" y="489"/>
                    <a:pt x="437" y="449"/>
                    <a:pt x="437" y="449"/>
                  </a:cubicBezTo>
                  <a:cubicBezTo>
                    <a:pt x="403" y="378"/>
                    <a:pt x="403" y="378"/>
                    <a:pt x="403" y="378"/>
                  </a:cubicBezTo>
                  <a:cubicBezTo>
                    <a:pt x="403" y="378"/>
                    <a:pt x="357" y="408"/>
                    <a:pt x="253" y="408"/>
                  </a:cubicBezTo>
                  <a:cubicBezTo>
                    <a:pt x="182" y="408"/>
                    <a:pt x="106" y="386"/>
                    <a:pt x="96" y="285"/>
                  </a:cubicBezTo>
                  <a:cubicBezTo>
                    <a:pt x="367" y="285"/>
                    <a:pt x="367" y="285"/>
                    <a:pt x="367" y="285"/>
                  </a:cubicBezTo>
                  <a:cubicBezTo>
                    <a:pt x="460" y="285"/>
                    <a:pt x="460" y="285"/>
                    <a:pt x="460" y="285"/>
                  </a:cubicBezTo>
                  <a:cubicBezTo>
                    <a:pt x="460" y="243"/>
                    <a:pt x="460" y="243"/>
                    <a:pt x="460" y="243"/>
                  </a:cubicBezTo>
                  <a:cubicBezTo>
                    <a:pt x="460" y="87"/>
                    <a:pt x="388" y="0"/>
                    <a:pt x="234" y="0"/>
                  </a:cubicBezTo>
                  <a:close/>
                  <a:moveTo>
                    <a:pt x="97" y="209"/>
                  </a:moveTo>
                  <a:cubicBezTo>
                    <a:pt x="108" y="108"/>
                    <a:pt x="159" y="79"/>
                    <a:pt x="238" y="79"/>
                  </a:cubicBezTo>
                  <a:cubicBezTo>
                    <a:pt x="322" y="79"/>
                    <a:pt x="360" y="119"/>
                    <a:pt x="366" y="209"/>
                  </a:cubicBezTo>
                  <a:lnTo>
                    <a:pt x="97"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8" name="Freeform 8">
              <a:extLst>
                <a:ext uri="{FF2B5EF4-FFF2-40B4-BE49-F238E27FC236}">
                  <a16:creationId xmlns:a16="http://schemas.microsoft.com/office/drawing/2014/main" id="{7EC8E473-602C-4ABE-8E74-27DE0B256877}"/>
                </a:ext>
              </a:extLst>
            </p:cNvPr>
            <p:cNvSpPr>
              <a:spLocks/>
            </p:cNvSpPr>
            <p:nvPr userDrawn="1"/>
          </p:nvSpPr>
          <p:spPr bwMode="auto">
            <a:xfrm>
              <a:off x="4335463" y="4405313"/>
              <a:ext cx="600075" cy="738188"/>
            </a:xfrm>
            <a:custGeom>
              <a:avLst/>
              <a:gdLst>
                <a:gd name="T0" fmla="*/ 244 w 395"/>
                <a:gd name="T1" fmla="*/ 201 h 486"/>
                <a:gd name="T2" fmla="*/ 244 w 395"/>
                <a:gd name="T3" fmla="*/ 201 h 486"/>
                <a:gd name="T4" fmla="*/ 161 w 395"/>
                <a:gd name="T5" fmla="*/ 201 h 486"/>
                <a:gd name="T6" fmla="*/ 92 w 395"/>
                <a:gd name="T7" fmla="*/ 140 h 486"/>
                <a:gd name="T8" fmla="*/ 191 w 395"/>
                <a:gd name="T9" fmla="*/ 81 h 486"/>
                <a:gd name="T10" fmla="*/ 336 w 395"/>
                <a:gd name="T11" fmla="*/ 107 h 486"/>
                <a:gd name="T12" fmla="*/ 367 w 395"/>
                <a:gd name="T13" fmla="*/ 33 h 486"/>
                <a:gd name="T14" fmla="*/ 201 w 395"/>
                <a:gd name="T15" fmla="*/ 0 h 486"/>
                <a:gd name="T16" fmla="*/ 4 w 395"/>
                <a:gd name="T17" fmla="*/ 142 h 486"/>
                <a:gd name="T18" fmla="*/ 151 w 395"/>
                <a:gd name="T19" fmla="*/ 285 h 486"/>
                <a:gd name="T20" fmla="*/ 151 w 395"/>
                <a:gd name="T21" fmla="*/ 285 h 486"/>
                <a:gd name="T22" fmla="*/ 234 w 395"/>
                <a:gd name="T23" fmla="*/ 285 h 486"/>
                <a:gd name="T24" fmla="*/ 303 w 395"/>
                <a:gd name="T25" fmla="*/ 346 h 486"/>
                <a:gd name="T26" fmla="*/ 203 w 395"/>
                <a:gd name="T27" fmla="*/ 405 h 486"/>
                <a:gd name="T28" fmla="*/ 44 w 395"/>
                <a:gd name="T29" fmla="*/ 372 h 486"/>
                <a:gd name="T30" fmla="*/ 12 w 395"/>
                <a:gd name="T31" fmla="*/ 446 h 486"/>
                <a:gd name="T32" fmla="*/ 194 w 395"/>
                <a:gd name="T33" fmla="*/ 486 h 486"/>
                <a:gd name="T34" fmla="*/ 391 w 395"/>
                <a:gd name="T35" fmla="*/ 345 h 486"/>
                <a:gd name="T36" fmla="*/ 244 w 395"/>
                <a:gd name="T37" fmla="*/ 20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5" h="486">
                  <a:moveTo>
                    <a:pt x="244" y="201"/>
                  </a:moveTo>
                  <a:cubicBezTo>
                    <a:pt x="244" y="201"/>
                    <a:pt x="244" y="201"/>
                    <a:pt x="244" y="201"/>
                  </a:cubicBezTo>
                  <a:cubicBezTo>
                    <a:pt x="161" y="201"/>
                    <a:pt x="161" y="201"/>
                    <a:pt x="161" y="201"/>
                  </a:cubicBezTo>
                  <a:cubicBezTo>
                    <a:pt x="115" y="201"/>
                    <a:pt x="90" y="183"/>
                    <a:pt x="92" y="140"/>
                  </a:cubicBezTo>
                  <a:cubicBezTo>
                    <a:pt x="94" y="95"/>
                    <a:pt x="143" y="81"/>
                    <a:pt x="191" y="81"/>
                  </a:cubicBezTo>
                  <a:cubicBezTo>
                    <a:pt x="260" y="81"/>
                    <a:pt x="311" y="98"/>
                    <a:pt x="336" y="107"/>
                  </a:cubicBezTo>
                  <a:cubicBezTo>
                    <a:pt x="367" y="33"/>
                    <a:pt x="367" y="33"/>
                    <a:pt x="367" y="33"/>
                  </a:cubicBezTo>
                  <a:cubicBezTo>
                    <a:pt x="341" y="21"/>
                    <a:pt x="282" y="0"/>
                    <a:pt x="201" y="0"/>
                  </a:cubicBezTo>
                  <a:cubicBezTo>
                    <a:pt x="120" y="0"/>
                    <a:pt x="9" y="32"/>
                    <a:pt x="4" y="142"/>
                  </a:cubicBezTo>
                  <a:cubicBezTo>
                    <a:pt x="0" y="248"/>
                    <a:pt x="74" y="283"/>
                    <a:pt x="151" y="285"/>
                  </a:cubicBezTo>
                  <a:cubicBezTo>
                    <a:pt x="151" y="285"/>
                    <a:pt x="151" y="285"/>
                    <a:pt x="151" y="285"/>
                  </a:cubicBezTo>
                  <a:cubicBezTo>
                    <a:pt x="234" y="285"/>
                    <a:pt x="234" y="285"/>
                    <a:pt x="234" y="285"/>
                  </a:cubicBezTo>
                  <a:cubicBezTo>
                    <a:pt x="280" y="285"/>
                    <a:pt x="305" y="303"/>
                    <a:pt x="303" y="346"/>
                  </a:cubicBezTo>
                  <a:cubicBezTo>
                    <a:pt x="301" y="391"/>
                    <a:pt x="252" y="405"/>
                    <a:pt x="203" y="405"/>
                  </a:cubicBezTo>
                  <a:cubicBezTo>
                    <a:pt x="105" y="405"/>
                    <a:pt x="44" y="372"/>
                    <a:pt x="44" y="372"/>
                  </a:cubicBezTo>
                  <a:cubicBezTo>
                    <a:pt x="12" y="446"/>
                    <a:pt x="12" y="446"/>
                    <a:pt x="12" y="446"/>
                  </a:cubicBezTo>
                  <a:cubicBezTo>
                    <a:pt x="12" y="446"/>
                    <a:pt x="83" y="486"/>
                    <a:pt x="194" y="486"/>
                  </a:cubicBezTo>
                  <a:cubicBezTo>
                    <a:pt x="275" y="486"/>
                    <a:pt x="386" y="454"/>
                    <a:pt x="391" y="345"/>
                  </a:cubicBezTo>
                  <a:cubicBezTo>
                    <a:pt x="395" y="238"/>
                    <a:pt x="321" y="203"/>
                    <a:pt x="24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29" name="Freeform 9">
              <a:extLst>
                <a:ext uri="{FF2B5EF4-FFF2-40B4-BE49-F238E27FC236}">
                  <a16:creationId xmlns:a16="http://schemas.microsoft.com/office/drawing/2014/main" id="{64FE414C-3DB9-4FE9-B834-0A39C9D48ABF}"/>
                </a:ext>
              </a:extLst>
            </p:cNvPr>
            <p:cNvSpPr>
              <a:spLocks noEditPoints="1"/>
            </p:cNvSpPr>
            <p:nvPr userDrawn="1"/>
          </p:nvSpPr>
          <p:spPr bwMode="auto">
            <a:xfrm>
              <a:off x="2719388" y="4406900"/>
              <a:ext cx="671513" cy="735013"/>
            </a:xfrm>
            <a:custGeom>
              <a:avLst/>
              <a:gdLst>
                <a:gd name="T0" fmla="*/ 220 w 442"/>
                <a:gd name="T1" fmla="*/ 0 h 484"/>
                <a:gd name="T2" fmla="*/ 39 w 442"/>
                <a:gd name="T3" fmla="*/ 30 h 484"/>
                <a:gd name="T4" fmla="*/ 75 w 442"/>
                <a:gd name="T5" fmla="*/ 104 h 484"/>
                <a:gd name="T6" fmla="*/ 230 w 442"/>
                <a:gd name="T7" fmla="*/ 81 h 484"/>
                <a:gd name="T8" fmla="*/ 350 w 442"/>
                <a:gd name="T9" fmla="*/ 168 h 484"/>
                <a:gd name="T10" fmla="*/ 350 w 442"/>
                <a:gd name="T11" fmla="*/ 196 h 484"/>
                <a:gd name="T12" fmla="*/ 168 w 442"/>
                <a:gd name="T13" fmla="*/ 196 h 484"/>
                <a:gd name="T14" fmla="*/ 0 w 442"/>
                <a:gd name="T15" fmla="*/ 339 h 484"/>
                <a:gd name="T16" fmla="*/ 181 w 442"/>
                <a:gd name="T17" fmla="*/ 484 h 484"/>
                <a:gd name="T18" fmla="*/ 350 w 442"/>
                <a:gd name="T19" fmla="*/ 417 h 484"/>
                <a:gd name="T20" fmla="*/ 350 w 442"/>
                <a:gd name="T21" fmla="*/ 484 h 484"/>
                <a:gd name="T22" fmla="*/ 442 w 442"/>
                <a:gd name="T23" fmla="*/ 484 h 484"/>
                <a:gd name="T24" fmla="*/ 442 w 442"/>
                <a:gd name="T25" fmla="*/ 142 h 484"/>
                <a:gd name="T26" fmla="*/ 220 w 442"/>
                <a:gd name="T27" fmla="*/ 0 h 484"/>
                <a:gd name="T28" fmla="*/ 350 w 442"/>
                <a:gd name="T29" fmla="*/ 295 h 484"/>
                <a:gd name="T30" fmla="*/ 198 w 442"/>
                <a:gd name="T31" fmla="*/ 407 h 484"/>
                <a:gd name="T32" fmla="*/ 95 w 442"/>
                <a:gd name="T33" fmla="*/ 338 h 484"/>
                <a:gd name="T34" fmla="*/ 173 w 442"/>
                <a:gd name="T35" fmla="*/ 269 h 484"/>
                <a:gd name="T36" fmla="*/ 350 w 442"/>
                <a:gd name="T37" fmla="*/ 269 h 484"/>
                <a:gd name="T38" fmla="*/ 350 w 442"/>
                <a:gd name="T39" fmla="*/ 295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2" h="484">
                  <a:moveTo>
                    <a:pt x="220" y="0"/>
                  </a:moveTo>
                  <a:cubicBezTo>
                    <a:pt x="135" y="0"/>
                    <a:pt x="72" y="18"/>
                    <a:pt x="39" y="30"/>
                  </a:cubicBezTo>
                  <a:cubicBezTo>
                    <a:pt x="75" y="104"/>
                    <a:pt x="75" y="104"/>
                    <a:pt x="75" y="104"/>
                  </a:cubicBezTo>
                  <a:cubicBezTo>
                    <a:pt x="105" y="95"/>
                    <a:pt x="159" y="81"/>
                    <a:pt x="230" y="81"/>
                  </a:cubicBezTo>
                  <a:cubicBezTo>
                    <a:pt x="285" y="81"/>
                    <a:pt x="350" y="96"/>
                    <a:pt x="350" y="168"/>
                  </a:cubicBezTo>
                  <a:cubicBezTo>
                    <a:pt x="350" y="168"/>
                    <a:pt x="350" y="194"/>
                    <a:pt x="350" y="196"/>
                  </a:cubicBezTo>
                  <a:cubicBezTo>
                    <a:pt x="168" y="196"/>
                    <a:pt x="168" y="196"/>
                    <a:pt x="168" y="196"/>
                  </a:cubicBezTo>
                  <a:cubicBezTo>
                    <a:pt x="75" y="196"/>
                    <a:pt x="0" y="229"/>
                    <a:pt x="0" y="339"/>
                  </a:cubicBezTo>
                  <a:cubicBezTo>
                    <a:pt x="0" y="438"/>
                    <a:pt x="81" y="484"/>
                    <a:pt x="181" y="484"/>
                  </a:cubicBezTo>
                  <a:cubicBezTo>
                    <a:pt x="298" y="484"/>
                    <a:pt x="350" y="417"/>
                    <a:pt x="350" y="417"/>
                  </a:cubicBezTo>
                  <a:cubicBezTo>
                    <a:pt x="350" y="484"/>
                    <a:pt x="350" y="484"/>
                    <a:pt x="350" y="484"/>
                  </a:cubicBezTo>
                  <a:cubicBezTo>
                    <a:pt x="442" y="484"/>
                    <a:pt x="442" y="484"/>
                    <a:pt x="442" y="484"/>
                  </a:cubicBezTo>
                  <a:cubicBezTo>
                    <a:pt x="442" y="142"/>
                    <a:pt x="442" y="142"/>
                    <a:pt x="442" y="142"/>
                  </a:cubicBezTo>
                  <a:cubicBezTo>
                    <a:pt x="437" y="32"/>
                    <a:pt x="311" y="0"/>
                    <a:pt x="220" y="0"/>
                  </a:cubicBezTo>
                  <a:close/>
                  <a:moveTo>
                    <a:pt x="350" y="295"/>
                  </a:moveTo>
                  <a:cubicBezTo>
                    <a:pt x="350" y="366"/>
                    <a:pt x="258" y="407"/>
                    <a:pt x="198" y="407"/>
                  </a:cubicBezTo>
                  <a:cubicBezTo>
                    <a:pt x="153" y="407"/>
                    <a:pt x="95" y="392"/>
                    <a:pt x="95" y="338"/>
                  </a:cubicBezTo>
                  <a:cubicBezTo>
                    <a:pt x="95" y="284"/>
                    <a:pt x="126" y="269"/>
                    <a:pt x="173" y="269"/>
                  </a:cubicBezTo>
                  <a:cubicBezTo>
                    <a:pt x="350" y="269"/>
                    <a:pt x="350" y="269"/>
                    <a:pt x="350" y="269"/>
                  </a:cubicBezTo>
                  <a:lnTo>
                    <a:pt x="350" y="2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0" name="Freeform 10">
              <a:extLst>
                <a:ext uri="{FF2B5EF4-FFF2-40B4-BE49-F238E27FC236}">
                  <a16:creationId xmlns:a16="http://schemas.microsoft.com/office/drawing/2014/main" id="{CCE5207A-3E84-4DC4-A07C-47027DA0FFA6}"/>
                </a:ext>
              </a:extLst>
            </p:cNvPr>
            <p:cNvSpPr>
              <a:spLocks/>
            </p:cNvSpPr>
            <p:nvPr userDrawn="1"/>
          </p:nvSpPr>
          <p:spPr bwMode="auto">
            <a:xfrm>
              <a:off x="3625850" y="0"/>
              <a:ext cx="1914525" cy="965200"/>
            </a:xfrm>
            <a:custGeom>
              <a:avLst/>
              <a:gdLst>
                <a:gd name="T0" fmla="*/ 1260 w 1260"/>
                <a:gd name="T1" fmla="*/ 183 h 636"/>
                <a:gd name="T2" fmla="*/ 632 w 1260"/>
                <a:gd name="T3" fmla="*/ 0 h 636"/>
                <a:gd name="T4" fmla="*/ 0 w 1260"/>
                <a:gd name="T5" fmla="*/ 174 h 636"/>
                <a:gd name="T6" fmla="*/ 630 w 1260"/>
                <a:gd name="T7" fmla="*/ 635 h 636"/>
                <a:gd name="T8" fmla="*/ 1260 w 1260"/>
                <a:gd name="T9" fmla="*/ 183 h 636"/>
              </a:gdLst>
              <a:ahLst/>
              <a:cxnLst>
                <a:cxn ang="0">
                  <a:pos x="T0" y="T1"/>
                </a:cxn>
                <a:cxn ang="0">
                  <a:pos x="T2" y="T3"/>
                </a:cxn>
                <a:cxn ang="0">
                  <a:pos x="T4" y="T5"/>
                </a:cxn>
                <a:cxn ang="0">
                  <a:pos x="T6" y="T7"/>
                </a:cxn>
                <a:cxn ang="0">
                  <a:pos x="T8" y="T9"/>
                </a:cxn>
              </a:cxnLst>
              <a:rect l="0" t="0" r="r" b="b"/>
              <a:pathLst>
                <a:path w="1260" h="636">
                  <a:moveTo>
                    <a:pt x="1260" y="183"/>
                  </a:moveTo>
                  <a:cubicBezTo>
                    <a:pt x="1088" y="73"/>
                    <a:pt x="862" y="0"/>
                    <a:pt x="632" y="0"/>
                  </a:cubicBezTo>
                  <a:cubicBezTo>
                    <a:pt x="418" y="0"/>
                    <a:pt x="197" y="52"/>
                    <a:pt x="0" y="174"/>
                  </a:cubicBezTo>
                  <a:cubicBezTo>
                    <a:pt x="0" y="174"/>
                    <a:pt x="269" y="634"/>
                    <a:pt x="630" y="635"/>
                  </a:cubicBezTo>
                  <a:cubicBezTo>
                    <a:pt x="992" y="636"/>
                    <a:pt x="1260" y="183"/>
                    <a:pt x="1260"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1" name="Freeform 11">
              <a:extLst>
                <a:ext uri="{FF2B5EF4-FFF2-40B4-BE49-F238E27FC236}">
                  <a16:creationId xmlns:a16="http://schemas.microsoft.com/office/drawing/2014/main" id="{77B6E331-2620-41C0-B97C-1B12164FD9AD}"/>
                </a:ext>
              </a:extLst>
            </p:cNvPr>
            <p:cNvSpPr>
              <a:spLocks/>
            </p:cNvSpPr>
            <p:nvPr userDrawn="1"/>
          </p:nvSpPr>
          <p:spPr bwMode="auto">
            <a:xfrm>
              <a:off x="2722563" y="436563"/>
              <a:ext cx="1201738" cy="1819275"/>
            </a:xfrm>
            <a:custGeom>
              <a:avLst/>
              <a:gdLst>
                <a:gd name="T0" fmla="*/ 438 w 791"/>
                <a:gd name="T1" fmla="*/ 0 h 1198"/>
                <a:gd name="T2" fmla="*/ 75 w 791"/>
                <a:gd name="T3" fmla="*/ 545 h 1198"/>
                <a:gd name="T4" fmla="*/ 52 w 791"/>
                <a:gd name="T5" fmla="*/ 1198 h 1198"/>
                <a:gd name="T6" fmla="*/ 679 w 791"/>
                <a:gd name="T7" fmla="*/ 742 h 1198"/>
                <a:gd name="T8" fmla="*/ 438 w 791"/>
                <a:gd name="T9" fmla="*/ 0 h 1198"/>
              </a:gdLst>
              <a:ahLst/>
              <a:cxnLst>
                <a:cxn ang="0">
                  <a:pos x="T0" y="T1"/>
                </a:cxn>
                <a:cxn ang="0">
                  <a:pos x="T2" y="T3"/>
                </a:cxn>
                <a:cxn ang="0">
                  <a:pos x="T4" y="T5"/>
                </a:cxn>
                <a:cxn ang="0">
                  <a:pos x="T6" y="T7"/>
                </a:cxn>
                <a:cxn ang="0">
                  <a:pos x="T8" y="T9"/>
                </a:cxn>
              </a:cxnLst>
              <a:rect l="0" t="0" r="r" b="b"/>
              <a:pathLst>
                <a:path w="791" h="1198">
                  <a:moveTo>
                    <a:pt x="438" y="0"/>
                  </a:moveTo>
                  <a:cubicBezTo>
                    <a:pt x="273" y="139"/>
                    <a:pt x="147" y="326"/>
                    <a:pt x="75" y="545"/>
                  </a:cubicBezTo>
                  <a:cubicBezTo>
                    <a:pt x="4" y="764"/>
                    <a:pt x="0" y="981"/>
                    <a:pt x="52" y="1198"/>
                  </a:cubicBezTo>
                  <a:cubicBezTo>
                    <a:pt x="52" y="1198"/>
                    <a:pt x="566" y="1086"/>
                    <a:pt x="679" y="742"/>
                  </a:cubicBezTo>
                  <a:cubicBezTo>
                    <a:pt x="791" y="399"/>
                    <a:pt x="438" y="0"/>
                    <a:pt x="4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2" name="Freeform 12">
              <a:extLst>
                <a:ext uri="{FF2B5EF4-FFF2-40B4-BE49-F238E27FC236}">
                  <a16:creationId xmlns:a16="http://schemas.microsoft.com/office/drawing/2014/main" id="{DA1FDC7C-42C8-4041-B97D-F2CA92B55788}"/>
                </a:ext>
              </a:extLst>
            </p:cNvPr>
            <p:cNvSpPr>
              <a:spLocks/>
            </p:cNvSpPr>
            <p:nvPr userDrawn="1"/>
          </p:nvSpPr>
          <p:spPr bwMode="auto">
            <a:xfrm>
              <a:off x="2882900" y="2185988"/>
              <a:ext cx="1622425" cy="1447800"/>
            </a:xfrm>
            <a:custGeom>
              <a:avLst/>
              <a:gdLst>
                <a:gd name="T0" fmla="*/ 0 w 1067"/>
                <a:gd name="T1" fmla="*/ 211 h 954"/>
                <a:gd name="T2" fmla="*/ 401 w 1067"/>
                <a:gd name="T3" fmla="*/ 726 h 954"/>
                <a:gd name="T4" fmla="*/ 1016 w 1067"/>
                <a:gd name="T5" fmla="*/ 954 h 954"/>
                <a:gd name="T6" fmla="*/ 775 w 1067"/>
                <a:gd name="T7" fmla="*/ 213 h 954"/>
                <a:gd name="T8" fmla="*/ 0 w 1067"/>
                <a:gd name="T9" fmla="*/ 211 h 954"/>
              </a:gdLst>
              <a:ahLst/>
              <a:cxnLst>
                <a:cxn ang="0">
                  <a:pos x="T0" y="T1"/>
                </a:cxn>
                <a:cxn ang="0">
                  <a:pos x="T2" y="T3"/>
                </a:cxn>
                <a:cxn ang="0">
                  <a:pos x="T4" y="T5"/>
                </a:cxn>
                <a:cxn ang="0">
                  <a:pos x="T6" y="T7"/>
                </a:cxn>
                <a:cxn ang="0">
                  <a:pos x="T8" y="T9"/>
                </a:cxn>
              </a:cxnLst>
              <a:rect l="0" t="0" r="r" b="b"/>
              <a:pathLst>
                <a:path w="1067" h="954">
                  <a:moveTo>
                    <a:pt x="0" y="211"/>
                  </a:moveTo>
                  <a:cubicBezTo>
                    <a:pt x="84" y="414"/>
                    <a:pt x="218" y="590"/>
                    <a:pt x="401" y="726"/>
                  </a:cubicBezTo>
                  <a:cubicBezTo>
                    <a:pt x="586" y="863"/>
                    <a:pt x="810" y="941"/>
                    <a:pt x="1016" y="954"/>
                  </a:cubicBezTo>
                  <a:cubicBezTo>
                    <a:pt x="1016" y="954"/>
                    <a:pt x="1067" y="426"/>
                    <a:pt x="775" y="213"/>
                  </a:cubicBezTo>
                  <a:cubicBezTo>
                    <a:pt x="483" y="0"/>
                    <a:pt x="0" y="211"/>
                    <a:pt x="0" y="2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3" name="Freeform 13">
              <a:extLst>
                <a:ext uri="{FF2B5EF4-FFF2-40B4-BE49-F238E27FC236}">
                  <a16:creationId xmlns:a16="http://schemas.microsoft.com/office/drawing/2014/main" id="{B7F7052C-55C2-4219-9B97-3B0041EC6A8C}"/>
                </a:ext>
              </a:extLst>
            </p:cNvPr>
            <p:cNvSpPr>
              <a:spLocks/>
            </p:cNvSpPr>
            <p:nvPr userDrawn="1"/>
          </p:nvSpPr>
          <p:spPr bwMode="auto">
            <a:xfrm>
              <a:off x="4635500" y="2182813"/>
              <a:ext cx="1627188" cy="1450975"/>
            </a:xfrm>
            <a:custGeom>
              <a:avLst/>
              <a:gdLst>
                <a:gd name="T0" fmla="*/ 58 w 1071"/>
                <a:gd name="T1" fmla="*/ 956 h 956"/>
                <a:gd name="T2" fmla="*/ 669 w 1071"/>
                <a:gd name="T3" fmla="*/ 725 h 956"/>
                <a:gd name="T4" fmla="*/ 1071 w 1071"/>
                <a:gd name="T5" fmla="*/ 207 h 956"/>
                <a:gd name="T6" fmla="*/ 291 w 1071"/>
                <a:gd name="T7" fmla="*/ 215 h 956"/>
                <a:gd name="T8" fmla="*/ 58 w 1071"/>
                <a:gd name="T9" fmla="*/ 956 h 956"/>
              </a:gdLst>
              <a:ahLst/>
              <a:cxnLst>
                <a:cxn ang="0">
                  <a:pos x="T0" y="T1"/>
                </a:cxn>
                <a:cxn ang="0">
                  <a:pos x="T2" y="T3"/>
                </a:cxn>
                <a:cxn ang="0">
                  <a:pos x="T4" y="T5"/>
                </a:cxn>
                <a:cxn ang="0">
                  <a:pos x="T6" y="T7"/>
                </a:cxn>
                <a:cxn ang="0">
                  <a:pos x="T8" y="T9"/>
                </a:cxn>
              </a:cxnLst>
              <a:rect l="0" t="0" r="r" b="b"/>
              <a:pathLst>
                <a:path w="1071" h="956">
                  <a:moveTo>
                    <a:pt x="58" y="956"/>
                  </a:moveTo>
                  <a:cubicBezTo>
                    <a:pt x="289" y="933"/>
                    <a:pt x="482" y="860"/>
                    <a:pt x="669" y="725"/>
                  </a:cubicBezTo>
                  <a:cubicBezTo>
                    <a:pt x="850" y="594"/>
                    <a:pt x="987" y="409"/>
                    <a:pt x="1071" y="207"/>
                  </a:cubicBezTo>
                  <a:cubicBezTo>
                    <a:pt x="1071" y="207"/>
                    <a:pt x="581" y="0"/>
                    <a:pt x="291" y="215"/>
                  </a:cubicBezTo>
                  <a:cubicBezTo>
                    <a:pt x="0" y="431"/>
                    <a:pt x="58" y="956"/>
                    <a:pt x="58" y="9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sp>
          <p:nvSpPr>
            <p:cNvPr id="34" name="Freeform 14">
              <a:extLst>
                <a:ext uri="{FF2B5EF4-FFF2-40B4-BE49-F238E27FC236}">
                  <a16:creationId xmlns:a16="http://schemas.microsoft.com/office/drawing/2014/main" id="{CD66E80E-6FF0-460D-B6F3-3BFD4976318D}"/>
                </a:ext>
              </a:extLst>
            </p:cNvPr>
            <p:cNvSpPr>
              <a:spLocks/>
            </p:cNvSpPr>
            <p:nvPr userDrawn="1"/>
          </p:nvSpPr>
          <p:spPr bwMode="auto">
            <a:xfrm>
              <a:off x="5219700" y="439738"/>
              <a:ext cx="1195388" cy="1819275"/>
            </a:xfrm>
            <a:custGeom>
              <a:avLst/>
              <a:gdLst>
                <a:gd name="T0" fmla="*/ 737 w 787"/>
                <a:gd name="T1" fmla="*/ 1198 h 1198"/>
                <a:gd name="T2" fmla="*/ 715 w 787"/>
                <a:gd name="T3" fmla="*/ 544 h 1198"/>
                <a:gd name="T4" fmla="*/ 355 w 787"/>
                <a:gd name="T5" fmla="*/ 0 h 1198"/>
                <a:gd name="T6" fmla="*/ 111 w 787"/>
                <a:gd name="T7" fmla="*/ 739 h 1198"/>
                <a:gd name="T8" fmla="*/ 737 w 787"/>
                <a:gd name="T9" fmla="*/ 1198 h 1198"/>
              </a:gdLst>
              <a:ahLst/>
              <a:cxnLst>
                <a:cxn ang="0">
                  <a:pos x="T0" y="T1"/>
                </a:cxn>
                <a:cxn ang="0">
                  <a:pos x="T2" y="T3"/>
                </a:cxn>
                <a:cxn ang="0">
                  <a:pos x="T4" y="T5"/>
                </a:cxn>
                <a:cxn ang="0">
                  <a:pos x="T6" y="T7"/>
                </a:cxn>
                <a:cxn ang="0">
                  <a:pos x="T8" y="T9"/>
                </a:cxn>
              </a:cxnLst>
              <a:rect l="0" t="0" r="r" b="b"/>
              <a:pathLst>
                <a:path w="787" h="1198">
                  <a:moveTo>
                    <a:pt x="737" y="1198"/>
                  </a:moveTo>
                  <a:cubicBezTo>
                    <a:pt x="787" y="991"/>
                    <a:pt x="786" y="764"/>
                    <a:pt x="715" y="544"/>
                  </a:cubicBezTo>
                  <a:cubicBezTo>
                    <a:pt x="645" y="325"/>
                    <a:pt x="518" y="144"/>
                    <a:pt x="355" y="0"/>
                  </a:cubicBezTo>
                  <a:cubicBezTo>
                    <a:pt x="355" y="0"/>
                    <a:pt x="0" y="395"/>
                    <a:pt x="111" y="739"/>
                  </a:cubicBezTo>
                  <a:cubicBezTo>
                    <a:pt x="222" y="1083"/>
                    <a:pt x="737" y="1198"/>
                    <a:pt x="737" y="1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2400"/>
            </a:p>
          </p:txBody>
        </p:sp>
      </p:grpSp>
      <p:grpSp>
        <p:nvGrpSpPr>
          <p:cNvPr id="20" name="Groupe 19">
            <a:extLst>
              <a:ext uri="{FF2B5EF4-FFF2-40B4-BE49-F238E27FC236}">
                <a16:creationId xmlns:a16="http://schemas.microsoft.com/office/drawing/2014/main" id="{14A9D647-00F2-4C4B-BEB2-D75043DB8D0E}"/>
              </a:ext>
            </a:extLst>
          </p:cNvPr>
          <p:cNvGrpSpPr/>
          <p:nvPr userDrawn="1"/>
        </p:nvGrpSpPr>
        <p:grpSpPr>
          <a:xfrm>
            <a:off x="7002138" y="1700147"/>
            <a:ext cx="3394929" cy="3339213"/>
            <a:chOff x="2019290" y="61899"/>
            <a:chExt cx="5102087" cy="5018353"/>
          </a:xfrm>
          <a:solidFill>
            <a:srgbClr val="5770BE"/>
          </a:solidFill>
        </p:grpSpPr>
        <p:sp>
          <p:nvSpPr>
            <p:cNvPr id="14" name="Forme libre : forme 13">
              <a:extLst>
                <a:ext uri="{FF2B5EF4-FFF2-40B4-BE49-F238E27FC236}">
                  <a16:creationId xmlns:a16="http://schemas.microsoft.com/office/drawing/2014/main" id="{0A3EC673-E299-4D73-87EC-841B629A6F7B}"/>
                </a:ext>
              </a:extLst>
            </p:cNvPr>
            <p:cNvSpPr/>
            <p:nvPr/>
          </p:nvSpPr>
          <p:spPr>
            <a:xfrm>
              <a:off x="3946207" y="61899"/>
              <a:ext cx="1278731" cy="636387"/>
            </a:xfrm>
            <a:custGeom>
              <a:avLst/>
              <a:gdLst>
                <a:gd name="connsiteX0" fmla="*/ 636651 w 1278731"/>
                <a:gd name="connsiteY0" fmla="*/ 636378 h 636387"/>
                <a:gd name="connsiteX1" fmla="*/ 1278731 w 1278731"/>
                <a:gd name="connsiteY1" fmla="*/ 184226 h 636387"/>
                <a:gd name="connsiteX2" fmla="*/ 637127 w 1278731"/>
                <a:gd name="connsiteY2" fmla="*/ 13 h 636387"/>
                <a:gd name="connsiteX3" fmla="*/ 0 w 1278731"/>
                <a:gd name="connsiteY3" fmla="*/ 174987 h 636387"/>
                <a:gd name="connsiteX4" fmla="*/ 636651 w 1278731"/>
                <a:gd name="connsiteY4" fmla="*/ 636378 h 636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8731" h="636387">
                  <a:moveTo>
                    <a:pt x="636651" y="636378"/>
                  </a:moveTo>
                  <a:cubicBezTo>
                    <a:pt x="994505" y="638759"/>
                    <a:pt x="1259015" y="216516"/>
                    <a:pt x="1278731" y="184226"/>
                  </a:cubicBezTo>
                  <a:cubicBezTo>
                    <a:pt x="1092422" y="68402"/>
                    <a:pt x="872681" y="1060"/>
                    <a:pt x="637127" y="13"/>
                  </a:cubicBezTo>
                  <a:cubicBezTo>
                    <a:pt x="404146" y="-1035"/>
                    <a:pt x="186023" y="63068"/>
                    <a:pt x="0" y="174987"/>
                  </a:cubicBezTo>
                  <a:cubicBezTo>
                    <a:pt x="15145" y="200609"/>
                    <a:pt x="275558" y="633997"/>
                    <a:pt x="636651" y="636378"/>
                  </a:cubicBezTo>
                  <a:close/>
                </a:path>
              </a:pathLst>
            </a:custGeom>
            <a:grpFill/>
            <a:ln w="9525" cap="flat">
              <a:noFill/>
              <a:prstDash val="solid"/>
              <a:miter/>
            </a:ln>
          </p:spPr>
          <p:txBody>
            <a:bodyPr rtlCol="0" anchor="ctr"/>
            <a:lstStyle/>
            <a:p>
              <a:endParaRPr lang="fr-FR" sz="2400"/>
            </a:p>
          </p:txBody>
        </p:sp>
        <p:sp>
          <p:nvSpPr>
            <p:cNvPr id="16" name="Forme libre : forme 15">
              <a:extLst>
                <a:ext uri="{FF2B5EF4-FFF2-40B4-BE49-F238E27FC236}">
                  <a16:creationId xmlns:a16="http://schemas.microsoft.com/office/drawing/2014/main" id="{CF3A35DC-7A8C-4C7B-88C4-1FD4E5E65E5A}"/>
                </a:ext>
              </a:extLst>
            </p:cNvPr>
            <p:cNvSpPr/>
            <p:nvPr/>
          </p:nvSpPr>
          <p:spPr>
            <a:xfrm>
              <a:off x="2019290" y="1219294"/>
              <a:ext cx="690590" cy="1213103"/>
            </a:xfrm>
            <a:custGeom>
              <a:avLst/>
              <a:gdLst>
                <a:gd name="connsiteX0" fmla="*/ 666569 w 690590"/>
                <a:gd name="connsiteY0" fmla="*/ 750189 h 1213103"/>
                <a:gd name="connsiteX1" fmla="*/ 435207 w 690590"/>
                <a:gd name="connsiteY1" fmla="*/ 0 h 1213103"/>
                <a:gd name="connsiteX2" fmla="*/ 10 w 690590"/>
                <a:gd name="connsiteY2" fmla="*/ 932021 h 1213103"/>
                <a:gd name="connsiteX3" fmla="*/ 31157 w 690590"/>
                <a:gd name="connsiteY3" fmla="*/ 1213104 h 1213103"/>
                <a:gd name="connsiteX4" fmla="*/ 666569 w 690590"/>
                <a:gd name="connsiteY4" fmla="*/ 750189 h 1213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590" h="1213103">
                  <a:moveTo>
                    <a:pt x="666569" y="750189"/>
                  </a:moveTo>
                  <a:cubicBezTo>
                    <a:pt x="779060" y="411575"/>
                    <a:pt x="461401" y="30575"/>
                    <a:pt x="435207" y="0"/>
                  </a:cubicBezTo>
                  <a:cubicBezTo>
                    <a:pt x="170412" y="223933"/>
                    <a:pt x="1629" y="558070"/>
                    <a:pt x="10" y="932021"/>
                  </a:cubicBezTo>
                  <a:cubicBezTo>
                    <a:pt x="-371" y="1028700"/>
                    <a:pt x="10392" y="1122712"/>
                    <a:pt x="31157" y="1213104"/>
                  </a:cubicBezTo>
                  <a:cubicBezTo>
                    <a:pt x="60970" y="1206532"/>
                    <a:pt x="552841" y="1092613"/>
                    <a:pt x="666569" y="750189"/>
                  </a:cubicBezTo>
                  <a:close/>
                </a:path>
              </a:pathLst>
            </a:custGeom>
            <a:grpFill/>
            <a:ln w="9525" cap="flat">
              <a:noFill/>
              <a:prstDash val="solid"/>
              <a:miter/>
            </a:ln>
          </p:spPr>
          <p:txBody>
            <a:bodyPr rtlCol="0" anchor="ctr"/>
            <a:lstStyle/>
            <a:p>
              <a:endParaRPr lang="fr-FR" sz="2400"/>
            </a:p>
          </p:txBody>
        </p:sp>
        <p:sp>
          <p:nvSpPr>
            <p:cNvPr id="17" name="Forme libre : forme 16">
              <a:extLst>
                <a:ext uri="{FF2B5EF4-FFF2-40B4-BE49-F238E27FC236}">
                  <a16:creationId xmlns:a16="http://schemas.microsoft.com/office/drawing/2014/main" id="{5D2C7748-445A-4908-A98D-8C1800ABBEA7}"/>
                </a:ext>
              </a:extLst>
            </p:cNvPr>
            <p:cNvSpPr/>
            <p:nvPr/>
          </p:nvSpPr>
          <p:spPr>
            <a:xfrm>
              <a:off x="2496692" y="4219701"/>
              <a:ext cx="1029858" cy="848932"/>
            </a:xfrm>
            <a:custGeom>
              <a:avLst/>
              <a:gdLst>
                <a:gd name="connsiteX0" fmla="*/ 782003 w 1029858"/>
                <a:gd name="connsiteY0" fmla="*/ 100934 h 848932"/>
                <a:gd name="connsiteX1" fmla="*/ 0 w 1029858"/>
                <a:gd name="connsiteY1" fmla="*/ 87980 h 848932"/>
                <a:gd name="connsiteX2" fmla="*/ 1025843 w 1029858"/>
                <a:gd name="connsiteY2" fmla="*/ 848932 h 848932"/>
                <a:gd name="connsiteX3" fmla="*/ 782003 w 1029858"/>
                <a:gd name="connsiteY3" fmla="*/ 100934 h 848932"/>
              </a:gdLst>
              <a:ahLst/>
              <a:cxnLst>
                <a:cxn ang="0">
                  <a:pos x="connsiteX0" y="connsiteY0"/>
                </a:cxn>
                <a:cxn ang="0">
                  <a:pos x="connsiteX1" y="connsiteY1"/>
                </a:cxn>
                <a:cxn ang="0">
                  <a:pos x="connsiteX2" y="connsiteY2"/>
                </a:cxn>
                <a:cxn ang="0">
                  <a:pos x="connsiteX3" y="connsiteY3"/>
                </a:cxn>
              </a:cxnLst>
              <a:rect l="l" t="t" r="r" b="b"/>
              <a:pathLst>
                <a:path w="1029858" h="848932">
                  <a:moveTo>
                    <a:pt x="782003" y="100934"/>
                  </a:moveTo>
                  <a:cubicBezTo>
                    <a:pt x="500824" y="-106140"/>
                    <a:pt x="53912" y="65977"/>
                    <a:pt x="0" y="87980"/>
                  </a:cubicBezTo>
                  <a:cubicBezTo>
                    <a:pt x="168783" y="504127"/>
                    <a:pt x="559403" y="806927"/>
                    <a:pt x="1025843" y="848932"/>
                  </a:cubicBezTo>
                  <a:cubicBezTo>
                    <a:pt x="1028033" y="826358"/>
                    <a:pt x="1074896" y="316770"/>
                    <a:pt x="782003" y="100934"/>
                  </a:cubicBezTo>
                  <a:close/>
                </a:path>
              </a:pathLst>
            </a:custGeom>
            <a:grpFill/>
            <a:ln w="9525" cap="flat">
              <a:noFill/>
              <a:prstDash val="solid"/>
              <a:miter/>
            </a:ln>
          </p:spPr>
          <p:txBody>
            <a:bodyPr rtlCol="0" anchor="ctr"/>
            <a:lstStyle/>
            <a:p>
              <a:endParaRPr lang="fr-FR" sz="2400"/>
            </a:p>
          </p:txBody>
        </p:sp>
        <p:sp>
          <p:nvSpPr>
            <p:cNvPr id="18" name="Forme libre : forme 17">
              <a:extLst>
                <a:ext uri="{FF2B5EF4-FFF2-40B4-BE49-F238E27FC236}">
                  <a16:creationId xmlns:a16="http://schemas.microsoft.com/office/drawing/2014/main" id="{D5AF26B3-A801-478A-995F-0DB30CC90980}"/>
                </a:ext>
              </a:extLst>
            </p:cNvPr>
            <p:cNvSpPr/>
            <p:nvPr/>
          </p:nvSpPr>
          <p:spPr>
            <a:xfrm>
              <a:off x="5578922" y="4238632"/>
              <a:ext cx="1038571" cy="841620"/>
            </a:xfrm>
            <a:custGeom>
              <a:avLst/>
              <a:gdLst>
                <a:gd name="connsiteX0" fmla="*/ 256474 w 1038571"/>
                <a:gd name="connsiteY0" fmla="*/ 96385 h 841620"/>
                <a:gd name="connsiteX1" fmla="*/ 2918 w 1038571"/>
                <a:gd name="connsiteY1" fmla="*/ 841621 h 841620"/>
                <a:gd name="connsiteX2" fmla="*/ 1038572 w 1038571"/>
                <a:gd name="connsiteY2" fmla="*/ 93623 h 841620"/>
                <a:gd name="connsiteX3" fmla="*/ 256474 w 1038571"/>
                <a:gd name="connsiteY3" fmla="*/ 96385 h 841620"/>
              </a:gdLst>
              <a:ahLst/>
              <a:cxnLst>
                <a:cxn ang="0">
                  <a:pos x="connsiteX0" y="connsiteY0"/>
                </a:cxn>
                <a:cxn ang="0">
                  <a:pos x="connsiteX1" y="connsiteY1"/>
                </a:cxn>
                <a:cxn ang="0">
                  <a:pos x="connsiteX2" y="connsiteY2"/>
                </a:cxn>
                <a:cxn ang="0">
                  <a:pos x="connsiteX3" y="connsiteY3"/>
                </a:cxn>
              </a:cxnLst>
              <a:rect l="l" t="t" r="r" b="b"/>
              <a:pathLst>
                <a:path w="1038571" h="841620">
                  <a:moveTo>
                    <a:pt x="256474" y="96385"/>
                  </a:moveTo>
                  <a:cubicBezTo>
                    <a:pt x="-42040" y="310221"/>
                    <a:pt x="1680" y="828095"/>
                    <a:pt x="2918" y="841621"/>
                  </a:cubicBezTo>
                  <a:cubicBezTo>
                    <a:pt x="470215" y="805521"/>
                    <a:pt x="864550" y="507484"/>
                    <a:pt x="1038572" y="93623"/>
                  </a:cubicBezTo>
                  <a:cubicBezTo>
                    <a:pt x="984660" y="70953"/>
                    <a:pt x="540224" y="-106879"/>
                    <a:pt x="256474" y="96385"/>
                  </a:cubicBezTo>
                  <a:close/>
                </a:path>
              </a:pathLst>
            </a:custGeom>
            <a:grpFill/>
            <a:ln w="9525" cap="flat">
              <a:noFill/>
              <a:prstDash val="solid"/>
              <a:miter/>
            </a:ln>
          </p:spPr>
          <p:txBody>
            <a:bodyPr rtlCol="0" anchor="ctr"/>
            <a:lstStyle/>
            <a:p>
              <a:endParaRPr lang="fr-FR" sz="2400"/>
            </a:p>
          </p:txBody>
        </p:sp>
        <p:sp>
          <p:nvSpPr>
            <p:cNvPr id="19" name="Forme libre : forme 18">
              <a:extLst>
                <a:ext uri="{FF2B5EF4-FFF2-40B4-BE49-F238E27FC236}">
                  <a16:creationId xmlns:a16="http://schemas.microsoft.com/office/drawing/2014/main" id="{D7071253-7A44-447C-B7DF-70C0E1AD248E}"/>
                </a:ext>
              </a:extLst>
            </p:cNvPr>
            <p:cNvSpPr/>
            <p:nvPr/>
          </p:nvSpPr>
          <p:spPr>
            <a:xfrm>
              <a:off x="6435072" y="1236916"/>
              <a:ext cx="686305" cy="1214342"/>
            </a:xfrm>
            <a:custGeom>
              <a:avLst/>
              <a:gdLst>
                <a:gd name="connsiteX0" fmla="*/ 22020 w 686305"/>
                <a:gd name="connsiteY0" fmla="*/ 742855 h 1214342"/>
                <a:gd name="connsiteX1" fmla="*/ 652766 w 686305"/>
                <a:gd name="connsiteY1" fmla="*/ 1214342 h 1214342"/>
                <a:gd name="connsiteX2" fmla="*/ 655338 w 686305"/>
                <a:gd name="connsiteY2" fmla="*/ 1205008 h 1214342"/>
                <a:gd name="connsiteX3" fmla="*/ 686294 w 686305"/>
                <a:gd name="connsiteY3" fmla="*/ 935355 h 1214342"/>
                <a:gd name="connsiteX4" fmla="*/ 259574 w 686305"/>
                <a:gd name="connsiteY4" fmla="*/ 0 h 1214342"/>
                <a:gd name="connsiteX5" fmla="*/ 22020 w 686305"/>
                <a:gd name="connsiteY5" fmla="*/ 742855 h 121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305" h="1214342">
                  <a:moveTo>
                    <a:pt x="22020" y="742855"/>
                  </a:moveTo>
                  <a:cubicBezTo>
                    <a:pt x="134701" y="1097471"/>
                    <a:pt x="652766" y="1214342"/>
                    <a:pt x="652766" y="1214342"/>
                  </a:cubicBezTo>
                  <a:cubicBezTo>
                    <a:pt x="653718" y="1211199"/>
                    <a:pt x="654480" y="1208056"/>
                    <a:pt x="655338" y="1205008"/>
                  </a:cubicBezTo>
                  <a:cubicBezTo>
                    <a:pt x="675149" y="1118235"/>
                    <a:pt x="685913" y="1028033"/>
                    <a:pt x="686294" y="935355"/>
                  </a:cubicBezTo>
                  <a:cubicBezTo>
                    <a:pt x="687913" y="561594"/>
                    <a:pt x="522178" y="226219"/>
                    <a:pt x="259574" y="0"/>
                  </a:cubicBezTo>
                  <a:cubicBezTo>
                    <a:pt x="215378" y="51530"/>
                    <a:pt x="-82278" y="414242"/>
                    <a:pt x="22020" y="742855"/>
                  </a:cubicBezTo>
                  <a:close/>
                </a:path>
              </a:pathLst>
            </a:custGeom>
            <a:grpFill/>
            <a:ln w="9525" cap="flat">
              <a:noFill/>
              <a:prstDash val="solid"/>
              <a:miter/>
            </a:ln>
          </p:spPr>
          <p:txBody>
            <a:bodyPr rtlCol="0" anchor="ctr"/>
            <a:lstStyle/>
            <a:p>
              <a:endParaRPr lang="fr-FR" sz="2400"/>
            </a:p>
          </p:txBody>
        </p:sp>
      </p:grpSp>
      <p:sp>
        <p:nvSpPr>
          <p:cNvPr id="23" name="Titre 1"/>
          <p:cNvSpPr>
            <a:spLocks noGrp="1"/>
          </p:cNvSpPr>
          <p:nvPr>
            <p:ph type="title" hasCustomPrompt="1"/>
          </p:nvPr>
        </p:nvSpPr>
        <p:spPr bwMode="gray">
          <a:xfrm>
            <a:off x="479999" y="984000"/>
            <a:ext cx="11232000" cy="5395200"/>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noFill/>
          </a:ln>
        </p:spPr>
        <p:txBody>
          <a:bodyPr lIns="0" bIns="360000" anchor="ctr" anchorCtr="0"/>
          <a:lstStyle>
            <a:lvl1pPr marL="527987" indent="-527987">
              <a:buFont typeface="+mj-lt"/>
              <a:buNone/>
              <a:defRPr sz="4333">
                <a:solidFill>
                  <a:schemeClr val="bg1"/>
                </a:solidFill>
              </a:defRPr>
            </a:lvl1pPr>
          </a:lstStyle>
          <a:p>
            <a:r>
              <a:rPr lang="fr-FR" dirty="0"/>
              <a:t>1. Titre de partie</a:t>
            </a:r>
          </a:p>
        </p:txBody>
      </p:sp>
      <p:sp>
        <p:nvSpPr>
          <p:cNvPr id="35" name="Espace réservé de la date 4">
            <a:extLst>
              <a:ext uri="{FF2B5EF4-FFF2-40B4-BE49-F238E27FC236}">
                <a16:creationId xmlns:a16="http://schemas.microsoft.com/office/drawing/2014/main" id="{979B2E0D-EA57-4BD7-9C3E-D26051B48C10}"/>
              </a:ext>
            </a:extLst>
          </p:cNvPr>
          <p:cNvSpPr>
            <a:spLocks noGrp="1"/>
          </p:cNvSpPr>
          <p:nvPr>
            <p:ph type="dt" sz="half" idx="17"/>
          </p:nvPr>
        </p:nvSpPr>
        <p:spPr>
          <a:xfrm>
            <a:off x="10266300" y="6212901"/>
            <a:ext cx="1560000" cy="282572"/>
          </a:xfrm>
        </p:spPr>
        <p:txBody>
          <a:bodyPr/>
          <a:lstStyle>
            <a:lvl1pPr>
              <a:defRPr>
                <a:solidFill>
                  <a:schemeClr val="bg1"/>
                </a:solidFill>
              </a:defRPr>
            </a:lvl1pPr>
          </a:lstStyle>
          <a:p>
            <a:pPr algn="r"/>
            <a:r>
              <a:rPr lang="fr-FR" cap="all"/>
              <a:t>XX/XX/2021</a:t>
            </a:r>
            <a:endParaRPr lang="fr-FR" cap="all" dirty="0"/>
          </a:p>
        </p:txBody>
      </p:sp>
      <p:sp>
        <p:nvSpPr>
          <p:cNvPr id="36" name="Espace réservé du pied de page 8">
            <a:extLst>
              <a:ext uri="{FF2B5EF4-FFF2-40B4-BE49-F238E27FC236}">
                <a16:creationId xmlns:a16="http://schemas.microsoft.com/office/drawing/2014/main" id="{FFFB696E-EECC-4454-8ED3-CA5C36E3B320}"/>
              </a:ext>
            </a:extLst>
          </p:cNvPr>
          <p:cNvSpPr>
            <a:spLocks noGrp="1"/>
          </p:cNvSpPr>
          <p:nvPr>
            <p:ph type="ftr" sz="quarter" idx="18"/>
          </p:nvPr>
        </p:nvSpPr>
        <p:spPr>
          <a:xfrm>
            <a:off x="367241" y="6213309"/>
            <a:ext cx="4114800" cy="282163"/>
          </a:xfrm>
        </p:spPr>
        <p:txBody>
          <a:bodyPr/>
          <a:lstStyle>
            <a:lvl1pPr>
              <a:defRPr>
                <a:solidFill>
                  <a:schemeClr val="bg1"/>
                </a:solidFill>
              </a:defRPr>
            </a:lvl1pPr>
          </a:lstStyle>
          <a:p>
            <a:r>
              <a:rPr lang="en-US"/>
              <a:t>SVEPM 2026   -   UNVEILING TEMPORAL AND REGIONAL FACTORS OF ANTIBIOTIC RESISTANCE   -   BAREILLE</a:t>
            </a:r>
            <a:endParaRPr lang="fr-FR" dirty="0"/>
          </a:p>
        </p:txBody>
      </p:sp>
    </p:spTree>
    <p:extLst>
      <p:ext uri="{BB962C8B-B14F-4D97-AF65-F5344CB8AC3E}">
        <p14:creationId xmlns:p14="http://schemas.microsoft.com/office/powerpoint/2010/main" val="39313520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Diapo avec titre + texte">
    <p:spTree>
      <p:nvGrpSpPr>
        <p:cNvPr id="1" name=""/>
        <p:cNvGrpSpPr/>
        <p:nvPr/>
      </p:nvGrpSpPr>
      <p:grpSpPr>
        <a:xfrm>
          <a:off x="0" y="0"/>
          <a:ext cx="0" cy="0"/>
          <a:chOff x="0" y="0"/>
          <a:chExt cx="0" cy="0"/>
        </a:xfrm>
      </p:grpSpPr>
      <p:sp>
        <p:nvSpPr>
          <p:cNvPr id="6" name="Espace réservé de la date 5">
            <a:extLst>
              <a:ext uri="{FF2B5EF4-FFF2-40B4-BE49-F238E27FC236}">
                <a16:creationId xmlns:a16="http://schemas.microsoft.com/office/drawing/2014/main" id="{BA039719-59E1-499E-AE38-46FC3D06F2F1}"/>
              </a:ext>
            </a:extLst>
          </p:cNvPr>
          <p:cNvSpPr>
            <a:spLocks noGrp="1"/>
          </p:cNvSpPr>
          <p:nvPr>
            <p:ph type="dt" sz="half" idx="16"/>
          </p:nvPr>
        </p:nvSpPr>
        <p:spPr/>
        <p:txBody>
          <a:bodyPr/>
          <a:lstStyle/>
          <a:p>
            <a:pPr algn="r"/>
            <a:r>
              <a:rPr lang="fr-FR" cap="all"/>
              <a:t>XX/XX/2021</a:t>
            </a:r>
            <a:endParaRPr lang="fr-FR" cap="all" dirty="0"/>
          </a:p>
        </p:txBody>
      </p:sp>
      <p:sp>
        <p:nvSpPr>
          <p:cNvPr id="7" name="Espace réservé du pied de page 6">
            <a:extLst>
              <a:ext uri="{FF2B5EF4-FFF2-40B4-BE49-F238E27FC236}">
                <a16:creationId xmlns:a16="http://schemas.microsoft.com/office/drawing/2014/main" id="{54460079-5C05-4907-83D0-F6C237D493D1}"/>
              </a:ext>
            </a:extLst>
          </p:cNvPr>
          <p:cNvSpPr>
            <a:spLocks noGrp="1"/>
          </p:cNvSpPr>
          <p:nvPr>
            <p:ph type="ftr" sz="quarter" idx="17"/>
          </p:nvPr>
        </p:nvSpPr>
        <p:spPr/>
        <p:txBody>
          <a:bodyPr/>
          <a:lstStyle/>
          <a:p>
            <a:r>
              <a:rPr lang="en-US"/>
              <a:t>SVEPM 2026   -   UNVEILING TEMPORAL AND REGIONAL FACTORS OF ANTIBIOTIC RESISTANCE   -   BAREILLE</a:t>
            </a:r>
            <a:endParaRPr lang="fr-FR" dirty="0"/>
          </a:p>
        </p:txBody>
      </p:sp>
      <p:sp>
        <p:nvSpPr>
          <p:cNvPr id="11"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8"/>
          </p:nvPr>
        </p:nvSpPr>
        <p:spPr/>
        <p:txBody>
          <a:bodyPr/>
          <a:lstStyle/>
          <a:p>
            <a:fld id="{733122C9-A0B9-462F-8757-0847AD287B63}" type="slidenum">
              <a:rPr lang="fr-FR" smtClean="0"/>
              <a:pPr/>
              <a:t>‹N°›</a:t>
            </a:fld>
            <a:endParaRPr lang="fr-FR" dirty="0"/>
          </a:p>
        </p:txBody>
      </p:sp>
      <p:sp>
        <p:nvSpPr>
          <p:cNvPr id="28" name="Espace réservé du texte 7"/>
          <p:cNvSpPr>
            <a:spLocks noGrp="1"/>
          </p:cNvSpPr>
          <p:nvPr>
            <p:ph type="body" sz="quarter" idx="13" hasCustomPrompt="1"/>
          </p:nvPr>
        </p:nvSpPr>
        <p:spPr bwMode="gray">
          <a:xfrm>
            <a:off x="367242" y="1316765"/>
            <a:ext cx="11459060" cy="4580259"/>
          </a:xfrm>
        </p:spPr>
        <p:txBody>
          <a:bodyPr/>
          <a:lstStyle>
            <a:lvl1pPr marL="0" indent="0">
              <a:spcBef>
                <a:spcPts val="400"/>
              </a:spcBef>
              <a:spcAft>
                <a:spcPts val="800"/>
              </a:spcAft>
              <a:buFontTx/>
              <a:buNone/>
              <a:defRPr b="1">
                <a:solidFill>
                  <a:srgbClr val="262626"/>
                </a:solidFill>
                <a:latin typeface="+mn-lt"/>
              </a:defRPr>
            </a:lvl1pPr>
            <a:lvl2pPr marL="179992" indent="0">
              <a:spcBef>
                <a:spcPts val="600"/>
              </a:spcBef>
              <a:spcAft>
                <a:spcPts val="800"/>
              </a:spcAft>
              <a:buFontTx/>
              <a:buNone/>
              <a:defRPr>
                <a:solidFill>
                  <a:srgbClr val="262626"/>
                </a:solidFill>
              </a:defRPr>
            </a:lvl2pPr>
          </a:lstStyle>
          <a:p>
            <a:pPr lvl="0"/>
            <a:r>
              <a:rPr lang="fr-FR" dirty="0"/>
              <a:t>Texte de niveau 1</a:t>
            </a:r>
          </a:p>
          <a:p>
            <a:pPr lvl="1"/>
            <a:r>
              <a:rPr lang="fr-FR" dirty="0"/>
              <a:t>Texte de niveau 2</a:t>
            </a:r>
          </a:p>
          <a:p>
            <a:pPr lvl="2"/>
            <a:r>
              <a:rPr lang="fr-FR" dirty="0"/>
              <a:t>Texte de niveau 3</a:t>
            </a:r>
          </a:p>
        </p:txBody>
      </p:sp>
      <p:grpSp>
        <p:nvGrpSpPr>
          <p:cNvPr id="29" name="Groupe 28">
            <a:extLst>
              <a:ext uri="{FF2B5EF4-FFF2-40B4-BE49-F238E27FC236}">
                <a16:creationId xmlns:a16="http://schemas.microsoft.com/office/drawing/2014/main" id="{D839141D-2A12-43BD-965E-1AFB5ACCCEC3}"/>
              </a:ext>
            </a:extLst>
          </p:cNvPr>
          <p:cNvGrpSpPr/>
          <p:nvPr userDrawn="1"/>
        </p:nvGrpSpPr>
        <p:grpSpPr>
          <a:xfrm>
            <a:off x="11337925" y="238141"/>
            <a:ext cx="365127" cy="507984"/>
            <a:chOff x="2724335" y="0"/>
            <a:chExt cx="3694565" cy="5140087"/>
          </a:xfrm>
        </p:grpSpPr>
        <p:grpSp>
          <p:nvGrpSpPr>
            <p:cNvPr id="30" name="Groupe 29">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37"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sz="2400"/>
              </a:p>
            </p:txBody>
          </p:sp>
          <p:sp>
            <p:nvSpPr>
              <p:cNvPr id="38"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39"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sz="2400"/>
              </a:p>
            </p:txBody>
          </p:sp>
          <p:sp>
            <p:nvSpPr>
              <p:cNvPr id="44"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5"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sz="2400"/>
              </a:p>
            </p:txBody>
          </p:sp>
        </p:grpSp>
        <p:grpSp>
          <p:nvGrpSpPr>
            <p:cNvPr id="31" name="Groupe 30">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2"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sz="2400"/>
              </a:p>
            </p:txBody>
          </p:sp>
          <p:sp>
            <p:nvSpPr>
              <p:cNvPr id="33"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sz="2400"/>
              </a:p>
            </p:txBody>
          </p:sp>
          <p:sp>
            <p:nvSpPr>
              <p:cNvPr id="34"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sz="2400"/>
              </a:p>
            </p:txBody>
          </p:sp>
          <p:sp>
            <p:nvSpPr>
              <p:cNvPr id="35"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sz="2400"/>
              </a:p>
            </p:txBody>
          </p:sp>
          <p:sp>
            <p:nvSpPr>
              <p:cNvPr id="36"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sz="2400"/>
              </a:p>
            </p:txBody>
          </p:sp>
        </p:grpSp>
      </p:grpSp>
      <p:sp>
        <p:nvSpPr>
          <p:cNvPr id="24" name="Titre 1"/>
          <p:cNvSpPr>
            <a:spLocks noGrp="1"/>
          </p:cNvSpPr>
          <p:nvPr>
            <p:ph type="title" hasCustomPrompt="1"/>
          </p:nvPr>
        </p:nvSpPr>
        <p:spPr bwMode="gray">
          <a:xfrm>
            <a:off x="367242" y="371400"/>
            <a:ext cx="10876937" cy="849249"/>
          </a:xfrm>
        </p:spPr>
        <p:txBody>
          <a:bodyPr/>
          <a:lstStyle>
            <a:lvl1pPr>
              <a:defRPr sz="2547">
                <a:solidFill>
                  <a:srgbClr val="262626"/>
                </a:solidFill>
              </a:defRPr>
            </a:lvl1pPr>
          </a:lstStyle>
          <a:p>
            <a:r>
              <a:rPr lang="fr-FR" dirty="0"/>
              <a:t>Titre de la diapositive</a:t>
            </a:r>
          </a:p>
        </p:txBody>
      </p:sp>
    </p:spTree>
    <p:extLst>
      <p:ext uri="{BB962C8B-B14F-4D97-AF65-F5344CB8AC3E}">
        <p14:creationId xmlns:p14="http://schemas.microsoft.com/office/powerpoint/2010/main" val="8930707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iapo texte + photo">
    <p:spTree>
      <p:nvGrpSpPr>
        <p:cNvPr id="1" name=""/>
        <p:cNvGrpSpPr/>
        <p:nvPr/>
      </p:nvGrpSpPr>
      <p:grpSpPr>
        <a:xfrm>
          <a:off x="0" y="0"/>
          <a:ext cx="0" cy="0"/>
          <a:chOff x="0" y="0"/>
          <a:chExt cx="0" cy="0"/>
        </a:xfrm>
      </p:grpSpPr>
      <p:sp>
        <p:nvSpPr>
          <p:cNvPr id="9" name="Espace réservé pour une image  8">
            <a:extLst>
              <a:ext uri="{FF2B5EF4-FFF2-40B4-BE49-F238E27FC236}">
                <a16:creationId xmlns:a16="http://schemas.microsoft.com/office/drawing/2014/main" id="{BD8E2D2A-F96C-4939-9C63-67C838C0FDF3}"/>
              </a:ext>
            </a:extLst>
          </p:cNvPr>
          <p:cNvSpPr>
            <a:spLocks noGrp="1"/>
          </p:cNvSpPr>
          <p:nvPr>
            <p:ph type="pic" sz="quarter" idx="15" hasCustomPrompt="1"/>
          </p:nvPr>
        </p:nvSpPr>
        <p:spPr>
          <a:xfrm>
            <a:off x="6303435" y="1316767"/>
            <a:ext cx="5397500" cy="3902936"/>
          </a:xfrm>
          <a:solidFill>
            <a:schemeClr val="bg1">
              <a:lumMod val="85000"/>
            </a:schemeClr>
          </a:solidFill>
          <a:ln>
            <a:noFill/>
          </a:ln>
        </p:spPr>
        <p:txBody>
          <a:bodyPr bIns="504000" anchor="ctr"/>
          <a:lstStyle>
            <a:lvl1pPr algn="ctr">
              <a:defRPr sz="900">
                <a:solidFill>
                  <a:schemeClr val="bg1"/>
                </a:solidFill>
              </a:defRPr>
            </a:lvl1pPr>
          </a:lstStyle>
          <a:p>
            <a:r>
              <a:rPr lang="fr-FR" dirty="0"/>
              <a:t>Sélectionner l’icône pour insérer une image</a:t>
            </a:r>
          </a:p>
        </p:txBody>
      </p:sp>
      <p:sp>
        <p:nvSpPr>
          <p:cNvPr id="15" name="Espace réservé du texte 14">
            <a:extLst>
              <a:ext uri="{FF2B5EF4-FFF2-40B4-BE49-F238E27FC236}">
                <a16:creationId xmlns:a16="http://schemas.microsoft.com/office/drawing/2014/main" id="{21CA591B-C37B-41A1-8191-C1F660677F8D}"/>
              </a:ext>
            </a:extLst>
          </p:cNvPr>
          <p:cNvSpPr>
            <a:spLocks noGrp="1"/>
          </p:cNvSpPr>
          <p:nvPr>
            <p:ph type="body" sz="quarter" idx="16" hasCustomPrompt="1"/>
          </p:nvPr>
        </p:nvSpPr>
        <p:spPr>
          <a:xfrm>
            <a:off x="6314499" y="5306485"/>
            <a:ext cx="5397503" cy="611715"/>
          </a:xfrm>
        </p:spPr>
        <p:txBody>
          <a:bodyPr/>
          <a:lstStyle>
            <a:lvl1pPr>
              <a:defRPr sz="951">
                <a:solidFill>
                  <a:schemeClr val="tx1"/>
                </a:solidFill>
              </a:defRPr>
            </a:lvl1pPr>
          </a:lstStyle>
          <a:p>
            <a:pPr lvl="0"/>
            <a:r>
              <a:rPr lang="fr-FR" dirty="0"/>
              <a:t>Niveau 4 Lorem ipsum </a:t>
            </a:r>
            <a:r>
              <a:rPr lang="fr-FR" dirty="0" err="1"/>
              <a:t>dolor</a:t>
            </a:r>
            <a:r>
              <a:rPr lang="fr-FR" dirty="0"/>
              <a:t> </a:t>
            </a:r>
            <a:r>
              <a:rPr lang="fr-FR" dirty="0" err="1"/>
              <a:t>sit</a:t>
            </a:r>
            <a:r>
              <a:rPr lang="fr-FR" dirty="0"/>
              <a:t> </a:t>
            </a:r>
            <a:r>
              <a:rPr lang="fr-FR" dirty="0" err="1"/>
              <a:t>amet</a:t>
            </a:r>
            <a:endParaRPr lang="fr-FR" dirty="0"/>
          </a:p>
        </p:txBody>
      </p:sp>
      <p:sp>
        <p:nvSpPr>
          <p:cNvPr id="11" name="Espace réservé de la date 5">
            <a:extLst>
              <a:ext uri="{FF2B5EF4-FFF2-40B4-BE49-F238E27FC236}">
                <a16:creationId xmlns:a16="http://schemas.microsoft.com/office/drawing/2014/main" id="{BA039719-59E1-499E-AE38-46FC3D06F2F1}"/>
              </a:ext>
            </a:extLst>
          </p:cNvPr>
          <p:cNvSpPr>
            <a:spLocks noGrp="1"/>
          </p:cNvSpPr>
          <p:nvPr>
            <p:ph type="dt" sz="half" idx="17"/>
          </p:nvPr>
        </p:nvSpPr>
        <p:spPr>
          <a:xfrm>
            <a:off x="10266300" y="6212909"/>
            <a:ext cx="1560000" cy="282572"/>
          </a:xfrm>
        </p:spPr>
        <p:txBody>
          <a:bodyPr/>
          <a:lstStyle/>
          <a:p>
            <a:pPr algn="r"/>
            <a:r>
              <a:rPr lang="fr-FR" cap="all"/>
              <a:t>XX/XX/2021</a:t>
            </a:r>
            <a:endParaRPr lang="fr-FR" cap="all" dirty="0"/>
          </a:p>
        </p:txBody>
      </p:sp>
      <p:sp>
        <p:nvSpPr>
          <p:cNvPr id="13" name="Espace réservé du pied de page 6">
            <a:extLst>
              <a:ext uri="{FF2B5EF4-FFF2-40B4-BE49-F238E27FC236}">
                <a16:creationId xmlns:a16="http://schemas.microsoft.com/office/drawing/2014/main" id="{54460079-5C05-4907-83D0-F6C237D493D1}"/>
              </a:ext>
            </a:extLst>
          </p:cNvPr>
          <p:cNvSpPr>
            <a:spLocks noGrp="1"/>
          </p:cNvSpPr>
          <p:nvPr>
            <p:ph type="ftr" sz="quarter" idx="18"/>
          </p:nvPr>
        </p:nvSpPr>
        <p:spPr>
          <a:xfrm>
            <a:off x="367241" y="6213309"/>
            <a:ext cx="4114800" cy="282163"/>
          </a:xfrm>
        </p:spPr>
        <p:txBody>
          <a:bodyPr/>
          <a:lstStyle/>
          <a:p>
            <a:r>
              <a:rPr lang="en-US"/>
              <a:t>SVEPM 2026   -   UNVEILING TEMPORAL AND REGIONAL FACTORS OF ANTIBIOTIC RESISTANCE   -   BAREILLE</a:t>
            </a:r>
            <a:endParaRPr lang="fr-FR" dirty="0"/>
          </a:p>
        </p:txBody>
      </p:sp>
      <p:sp>
        <p:nvSpPr>
          <p:cNvPr id="14"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9"/>
          </p:nvPr>
        </p:nvSpPr>
        <p:spPr>
          <a:xfrm>
            <a:off x="8452756" y="6212906"/>
            <a:ext cx="1800000" cy="246221"/>
          </a:xfrm>
        </p:spPr>
        <p:txBody>
          <a:bodyPr/>
          <a:lstStyle/>
          <a:p>
            <a:fld id="{733122C9-A0B9-462F-8757-0847AD287B63}" type="slidenum">
              <a:rPr lang="fr-FR" smtClean="0"/>
              <a:pPr/>
              <a:t>‹N°›</a:t>
            </a:fld>
            <a:endParaRPr lang="fr-FR" dirty="0"/>
          </a:p>
        </p:txBody>
      </p:sp>
      <p:sp>
        <p:nvSpPr>
          <p:cNvPr id="17" name="Espace réservé du texte 7"/>
          <p:cNvSpPr>
            <a:spLocks noGrp="1"/>
          </p:cNvSpPr>
          <p:nvPr>
            <p:ph type="body" sz="quarter" idx="13" hasCustomPrompt="1"/>
          </p:nvPr>
        </p:nvSpPr>
        <p:spPr bwMode="gray">
          <a:xfrm>
            <a:off x="367241" y="1316765"/>
            <a:ext cx="5472731" cy="4580259"/>
          </a:xfrm>
        </p:spPr>
        <p:txBody>
          <a:bodyPr/>
          <a:lstStyle>
            <a:lvl1pPr marL="0" indent="0">
              <a:spcBef>
                <a:spcPts val="400"/>
              </a:spcBef>
              <a:spcAft>
                <a:spcPts val="800"/>
              </a:spcAft>
              <a:buFontTx/>
              <a:buNone/>
              <a:defRPr b="1">
                <a:solidFill>
                  <a:srgbClr val="262626"/>
                </a:solidFill>
                <a:latin typeface="+mn-lt"/>
              </a:defRPr>
            </a:lvl1pPr>
            <a:lvl2pPr marL="179992" indent="0">
              <a:spcBef>
                <a:spcPts val="600"/>
              </a:spcBef>
              <a:spcAft>
                <a:spcPts val="800"/>
              </a:spcAft>
              <a:buFontTx/>
              <a:buNone/>
              <a:defRPr>
                <a:solidFill>
                  <a:srgbClr val="262626"/>
                </a:solidFill>
              </a:defRPr>
            </a:lvl2pPr>
          </a:lstStyle>
          <a:p>
            <a:pPr lvl="0"/>
            <a:r>
              <a:rPr lang="fr-FR" dirty="0"/>
              <a:t>Texte de niveau 1</a:t>
            </a:r>
          </a:p>
          <a:p>
            <a:pPr lvl="1"/>
            <a:r>
              <a:rPr lang="fr-FR" dirty="0"/>
              <a:t>Texte de niveau 2</a:t>
            </a:r>
          </a:p>
          <a:p>
            <a:pPr lvl="2"/>
            <a:r>
              <a:rPr lang="fr-FR" dirty="0"/>
              <a:t>Texte de niveau 3</a:t>
            </a:r>
          </a:p>
        </p:txBody>
      </p:sp>
      <p:grpSp>
        <p:nvGrpSpPr>
          <p:cNvPr id="31" name="Groupe 30">
            <a:extLst>
              <a:ext uri="{FF2B5EF4-FFF2-40B4-BE49-F238E27FC236}">
                <a16:creationId xmlns:a16="http://schemas.microsoft.com/office/drawing/2014/main" id="{D839141D-2A12-43BD-965E-1AFB5ACCCEC3}"/>
              </a:ext>
            </a:extLst>
          </p:cNvPr>
          <p:cNvGrpSpPr/>
          <p:nvPr userDrawn="1"/>
        </p:nvGrpSpPr>
        <p:grpSpPr>
          <a:xfrm>
            <a:off x="11337925" y="238141"/>
            <a:ext cx="365127" cy="507984"/>
            <a:chOff x="2724335" y="0"/>
            <a:chExt cx="3694565" cy="5140087"/>
          </a:xfrm>
        </p:grpSpPr>
        <p:grpSp>
          <p:nvGrpSpPr>
            <p:cNvPr id="32" name="Groupe 31">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39"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sz="2400"/>
              </a:p>
            </p:txBody>
          </p:sp>
          <p:sp>
            <p:nvSpPr>
              <p:cNvPr id="40"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1"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sz="2400"/>
              </a:p>
            </p:txBody>
          </p:sp>
          <p:sp>
            <p:nvSpPr>
              <p:cNvPr id="42"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3"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sz="2400"/>
              </a:p>
            </p:txBody>
          </p:sp>
        </p:grpSp>
        <p:grpSp>
          <p:nvGrpSpPr>
            <p:cNvPr id="33" name="Groupe 32">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4"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sz="2400"/>
              </a:p>
            </p:txBody>
          </p:sp>
          <p:sp>
            <p:nvSpPr>
              <p:cNvPr id="35"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sz="2400"/>
              </a:p>
            </p:txBody>
          </p:sp>
          <p:sp>
            <p:nvSpPr>
              <p:cNvPr id="36"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sz="2400"/>
              </a:p>
            </p:txBody>
          </p:sp>
          <p:sp>
            <p:nvSpPr>
              <p:cNvPr id="37"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sz="2400"/>
              </a:p>
            </p:txBody>
          </p:sp>
          <p:sp>
            <p:nvSpPr>
              <p:cNvPr id="38"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sz="2400"/>
              </a:p>
            </p:txBody>
          </p:sp>
        </p:grpSp>
      </p:grpSp>
      <p:sp>
        <p:nvSpPr>
          <p:cNvPr id="22" name="Titre 1"/>
          <p:cNvSpPr>
            <a:spLocks noGrp="1"/>
          </p:cNvSpPr>
          <p:nvPr>
            <p:ph type="title" hasCustomPrompt="1"/>
          </p:nvPr>
        </p:nvSpPr>
        <p:spPr bwMode="gray">
          <a:xfrm>
            <a:off x="367242" y="371400"/>
            <a:ext cx="10876937" cy="849249"/>
          </a:xfrm>
        </p:spPr>
        <p:txBody>
          <a:bodyPr/>
          <a:lstStyle>
            <a:lvl1pPr>
              <a:defRPr sz="2547">
                <a:solidFill>
                  <a:srgbClr val="262626"/>
                </a:solidFill>
              </a:defRPr>
            </a:lvl1pPr>
          </a:lstStyle>
          <a:p>
            <a:r>
              <a:rPr lang="fr-FR" dirty="0"/>
              <a:t>Titre de la diapositive</a:t>
            </a:r>
          </a:p>
        </p:txBody>
      </p:sp>
    </p:spTree>
    <p:extLst>
      <p:ext uri="{BB962C8B-B14F-4D97-AF65-F5344CB8AC3E}">
        <p14:creationId xmlns:p14="http://schemas.microsoft.com/office/powerpoint/2010/main" val="25624586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apo 2 photos">
    <p:spTree>
      <p:nvGrpSpPr>
        <p:cNvPr id="1" name=""/>
        <p:cNvGrpSpPr/>
        <p:nvPr/>
      </p:nvGrpSpPr>
      <p:grpSpPr>
        <a:xfrm>
          <a:off x="0" y="0"/>
          <a:ext cx="0" cy="0"/>
          <a:chOff x="0" y="0"/>
          <a:chExt cx="0" cy="0"/>
        </a:xfrm>
      </p:grpSpPr>
      <p:sp>
        <p:nvSpPr>
          <p:cNvPr id="9" name="Espace réservé pour une image  8">
            <a:extLst>
              <a:ext uri="{FF2B5EF4-FFF2-40B4-BE49-F238E27FC236}">
                <a16:creationId xmlns:a16="http://schemas.microsoft.com/office/drawing/2014/main" id="{BD8E2D2A-F96C-4939-9C63-67C838C0FDF3}"/>
              </a:ext>
            </a:extLst>
          </p:cNvPr>
          <p:cNvSpPr>
            <a:spLocks noGrp="1"/>
          </p:cNvSpPr>
          <p:nvPr>
            <p:ph type="pic" sz="quarter" idx="15" hasCustomPrompt="1"/>
          </p:nvPr>
        </p:nvSpPr>
        <p:spPr>
          <a:xfrm>
            <a:off x="6303435" y="1316767"/>
            <a:ext cx="5397500" cy="3902936"/>
          </a:xfrm>
          <a:solidFill>
            <a:schemeClr val="bg1">
              <a:lumMod val="85000"/>
            </a:schemeClr>
          </a:solidFill>
          <a:ln>
            <a:noFill/>
          </a:ln>
        </p:spPr>
        <p:txBody>
          <a:bodyPr bIns="504000" anchor="ctr"/>
          <a:lstStyle>
            <a:lvl1pPr algn="ctr">
              <a:defRPr sz="900">
                <a:solidFill>
                  <a:schemeClr val="bg1"/>
                </a:solidFill>
              </a:defRPr>
            </a:lvl1pPr>
          </a:lstStyle>
          <a:p>
            <a:r>
              <a:rPr lang="fr-FR" dirty="0"/>
              <a:t>Sélectionner l’icône pour insérer une image</a:t>
            </a:r>
          </a:p>
        </p:txBody>
      </p:sp>
      <p:sp>
        <p:nvSpPr>
          <p:cNvPr id="15" name="Espace réservé du texte 14">
            <a:extLst>
              <a:ext uri="{FF2B5EF4-FFF2-40B4-BE49-F238E27FC236}">
                <a16:creationId xmlns:a16="http://schemas.microsoft.com/office/drawing/2014/main" id="{21CA591B-C37B-41A1-8191-C1F660677F8D}"/>
              </a:ext>
            </a:extLst>
          </p:cNvPr>
          <p:cNvSpPr>
            <a:spLocks noGrp="1"/>
          </p:cNvSpPr>
          <p:nvPr>
            <p:ph type="body" sz="quarter" idx="16" hasCustomPrompt="1"/>
          </p:nvPr>
        </p:nvSpPr>
        <p:spPr>
          <a:xfrm>
            <a:off x="6314499" y="5306485"/>
            <a:ext cx="5397503" cy="611715"/>
          </a:xfrm>
        </p:spPr>
        <p:txBody>
          <a:bodyPr/>
          <a:lstStyle>
            <a:lvl1pPr>
              <a:defRPr sz="951">
                <a:solidFill>
                  <a:schemeClr val="tx1"/>
                </a:solidFill>
              </a:defRPr>
            </a:lvl1pPr>
          </a:lstStyle>
          <a:p>
            <a:pPr lvl="0"/>
            <a:r>
              <a:rPr lang="fr-FR" dirty="0"/>
              <a:t>Niveau 4 Lorem ipsum </a:t>
            </a:r>
            <a:r>
              <a:rPr lang="fr-FR" dirty="0" err="1"/>
              <a:t>dolor</a:t>
            </a:r>
            <a:r>
              <a:rPr lang="fr-FR" dirty="0"/>
              <a:t> </a:t>
            </a:r>
            <a:r>
              <a:rPr lang="fr-FR" dirty="0" err="1"/>
              <a:t>sit</a:t>
            </a:r>
            <a:r>
              <a:rPr lang="fr-FR" dirty="0"/>
              <a:t> </a:t>
            </a:r>
            <a:r>
              <a:rPr lang="fr-FR" dirty="0" err="1"/>
              <a:t>amet</a:t>
            </a:r>
            <a:endParaRPr lang="fr-FR" dirty="0"/>
          </a:p>
        </p:txBody>
      </p:sp>
      <p:sp>
        <p:nvSpPr>
          <p:cNvPr id="11" name="Espace réservé de la date 5">
            <a:extLst>
              <a:ext uri="{FF2B5EF4-FFF2-40B4-BE49-F238E27FC236}">
                <a16:creationId xmlns:a16="http://schemas.microsoft.com/office/drawing/2014/main" id="{BA039719-59E1-499E-AE38-46FC3D06F2F1}"/>
              </a:ext>
            </a:extLst>
          </p:cNvPr>
          <p:cNvSpPr>
            <a:spLocks noGrp="1"/>
          </p:cNvSpPr>
          <p:nvPr>
            <p:ph type="dt" sz="half" idx="17"/>
          </p:nvPr>
        </p:nvSpPr>
        <p:spPr>
          <a:xfrm>
            <a:off x="10266300" y="6212909"/>
            <a:ext cx="1560000" cy="282572"/>
          </a:xfrm>
        </p:spPr>
        <p:txBody>
          <a:bodyPr/>
          <a:lstStyle/>
          <a:p>
            <a:pPr algn="r"/>
            <a:r>
              <a:rPr lang="fr-FR" cap="all"/>
              <a:t>XX/XX/2021</a:t>
            </a:r>
            <a:endParaRPr lang="fr-FR" cap="all" dirty="0"/>
          </a:p>
        </p:txBody>
      </p:sp>
      <p:sp>
        <p:nvSpPr>
          <p:cNvPr id="13" name="Espace réservé du pied de page 6">
            <a:extLst>
              <a:ext uri="{FF2B5EF4-FFF2-40B4-BE49-F238E27FC236}">
                <a16:creationId xmlns:a16="http://schemas.microsoft.com/office/drawing/2014/main" id="{54460079-5C05-4907-83D0-F6C237D493D1}"/>
              </a:ext>
            </a:extLst>
          </p:cNvPr>
          <p:cNvSpPr>
            <a:spLocks noGrp="1"/>
          </p:cNvSpPr>
          <p:nvPr>
            <p:ph type="ftr" sz="quarter" idx="18"/>
          </p:nvPr>
        </p:nvSpPr>
        <p:spPr>
          <a:xfrm>
            <a:off x="367241" y="6213309"/>
            <a:ext cx="4114800" cy="282163"/>
          </a:xfrm>
        </p:spPr>
        <p:txBody>
          <a:bodyPr/>
          <a:lstStyle/>
          <a:p>
            <a:r>
              <a:rPr lang="en-US"/>
              <a:t>SVEPM 2026   -   UNVEILING TEMPORAL AND REGIONAL FACTORS OF ANTIBIOTIC RESISTANCE   -   BAREILLE</a:t>
            </a:r>
            <a:endParaRPr lang="fr-FR" dirty="0"/>
          </a:p>
        </p:txBody>
      </p:sp>
      <p:sp>
        <p:nvSpPr>
          <p:cNvPr id="14"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9"/>
          </p:nvPr>
        </p:nvSpPr>
        <p:spPr>
          <a:xfrm>
            <a:off x="8452756" y="6212906"/>
            <a:ext cx="1800000" cy="246221"/>
          </a:xfrm>
        </p:spPr>
        <p:txBody>
          <a:bodyPr/>
          <a:lstStyle/>
          <a:p>
            <a:fld id="{733122C9-A0B9-462F-8757-0847AD287B63}" type="slidenum">
              <a:rPr lang="fr-FR" smtClean="0"/>
              <a:pPr/>
              <a:t>‹N°›</a:t>
            </a:fld>
            <a:endParaRPr lang="fr-FR" dirty="0"/>
          </a:p>
        </p:txBody>
      </p:sp>
      <p:sp>
        <p:nvSpPr>
          <p:cNvPr id="33" name="Espace réservé pour une image  8">
            <a:extLst>
              <a:ext uri="{FF2B5EF4-FFF2-40B4-BE49-F238E27FC236}">
                <a16:creationId xmlns:a16="http://schemas.microsoft.com/office/drawing/2014/main" id="{BD8E2D2A-F96C-4939-9C63-67C838C0FDF3}"/>
              </a:ext>
            </a:extLst>
          </p:cNvPr>
          <p:cNvSpPr>
            <a:spLocks noGrp="1"/>
          </p:cNvSpPr>
          <p:nvPr>
            <p:ph type="pic" sz="quarter" idx="20" hasCustomPrompt="1"/>
          </p:nvPr>
        </p:nvSpPr>
        <p:spPr>
          <a:xfrm>
            <a:off x="367242" y="1316765"/>
            <a:ext cx="5397500" cy="3902936"/>
          </a:xfrm>
          <a:solidFill>
            <a:schemeClr val="bg1">
              <a:lumMod val="85000"/>
            </a:schemeClr>
          </a:solidFill>
          <a:ln>
            <a:noFill/>
          </a:ln>
        </p:spPr>
        <p:txBody>
          <a:bodyPr bIns="504000" anchor="ctr"/>
          <a:lstStyle>
            <a:lvl1pPr algn="ctr">
              <a:defRPr sz="900">
                <a:solidFill>
                  <a:schemeClr val="bg1"/>
                </a:solidFill>
              </a:defRPr>
            </a:lvl1pPr>
          </a:lstStyle>
          <a:p>
            <a:r>
              <a:rPr lang="fr-FR" dirty="0"/>
              <a:t>Sélectionner l’icône pour insérer une image</a:t>
            </a:r>
          </a:p>
        </p:txBody>
      </p:sp>
      <p:sp>
        <p:nvSpPr>
          <p:cNvPr id="34" name="Espace réservé du texte 14">
            <a:extLst>
              <a:ext uri="{FF2B5EF4-FFF2-40B4-BE49-F238E27FC236}">
                <a16:creationId xmlns:a16="http://schemas.microsoft.com/office/drawing/2014/main" id="{21CA591B-C37B-41A1-8191-C1F660677F8D}"/>
              </a:ext>
            </a:extLst>
          </p:cNvPr>
          <p:cNvSpPr>
            <a:spLocks noGrp="1"/>
          </p:cNvSpPr>
          <p:nvPr>
            <p:ph type="body" sz="quarter" idx="21" hasCustomPrompt="1"/>
          </p:nvPr>
        </p:nvSpPr>
        <p:spPr>
          <a:xfrm>
            <a:off x="378306" y="5306484"/>
            <a:ext cx="5397503" cy="611715"/>
          </a:xfrm>
        </p:spPr>
        <p:txBody>
          <a:bodyPr/>
          <a:lstStyle>
            <a:lvl1pPr>
              <a:defRPr sz="951">
                <a:solidFill>
                  <a:schemeClr val="tx1"/>
                </a:solidFill>
              </a:defRPr>
            </a:lvl1pPr>
          </a:lstStyle>
          <a:p>
            <a:pPr lvl="0"/>
            <a:r>
              <a:rPr lang="fr-FR" dirty="0"/>
              <a:t>Niveau 4 Lorem ipsum </a:t>
            </a:r>
            <a:r>
              <a:rPr lang="fr-FR" dirty="0" err="1"/>
              <a:t>dolor</a:t>
            </a:r>
            <a:r>
              <a:rPr lang="fr-FR" dirty="0"/>
              <a:t> </a:t>
            </a:r>
            <a:r>
              <a:rPr lang="fr-FR" dirty="0" err="1"/>
              <a:t>sit</a:t>
            </a:r>
            <a:r>
              <a:rPr lang="fr-FR" dirty="0"/>
              <a:t> </a:t>
            </a:r>
            <a:r>
              <a:rPr lang="fr-FR" dirty="0" err="1"/>
              <a:t>amet</a:t>
            </a:r>
            <a:endParaRPr lang="fr-FR" dirty="0"/>
          </a:p>
        </p:txBody>
      </p:sp>
      <p:grpSp>
        <p:nvGrpSpPr>
          <p:cNvPr id="31" name="Groupe 30">
            <a:extLst>
              <a:ext uri="{FF2B5EF4-FFF2-40B4-BE49-F238E27FC236}">
                <a16:creationId xmlns:a16="http://schemas.microsoft.com/office/drawing/2014/main" id="{D839141D-2A12-43BD-965E-1AFB5ACCCEC3}"/>
              </a:ext>
            </a:extLst>
          </p:cNvPr>
          <p:cNvGrpSpPr/>
          <p:nvPr userDrawn="1"/>
        </p:nvGrpSpPr>
        <p:grpSpPr>
          <a:xfrm>
            <a:off x="11337925" y="238141"/>
            <a:ext cx="365127" cy="507984"/>
            <a:chOff x="2724335" y="0"/>
            <a:chExt cx="3694565" cy="5140087"/>
          </a:xfrm>
        </p:grpSpPr>
        <p:grpSp>
          <p:nvGrpSpPr>
            <p:cNvPr id="32" name="Groupe 31">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41"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sz="2400"/>
              </a:p>
            </p:txBody>
          </p:sp>
          <p:sp>
            <p:nvSpPr>
              <p:cNvPr id="42"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3"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sz="2400"/>
              </a:p>
            </p:txBody>
          </p:sp>
          <p:sp>
            <p:nvSpPr>
              <p:cNvPr id="44"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5"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sz="2400"/>
              </a:p>
            </p:txBody>
          </p:sp>
        </p:grpSp>
        <p:grpSp>
          <p:nvGrpSpPr>
            <p:cNvPr id="35" name="Groupe 34">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6"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sz="2400"/>
              </a:p>
            </p:txBody>
          </p:sp>
          <p:sp>
            <p:nvSpPr>
              <p:cNvPr id="37"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sz="2400"/>
              </a:p>
            </p:txBody>
          </p:sp>
          <p:sp>
            <p:nvSpPr>
              <p:cNvPr id="38"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sz="2400"/>
              </a:p>
            </p:txBody>
          </p:sp>
          <p:sp>
            <p:nvSpPr>
              <p:cNvPr id="39"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sz="2400"/>
              </a:p>
            </p:txBody>
          </p:sp>
          <p:sp>
            <p:nvSpPr>
              <p:cNvPr id="40"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sz="2400"/>
              </a:p>
            </p:txBody>
          </p:sp>
        </p:grpSp>
      </p:grpSp>
      <p:sp>
        <p:nvSpPr>
          <p:cNvPr id="23" name="Titre 1"/>
          <p:cNvSpPr>
            <a:spLocks noGrp="1"/>
          </p:cNvSpPr>
          <p:nvPr>
            <p:ph type="title" hasCustomPrompt="1"/>
          </p:nvPr>
        </p:nvSpPr>
        <p:spPr bwMode="gray">
          <a:xfrm>
            <a:off x="367242" y="371400"/>
            <a:ext cx="10876937" cy="849249"/>
          </a:xfrm>
        </p:spPr>
        <p:txBody>
          <a:bodyPr/>
          <a:lstStyle>
            <a:lvl1pPr>
              <a:defRPr sz="2547">
                <a:solidFill>
                  <a:srgbClr val="262626"/>
                </a:solidFill>
              </a:defRPr>
            </a:lvl1pPr>
          </a:lstStyle>
          <a:p>
            <a:r>
              <a:rPr lang="fr-FR" dirty="0"/>
              <a:t>Titre de la diapositive</a:t>
            </a:r>
          </a:p>
        </p:txBody>
      </p:sp>
    </p:spTree>
    <p:extLst>
      <p:ext uri="{BB962C8B-B14F-4D97-AF65-F5344CB8AC3E}">
        <p14:creationId xmlns:p14="http://schemas.microsoft.com/office/powerpoint/2010/main" val="18371960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apo 1 photo">
    <p:spTree>
      <p:nvGrpSpPr>
        <p:cNvPr id="1" name=""/>
        <p:cNvGrpSpPr/>
        <p:nvPr/>
      </p:nvGrpSpPr>
      <p:grpSpPr>
        <a:xfrm>
          <a:off x="0" y="0"/>
          <a:ext cx="0" cy="0"/>
          <a:chOff x="0" y="0"/>
          <a:chExt cx="0" cy="0"/>
        </a:xfrm>
      </p:grpSpPr>
      <p:sp>
        <p:nvSpPr>
          <p:cNvPr id="33" name="Espace réservé pour une image  8">
            <a:extLst>
              <a:ext uri="{FF2B5EF4-FFF2-40B4-BE49-F238E27FC236}">
                <a16:creationId xmlns:a16="http://schemas.microsoft.com/office/drawing/2014/main" id="{BD8E2D2A-F96C-4939-9C63-67C838C0FDF3}"/>
              </a:ext>
            </a:extLst>
          </p:cNvPr>
          <p:cNvSpPr>
            <a:spLocks noGrp="1"/>
          </p:cNvSpPr>
          <p:nvPr>
            <p:ph type="pic" sz="quarter" idx="20" hasCustomPrompt="1"/>
          </p:nvPr>
        </p:nvSpPr>
        <p:spPr>
          <a:xfrm>
            <a:off x="435109" y="1316765"/>
            <a:ext cx="11299113" cy="3902936"/>
          </a:xfrm>
          <a:solidFill>
            <a:schemeClr val="bg1">
              <a:lumMod val="85000"/>
            </a:schemeClr>
          </a:solidFill>
          <a:ln>
            <a:noFill/>
          </a:ln>
        </p:spPr>
        <p:txBody>
          <a:bodyPr bIns="504000" anchor="ctr"/>
          <a:lstStyle>
            <a:lvl1pPr algn="ctr">
              <a:defRPr sz="900">
                <a:solidFill>
                  <a:schemeClr val="bg1"/>
                </a:solidFill>
              </a:defRPr>
            </a:lvl1pPr>
          </a:lstStyle>
          <a:p>
            <a:r>
              <a:rPr lang="fr-FR" dirty="0"/>
              <a:t>Sélectionner l’icône pour insérer une image</a:t>
            </a:r>
          </a:p>
        </p:txBody>
      </p:sp>
      <p:sp>
        <p:nvSpPr>
          <p:cNvPr id="11" name="Espace réservé de la date 5">
            <a:extLst>
              <a:ext uri="{FF2B5EF4-FFF2-40B4-BE49-F238E27FC236}">
                <a16:creationId xmlns:a16="http://schemas.microsoft.com/office/drawing/2014/main" id="{BA039719-59E1-499E-AE38-46FC3D06F2F1}"/>
              </a:ext>
            </a:extLst>
          </p:cNvPr>
          <p:cNvSpPr>
            <a:spLocks noGrp="1"/>
          </p:cNvSpPr>
          <p:nvPr>
            <p:ph type="dt" sz="half" idx="17"/>
          </p:nvPr>
        </p:nvSpPr>
        <p:spPr>
          <a:xfrm>
            <a:off x="10266300" y="6212909"/>
            <a:ext cx="1560000" cy="282572"/>
          </a:xfrm>
        </p:spPr>
        <p:txBody>
          <a:bodyPr/>
          <a:lstStyle/>
          <a:p>
            <a:pPr algn="r"/>
            <a:r>
              <a:rPr lang="fr-FR" cap="all"/>
              <a:t>XX/XX/2021</a:t>
            </a:r>
            <a:endParaRPr lang="fr-FR" cap="all" dirty="0"/>
          </a:p>
        </p:txBody>
      </p:sp>
      <p:sp>
        <p:nvSpPr>
          <p:cNvPr id="13" name="Espace réservé du pied de page 6">
            <a:extLst>
              <a:ext uri="{FF2B5EF4-FFF2-40B4-BE49-F238E27FC236}">
                <a16:creationId xmlns:a16="http://schemas.microsoft.com/office/drawing/2014/main" id="{54460079-5C05-4907-83D0-F6C237D493D1}"/>
              </a:ext>
            </a:extLst>
          </p:cNvPr>
          <p:cNvSpPr>
            <a:spLocks noGrp="1"/>
          </p:cNvSpPr>
          <p:nvPr>
            <p:ph type="ftr" sz="quarter" idx="18"/>
          </p:nvPr>
        </p:nvSpPr>
        <p:spPr>
          <a:xfrm>
            <a:off x="367241" y="6213309"/>
            <a:ext cx="4114800" cy="282163"/>
          </a:xfrm>
        </p:spPr>
        <p:txBody>
          <a:bodyPr/>
          <a:lstStyle/>
          <a:p>
            <a:r>
              <a:rPr lang="en-US"/>
              <a:t>SVEPM 2026   -   UNVEILING TEMPORAL AND REGIONAL FACTORS OF ANTIBIOTIC RESISTANCE   -   BAREILLE</a:t>
            </a:r>
            <a:endParaRPr lang="fr-FR" dirty="0"/>
          </a:p>
        </p:txBody>
      </p:sp>
      <p:sp>
        <p:nvSpPr>
          <p:cNvPr id="14"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9"/>
          </p:nvPr>
        </p:nvSpPr>
        <p:spPr>
          <a:xfrm>
            <a:off x="8452756" y="6212906"/>
            <a:ext cx="1800000" cy="246221"/>
          </a:xfrm>
        </p:spPr>
        <p:txBody>
          <a:bodyPr/>
          <a:lstStyle/>
          <a:p>
            <a:fld id="{733122C9-A0B9-462F-8757-0847AD287B63}" type="slidenum">
              <a:rPr lang="fr-FR" smtClean="0"/>
              <a:pPr/>
              <a:t>‹N°›</a:t>
            </a:fld>
            <a:endParaRPr lang="fr-FR" dirty="0"/>
          </a:p>
        </p:txBody>
      </p:sp>
      <p:sp>
        <p:nvSpPr>
          <p:cNvPr id="34" name="Espace réservé du texte 14">
            <a:extLst>
              <a:ext uri="{FF2B5EF4-FFF2-40B4-BE49-F238E27FC236}">
                <a16:creationId xmlns:a16="http://schemas.microsoft.com/office/drawing/2014/main" id="{21CA591B-C37B-41A1-8191-C1F660677F8D}"/>
              </a:ext>
            </a:extLst>
          </p:cNvPr>
          <p:cNvSpPr>
            <a:spLocks noGrp="1"/>
          </p:cNvSpPr>
          <p:nvPr>
            <p:ph type="body" sz="quarter" idx="21" hasCustomPrompt="1"/>
          </p:nvPr>
        </p:nvSpPr>
        <p:spPr>
          <a:xfrm>
            <a:off x="446172" y="5306484"/>
            <a:ext cx="11270976" cy="611715"/>
          </a:xfrm>
        </p:spPr>
        <p:txBody>
          <a:bodyPr/>
          <a:lstStyle>
            <a:lvl1pPr>
              <a:defRPr sz="951">
                <a:solidFill>
                  <a:schemeClr val="tx1"/>
                </a:solidFill>
              </a:defRPr>
            </a:lvl1pPr>
          </a:lstStyle>
          <a:p>
            <a:pPr lvl="0"/>
            <a:r>
              <a:rPr lang="fr-FR" dirty="0"/>
              <a:t>Niveau 4 Lorem ipsum </a:t>
            </a:r>
            <a:r>
              <a:rPr lang="fr-FR" dirty="0" err="1"/>
              <a:t>dolor</a:t>
            </a:r>
            <a:r>
              <a:rPr lang="fr-FR" dirty="0"/>
              <a:t> </a:t>
            </a:r>
            <a:r>
              <a:rPr lang="fr-FR" dirty="0" err="1"/>
              <a:t>sit</a:t>
            </a:r>
            <a:r>
              <a:rPr lang="fr-FR" dirty="0"/>
              <a:t> </a:t>
            </a:r>
            <a:r>
              <a:rPr lang="fr-FR" dirty="0" err="1"/>
              <a:t>amet</a:t>
            </a:r>
            <a:endParaRPr lang="fr-FR" dirty="0"/>
          </a:p>
        </p:txBody>
      </p:sp>
      <p:grpSp>
        <p:nvGrpSpPr>
          <p:cNvPr id="31" name="Groupe 30">
            <a:extLst>
              <a:ext uri="{FF2B5EF4-FFF2-40B4-BE49-F238E27FC236}">
                <a16:creationId xmlns:a16="http://schemas.microsoft.com/office/drawing/2014/main" id="{D839141D-2A12-43BD-965E-1AFB5ACCCEC3}"/>
              </a:ext>
            </a:extLst>
          </p:cNvPr>
          <p:cNvGrpSpPr/>
          <p:nvPr userDrawn="1"/>
        </p:nvGrpSpPr>
        <p:grpSpPr>
          <a:xfrm>
            <a:off x="11337925" y="238141"/>
            <a:ext cx="365127" cy="507984"/>
            <a:chOff x="2724335" y="0"/>
            <a:chExt cx="3694565" cy="5140087"/>
          </a:xfrm>
        </p:grpSpPr>
        <p:grpSp>
          <p:nvGrpSpPr>
            <p:cNvPr id="32" name="Groupe 31">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41"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sz="2400"/>
              </a:p>
            </p:txBody>
          </p:sp>
          <p:sp>
            <p:nvSpPr>
              <p:cNvPr id="42"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3"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sz="2400"/>
              </a:p>
            </p:txBody>
          </p:sp>
          <p:sp>
            <p:nvSpPr>
              <p:cNvPr id="44"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45"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sz="2400"/>
              </a:p>
            </p:txBody>
          </p:sp>
        </p:grpSp>
        <p:grpSp>
          <p:nvGrpSpPr>
            <p:cNvPr id="35" name="Groupe 34">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6"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sz="2400"/>
              </a:p>
            </p:txBody>
          </p:sp>
          <p:sp>
            <p:nvSpPr>
              <p:cNvPr id="37"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sz="2400"/>
              </a:p>
            </p:txBody>
          </p:sp>
          <p:sp>
            <p:nvSpPr>
              <p:cNvPr id="38"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sz="2400"/>
              </a:p>
            </p:txBody>
          </p:sp>
          <p:sp>
            <p:nvSpPr>
              <p:cNvPr id="39"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sz="2400"/>
              </a:p>
            </p:txBody>
          </p:sp>
          <p:sp>
            <p:nvSpPr>
              <p:cNvPr id="40"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sz="2400"/>
              </a:p>
            </p:txBody>
          </p:sp>
        </p:grpSp>
      </p:grpSp>
      <p:sp>
        <p:nvSpPr>
          <p:cNvPr id="21" name="Titre 1"/>
          <p:cNvSpPr>
            <a:spLocks noGrp="1"/>
          </p:cNvSpPr>
          <p:nvPr>
            <p:ph type="title" hasCustomPrompt="1"/>
          </p:nvPr>
        </p:nvSpPr>
        <p:spPr bwMode="gray">
          <a:xfrm>
            <a:off x="435109" y="371400"/>
            <a:ext cx="10809071" cy="849249"/>
          </a:xfrm>
        </p:spPr>
        <p:txBody>
          <a:bodyPr/>
          <a:lstStyle>
            <a:lvl1pPr>
              <a:defRPr sz="2547">
                <a:solidFill>
                  <a:srgbClr val="262626"/>
                </a:solidFill>
              </a:defRPr>
            </a:lvl1pPr>
          </a:lstStyle>
          <a:p>
            <a:r>
              <a:rPr lang="fr-FR" dirty="0"/>
              <a:t>Titre de la diapositive</a:t>
            </a:r>
          </a:p>
        </p:txBody>
      </p:sp>
    </p:spTree>
    <p:extLst>
      <p:ext uri="{BB962C8B-B14F-4D97-AF65-F5344CB8AC3E}">
        <p14:creationId xmlns:p14="http://schemas.microsoft.com/office/powerpoint/2010/main" val="7033635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apo courante">
    <p:spTree>
      <p:nvGrpSpPr>
        <p:cNvPr id="1" name=""/>
        <p:cNvGrpSpPr/>
        <p:nvPr/>
      </p:nvGrpSpPr>
      <p:grpSpPr>
        <a:xfrm>
          <a:off x="0" y="0"/>
          <a:ext cx="0" cy="0"/>
          <a:chOff x="0" y="0"/>
          <a:chExt cx="0" cy="0"/>
        </a:xfrm>
      </p:grpSpPr>
      <p:sp>
        <p:nvSpPr>
          <p:cNvPr id="6" name="Espace réservé de la date 5">
            <a:extLst>
              <a:ext uri="{FF2B5EF4-FFF2-40B4-BE49-F238E27FC236}">
                <a16:creationId xmlns:a16="http://schemas.microsoft.com/office/drawing/2014/main" id="{BA039719-59E1-499E-AE38-46FC3D06F2F1}"/>
              </a:ext>
            </a:extLst>
          </p:cNvPr>
          <p:cNvSpPr>
            <a:spLocks noGrp="1"/>
          </p:cNvSpPr>
          <p:nvPr>
            <p:ph type="dt" sz="half" idx="16"/>
          </p:nvPr>
        </p:nvSpPr>
        <p:spPr/>
        <p:txBody>
          <a:bodyPr/>
          <a:lstStyle/>
          <a:p>
            <a:pPr algn="r"/>
            <a:r>
              <a:rPr lang="fr-FR" cap="all"/>
              <a:t>XX/XX/2021</a:t>
            </a:r>
            <a:endParaRPr lang="fr-FR" cap="all" dirty="0"/>
          </a:p>
        </p:txBody>
      </p:sp>
      <p:sp>
        <p:nvSpPr>
          <p:cNvPr id="7" name="Espace réservé du pied de page 6">
            <a:extLst>
              <a:ext uri="{FF2B5EF4-FFF2-40B4-BE49-F238E27FC236}">
                <a16:creationId xmlns:a16="http://schemas.microsoft.com/office/drawing/2014/main" id="{54460079-5C05-4907-83D0-F6C237D493D1}"/>
              </a:ext>
            </a:extLst>
          </p:cNvPr>
          <p:cNvSpPr>
            <a:spLocks noGrp="1"/>
          </p:cNvSpPr>
          <p:nvPr>
            <p:ph type="ftr" sz="quarter" idx="17"/>
          </p:nvPr>
        </p:nvSpPr>
        <p:spPr/>
        <p:txBody>
          <a:bodyPr/>
          <a:lstStyle/>
          <a:p>
            <a:r>
              <a:rPr lang="en-US"/>
              <a:t>SVEPM 2026   -   UNVEILING TEMPORAL AND REGIONAL FACTORS OF ANTIBIOTIC RESISTANCE   -   BAREILLE</a:t>
            </a:r>
            <a:endParaRPr lang="fr-FR" dirty="0"/>
          </a:p>
        </p:txBody>
      </p:sp>
      <p:sp>
        <p:nvSpPr>
          <p:cNvPr id="11" name="Espace réservé du numéro de diapositive 10">
            <a:extLst>
              <a:ext uri="{FF2B5EF4-FFF2-40B4-BE49-F238E27FC236}">
                <a16:creationId xmlns:a16="http://schemas.microsoft.com/office/drawing/2014/main" id="{72E177FF-2AD8-4CAF-A3FD-3CF7C14C521F}"/>
              </a:ext>
            </a:extLst>
          </p:cNvPr>
          <p:cNvSpPr>
            <a:spLocks noGrp="1"/>
          </p:cNvSpPr>
          <p:nvPr>
            <p:ph type="sldNum" sz="quarter" idx="18"/>
          </p:nvPr>
        </p:nvSpPr>
        <p:spPr/>
        <p:txBody>
          <a:bodyPr/>
          <a:lstStyle/>
          <a:p>
            <a:fld id="{733122C9-A0B9-462F-8757-0847AD287B63}" type="slidenum">
              <a:rPr lang="fr-FR" smtClean="0"/>
              <a:pPr/>
              <a:t>‹N°›</a:t>
            </a:fld>
            <a:endParaRPr lang="fr-FR" dirty="0"/>
          </a:p>
        </p:txBody>
      </p:sp>
      <p:grpSp>
        <p:nvGrpSpPr>
          <p:cNvPr id="27" name="Groupe 26">
            <a:extLst>
              <a:ext uri="{FF2B5EF4-FFF2-40B4-BE49-F238E27FC236}">
                <a16:creationId xmlns:a16="http://schemas.microsoft.com/office/drawing/2014/main" id="{D839141D-2A12-43BD-965E-1AFB5ACCCEC3}"/>
              </a:ext>
            </a:extLst>
          </p:cNvPr>
          <p:cNvGrpSpPr/>
          <p:nvPr userDrawn="1"/>
        </p:nvGrpSpPr>
        <p:grpSpPr>
          <a:xfrm>
            <a:off x="11337925" y="238141"/>
            <a:ext cx="365127" cy="507984"/>
            <a:chOff x="2724335" y="0"/>
            <a:chExt cx="3694565" cy="5140087"/>
          </a:xfrm>
        </p:grpSpPr>
        <p:grpSp>
          <p:nvGrpSpPr>
            <p:cNvPr id="28" name="Groupe 27">
              <a:extLst>
                <a:ext uri="{FF2B5EF4-FFF2-40B4-BE49-F238E27FC236}">
                  <a16:creationId xmlns:a16="http://schemas.microsoft.com/office/drawing/2014/main" id="{CD0A93DE-EBFB-4986-A4EA-7F8D18937CD7}"/>
                </a:ext>
              </a:extLst>
            </p:cNvPr>
            <p:cNvGrpSpPr/>
            <p:nvPr userDrawn="1"/>
          </p:nvGrpSpPr>
          <p:grpSpPr>
            <a:xfrm>
              <a:off x="2724335" y="4398358"/>
              <a:ext cx="3694565" cy="741729"/>
              <a:chOff x="2724335" y="4398358"/>
              <a:chExt cx="3694565" cy="741729"/>
            </a:xfrm>
          </p:grpSpPr>
          <p:sp>
            <p:nvSpPr>
              <p:cNvPr id="35" name="Forme libre : forme 34">
                <a:extLst>
                  <a:ext uri="{FF2B5EF4-FFF2-40B4-BE49-F238E27FC236}">
                    <a16:creationId xmlns:a16="http://schemas.microsoft.com/office/drawing/2014/main" id="{C293E0C5-6117-4F1F-A38B-DC8D3CF89800}"/>
                  </a:ext>
                </a:extLst>
              </p:cNvPr>
              <p:cNvSpPr/>
              <p:nvPr/>
            </p:nvSpPr>
            <p:spPr>
              <a:xfrm>
                <a:off x="3554785" y="4412423"/>
                <a:ext cx="659499" cy="722420"/>
              </a:xfrm>
              <a:custGeom>
                <a:avLst/>
                <a:gdLst>
                  <a:gd name="connsiteX0" fmla="*/ 391256 w 659499"/>
                  <a:gd name="connsiteY0" fmla="*/ 0 h 722420"/>
                  <a:gd name="connsiteX1" fmla="*/ 139990 w 659499"/>
                  <a:gd name="connsiteY1" fmla="*/ 100540 h 722420"/>
                  <a:gd name="connsiteX2" fmla="*/ 139990 w 659499"/>
                  <a:gd name="connsiteY2" fmla="*/ 0 h 722420"/>
                  <a:gd name="connsiteX3" fmla="*/ 0 w 659499"/>
                  <a:gd name="connsiteY3" fmla="*/ 0 h 722420"/>
                  <a:gd name="connsiteX4" fmla="*/ 0 w 659499"/>
                  <a:gd name="connsiteY4" fmla="*/ 722421 h 722420"/>
                  <a:gd name="connsiteX5" fmla="*/ 140073 w 659499"/>
                  <a:gd name="connsiteY5" fmla="*/ 722421 h 722420"/>
                  <a:gd name="connsiteX6" fmla="*/ 140073 w 659499"/>
                  <a:gd name="connsiteY6" fmla="*/ 283142 h 722420"/>
                  <a:gd name="connsiteX7" fmla="*/ 366037 w 659499"/>
                  <a:gd name="connsiteY7" fmla="*/ 115438 h 722420"/>
                  <a:gd name="connsiteX8" fmla="*/ 518928 w 659499"/>
                  <a:gd name="connsiteY8" fmla="*/ 243442 h 722420"/>
                  <a:gd name="connsiteX9" fmla="*/ 519427 w 659499"/>
                  <a:gd name="connsiteY9" fmla="*/ 243442 h 722420"/>
                  <a:gd name="connsiteX10" fmla="*/ 519427 w 659499"/>
                  <a:gd name="connsiteY10" fmla="*/ 722421 h 722420"/>
                  <a:gd name="connsiteX11" fmla="*/ 659500 w 659499"/>
                  <a:gd name="connsiteY11" fmla="*/ 722421 h 722420"/>
                  <a:gd name="connsiteX12" fmla="*/ 659500 w 659499"/>
                  <a:gd name="connsiteY12" fmla="*/ 243442 h 722420"/>
                  <a:gd name="connsiteX13" fmla="*/ 391256 w 659499"/>
                  <a:gd name="connsiteY13" fmla="*/ 0 h 7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9499" h="722420">
                    <a:moveTo>
                      <a:pt x="391256" y="0"/>
                    </a:moveTo>
                    <a:cubicBezTo>
                      <a:pt x="218141" y="0"/>
                      <a:pt x="141488" y="98626"/>
                      <a:pt x="139990" y="100540"/>
                    </a:cubicBezTo>
                    <a:lnTo>
                      <a:pt x="139990" y="0"/>
                    </a:lnTo>
                    <a:lnTo>
                      <a:pt x="0" y="0"/>
                    </a:lnTo>
                    <a:lnTo>
                      <a:pt x="0" y="722421"/>
                    </a:lnTo>
                    <a:lnTo>
                      <a:pt x="140073" y="722421"/>
                    </a:lnTo>
                    <a:lnTo>
                      <a:pt x="140073" y="283142"/>
                    </a:lnTo>
                    <a:cubicBezTo>
                      <a:pt x="143069" y="177026"/>
                      <a:pt x="276567" y="115438"/>
                      <a:pt x="366037" y="115438"/>
                    </a:cubicBezTo>
                    <a:cubicBezTo>
                      <a:pt x="432870" y="115438"/>
                      <a:pt x="518928" y="161213"/>
                      <a:pt x="518928" y="243442"/>
                    </a:cubicBezTo>
                    <a:lnTo>
                      <a:pt x="519427" y="243442"/>
                    </a:lnTo>
                    <a:lnTo>
                      <a:pt x="519427" y="722421"/>
                    </a:lnTo>
                    <a:lnTo>
                      <a:pt x="659500" y="722421"/>
                    </a:lnTo>
                    <a:lnTo>
                      <a:pt x="659500" y="243442"/>
                    </a:lnTo>
                    <a:cubicBezTo>
                      <a:pt x="659417" y="80981"/>
                      <a:pt x="538986" y="0"/>
                      <a:pt x="391256" y="0"/>
                    </a:cubicBezTo>
                    <a:close/>
                  </a:path>
                </a:pathLst>
              </a:custGeom>
              <a:solidFill>
                <a:srgbClr val="3C3C3C"/>
              </a:solidFill>
              <a:ln w="8302" cap="flat">
                <a:noFill/>
                <a:prstDash val="solid"/>
                <a:miter/>
              </a:ln>
            </p:spPr>
            <p:txBody>
              <a:bodyPr rtlCol="0" anchor="ctr"/>
              <a:lstStyle/>
              <a:p>
                <a:endParaRPr lang="fr-FR" sz="2400"/>
              </a:p>
            </p:txBody>
          </p:sp>
          <p:sp>
            <p:nvSpPr>
              <p:cNvPr id="36" name="Forme libre : forme 35">
                <a:extLst>
                  <a:ext uri="{FF2B5EF4-FFF2-40B4-BE49-F238E27FC236}">
                    <a16:creationId xmlns:a16="http://schemas.microsoft.com/office/drawing/2014/main" id="{4E707777-18DA-470E-8544-86B82A204996}"/>
                  </a:ext>
                </a:extLst>
              </p:cNvPr>
              <p:cNvSpPr/>
              <p:nvPr/>
            </p:nvSpPr>
            <p:spPr>
              <a:xfrm>
                <a:off x="5832180" y="4401770"/>
                <a:ext cx="586720" cy="736485"/>
              </a:xfrm>
              <a:custGeom>
                <a:avLst/>
                <a:gdLst>
                  <a:gd name="connsiteX0" fmla="*/ 363684 w 586720"/>
                  <a:gd name="connsiteY0" fmla="*/ 304532 h 736485"/>
                  <a:gd name="connsiteX1" fmla="*/ 363684 w 586720"/>
                  <a:gd name="connsiteY1" fmla="*/ 304365 h 736485"/>
                  <a:gd name="connsiteX2" fmla="*/ 237760 w 586720"/>
                  <a:gd name="connsiteY2" fmla="*/ 304365 h 736485"/>
                  <a:gd name="connsiteX3" fmla="*/ 133309 w 586720"/>
                  <a:gd name="connsiteY3" fmla="*/ 212565 h 736485"/>
                  <a:gd name="connsiteX4" fmla="*/ 284285 w 586720"/>
                  <a:gd name="connsiteY4" fmla="*/ 122512 h 736485"/>
                  <a:gd name="connsiteX5" fmla="*/ 503008 w 586720"/>
                  <a:gd name="connsiteY5" fmla="*/ 162128 h 736485"/>
                  <a:gd name="connsiteX6" fmla="*/ 551031 w 586720"/>
                  <a:gd name="connsiteY6" fmla="*/ 49188 h 736485"/>
                  <a:gd name="connsiteX7" fmla="*/ 298267 w 586720"/>
                  <a:gd name="connsiteY7" fmla="*/ 0 h 736485"/>
                  <a:gd name="connsiteX8" fmla="*/ 310 w 586720"/>
                  <a:gd name="connsiteY8" fmla="*/ 214313 h 736485"/>
                  <a:gd name="connsiteX9" fmla="*/ 223029 w 586720"/>
                  <a:gd name="connsiteY9" fmla="*/ 432037 h 736485"/>
                  <a:gd name="connsiteX10" fmla="*/ 223029 w 586720"/>
                  <a:gd name="connsiteY10" fmla="*/ 432204 h 736485"/>
                  <a:gd name="connsiteX11" fmla="*/ 348953 w 586720"/>
                  <a:gd name="connsiteY11" fmla="*/ 432204 h 736485"/>
                  <a:gd name="connsiteX12" fmla="*/ 453404 w 586720"/>
                  <a:gd name="connsiteY12" fmla="*/ 524005 h 736485"/>
                  <a:gd name="connsiteX13" fmla="*/ 302428 w 586720"/>
                  <a:gd name="connsiteY13" fmla="*/ 614057 h 736485"/>
                  <a:gd name="connsiteX14" fmla="*/ 59818 w 586720"/>
                  <a:gd name="connsiteY14" fmla="*/ 563704 h 736485"/>
                  <a:gd name="connsiteX15" fmla="*/ 12212 w 586720"/>
                  <a:gd name="connsiteY15" fmla="*/ 676062 h 736485"/>
                  <a:gd name="connsiteX16" fmla="*/ 288446 w 586720"/>
                  <a:gd name="connsiteY16" fmla="*/ 736486 h 736485"/>
                  <a:gd name="connsiteX17" fmla="*/ 586403 w 586720"/>
                  <a:gd name="connsiteY17" fmla="*/ 522173 h 736485"/>
                  <a:gd name="connsiteX18" fmla="*/ 363684 w 586720"/>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20"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8"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8"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477"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37" name="Forme libre : forme 36">
                <a:extLst>
                  <a:ext uri="{FF2B5EF4-FFF2-40B4-BE49-F238E27FC236}">
                    <a16:creationId xmlns:a16="http://schemas.microsoft.com/office/drawing/2014/main" id="{AA931412-BFE0-468C-AAB4-DAC8C26F821C}"/>
                  </a:ext>
                </a:extLst>
              </p:cNvPr>
              <p:cNvSpPr/>
              <p:nvPr/>
            </p:nvSpPr>
            <p:spPr>
              <a:xfrm>
                <a:off x="5027341" y="4398358"/>
                <a:ext cx="698034" cy="741729"/>
              </a:xfrm>
              <a:custGeom>
                <a:avLst/>
                <a:gdLst>
                  <a:gd name="connsiteX0" fmla="*/ 355135 w 698034"/>
                  <a:gd name="connsiteY0" fmla="*/ 0 h 741729"/>
                  <a:gd name="connsiteX1" fmla="*/ 0 w 698034"/>
                  <a:gd name="connsiteY1" fmla="*/ 377856 h 741729"/>
                  <a:gd name="connsiteX2" fmla="*/ 387594 w 698034"/>
                  <a:gd name="connsiteY2" fmla="*/ 741730 h 741729"/>
                  <a:gd name="connsiteX3" fmla="*/ 662996 w 698034"/>
                  <a:gd name="connsiteY3" fmla="*/ 681306 h 741729"/>
                  <a:gd name="connsiteX4" fmla="*/ 611394 w 698034"/>
                  <a:gd name="connsiteY4" fmla="*/ 573609 h 741729"/>
                  <a:gd name="connsiteX5" fmla="*/ 383266 w 698034"/>
                  <a:gd name="connsiteY5" fmla="*/ 618386 h 741729"/>
                  <a:gd name="connsiteX6" fmla="*/ 145233 w 698034"/>
                  <a:gd name="connsiteY6" fmla="*/ 432121 h 741729"/>
                  <a:gd name="connsiteX7" fmla="*/ 556297 w 698034"/>
                  <a:gd name="connsiteY7" fmla="*/ 432121 h 741729"/>
                  <a:gd name="connsiteX8" fmla="*/ 698035 w 698034"/>
                  <a:gd name="connsiteY8" fmla="*/ 432121 h 741729"/>
                  <a:gd name="connsiteX9" fmla="*/ 698035 w 698034"/>
                  <a:gd name="connsiteY9" fmla="*/ 369200 h 741729"/>
                  <a:gd name="connsiteX10" fmla="*/ 355135 w 698034"/>
                  <a:gd name="connsiteY10" fmla="*/ 0 h 741729"/>
                  <a:gd name="connsiteX11" fmla="*/ 146981 w 698034"/>
                  <a:gd name="connsiteY11" fmla="*/ 316684 h 741729"/>
                  <a:gd name="connsiteX12" fmla="*/ 360378 w 698034"/>
                  <a:gd name="connsiteY12" fmla="*/ 119017 h 741729"/>
                  <a:gd name="connsiteX13" fmla="*/ 554549 w 698034"/>
                  <a:gd name="connsiteY13" fmla="*/ 316684 h 741729"/>
                  <a:gd name="connsiteX14" fmla="*/ 146981 w 698034"/>
                  <a:gd name="connsiteY14" fmla="*/ 316684 h 74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034" h="741729">
                    <a:moveTo>
                      <a:pt x="355135" y="0"/>
                    </a:moveTo>
                    <a:cubicBezTo>
                      <a:pt x="152224" y="0"/>
                      <a:pt x="0" y="117185"/>
                      <a:pt x="0" y="377856"/>
                    </a:cubicBezTo>
                    <a:cubicBezTo>
                      <a:pt x="0" y="638443"/>
                      <a:pt x="191924" y="741730"/>
                      <a:pt x="387594" y="741730"/>
                    </a:cubicBezTo>
                    <a:cubicBezTo>
                      <a:pt x="568199" y="741730"/>
                      <a:pt x="662996" y="681306"/>
                      <a:pt x="662996" y="681306"/>
                    </a:cubicBezTo>
                    <a:lnTo>
                      <a:pt x="611394" y="573609"/>
                    </a:lnTo>
                    <a:cubicBezTo>
                      <a:pt x="611394" y="573609"/>
                      <a:pt x="541482" y="618386"/>
                      <a:pt x="383266" y="618386"/>
                    </a:cubicBezTo>
                    <a:cubicBezTo>
                      <a:pt x="276234" y="618386"/>
                      <a:pt x="160963" y="586010"/>
                      <a:pt x="145233" y="432121"/>
                    </a:cubicBezTo>
                    <a:lnTo>
                      <a:pt x="556297" y="432121"/>
                    </a:lnTo>
                    <a:lnTo>
                      <a:pt x="698035" y="432121"/>
                    </a:lnTo>
                    <a:lnTo>
                      <a:pt x="698035" y="369200"/>
                    </a:lnTo>
                    <a:cubicBezTo>
                      <a:pt x="698035" y="131251"/>
                      <a:pt x="587757" y="0"/>
                      <a:pt x="355135" y="0"/>
                    </a:cubicBezTo>
                    <a:close/>
                    <a:moveTo>
                      <a:pt x="146981" y="316684"/>
                    </a:moveTo>
                    <a:cubicBezTo>
                      <a:pt x="162711" y="164459"/>
                      <a:pt x="241445" y="119017"/>
                      <a:pt x="360378" y="119017"/>
                    </a:cubicBezTo>
                    <a:cubicBezTo>
                      <a:pt x="488050" y="119017"/>
                      <a:pt x="545810" y="180272"/>
                      <a:pt x="554549" y="316684"/>
                    </a:cubicBezTo>
                    <a:lnTo>
                      <a:pt x="146981" y="316684"/>
                    </a:lnTo>
                    <a:close/>
                  </a:path>
                </a:pathLst>
              </a:custGeom>
              <a:solidFill>
                <a:srgbClr val="3C3C3C"/>
              </a:solidFill>
              <a:ln w="8302" cap="flat">
                <a:noFill/>
                <a:prstDash val="solid"/>
                <a:miter/>
              </a:ln>
            </p:spPr>
            <p:txBody>
              <a:bodyPr rtlCol="0" anchor="ctr"/>
              <a:lstStyle/>
              <a:p>
                <a:endParaRPr lang="fr-FR" sz="2400"/>
              </a:p>
            </p:txBody>
          </p:sp>
          <p:sp>
            <p:nvSpPr>
              <p:cNvPr id="38" name="Forme libre : forme 37">
                <a:extLst>
                  <a:ext uri="{FF2B5EF4-FFF2-40B4-BE49-F238E27FC236}">
                    <a16:creationId xmlns:a16="http://schemas.microsoft.com/office/drawing/2014/main" id="{46479C13-EE3B-4BD6-82FD-2CF84A6EE778}"/>
                  </a:ext>
                </a:extLst>
              </p:cNvPr>
              <p:cNvSpPr/>
              <p:nvPr/>
            </p:nvSpPr>
            <p:spPr>
              <a:xfrm>
                <a:off x="4342812" y="4401770"/>
                <a:ext cx="586713" cy="736485"/>
              </a:xfrm>
              <a:custGeom>
                <a:avLst/>
                <a:gdLst>
                  <a:gd name="connsiteX0" fmla="*/ 363684 w 586713"/>
                  <a:gd name="connsiteY0" fmla="*/ 304532 h 736485"/>
                  <a:gd name="connsiteX1" fmla="*/ 363684 w 586713"/>
                  <a:gd name="connsiteY1" fmla="*/ 304365 h 736485"/>
                  <a:gd name="connsiteX2" fmla="*/ 237760 w 586713"/>
                  <a:gd name="connsiteY2" fmla="*/ 304365 h 736485"/>
                  <a:gd name="connsiteX3" fmla="*/ 133309 w 586713"/>
                  <a:gd name="connsiteY3" fmla="*/ 212565 h 736485"/>
                  <a:gd name="connsiteX4" fmla="*/ 284285 w 586713"/>
                  <a:gd name="connsiteY4" fmla="*/ 122512 h 736485"/>
                  <a:gd name="connsiteX5" fmla="*/ 503008 w 586713"/>
                  <a:gd name="connsiteY5" fmla="*/ 162128 h 736485"/>
                  <a:gd name="connsiteX6" fmla="*/ 551031 w 586713"/>
                  <a:gd name="connsiteY6" fmla="*/ 49188 h 736485"/>
                  <a:gd name="connsiteX7" fmla="*/ 298267 w 586713"/>
                  <a:gd name="connsiteY7" fmla="*/ 0 h 736485"/>
                  <a:gd name="connsiteX8" fmla="*/ 310 w 586713"/>
                  <a:gd name="connsiteY8" fmla="*/ 214313 h 736485"/>
                  <a:gd name="connsiteX9" fmla="*/ 223029 w 586713"/>
                  <a:gd name="connsiteY9" fmla="*/ 432037 h 736485"/>
                  <a:gd name="connsiteX10" fmla="*/ 223029 w 586713"/>
                  <a:gd name="connsiteY10" fmla="*/ 432204 h 736485"/>
                  <a:gd name="connsiteX11" fmla="*/ 348953 w 586713"/>
                  <a:gd name="connsiteY11" fmla="*/ 432204 h 736485"/>
                  <a:gd name="connsiteX12" fmla="*/ 453404 w 586713"/>
                  <a:gd name="connsiteY12" fmla="*/ 524005 h 736485"/>
                  <a:gd name="connsiteX13" fmla="*/ 302429 w 586713"/>
                  <a:gd name="connsiteY13" fmla="*/ 614057 h 736485"/>
                  <a:gd name="connsiteX14" fmla="*/ 59818 w 586713"/>
                  <a:gd name="connsiteY14" fmla="*/ 563704 h 736485"/>
                  <a:gd name="connsiteX15" fmla="*/ 12212 w 586713"/>
                  <a:gd name="connsiteY15" fmla="*/ 676062 h 736485"/>
                  <a:gd name="connsiteX16" fmla="*/ 288446 w 586713"/>
                  <a:gd name="connsiteY16" fmla="*/ 736486 h 736485"/>
                  <a:gd name="connsiteX17" fmla="*/ 586403 w 586713"/>
                  <a:gd name="connsiteY17" fmla="*/ 522173 h 736485"/>
                  <a:gd name="connsiteX18" fmla="*/ 363684 w 586713"/>
                  <a:gd name="connsiteY18" fmla="*/ 304532 h 736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6713" h="736485">
                    <a:moveTo>
                      <a:pt x="363684" y="304532"/>
                    </a:moveTo>
                    <a:lnTo>
                      <a:pt x="363684" y="304365"/>
                    </a:lnTo>
                    <a:lnTo>
                      <a:pt x="237760" y="304365"/>
                    </a:lnTo>
                    <a:cubicBezTo>
                      <a:pt x="167765" y="304365"/>
                      <a:pt x="130479" y="277400"/>
                      <a:pt x="133309" y="212565"/>
                    </a:cubicBezTo>
                    <a:cubicBezTo>
                      <a:pt x="136305" y="144151"/>
                      <a:pt x="210794" y="122512"/>
                      <a:pt x="284285" y="122512"/>
                    </a:cubicBezTo>
                    <a:cubicBezTo>
                      <a:pt x="388986" y="122512"/>
                      <a:pt x="466305" y="147397"/>
                      <a:pt x="503008" y="162128"/>
                    </a:cubicBezTo>
                    <a:lnTo>
                      <a:pt x="551031" y="49188"/>
                    </a:lnTo>
                    <a:cubicBezTo>
                      <a:pt x="510749" y="31710"/>
                      <a:pt x="420945" y="0"/>
                      <a:pt x="298267" y="0"/>
                    </a:cubicBezTo>
                    <a:cubicBezTo>
                      <a:pt x="175838" y="0"/>
                      <a:pt x="7468" y="48605"/>
                      <a:pt x="310" y="214313"/>
                    </a:cubicBezTo>
                    <a:cubicBezTo>
                      <a:pt x="-6681" y="375775"/>
                      <a:pt x="105594" y="429457"/>
                      <a:pt x="223029" y="432037"/>
                    </a:cubicBezTo>
                    <a:lnTo>
                      <a:pt x="223029" y="432204"/>
                    </a:lnTo>
                    <a:lnTo>
                      <a:pt x="348953" y="432204"/>
                    </a:lnTo>
                    <a:cubicBezTo>
                      <a:pt x="418948" y="432204"/>
                      <a:pt x="456234" y="459170"/>
                      <a:pt x="453404" y="524005"/>
                    </a:cubicBezTo>
                    <a:cubicBezTo>
                      <a:pt x="450408" y="592418"/>
                      <a:pt x="375919" y="614057"/>
                      <a:pt x="302429" y="614057"/>
                    </a:cubicBezTo>
                    <a:cubicBezTo>
                      <a:pt x="153700" y="614057"/>
                      <a:pt x="59818" y="563704"/>
                      <a:pt x="59818" y="563704"/>
                    </a:cubicBezTo>
                    <a:lnTo>
                      <a:pt x="12212" y="676062"/>
                    </a:lnTo>
                    <a:cubicBezTo>
                      <a:pt x="12212" y="676062"/>
                      <a:pt x="119160" y="736486"/>
                      <a:pt x="288446" y="736486"/>
                    </a:cubicBezTo>
                    <a:cubicBezTo>
                      <a:pt x="410875" y="736486"/>
                      <a:pt x="579245" y="687881"/>
                      <a:pt x="586403" y="522173"/>
                    </a:cubicBezTo>
                    <a:cubicBezTo>
                      <a:pt x="593394" y="360877"/>
                      <a:pt x="481119" y="307195"/>
                      <a:pt x="363684" y="304532"/>
                    </a:cubicBezTo>
                    <a:close/>
                  </a:path>
                </a:pathLst>
              </a:custGeom>
              <a:solidFill>
                <a:srgbClr val="3C3C3C"/>
              </a:solidFill>
              <a:ln w="8302" cap="flat">
                <a:noFill/>
                <a:prstDash val="solid"/>
                <a:miter/>
              </a:ln>
            </p:spPr>
            <p:txBody>
              <a:bodyPr rtlCol="0" anchor="ctr"/>
              <a:lstStyle/>
              <a:p>
                <a:endParaRPr lang="fr-FR" sz="2400"/>
              </a:p>
            </p:txBody>
          </p:sp>
          <p:sp>
            <p:nvSpPr>
              <p:cNvPr id="39" name="Forme libre : forme 38">
                <a:extLst>
                  <a:ext uri="{FF2B5EF4-FFF2-40B4-BE49-F238E27FC236}">
                    <a16:creationId xmlns:a16="http://schemas.microsoft.com/office/drawing/2014/main" id="{55C86DF5-F03A-4F69-B538-9C9E3D12D49A}"/>
                  </a:ext>
                </a:extLst>
              </p:cNvPr>
              <p:cNvSpPr/>
              <p:nvPr/>
            </p:nvSpPr>
            <p:spPr>
              <a:xfrm>
                <a:off x="2724335" y="4403352"/>
                <a:ext cx="669903" cy="732990"/>
              </a:xfrm>
              <a:custGeom>
                <a:avLst/>
                <a:gdLst>
                  <a:gd name="connsiteX0" fmla="*/ 333079 w 669903"/>
                  <a:gd name="connsiteY0" fmla="*/ 0 h 732990"/>
                  <a:gd name="connsiteX1" fmla="*/ 58509 w 669903"/>
                  <a:gd name="connsiteY1" fmla="*/ 45026 h 732990"/>
                  <a:gd name="connsiteX2" fmla="*/ 113856 w 669903"/>
                  <a:gd name="connsiteY2" fmla="*/ 157884 h 732990"/>
                  <a:gd name="connsiteX3" fmla="*/ 348976 w 669903"/>
                  <a:gd name="connsiteY3" fmla="*/ 122429 h 732990"/>
                  <a:gd name="connsiteX4" fmla="*/ 530080 w 669903"/>
                  <a:gd name="connsiteY4" fmla="*/ 253929 h 732990"/>
                  <a:gd name="connsiteX5" fmla="*/ 530080 w 669903"/>
                  <a:gd name="connsiteY5" fmla="*/ 297374 h 732990"/>
                  <a:gd name="connsiteX6" fmla="*/ 253596 w 669903"/>
                  <a:gd name="connsiteY6" fmla="*/ 297374 h 732990"/>
                  <a:gd name="connsiteX7" fmla="*/ 0 w 669903"/>
                  <a:gd name="connsiteY7" fmla="*/ 514267 h 732990"/>
                  <a:gd name="connsiteX8" fmla="*/ 273571 w 669903"/>
                  <a:gd name="connsiteY8" fmla="*/ 732990 h 732990"/>
                  <a:gd name="connsiteX9" fmla="*/ 529997 w 669903"/>
                  <a:gd name="connsiteY9" fmla="*/ 632284 h 732990"/>
                  <a:gd name="connsiteX10" fmla="*/ 529997 w 669903"/>
                  <a:gd name="connsiteY10" fmla="*/ 732990 h 732990"/>
                  <a:gd name="connsiteX11" fmla="*/ 669903 w 669903"/>
                  <a:gd name="connsiteY11" fmla="*/ 732990 h 732990"/>
                  <a:gd name="connsiteX12" fmla="*/ 669903 w 669903"/>
                  <a:gd name="connsiteY12" fmla="*/ 214313 h 732990"/>
                  <a:gd name="connsiteX13" fmla="*/ 333079 w 669903"/>
                  <a:gd name="connsiteY13" fmla="*/ 0 h 732990"/>
                  <a:gd name="connsiteX14" fmla="*/ 529997 w 669903"/>
                  <a:gd name="connsiteY14" fmla="*/ 446269 h 732990"/>
                  <a:gd name="connsiteX15" fmla="*/ 299288 w 669903"/>
                  <a:gd name="connsiteY15" fmla="*/ 617553 h 732990"/>
                  <a:gd name="connsiteX16" fmla="*/ 143319 w 669903"/>
                  <a:gd name="connsiteY16" fmla="*/ 512602 h 732990"/>
                  <a:gd name="connsiteX17" fmla="*/ 262335 w 669903"/>
                  <a:gd name="connsiteY17" fmla="*/ 407651 h 732990"/>
                  <a:gd name="connsiteX18" fmla="*/ 529997 w 669903"/>
                  <a:gd name="connsiteY18" fmla="*/ 407651 h 732990"/>
                  <a:gd name="connsiteX19" fmla="*/ 529997 w 669903"/>
                  <a:gd name="connsiteY19" fmla="*/ 446269 h 73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9903" h="732990">
                    <a:moveTo>
                      <a:pt x="333079" y="0"/>
                    </a:moveTo>
                    <a:cubicBezTo>
                      <a:pt x="204741" y="0"/>
                      <a:pt x="108197" y="27132"/>
                      <a:pt x="58509" y="45026"/>
                    </a:cubicBezTo>
                    <a:lnTo>
                      <a:pt x="113856" y="157884"/>
                    </a:lnTo>
                    <a:cubicBezTo>
                      <a:pt x="159132" y="143069"/>
                      <a:pt x="241278" y="122429"/>
                      <a:pt x="348976" y="122429"/>
                    </a:cubicBezTo>
                    <a:cubicBezTo>
                      <a:pt x="432037" y="122429"/>
                      <a:pt x="530080" y="145067"/>
                      <a:pt x="530080" y="253929"/>
                    </a:cubicBezTo>
                    <a:cubicBezTo>
                      <a:pt x="530080" y="253929"/>
                      <a:pt x="529914" y="293712"/>
                      <a:pt x="530080" y="297374"/>
                    </a:cubicBezTo>
                    <a:lnTo>
                      <a:pt x="253596" y="297374"/>
                    </a:lnTo>
                    <a:cubicBezTo>
                      <a:pt x="113690" y="297374"/>
                      <a:pt x="0" y="346396"/>
                      <a:pt x="0" y="514267"/>
                    </a:cubicBezTo>
                    <a:cubicBezTo>
                      <a:pt x="0" y="664411"/>
                      <a:pt x="122928" y="732990"/>
                      <a:pt x="273571" y="732990"/>
                    </a:cubicBezTo>
                    <a:cubicBezTo>
                      <a:pt x="451929" y="732990"/>
                      <a:pt x="529997" y="632284"/>
                      <a:pt x="529997" y="632284"/>
                    </a:cubicBezTo>
                    <a:lnTo>
                      <a:pt x="529997" y="732990"/>
                    </a:lnTo>
                    <a:lnTo>
                      <a:pt x="669903" y="732990"/>
                    </a:lnTo>
                    <a:lnTo>
                      <a:pt x="669903" y="214313"/>
                    </a:lnTo>
                    <a:cubicBezTo>
                      <a:pt x="661830" y="48605"/>
                      <a:pt x="471488" y="0"/>
                      <a:pt x="333079" y="0"/>
                    </a:cubicBezTo>
                    <a:close/>
                    <a:moveTo>
                      <a:pt x="529997" y="446269"/>
                    </a:moveTo>
                    <a:cubicBezTo>
                      <a:pt x="529997" y="554633"/>
                      <a:pt x="391672" y="617553"/>
                      <a:pt x="299288" y="617553"/>
                    </a:cubicBezTo>
                    <a:cubicBezTo>
                      <a:pt x="231125" y="617553"/>
                      <a:pt x="143319" y="594749"/>
                      <a:pt x="143319" y="512602"/>
                    </a:cubicBezTo>
                    <a:cubicBezTo>
                      <a:pt x="143319" y="430373"/>
                      <a:pt x="190592" y="407651"/>
                      <a:pt x="262335" y="407651"/>
                    </a:cubicBezTo>
                    <a:lnTo>
                      <a:pt x="529997" y="407651"/>
                    </a:lnTo>
                    <a:lnTo>
                      <a:pt x="529997" y="446269"/>
                    </a:lnTo>
                    <a:close/>
                  </a:path>
                </a:pathLst>
              </a:custGeom>
              <a:solidFill>
                <a:srgbClr val="3C3C3C"/>
              </a:solidFill>
              <a:ln w="8302" cap="flat">
                <a:noFill/>
                <a:prstDash val="solid"/>
                <a:miter/>
              </a:ln>
            </p:spPr>
            <p:txBody>
              <a:bodyPr rtlCol="0" anchor="ctr"/>
              <a:lstStyle/>
              <a:p>
                <a:endParaRPr lang="fr-FR" sz="2400"/>
              </a:p>
            </p:txBody>
          </p:sp>
        </p:grpSp>
        <p:grpSp>
          <p:nvGrpSpPr>
            <p:cNvPr id="29" name="Groupe 28">
              <a:extLst>
                <a:ext uri="{FF2B5EF4-FFF2-40B4-BE49-F238E27FC236}">
                  <a16:creationId xmlns:a16="http://schemas.microsoft.com/office/drawing/2014/main" id="{3D15C3A9-D5ED-46AD-B105-728671E40E8E}"/>
                </a:ext>
              </a:extLst>
            </p:cNvPr>
            <p:cNvGrpSpPr/>
            <p:nvPr userDrawn="1"/>
          </p:nvGrpSpPr>
          <p:grpSpPr>
            <a:xfrm>
              <a:off x="2752472" y="0"/>
              <a:ext cx="3638377" cy="3631244"/>
              <a:chOff x="2752472" y="0"/>
              <a:chExt cx="3638377" cy="3631244"/>
            </a:xfrm>
          </p:grpSpPr>
          <p:sp>
            <p:nvSpPr>
              <p:cNvPr id="30" name="Forme libre : forme 29">
                <a:extLst>
                  <a:ext uri="{FF2B5EF4-FFF2-40B4-BE49-F238E27FC236}">
                    <a16:creationId xmlns:a16="http://schemas.microsoft.com/office/drawing/2014/main" id="{20FC994F-7484-4476-883E-735BC71E1E41}"/>
                  </a:ext>
                </a:extLst>
              </p:cNvPr>
              <p:cNvSpPr/>
              <p:nvPr/>
            </p:nvSpPr>
            <p:spPr>
              <a:xfrm>
                <a:off x="3627443" y="0"/>
                <a:ext cx="1911500" cy="962868"/>
              </a:xfrm>
              <a:custGeom>
                <a:avLst/>
                <a:gdLst>
                  <a:gd name="connsiteX0" fmla="*/ 1911501 w 1911500"/>
                  <a:gd name="connsiteY0" fmla="*/ 277816 h 962868"/>
                  <a:gd name="connsiteX1" fmla="*/ 958955 w 1911500"/>
                  <a:gd name="connsiteY1" fmla="*/ 0 h 962868"/>
                  <a:gd name="connsiteX2" fmla="*/ 0 w 1911500"/>
                  <a:gd name="connsiteY2" fmla="*/ 264499 h 962868"/>
                  <a:gd name="connsiteX3" fmla="*/ 956791 w 1911500"/>
                  <a:gd name="connsiteY3" fmla="*/ 962867 h 962868"/>
                  <a:gd name="connsiteX4" fmla="*/ 1911501 w 1911500"/>
                  <a:gd name="connsiteY4" fmla="*/ 277816 h 962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500" h="962868">
                    <a:moveTo>
                      <a:pt x="1911501" y="277816"/>
                    </a:moveTo>
                    <a:cubicBezTo>
                      <a:pt x="1651163" y="110610"/>
                      <a:pt x="1308430" y="0"/>
                      <a:pt x="958955" y="0"/>
                    </a:cubicBezTo>
                    <a:cubicBezTo>
                      <a:pt x="634199" y="0"/>
                      <a:pt x="299621" y="79316"/>
                      <a:pt x="0" y="264499"/>
                    </a:cubicBezTo>
                    <a:cubicBezTo>
                      <a:pt x="0" y="264499"/>
                      <a:pt x="408317" y="961618"/>
                      <a:pt x="956791" y="962867"/>
                    </a:cubicBezTo>
                    <a:cubicBezTo>
                      <a:pt x="1505264" y="964115"/>
                      <a:pt x="1911501" y="277816"/>
                      <a:pt x="1911501" y="277816"/>
                    </a:cubicBezTo>
                    <a:close/>
                  </a:path>
                </a:pathLst>
              </a:custGeom>
              <a:solidFill>
                <a:srgbClr val="FFE800"/>
              </a:solidFill>
              <a:ln w="8302" cap="flat">
                <a:noFill/>
                <a:prstDash val="solid"/>
                <a:miter/>
              </a:ln>
            </p:spPr>
            <p:txBody>
              <a:bodyPr rtlCol="0" anchor="ctr"/>
              <a:lstStyle/>
              <a:p>
                <a:endParaRPr lang="fr-FR" sz="2400"/>
              </a:p>
            </p:txBody>
          </p:sp>
          <p:sp>
            <p:nvSpPr>
              <p:cNvPr id="31" name="Forme libre : forme 30">
                <a:extLst>
                  <a:ext uri="{FF2B5EF4-FFF2-40B4-BE49-F238E27FC236}">
                    <a16:creationId xmlns:a16="http://schemas.microsoft.com/office/drawing/2014/main" id="{3CA22ED6-1495-4E0E-B586-B3B64C1137CE}"/>
                  </a:ext>
                </a:extLst>
              </p:cNvPr>
              <p:cNvSpPr/>
              <p:nvPr/>
            </p:nvSpPr>
            <p:spPr>
              <a:xfrm>
                <a:off x="2752472" y="435699"/>
                <a:ext cx="1037602" cy="1816620"/>
              </a:xfrm>
              <a:custGeom>
                <a:avLst/>
                <a:gdLst>
                  <a:gd name="connsiteX0" fmla="*/ 638936 w 1037602"/>
                  <a:gd name="connsiteY0" fmla="*/ 0 h 1816620"/>
                  <a:gd name="connsiteX1" fmla="*/ 88964 w 1037602"/>
                  <a:gd name="connsiteY1" fmla="*/ 826040 h 1816620"/>
                  <a:gd name="connsiteX2" fmla="*/ 53675 w 1037602"/>
                  <a:gd name="connsiteY2" fmla="*/ 1816621 h 1816620"/>
                  <a:gd name="connsiteX3" fmla="*/ 1004058 w 1037602"/>
                  <a:gd name="connsiteY3" fmla="*/ 1125578 h 1816620"/>
                  <a:gd name="connsiteX4" fmla="*/ 638936 w 1037602"/>
                  <a:gd name="connsiteY4" fmla="*/ 0 h 1816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602" h="1816620">
                    <a:moveTo>
                      <a:pt x="638936" y="0"/>
                    </a:moveTo>
                    <a:cubicBezTo>
                      <a:pt x="389085" y="210151"/>
                      <a:pt x="197660" y="493876"/>
                      <a:pt x="88964" y="826040"/>
                    </a:cubicBezTo>
                    <a:cubicBezTo>
                      <a:pt x="-19732" y="1158203"/>
                      <a:pt x="-25558" y="1487787"/>
                      <a:pt x="53675" y="1816621"/>
                    </a:cubicBezTo>
                    <a:cubicBezTo>
                      <a:pt x="53675" y="1816621"/>
                      <a:pt x="833440" y="1646919"/>
                      <a:pt x="1004058" y="1125578"/>
                    </a:cubicBezTo>
                    <a:cubicBezTo>
                      <a:pt x="1174675" y="604236"/>
                      <a:pt x="638936" y="0"/>
                      <a:pt x="638936" y="0"/>
                    </a:cubicBezTo>
                    <a:close/>
                  </a:path>
                </a:pathLst>
              </a:custGeom>
              <a:solidFill>
                <a:srgbClr val="FF9940"/>
              </a:solidFill>
              <a:ln w="8302" cap="flat">
                <a:noFill/>
                <a:prstDash val="solid"/>
                <a:miter/>
              </a:ln>
            </p:spPr>
            <p:txBody>
              <a:bodyPr rtlCol="0" anchor="ctr"/>
              <a:lstStyle/>
              <a:p>
                <a:endParaRPr lang="fr-FR" sz="2400"/>
              </a:p>
            </p:txBody>
          </p:sp>
          <p:sp>
            <p:nvSpPr>
              <p:cNvPr id="32" name="Forme libre : forme 31">
                <a:extLst>
                  <a:ext uri="{FF2B5EF4-FFF2-40B4-BE49-F238E27FC236}">
                    <a16:creationId xmlns:a16="http://schemas.microsoft.com/office/drawing/2014/main" id="{1A912585-892A-484D-AC23-F343EFBF516D}"/>
                  </a:ext>
                </a:extLst>
              </p:cNvPr>
              <p:cNvSpPr/>
              <p:nvPr/>
            </p:nvSpPr>
            <p:spPr>
              <a:xfrm>
                <a:off x="2887295" y="2362027"/>
                <a:ext cx="1547103" cy="1269217"/>
              </a:xfrm>
              <a:custGeom>
                <a:avLst/>
                <a:gdLst>
                  <a:gd name="connsiteX0" fmla="*/ 0 w 1547103"/>
                  <a:gd name="connsiteY0" fmla="*/ 140976 h 1269217"/>
                  <a:gd name="connsiteX1" fmla="*/ 609064 w 1547103"/>
                  <a:gd name="connsiteY1" fmla="*/ 922489 h 1269217"/>
                  <a:gd name="connsiteX2" fmla="*/ 1541802 w 1547103"/>
                  <a:gd name="connsiteY2" fmla="*/ 1269217 h 1269217"/>
                  <a:gd name="connsiteX3" fmla="*/ 1176846 w 1547103"/>
                  <a:gd name="connsiteY3" fmla="*/ 144722 h 1269217"/>
                  <a:gd name="connsiteX4" fmla="*/ 0 w 1547103"/>
                  <a:gd name="connsiteY4" fmla="*/ 140976 h 1269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7103" h="1269217">
                    <a:moveTo>
                      <a:pt x="0" y="140976"/>
                    </a:moveTo>
                    <a:cubicBezTo>
                      <a:pt x="127755" y="449503"/>
                      <a:pt x="330998" y="715833"/>
                      <a:pt x="609064" y="922489"/>
                    </a:cubicBezTo>
                    <a:cubicBezTo>
                      <a:pt x="889543" y="1130976"/>
                      <a:pt x="1229030" y="1248660"/>
                      <a:pt x="1541802" y="1269217"/>
                    </a:cubicBezTo>
                    <a:cubicBezTo>
                      <a:pt x="1541802" y="1269217"/>
                      <a:pt x="1619870" y="468146"/>
                      <a:pt x="1176846" y="144722"/>
                    </a:cubicBezTo>
                    <a:cubicBezTo>
                      <a:pt x="733823" y="-178703"/>
                      <a:pt x="0" y="140976"/>
                      <a:pt x="0" y="140976"/>
                    </a:cubicBezTo>
                    <a:close/>
                  </a:path>
                </a:pathLst>
              </a:custGeom>
              <a:solidFill>
                <a:srgbClr val="E1000F"/>
              </a:solidFill>
              <a:ln w="8302" cap="flat">
                <a:noFill/>
                <a:prstDash val="solid"/>
                <a:miter/>
              </a:ln>
            </p:spPr>
            <p:txBody>
              <a:bodyPr rtlCol="0" anchor="ctr"/>
              <a:lstStyle/>
              <a:p>
                <a:endParaRPr lang="fr-FR" sz="2400"/>
              </a:p>
            </p:txBody>
          </p:sp>
          <p:sp>
            <p:nvSpPr>
              <p:cNvPr id="33" name="Forme libre : forme 32">
                <a:extLst>
                  <a:ext uri="{FF2B5EF4-FFF2-40B4-BE49-F238E27FC236}">
                    <a16:creationId xmlns:a16="http://schemas.microsoft.com/office/drawing/2014/main" id="{5B692C3C-082C-4FC6-B8F1-D9A13E759C3D}"/>
                  </a:ext>
                </a:extLst>
              </p:cNvPr>
              <p:cNvSpPr/>
              <p:nvPr/>
            </p:nvSpPr>
            <p:spPr>
              <a:xfrm>
                <a:off x="4718054" y="2358044"/>
                <a:ext cx="1543227" cy="1272450"/>
              </a:xfrm>
              <a:custGeom>
                <a:avLst/>
                <a:gdLst>
                  <a:gd name="connsiteX0" fmla="*/ 7086 w 1543227"/>
                  <a:gd name="connsiteY0" fmla="*/ 1272451 h 1272450"/>
                  <a:gd name="connsiteX1" fmla="*/ 933915 w 1543227"/>
                  <a:gd name="connsiteY1" fmla="*/ 921977 h 1272450"/>
                  <a:gd name="connsiteX2" fmla="*/ 1543228 w 1543227"/>
                  <a:gd name="connsiteY2" fmla="*/ 135637 h 1272450"/>
                  <a:gd name="connsiteX3" fmla="*/ 359973 w 1543227"/>
                  <a:gd name="connsiteY3" fmla="*/ 148787 h 1272450"/>
                  <a:gd name="connsiteX4" fmla="*/ 7086 w 1543227"/>
                  <a:gd name="connsiteY4" fmla="*/ 1272451 h 1272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227" h="1272450">
                    <a:moveTo>
                      <a:pt x="7086" y="1272451"/>
                    </a:moveTo>
                    <a:cubicBezTo>
                      <a:pt x="357560" y="1237412"/>
                      <a:pt x="650856" y="1126885"/>
                      <a:pt x="933915" y="921977"/>
                    </a:cubicBezTo>
                    <a:cubicBezTo>
                      <a:pt x="1207902" y="723644"/>
                      <a:pt x="1416388" y="443082"/>
                      <a:pt x="1543228" y="135637"/>
                    </a:cubicBezTo>
                    <a:cubicBezTo>
                      <a:pt x="1543228" y="135637"/>
                      <a:pt x="800417" y="-178133"/>
                      <a:pt x="359973" y="148787"/>
                    </a:cubicBezTo>
                    <a:cubicBezTo>
                      <a:pt x="-80470" y="475708"/>
                      <a:pt x="7086" y="1272451"/>
                      <a:pt x="7086" y="1272451"/>
                    </a:cubicBezTo>
                    <a:close/>
                  </a:path>
                </a:pathLst>
              </a:custGeom>
              <a:solidFill>
                <a:srgbClr val="5770BE"/>
              </a:solidFill>
              <a:ln w="8302" cap="flat">
                <a:noFill/>
                <a:prstDash val="solid"/>
                <a:miter/>
              </a:ln>
            </p:spPr>
            <p:txBody>
              <a:bodyPr rtlCol="0" anchor="ctr"/>
              <a:lstStyle/>
              <a:p>
                <a:endParaRPr lang="fr-FR" sz="2400"/>
              </a:p>
            </p:txBody>
          </p:sp>
          <p:sp>
            <p:nvSpPr>
              <p:cNvPr id="34" name="Forme libre : forme 33">
                <a:extLst>
                  <a:ext uri="{FF2B5EF4-FFF2-40B4-BE49-F238E27FC236}">
                    <a16:creationId xmlns:a16="http://schemas.microsoft.com/office/drawing/2014/main" id="{5022E2A3-8DCC-4C7F-8702-3E6FE1C3F29B}"/>
                  </a:ext>
                </a:extLst>
              </p:cNvPr>
              <p:cNvSpPr/>
              <p:nvPr/>
            </p:nvSpPr>
            <p:spPr>
              <a:xfrm>
                <a:off x="5355803" y="439111"/>
                <a:ext cx="1035046" cy="1817120"/>
              </a:xfrm>
              <a:custGeom>
                <a:avLst/>
                <a:gdLst>
                  <a:gd name="connsiteX0" fmla="*/ 982049 w 1035046"/>
                  <a:gd name="connsiteY0" fmla="*/ 1817120 h 1817120"/>
                  <a:gd name="connsiteX1" fmla="*/ 949090 w 1035046"/>
                  <a:gd name="connsiteY1" fmla="*/ 825207 h 1817120"/>
                  <a:gd name="connsiteX2" fmla="*/ 401615 w 1035046"/>
                  <a:gd name="connsiteY2" fmla="*/ 0 h 1817120"/>
                  <a:gd name="connsiteX3" fmla="*/ 32665 w 1035046"/>
                  <a:gd name="connsiteY3" fmla="*/ 1120667 h 1817120"/>
                  <a:gd name="connsiteX4" fmla="*/ 982049 w 1035046"/>
                  <a:gd name="connsiteY4" fmla="*/ 1817120 h 181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046" h="1817120">
                    <a:moveTo>
                      <a:pt x="982049" y="1817120"/>
                    </a:moveTo>
                    <a:cubicBezTo>
                      <a:pt x="1058369" y="1502268"/>
                      <a:pt x="1056371" y="1157787"/>
                      <a:pt x="949090" y="825207"/>
                    </a:cubicBezTo>
                    <a:cubicBezTo>
                      <a:pt x="841809" y="492627"/>
                      <a:pt x="649718" y="217642"/>
                      <a:pt x="401615" y="0"/>
                    </a:cubicBezTo>
                    <a:cubicBezTo>
                      <a:pt x="401615" y="0"/>
                      <a:pt x="-135706" y="598660"/>
                      <a:pt x="32665" y="1120667"/>
                    </a:cubicBezTo>
                    <a:cubicBezTo>
                      <a:pt x="200952" y="1642674"/>
                      <a:pt x="982049" y="1817120"/>
                      <a:pt x="982049" y="1817120"/>
                    </a:cubicBezTo>
                    <a:close/>
                  </a:path>
                </a:pathLst>
              </a:custGeom>
              <a:solidFill>
                <a:srgbClr val="00AC8C"/>
              </a:solidFill>
              <a:ln w="8302" cap="flat">
                <a:noFill/>
                <a:prstDash val="solid"/>
                <a:miter/>
              </a:ln>
            </p:spPr>
            <p:txBody>
              <a:bodyPr rtlCol="0" anchor="ctr"/>
              <a:lstStyle/>
              <a:p>
                <a:endParaRPr lang="fr-FR" sz="2400"/>
              </a:p>
            </p:txBody>
          </p:sp>
        </p:grpSp>
      </p:grpSp>
    </p:spTree>
    <p:extLst>
      <p:ext uri="{BB962C8B-B14F-4D97-AF65-F5344CB8AC3E}">
        <p14:creationId xmlns:p14="http://schemas.microsoft.com/office/powerpoint/2010/main" val="231614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theme" Target="../theme/theme3.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1C4412E-1A2B-44B3-9B57-31C1BB25AB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C78512F-7499-4A58-A6BA-57867A97E1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A97EAE5-2886-4DAC-A7B1-3CF099558F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DFF76-4B2F-44E8-8C77-D53050114780}" type="datetimeFigureOut">
              <a:rPr lang="fr-FR" smtClean="0"/>
              <a:t>19/08/2026</a:t>
            </a:fld>
            <a:endParaRPr lang="fr-FR"/>
          </a:p>
        </p:txBody>
      </p:sp>
      <p:sp>
        <p:nvSpPr>
          <p:cNvPr id="5" name="Espace réservé du pied de page 4">
            <a:extLst>
              <a:ext uri="{FF2B5EF4-FFF2-40B4-BE49-F238E27FC236}">
                <a16:creationId xmlns:a16="http://schemas.microsoft.com/office/drawing/2014/main" id="{F2532B03-63FA-449E-A45E-815238FC85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091CAF1-2727-428D-BA84-E1EC5012B8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AECE96-96DF-45E1-9E60-9CE54609EC4E}" type="slidenum">
              <a:rPr lang="fr-FR" smtClean="0"/>
              <a:t>‹N°›</a:t>
            </a:fld>
            <a:endParaRPr lang="fr-FR"/>
          </a:p>
        </p:txBody>
      </p:sp>
    </p:spTree>
    <p:extLst>
      <p:ext uri="{BB962C8B-B14F-4D97-AF65-F5344CB8AC3E}">
        <p14:creationId xmlns:p14="http://schemas.microsoft.com/office/powerpoint/2010/main" val="3252101740"/>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9" y="1200000"/>
            <a:ext cx="11232000" cy="960000"/>
          </a:xfrm>
          <a:prstGeom prst="rect">
            <a:avLst/>
          </a:prstGeom>
        </p:spPr>
        <p:txBody>
          <a:bodyPr vert="horz" lIns="0" tIns="0" rIns="0" bIns="0" rtlCol="0" anchor="t" anchorCtr="0">
            <a:noAutofit/>
          </a:bodyPr>
          <a:lstStyle/>
          <a:p>
            <a:r>
              <a:rPr lang="fr-FR" noProof="0" dirty="0"/>
              <a:t>1. Titre de partie</a:t>
            </a:r>
          </a:p>
        </p:txBody>
      </p:sp>
      <p:sp>
        <p:nvSpPr>
          <p:cNvPr id="3" name="Espace réservé du texte 2"/>
          <p:cNvSpPr>
            <a:spLocks noGrp="1"/>
          </p:cNvSpPr>
          <p:nvPr>
            <p:ph type="body" idx="1"/>
          </p:nvPr>
        </p:nvSpPr>
        <p:spPr bwMode="gray">
          <a:xfrm>
            <a:off x="479999" y="2448000"/>
            <a:ext cx="11232000" cy="3432000"/>
          </a:xfrm>
          <a:prstGeom prst="rect">
            <a:avLst/>
          </a:prstGeom>
        </p:spPr>
        <p:txBody>
          <a:bodyPr vert="horz" lIns="0" tIns="0" rIns="0" bIns="0" rtlCol="0" anchor="t" anchorCtr="0">
            <a:noAutofit/>
          </a:bodyPr>
          <a:lstStyle/>
          <a:p>
            <a:pPr lvl="0"/>
            <a:r>
              <a:rPr lang="fr-FR" noProof="0" dirty="0"/>
              <a:t>Texte de niveau 1</a:t>
            </a:r>
          </a:p>
          <a:p>
            <a:pPr lvl="1"/>
            <a:r>
              <a:rPr lang="fr-FR" noProof="0" dirty="0"/>
              <a:t>Texte de niveau 2</a:t>
            </a:r>
          </a:p>
          <a:p>
            <a:pPr lvl="2"/>
            <a:r>
              <a:rPr lang="fr-FR" noProof="0" dirty="0"/>
              <a:t>Texte de niveau 3</a:t>
            </a:r>
          </a:p>
          <a:p>
            <a:pPr lvl="3"/>
            <a:r>
              <a:rPr lang="fr-FR" noProof="0" dirty="0"/>
              <a:t>Texte de niveau 4</a:t>
            </a:r>
          </a:p>
          <a:p>
            <a:pPr lvl="4"/>
            <a:r>
              <a:rPr lang="fr-FR" noProof="0" dirty="0"/>
              <a:t>Texte de niveau 5</a:t>
            </a:r>
          </a:p>
        </p:txBody>
      </p:sp>
      <p:sp>
        <p:nvSpPr>
          <p:cNvPr id="49" name="Espace réservé du numéro de diapositive 7">
            <a:extLst>
              <a:ext uri="{FF2B5EF4-FFF2-40B4-BE49-F238E27FC236}">
                <a16:creationId xmlns:a16="http://schemas.microsoft.com/office/drawing/2014/main" id="{61BB31C8-B8DD-4E0E-A877-46E83C261020}"/>
              </a:ext>
            </a:extLst>
          </p:cNvPr>
          <p:cNvSpPr>
            <a:spLocks noGrp="1"/>
          </p:cNvSpPr>
          <p:nvPr>
            <p:ph type="sldNum" sz="quarter" idx="4"/>
          </p:nvPr>
        </p:nvSpPr>
        <p:spPr bwMode="gray">
          <a:xfrm>
            <a:off x="8452755" y="6212901"/>
            <a:ext cx="1800000" cy="246221"/>
          </a:xfrm>
          <a:prstGeom prst="rect">
            <a:avLst/>
          </a:prstGeom>
        </p:spPr>
        <p:txBody>
          <a:bodyPr anchor="t">
            <a:spAutoFit/>
          </a:bodyPr>
          <a:lstStyle>
            <a:lvl1pPr algn="r">
              <a:defRPr sz="1000" b="0">
                <a:solidFill>
                  <a:schemeClr val="tx1"/>
                </a:solidFill>
              </a:defRPr>
            </a:lvl1pPr>
          </a:lstStyle>
          <a:p>
            <a:fld id="{733122C9-A0B9-462F-8757-0847AD287B63}" type="slidenum">
              <a:rPr lang="fr-FR" smtClean="0"/>
              <a:pPr/>
              <a:t>‹N°›</a:t>
            </a:fld>
            <a:endParaRPr lang="fr-FR" dirty="0"/>
          </a:p>
        </p:txBody>
      </p:sp>
      <p:sp>
        <p:nvSpPr>
          <p:cNvPr id="52" name="Espace réservé du pied de page 4">
            <a:extLst>
              <a:ext uri="{FF2B5EF4-FFF2-40B4-BE49-F238E27FC236}">
                <a16:creationId xmlns:a16="http://schemas.microsoft.com/office/drawing/2014/main" id="{0D938FD0-499A-4C4D-8BFF-68F0058C35F5}"/>
              </a:ext>
            </a:extLst>
          </p:cNvPr>
          <p:cNvSpPr>
            <a:spLocks noGrp="1"/>
          </p:cNvSpPr>
          <p:nvPr>
            <p:ph type="ftr" sz="quarter" idx="3"/>
          </p:nvPr>
        </p:nvSpPr>
        <p:spPr>
          <a:xfrm>
            <a:off x="367241" y="6213309"/>
            <a:ext cx="4114800" cy="282163"/>
          </a:xfrm>
          <a:prstGeom prst="rect">
            <a:avLst/>
          </a:prstGeom>
        </p:spPr>
        <p:txBody>
          <a:bodyPr vert="horz" lIns="91440" tIns="45720" rIns="91440" bIns="45720" rtlCol="0" anchor="b"/>
          <a:lstStyle>
            <a:lvl1pPr algn="l">
              <a:defRPr sz="1027" b="1" cap="none" spc="-13" baseline="0">
                <a:solidFill>
                  <a:schemeClr val="tx1"/>
                </a:solidFill>
              </a:defRPr>
            </a:lvl1pPr>
          </a:lstStyle>
          <a:p>
            <a:r>
              <a:rPr lang="fr-FR"/>
              <a:t>Titre de la présentation sur une seule ligne</a:t>
            </a:r>
            <a:endParaRPr lang="fr-FR" dirty="0"/>
          </a:p>
        </p:txBody>
      </p:sp>
      <p:sp>
        <p:nvSpPr>
          <p:cNvPr id="22" name="Espace réservé de la date 1">
            <a:extLst>
              <a:ext uri="{FF2B5EF4-FFF2-40B4-BE49-F238E27FC236}">
                <a16:creationId xmlns:a16="http://schemas.microsoft.com/office/drawing/2014/main" id="{432F5AB4-B213-42ED-9F78-9A5A430019A5}"/>
              </a:ext>
            </a:extLst>
          </p:cNvPr>
          <p:cNvSpPr>
            <a:spLocks noGrp="1"/>
          </p:cNvSpPr>
          <p:nvPr>
            <p:ph type="dt" sz="half" idx="2"/>
          </p:nvPr>
        </p:nvSpPr>
        <p:spPr bwMode="gray">
          <a:xfrm>
            <a:off x="10266300" y="6212901"/>
            <a:ext cx="1560000" cy="282572"/>
          </a:xfrm>
          <a:prstGeom prst="rect">
            <a:avLst/>
          </a:prstGeom>
        </p:spPr>
        <p:txBody>
          <a:bodyPr anchor="t">
            <a:noAutofit/>
          </a:bodyPr>
          <a:lstStyle>
            <a:lvl1pPr>
              <a:defRPr sz="1000" b="1"/>
            </a:lvl1pPr>
          </a:lstStyle>
          <a:p>
            <a:pPr algn="r"/>
            <a:r>
              <a:rPr lang="fr-FR" cap="all"/>
              <a:t>XX/XX/2021</a:t>
            </a:r>
            <a:endParaRPr lang="fr-FR" cap="all" dirty="0"/>
          </a:p>
        </p:txBody>
      </p:sp>
    </p:spTree>
    <p:extLst>
      <p:ext uri="{BB962C8B-B14F-4D97-AF65-F5344CB8AC3E}">
        <p14:creationId xmlns:p14="http://schemas.microsoft.com/office/powerpoint/2010/main" val="1793138002"/>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Lst>
  <p:hf hdr="0"/>
  <p:txStyles>
    <p:titleStyle>
      <a:lvl1pPr algn="l" defTabSz="1219170" rtl="0" eaLnBrk="1" latinLnBrk="0" hangingPunct="1">
        <a:lnSpc>
          <a:spcPct val="90000"/>
        </a:lnSpc>
        <a:spcBef>
          <a:spcPct val="0"/>
        </a:spcBef>
        <a:buNone/>
        <a:defRPr sz="3400" b="1" kern="1200" baseline="0">
          <a:solidFill>
            <a:schemeClr val="tx1"/>
          </a:solidFill>
          <a:latin typeface="+mj-lt"/>
          <a:ea typeface="+mj-ea"/>
          <a:cs typeface="+mj-cs"/>
        </a:defRPr>
      </a:lvl1pPr>
    </p:titleStyle>
    <p:bodyStyle>
      <a:lvl1pPr marL="0" indent="0" algn="l" defTabSz="1219170" rtl="0" eaLnBrk="1" latinLnBrk="0" hangingPunct="1">
        <a:lnSpc>
          <a:spcPct val="100000"/>
        </a:lnSpc>
        <a:spcBef>
          <a:spcPts val="0"/>
        </a:spcBef>
        <a:spcAft>
          <a:spcPts val="667"/>
        </a:spcAft>
        <a:buFont typeface="Arial" pitchFamily="34" charset="0"/>
        <a:buNone/>
        <a:defRPr sz="1400" b="0" kern="1200">
          <a:solidFill>
            <a:schemeClr val="tx1"/>
          </a:solidFill>
          <a:latin typeface="+mn-lt"/>
          <a:ea typeface="+mn-ea"/>
          <a:cs typeface="+mn-cs"/>
        </a:defRPr>
      </a:lvl1pPr>
      <a:lvl2pPr marL="335992" indent="-95998" algn="l" defTabSz="1219170" rtl="0" eaLnBrk="1" latinLnBrk="0" hangingPunct="1">
        <a:lnSpc>
          <a:spcPct val="100000"/>
        </a:lnSpc>
        <a:spcBef>
          <a:spcPts val="800"/>
        </a:spcBef>
        <a:spcAft>
          <a:spcPts val="800"/>
        </a:spcAft>
        <a:buFont typeface="Arial" pitchFamily="34" charset="0"/>
        <a:buChar char="•"/>
        <a:defRPr sz="1267" kern="1200">
          <a:solidFill>
            <a:schemeClr val="tx1"/>
          </a:solidFill>
          <a:latin typeface="+mn-lt"/>
          <a:ea typeface="+mn-ea"/>
          <a:cs typeface="+mn-cs"/>
        </a:defRPr>
      </a:lvl2pPr>
      <a:lvl3pPr marL="575986" indent="-95998" algn="l" defTabSz="1219170" rtl="0" eaLnBrk="1" latinLnBrk="0" hangingPunct="1">
        <a:lnSpc>
          <a:spcPct val="100000"/>
        </a:lnSpc>
        <a:spcBef>
          <a:spcPts val="133"/>
        </a:spcBef>
        <a:spcAft>
          <a:spcPts val="133"/>
        </a:spcAft>
        <a:buSzPct val="100000"/>
        <a:buFont typeface="Arial" pitchFamily="34" charset="0"/>
        <a:buChar char="•"/>
        <a:defRPr sz="1133" kern="1200">
          <a:solidFill>
            <a:schemeClr val="tx1"/>
          </a:solidFill>
          <a:latin typeface="+mn-lt"/>
          <a:ea typeface="+mn-ea"/>
          <a:cs typeface="+mn-cs"/>
        </a:defRPr>
      </a:lvl3pPr>
      <a:lvl4pPr marL="815980" indent="-95998" algn="l" defTabSz="1219170" rtl="0" eaLnBrk="1" latinLnBrk="0" hangingPunct="1">
        <a:lnSpc>
          <a:spcPct val="100000"/>
        </a:lnSpc>
        <a:spcBef>
          <a:spcPts val="133"/>
        </a:spcBef>
        <a:spcAft>
          <a:spcPts val="133"/>
        </a:spcAft>
        <a:buSzPct val="100000"/>
        <a:buFont typeface="Arial" pitchFamily="34" charset="0"/>
        <a:buChar char="•"/>
        <a:defRPr sz="1000" kern="1200">
          <a:solidFill>
            <a:schemeClr val="tx1"/>
          </a:solidFill>
          <a:latin typeface="+mn-lt"/>
          <a:ea typeface="+mn-ea"/>
          <a:cs typeface="+mn-cs"/>
        </a:defRPr>
      </a:lvl4pPr>
      <a:lvl5pPr marL="1103972" indent="-95998" algn="l" defTabSz="1219170" rtl="0" eaLnBrk="1" latinLnBrk="0" hangingPunct="1">
        <a:lnSpc>
          <a:spcPct val="100000"/>
        </a:lnSpc>
        <a:spcBef>
          <a:spcPts val="133"/>
        </a:spcBef>
        <a:spcAft>
          <a:spcPts val="133"/>
        </a:spcAft>
        <a:buSzPct val="100000"/>
        <a:buFont typeface="Arial" pitchFamily="34" charset="0"/>
        <a:buChar char="•"/>
        <a:defRPr sz="9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9" y="1200000"/>
            <a:ext cx="11232000" cy="960000"/>
          </a:xfrm>
          <a:prstGeom prst="rect">
            <a:avLst/>
          </a:prstGeom>
        </p:spPr>
        <p:txBody>
          <a:bodyPr vert="horz" lIns="0" tIns="0" rIns="0" bIns="0" rtlCol="0" anchor="t" anchorCtr="0">
            <a:noAutofit/>
          </a:bodyPr>
          <a:lstStyle/>
          <a:p>
            <a:r>
              <a:rPr lang="fr-FR" noProof="0" dirty="0"/>
              <a:t>1. Titre de partie</a:t>
            </a:r>
          </a:p>
        </p:txBody>
      </p:sp>
      <p:sp>
        <p:nvSpPr>
          <p:cNvPr id="3" name="Espace réservé du texte 2"/>
          <p:cNvSpPr>
            <a:spLocks noGrp="1"/>
          </p:cNvSpPr>
          <p:nvPr>
            <p:ph type="body" idx="1"/>
          </p:nvPr>
        </p:nvSpPr>
        <p:spPr bwMode="gray">
          <a:xfrm>
            <a:off x="479999" y="2448000"/>
            <a:ext cx="11232000" cy="3432000"/>
          </a:xfrm>
          <a:prstGeom prst="rect">
            <a:avLst/>
          </a:prstGeom>
        </p:spPr>
        <p:txBody>
          <a:bodyPr vert="horz" lIns="0" tIns="0" rIns="0" bIns="0" rtlCol="0" anchor="t" anchorCtr="0">
            <a:noAutofit/>
          </a:bodyPr>
          <a:lstStyle/>
          <a:p>
            <a:pPr lvl="0"/>
            <a:r>
              <a:rPr lang="fr-FR" noProof="0" dirty="0"/>
              <a:t>Texte de niveau 1</a:t>
            </a:r>
          </a:p>
          <a:p>
            <a:pPr lvl="1"/>
            <a:r>
              <a:rPr lang="fr-FR" noProof="0" dirty="0"/>
              <a:t>Texte de niveau 2</a:t>
            </a:r>
          </a:p>
          <a:p>
            <a:pPr lvl="2"/>
            <a:r>
              <a:rPr lang="fr-FR" noProof="0" dirty="0"/>
              <a:t>Texte de niveau 3</a:t>
            </a:r>
          </a:p>
          <a:p>
            <a:pPr lvl="3"/>
            <a:r>
              <a:rPr lang="fr-FR" noProof="0" dirty="0"/>
              <a:t>Texte de niveau 4</a:t>
            </a:r>
          </a:p>
          <a:p>
            <a:pPr lvl="4"/>
            <a:r>
              <a:rPr lang="fr-FR" noProof="0" dirty="0"/>
              <a:t>Texte de niveau 5</a:t>
            </a:r>
          </a:p>
        </p:txBody>
      </p:sp>
      <p:sp>
        <p:nvSpPr>
          <p:cNvPr id="49" name="Espace réservé du numéro de diapositive 7">
            <a:extLst>
              <a:ext uri="{FF2B5EF4-FFF2-40B4-BE49-F238E27FC236}">
                <a16:creationId xmlns:a16="http://schemas.microsoft.com/office/drawing/2014/main" id="{61BB31C8-B8DD-4E0E-A877-46E83C261020}"/>
              </a:ext>
            </a:extLst>
          </p:cNvPr>
          <p:cNvSpPr>
            <a:spLocks noGrp="1"/>
          </p:cNvSpPr>
          <p:nvPr>
            <p:ph type="sldNum" sz="quarter" idx="4"/>
          </p:nvPr>
        </p:nvSpPr>
        <p:spPr bwMode="gray">
          <a:xfrm>
            <a:off x="8452755" y="6212901"/>
            <a:ext cx="1800000" cy="246221"/>
          </a:xfrm>
          <a:prstGeom prst="rect">
            <a:avLst/>
          </a:prstGeom>
        </p:spPr>
        <p:txBody>
          <a:bodyPr anchor="t">
            <a:spAutoFit/>
          </a:bodyPr>
          <a:lstStyle>
            <a:lvl1pPr algn="r">
              <a:defRPr sz="1000" b="0">
                <a:solidFill>
                  <a:schemeClr val="tx1"/>
                </a:solidFill>
              </a:defRPr>
            </a:lvl1pPr>
          </a:lstStyle>
          <a:p>
            <a:fld id="{733122C9-A0B9-462F-8757-0847AD287B63}" type="slidenum">
              <a:rPr lang="fr-FR" smtClean="0"/>
              <a:pPr/>
              <a:t>‹N°›</a:t>
            </a:fld>
            <a:endParaRPr lang="fr-FR" dirty="0"/>
          </a:p>
        </p:txBody>
      </p:sp>
      <p:sp>
        <p:nvSpPr>
          <p:cNvPr id="52" name="Espace réservé du pied de page 4">
            <a:extLst>
              <a:ext uri="{FF2B5EF4-FFF2-40B4-BE49-F238E27FC236}">
                <a16:creationId xmlns:a16="http://schemas.microsoft.com/office/drawing/2014/main" id="{0D938FD0-499A-4C4D-8BFF-68F0058C35F5}"/>
              </a:ext>
            </a:extLst>
          </p:cNvPr>
          <p:cNvSpPr>
            <a:spLocks noGrp="1"/>
          </p:cNvSpPr>
          <p:nvPr>
            <p:ph type="ftr" sz="quarter" idx="3"/>
          </p:nvPr>
        </p:nvSpPr>
        <p:spPr>
          <a:xfrm>
            <a:off x="367241" y="6213309"/>
            <a:ext cx="4114800" cy="282163"/>
          </a:xfrm>
          <a:prstGeom prst="rect">
            <a:avLst/>
          </a:prstGeom>
        </p:spPr>
        <p:txBody>
          <a:bodyPr vert="horz" lIns="91440" tIns="45720" rIns="91440" bIns="45720" rtlCol="0" anchor="b"/>
          <a:lstStyle>
            <a:lvl1pPr algn="l">
              <a:defRPr sz="1027" b="1" cap="none" spc="-13" baseline="0">
                <a:solidFill>
                  <a:schemeClr val="tx1"/>
                </a:solidFill>
              </a:defRPr>
            </a:lvl1pPr>
          </a:lstStyle>
          <a:p>
            <a:r>
              <a:rPr lang="en-US"/>
              <a:t>SVEPM 2026   -   UNVEILING TEMPORAL AND REGIONAL FACTORS OF ANTIBIOTIC RESISTANCE   -   BAREILLE</a:t>
            </a:r>
            <a:endParaRPr lang="fr-FR" dirty="0"/>
          </a:p>
        </p:txBody>
      </p:sp>
      <p:sp>
        <p:nvSpPr>
          <p:cNvPr id="22" name="Espace réservé de la date 1">
            <a:extLst>
              <a:ext uri="{FF2B5EF4-FFF2-40B4-BE49-F238E27FC236}">
                <a16:creationId xmlns:a16="http://schemas.microsoft.com/office/drawing/2014/main" id="{432F5AB4-B213-42ED-9F78-9A5A430019A5}"/>
              </a:ext>
            </a:extLst>
          </p:cNvPr>
          <p:cNvSpPr>
            <a:spLocks noGrp="1"/>
          </p:cNvSpPr>
          <p:nvPr>
            <p:ph type="dt" sz="half" idx="2"/>
          </p:nvPr>
        </p:nvSpPr>
        <p:spPr bwMode="gray">
          <a:xfrm>
            <a:off x="10266300" y="6212901"/>
            <a:ext cx="1560000" cy="282572"/>
          </a:xfrm>
          <a:prstGeom prst="rect">
            <a:avLst/>
          </a:prstGeom>
        </p:spPr>
        <p:txBody>
          <a:bodyPr anchor="t">
            <a:noAutofit/>
          </a:bodyPr>
          <a:lstStyle>
            <a:lvl1pPr>
              <a:defRPr sz="1000" b="1"/>
            </a:lvl1pPr>
          </a:lstStyle>
          <a:p>
            <a:pPr algn="r"/>
            <a:r>
              <a:rPr lang="fr-FR" cap="all"/>
              <a:t>XX/XX/2021</a:t>
            </a:r>
            <a:endParaRPr lang="fr-FR" cap="all" dirty="0"/>
          </a:p>
        </p:txBody>
      </p:sp>
    </p:spTree>
    <p:extLst>
      <p:ext uri="{BB962C8B-B14F-4D97-AF65-F5344CB8AC3E}">
        <p14:creationId xmlns:p14="http://schemas.microsoft.com/office/powerpoint/2010/main" val="843992636"/>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0" r:id="rId16"/>
    <p:sldLayoutId id="2147483811" r:id="rId17"/>
  </p:sldLayoutIdLst>
  <p:hf sldNum="0" hdr="0" ftr="0" dt="0"/>
  <p:txStyles>
    <p:titleStyle>
      <a:lvl1pPr algn="l" defTabSz="1219170" rtl="0" eaLnBrk="1" latinLnBrk="0" hangingPunct="1">
        <a:lnSpc>
          <a:spcPct val="90000"/>
        </a:lnSpc>
        <a:spcBef>
          <a:spcPct val="0"/>
        </a:spcBef>
        <a:buNone/>
        <a:defRPr sz="3400" b="1" kern="1200" baseline="0">
          <a:solidFill>
            <a:schemeClr val="tx1"/>
          </a:solidFill>
          <a:latin typeface="+mj-lt"/>
          <a:ea typeface="+mj-ea"/>
          <a:cs typeface="+mj-cs"/>
        </a:defRPr>
      </a:lvl1pPr>
    </p:titleStyle>
    <p:bodyStyle>
      <a:lvl1pPr marL="0" indent="0" algn="l" defTabSz="1219170" rtl="0" eaLnBrk="1" latinLnBrk="0" hangingPunct="1">
        <a:lnSpc>
          <a:spcPct val="100000"/>
        </a:lnSpc>
        <a:spcBef>
          <a:spcPts val="0"/>
        </a:spcBef>
        <a:spcAft>
          <a:spcPts val="667"/>
        </a:spcAft>
        <a:buFont typeface="Arial" pitchFamily="34" charset="0"/>
        <a:buNone/>
        <a:defRPr sz="1400" b="0" kern="1200">
          <a:solidFill>
            <a:schemeClr val="tx1"/>
          </a:solidFill>
          <a:latin typeface="+mn-lt"/>
          <a:ea typeface="+mn-ea"/>
          <a:cs typeface="+mn-cs"/>
        </a:defRPr>
      </a:lvl1pPr>
      <a:lvl2pPr marL="335992" indent="-95998" algn="l" defTabSz="1219170" rtl="0" eaLnBrk="1" latinLnBrk="0" hangingPunct="1">
        <a:lnSpc>
          <a:spcPct val="100000"/>
        </a:lnSpc>
        <a:spcBef>
          <a:spcPts val="800"/>
        </a:spcBef>
        <a:spcAft>
          <a:spcPts val="800"/>
        </a:spcAft>
        <a:buFont typeface="Arial" pitchFamily="34" charset="0"/>
        <a:buChar char="•"/>
        <a:defRPr sz="1267" kern="1200">
          <a:solidFill>
            <a:schemeClr val="tx1"/>
          </a:solidFill>
          <a:latin typeface="+mn-lt"/>
          <a:ea typeface="+mn-ea"/>
          <a:cs typeface="+mn-cs"/>
        </a:defRPr>
      </a:lvl2pPr>
      <a:lvl3pPr marL="575986" indent="-95998" algn="l" defTabSz="1219170" rtl="0" eaLnBrk="1" latinLnBrk="0" hangingPunct="1">
        <a:lnSpc>
          <a:spcPct val="100000"/>
        </a:lnSpc>
        <a:spcBef>
          <a:spcPts val="133"/>
        </a:spcBef>
        <a:spcAft>
          <a:spcPts val="133"/>
        </a:spcAft>
        <a:buSzPct val="100000"/>
        <a:buFont typeface="Arial" pitchFamily="34" charset="0"/>
        <a:buChar char="•"/>
        <a:defRPr sz="1133" kern="1200">
          <a:solidFill>
            <a:schemeClr val="tx1"/>
          </a:solidFill>
          <a:latin typeface="+mn-lt"/>
          <a:ea typeface="+mn-ea"/>
          <a:cs typeface="+mn-cs"/>
        </a:defRPr>
      </a:lvl3pPr>
      <a:lvl4pPr marL="815980" indent="-95998" algn="l" defTabSz="1219170" rtl="0" eaLnBrk="1" latinLnBrk="0" hangingPunct="1">
        <a:lnSpc>
          <a:spcPct val="100000"/>
        </a:lnSpc>
        <a:spcBef>
          <a:spcPts val="133"/>
        </a:spcBef>
        <a:spcAft>
          <a:spcPts val="133"/>
        </a:spcAft>
        <a:buSzPct val="100000"/>
        <a:buFont typeface="Arial" pitchFamily="34" charset="0"/>
        <a:buChar char="•"/>
        <a:defRPr sz="1000" kern="1200">
          <a:solidFill>
            <a:schemeClr val="tx1"/>
          </a:solidFill>
          <a:latin typeface="+mn-lt"/>
          <a:ea typeface="+mn-ea"/>
          <a:cs typeface="+mn-cs"/>
        </a:defRPr>
      </a:lvl4pPr>
      <a:lvl5pPr marL="1103972" indent="-95998" algn="l" defTabSz="1219170" rtl="0" eaLnBrk="1" latinLnBrk="0" hangingPunct="1">
        <a:lnSpc>
          <a:spcPct val="100000"/>
        </a:lnSpc>
        <a:spcBef>
          <a:spcPts val="133"/>
        </a:spcBef>
        <a:spcAft>
          <a:spcPts val="133"/>
        </a:spcAft>
        <a:buSzPct val="100000"/>
        <a:buFont typeface="Arial" pitchFamily="34" charset="0"/>
        <a:buChar char="•"/>
        <a:defRPr sz="9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4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1.xml"/><Relationship Id="rId5" Type="http://schemas.openxmlformats.org/officeDocument/2006/relationships/comments" Target="../comments/comment4.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comments" Target="../comments/comment5.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comments" Target="../comments/comment6.xml"/><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image" Target="../media/image25.png"/><Relationship Id="rId7" Type="http://schemas.openxmlformats.org/officeDocument/2006/relationships/image" Target="../media/image29.emf"/><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8.emf"/><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comments" Target="../comments/comment7.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comments" Target="../comments/comment8.xml"/><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41.xml"/><Relationship Id="rId5" Type="http://schemas.openxmlformats.org/officeDocument/2006/relationships/comments" Target="../comments/comment9.xml"/><Relationship Id="rId4" Type="http://schemas.openxmlformats.org/officeDocument/2006/relationships/image" Target="../media/image35.emf"/></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41.xml"/><Relationship Id="rId4" Type="http://schemas.openxmlformats.org/officeDocument/2006/relationships/comments" Target="../comments/comment10.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41.xml"/><Relationship Id="rId4" Type="http://schemas.openxmlformats.org/officeDocument/2006/relationships/comments" Target="../comments/commen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3" Type="http://schemas.openxmlformats.org/officeDocument/2006/relationships/comments" Target="../comments/comment12.xml"/><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2A1C119C-5B6C-4737-B20E-744EFDCDF095}"/>
              </a:ext>
            </a:extLst>
          </p:cNvPr>
          <p:cNvSpPr txBox="1"/>
          <p:nvPr/>
        </p:nvSpPr>
        <p:spPr>
          <a:xfrm>
            <a:off x="1634068" y="1790931"/>
            <a:ext cx="8602133" cy="2215991"/>
          </a:xfrm>
          <a:prstGeom prst="rect">
            <a:avLst/>
          </a:prstGeom>
          <a:noFill/>
        </p:spPr>
        <p:txBody>
          <a:bodyPr wrap="square" rtlCol="0">
            <a:spAutoFit/>
          </a:bodyPr>
          <a:lstStyle/>
          <a:p>
            <a:pPr algn="ctr"/>
            <a:r>
              <a:rPr lang="fr-FR" sz="4000" dirty="0" err="1">
                <a:latin typeface="Arial" panose="020B0604020202020204" pitchFamily="34" charset="0"/>
                <a:cs typeface="Arial" panose="020B0604020202020204" pitchFamily="34" charset="0"/>
              </a:rPr>
              <a:t>Mixing</a:t>
            </a:r>
            <a:r>
              <a:rPr lang="fr-FR" sz="4000" dirty="0">
                <a:latin typeface="Arial" panose="020B0604020202020204" pitchFamily="34" charset="0"/>
                <a:cs typeface="Arial" panose="020B0604020202020204" pitchFamily="34" charset="0"/>
              </a:rPr>
              <a:t> </a:t>
            </a:r>
            <a:r>
              <a:rPr lang="fr-FR" sz="4000" dirty="0" err="1">
                <a:latin typeface="Arial" panose="020B0604020202020204" pitchFamily="34" charset="0"/>
                <a:cs typeface="Arial" panose="020B0604020202020204" pitchFamily="34" charset="0"/>
              </a:rPr>
              <a:t>functional</a:t>
            </a:r>
            <a:r>
              <a:rPr lang="fr-FR" sz="4000" dirty="0">
                <a:latin typeface="Arial" panose="020B0604020202020204" pitchFamily="34" charset="0"/>
                <a:cs typeface="Arial" panose="020B0604020202020204" pitchFamily="34" charset="0"/>
              </a:rPr>
              <a:t> and </a:t>
            </a:r>
            <a:r>
              <a:rPr lang="fr-FR" sz="4000" dirty="0" err="1">
                <a:latin typeface="Arial" panose="020B0604020202020204" pitchFamily="34" charset="0"/>
                <a:cs typeface="Arial" panose="020B0604020202020204" pitchFamily="34" charset="0"/>
              </a:rPr>
              <a:t>multiblock</a:t>
            </a:r>
            <a:r>
              <a:rPr lang="fr-FR" sz="4000" dirty="0">
                <a:latin typeface="Arial" panose="020B0604020202020204" pitchFamily="34" charset="0"/>
                <a:cs typeface="Arial" panose="020B0604020202020204" pitchFamily="34" charset="0"/>
              </a:rPr>
              <a:t> </a:t>
            </a:r>
            <a:r>
              <a:rPr lang="fr-FR" sz="4000" dirty="0" err="1">
                <a:latin typeface="Arial" panose="020B0604020202020204" pitchFamily="34" charset="0"/>
                <a:cs typeface="Arial" panose="020B0604020202020204" pitchFamily="34" charset="0"/>
              </a:rPr>
              <a:t>approaches</a:t>
            </a:r>
            <a:r>
              <a:rPr lang="fr-FR" sz="4000" dirty="0">
                <a:latin typeface="Arial" panose="020B0604020202020204" pitchFamily="34" charset="0"/>
                <a:cs typeface="Arial" panose="020B0604020202020204" pitchFamily="34" charset="0"/>
              </a:rPr>
              <a:t> to explore One </a:t>
            </a:r>
            <a:r>
              <a:rPr lang="fr-FR" sz="4000" dirty="0" err="1">
                <a:latin typeface="Arial" panose="020B0604020202020204" pitchFamily="34" charset="0"/>
                <a:cs typeface="Arial" panose="020B0604020202020204" pitchFamily="34" charset="0"/>
              </a:rPr>
              <a:t>Health</a:t>
            </a:r>
            <a:r>
              <a:rPr lang="fr-FR" sz="4000" dirty="0">
                <a:latin typeface="Arial" panose="020B0604020202020204" pitchFamily="34" charset="0"/>
                <a:cs typeface="Arial" panose="020B0604020202020204" pitchFamily="34" charset="0"/>
              </a:rPr>
              <a:t> </a:t>
            </a:r>
            <a:r>
              <a:rPr lang="fr-FR" sz="4000" dirty="0" err="1">
                <a:latin typeface="Arial" panose="020B0604020202020204" pitchFamily="34" charset="0"/>
                <a:cs typeface="Arial" panose="020B0604020202020204" pitchFamily="34" charset="0"/>
              </a:rPr>
              <a:t>antimicrobial</a:t>
            </a:r>
            <a:r>
              <a:rPr lang="fr-FR" sz="4000" dirty="0">
                <a:latin typeface="Arial" panose="020B0604020202020204" pitchFamily="34" charset="0"/>
                <a:cs typeface="Arial" panose="020B0604020202020204" pitchFamily="34" charset="0"/>
              </a:rPr>
              <a:t> </a:t>
            </a:r>
            <a:r>
              <a:rPr lang="fr-FR" sz="4000" dirty="0" err="1">
                <a:latin typeface="Arial" panose="020B0604020202020204" pitchFamily="34" charset="0"/>
                <a:cs typeface="Arial" panose="020B0604020202020204" pitchFamily="34" charset="0"/>
              </a:rPr>
              <a:t>resistance</a:t>
            </a:r>
            <a:r>
              <a:rPr lang="fr-FR" sz="4000" dirty="0">
                <a:latin typeface="Arial" panose="020B0604020202020204" pitchFamily="34" charset="0"/>
                <a:cs typeface="Arial" panose="020B0604020202020204" pitchFamily="34" charset="0"/>
              </a:rPr>
              <a:t> in France</a:t>
            </a:r>
          </a:p>
          <a:p>
            <a:pPr algn="just"/>
            <a:endParaRPr lang="fr-FR" dirty="0"/>
          </a:p>
        </p:txBody>
      </p:sp>
      <p:sp>
        <p:nvSpPr>
          <p:cNvPr id="7" name="ZoneTexte 6">
            <a:extLst>
              <a:ext uri="{FF2B5EF4-FFF2-40B4-BE49-F238E27FC236}">
                <a16:creationId xmlns:a16="http://schemas.microsoft.com/office/drawing/2014/main" id="{532BB0E1-3BD7-4ACE-9B88-D88956580B57}"/>
              </a:ext>
            </a:extLst>
          </p:cNvPr>
          <p:cNvSpPr txBox="1"/>
          <p:nvPr/>
        </p:nvSpPr>
        <p:spPr>
          <a:xfrm>
            <a:off x="2099734" y="3860800"/>
            <a:ext cx="7670800" cy="2031325"/>
          </a:xfrm>
          <a:prstGeom prst="rect">
            <a:avLst/>
          </a:prstGeom>
          <a:noFill/>
        </p:spPr>
        <p:txBody>
          <a:bodyPr wrap="square" rtlCol="0">
            <a:spAutoFit/>
          </a:bodyPr>
          <a:lstStyle/>
          <a:p>
            <a:r>
              <a:rPr lang="fr-FR" b="1" dirty="0">
                <a:latin typeface="Arial" panose="020B0604020202020204" pitchFamily="34" charset="0"/>
                <a:cs typeface="Arial" panose="020B0604020202020204" pitchFamily="34" charset="0"/>
              </a:rPr>
              <a:t>Gaspard </a:t>
            </a:r>
            <a:r>
              <a:rPr lang="fr-FR" b="1" dirty="0" err="1">
                <a:latin typeface="Arial" panose="020B0604020202020204" pitchFamily="34" charset="0"/>
                <a:cs typeface="Arial" panose="020B0604020202020204" pitchFamily="34" charset="0"/>
              </a:rPr>
              <a:t>Martet</a:t>
            </a:r>
            <a:r>
              <a:rPr lang="fr-FR" b="1" dirty="0">
                <a:latin typeface="Arial" panose="020B0604020202020204" pitchFamily="34" charset="0"/>
                <a:cs typeface="Arial" panose="020B0604020202020204" pitchFamily="34" charset="0"/>
              </a:rPr>
              <a:t>, Stéphanie </a:t>
            </a:r>
            <a:r>
              <a:rPr lang="fr-FR" b="1" dirty="0" err="1">
                <a:latin typeface="Arial" panose="020B0604020202020204" pitchFamily="34" charset="0"/>
                <a:cs typeface="Arial" panose="020B0604020202020204" pitchFamily="34" charset="0"/>
              </a:rPr>
              <a:t>Bougeard</a:t>
            </a:r>
            <a:r>
              <a:rPr lang="fr-FR" b="1" dirty="0">
                <a:latin typeface="Arial" panose="020B0604020202020204" pitchFamily="34" charset="0"/>
                <a:cs typeface="Arial" panose="020B0604020202020204" pitchFamily="34" charset="0"/>
              </a:rPr>
              <a:t>, Claire Chauvin</a:t>
            </a:r>
            <a:br>
              <a:rPr lang="fr-FR" b="1" dirty="0">
                <a:latin typeface="Arial" panose="020B0604020202020204" pitchFamily="34" charset="0"/>
                <a:cs typeface="Arial" panose="020B0604020202020204" pitchFamily="34" charset="0"/>
              </a:rPr>
            </a:br>
            <a:endParaRPr lang="fr-FR" b="1" dirty="0">
              <a:latin typeface="Arial" panose="020B0604020202020204" pitchFamily="34" charset="0"/>
              <a:cs typeface="Arial" panose="020B0604020202020204" pitchFamily="34" charset="0"/>
            </a:endParaRPr>
          </a:p>
          <a:p>
            <a:r>
              <a:rPr lang="fr-FR" sz="1800" dirty="0">
                <a:effectLst/>
                <a:latin typeface="Arial" panose="020B0604020202020204" pitchFamily="34" charset="0"/>
                <a:ea typeface="Calibri" panose="020F0502020204030204" pitchFamily="34" charset="0"/>
                <a:cs typeface="Arial" panose="020B0604020202020204" pitchFamily="34" charset="0"/>
              </a:rPr>
              <a:t>Anses, Unité Epidémiologie, Santé et Bien-être (</a:t>
            </a:r>
            <a:r>
              <a:rPr lang="fr-FR" sz="1800" dirty="0" err="1">
                <a:effectLst/>
                <a:latin typeface="Arial" panose="020B0604020202020204" pitchFamily="34" charset="0"/>
                <a:ea typeface="Calibri" panose="020F0502020204030204" pitchFamily="34" charset="0"/>
                <a:cs typeface="Arial" panose="020B0604020202020204" pitchFamily="34" charset="0"/>
              </a:rPr>
              <a:t>EpiSaBE</a:t>
            </a:r>
            <a:r>
              <a:rPr lang="fr-FR" sz="1800" dirty="0">
                <a:effectLst/>
                <a:latin typeface="Arial" panose="020B0604020202020204" pitchFamily="34" charset="0"/>
                <a:ea typeface="Calibri" panose="020F0502020204030204" pitchFamily="34" charset="0"/>
                <a:cs typeface="Arial" panose="020B0604020202020204" pitchFamily="34" charset="0"/>
              </a:rPr>
              <a:t>), Laboratoire de Ploufragan-Plouzané-Niort, France</a:t>
            </a:r>
            <a:br>
              <a:rPr lang="fr-FR" sz="1800" dirty="0">
                <a:effectLst/>
                <a:latin typeface="Arial" panose="020B0604020202020204" pitchFamily="34" charset="0"/>
                <a:ea typeface="Calibri" panose="020F0502020204030204" pitchFamily="34" charset="0"/>
                <a:cs typeface="Arial" panose="020B0604020202020204" pitchFamily="34" charset="0"/>
              </a:rPr>
            </a:br>
            <a:endParaRPr lang="fr-FR" dirty="0">
              <a:latin typeface="Arial" panose="020B0604020202020204" pitchFamily="34" charset="0"/>
              <a:cs typeface="Arial" panose="020B0604020202020204" pitchFamily="34" charset="0"/>
            </a:endParaRPr>
          </a:p>
          <a:p>
            <a:r>
              <a:rPr lang="fr-FR" dirty="0">
                <a:latin typeface="Arial" panose="020B0604020202020204" pitchFamily="34" charset="0"/>
                <a:cs typeface="Arial" panose="020B0604020202020204" pitchFamily="34" charset="0"/>
              </a:rPr>
              <a:t>gaspard.martet@anses.fr</a:t>
            </a:r>
          </a:p>
          <a:p>
            <a:endParaRPr lang="fr-FR" dirty="0"/>
          </a:p>
        </p:txBody>
      </p:sp>
      <p:pic>
        <p:nvPicPr>
          <p:cNvPr id="13" name="Image 12">
            <a:extLst>
              <a:ext uri="{FF2B5EF4-FFF2-40B4-BE49-F238E27FC236}">
                <a16:creationId xmlns:a16="http://schemas.microsoft.com/office/drawing/2014/main" id="{D61AC89D-C8C0-4ADD-B73E-2921D68BF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65" y="101600"/>
            <a:ext cx="1789345" cy="1521832"/>
          </a:xfrm>
          <a:prstGeom prst="rect">
            <a:avLst/>
          </a:prstGeom>
        </p:spPr>
      </p:pic>
      <p:sp>
        <p:nvSpPr>
          <p:cNvPr id="14" name="ZoneTexte 13">
            <a:extLst>
              <a:ext uri="{FF2B5EF4-FFF2-40B4-BE49-F238E27FC236}">
                <a16:creationId xmlns:a16="http://schemas.microsoft.com/office/drawing/2014/main" id="{62CAD7D6-947E-4BF8-8290-C4896009D516}"/>
              </a:ext>
            </a:extLst>
          </p:cNvPr>
          <p:cNvSpPr txBox="1"/>
          <p:nvPr/>
        </p:nvSpPr>
        <p:spPr>
          <a:xfrm>
            <a:off x="10659534" y="6333067"/>
            <a:ext cx="1371599" cy="369332"/>
          </a:xfrm>
          <a:prstGeom prst="rect">
            <a:avLst/>
          </a:prstGeom>
          <a:noFill/>
        </p:spPr>
        <p:txBody>
          <a:bodyPr wrap="square" rtlCol="0">
            <a:spAutoFit/>
          </a:bodyPr>
          <a:lstStyle/>
          <a:p>
            <a:r>
              <a:rPr lang="fr-FR" dirty="0"/>
              <a:t>15/07/2026</a:t>
            </a:r>
          </a:p>
        </p:txBody>
      </p:sp>
      <p:pic>
        <p:nvPicPr>
          <p:cNvPr id="15" name="Image 14">
            <a:extLst>
              <a:ext uri="{FF2B5EF4-FFF2-40B4-BE49-F238E27FC236}">
                <a16:creationId xmlns:a16="http://schemas.microsoft.com/office/drawing/2014/main" id="{881335A3-0F69-475D-A751-D1EBE57C4793}"/>
              </a:ext>
            </a:extLst>
          </p:cNvPr>
          <p:cNvPicPr>
            <a:picLocks noChangeAspect="1"/>
          </p:cNvPicPr>
          <p:nvPr/>
        </p:nvPicPr>
        <p:blipFill>
          <a:blip r:embed="rId3"/>
          <a:stretch>
            <a:fillRect/>
          </a:stretch>
        </p:blipFill>
        <p:spPr>
          <a:xfrm>
            <a:off x="10480101" y="117020"/>
            <a:ext cx="1280099" cy="1420836"/>
          </a:xfrm>
          <a:prstGeom prst="rect">
            <a:avLst/>
          </a:prstGeom>
        </p:spPr>
      </p:pic>
      <p:pic>
        <p:nvPicPr>
          <p:cNvPr id="16" name="Image 15">
            <a:extLst>
              <a:ext uri="{FF2B5EF4-FFF2-40B4-BE49-F238E27FC236}">
                <a16:creationId xmlns:a16="http://schemas.microsoft.com/office/drawing/2014/main" id="{814F927E-F7DC-4C04-A21D-AAD063093002}"/>
              </a:ext>
            </a:extLst>
          </p:cNvPr>
          <p:cNvPicPr>
            <a:picLocks noChangeAspect="1"/>
          </p:cNvPicPr>
          <p:nvPr/>
        </p:nvPicPr>
        <p:blipFill>
          <a:blip r:embed="rId4"/>
          <a:stretch>
            <a:fillRect/>
          </a:stretch>
        </p:blipFill>
        <p:spPr>
          <a:xfrm>
            <a:off x="4952471" y="214214"/>
            <a:ext cx="1965325" cy="1296604"/>
          </a:xfrm>
          <a:prstGeom prst="rect">
            <a:avLst/>
          </a:prstGeom>
        </p:spPr>
      </p:pic>
      <p:pic>
        <p:nvPicPr>
          <p:cNvPr id="17" name="Image 16">
            <a:extLst>
              <a:ext uri="{FF2B5EF4-FFF2-40B4-BE49-F238E27FC236}">
                <a16:creationId xmlns:a16="http://schemas.microsoft.com/office/drawing/2014/main" id="{520AC29F-CDA8-4CD3-8E4F-4E2AB237175D}"/>
              </a:ext>
            </a:extLst>
          </p:cNvPr>
          <p:cNvPicPr>
            <a:picLocks noChangeAspect="1"/>
          </p:cNvPicPr>
          <p:nvPr/>
        </p:nvPicPr>
        <p:blipFill>
          <a:blip r:embed="rId5"/>
          <a:stretch>
            <a:fillRect/>
          </a:stretch>
        </p:blipFill>
        <p:spPr>
          <a:xfrm>
            <a:off x="110065" y="5327650"/>
            <a:ext cx="1428750" cy="1428750"/>
          </a:xfrm>
          <a:prstGeom prst="rect">
            <a:avLst/>
          </a:prstGeom>
        </p:spPr>
      </p:pic>
    </p:spTree>
    <p:extLst>
      <p:ext uri="{BB962C8B-B14F-4D97-AF65-F5344CB8AC3E}">
        <p14:creationId xmlns:p14="http://schemas.microsoft.com/office/powerpoint/2010/main" val="3302202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ED82FD38-7D6B-4DC8-9FB6-E36A2700EE57}"/>
              </a:ext>
            </a:extLst>
          </p:cNvPr>
          <p:cNvSpPr>
            <a:spLocks noGrp="1"/>
          </p:cNvSpPr>
          <p:nvPr>
            <p:ph type="title"/>
          </p:nvPr>
        </p:nvSpPr>
        <p:spPr>
          <a:xfrm>
            <a:off x="479999" y="984000"/>
            <a:ext cx="11232000" cy="5395200"/>
          </a:xfrm>
        </p:spPr>
        <p:txBody>
          <a:bodyPr/>
          <a:lstStyle/>
          <a:p>
            <a:r>
              <a:rPr lang="fr-FR" sz="5333" dirty="0"/>
              <a:t>Introduction</a:t>
            </a:r>
          </a:p>
        </p:txBody>
      </p:sp>
    </p:spTree>
    <p:extLst>
      <p:ext uri="{BB962C8B-B14F-4D97-AF65-F5344CB8AC3E}">
        <p14:creationId xmlns:p14="http://schemas.microsoft.com/office/powerpoint/2010/main" val="1057916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Rectangle 101">
            <a:extLst>
              <a:ext uri="{FF2B5EF4-FFF2-40B4-BE49-F238E27FC236}">
                <a16:creationId xmlns:a16="http://schemas.microsoft.com/office/drawing/2014/main" id="{646BEC0D-9EDA-46E5-9B61-03EC0B3EEB77}"/>
              </a:ext>
            </a:extLst>
          </p:cNvPr>
          <p:cNvSpPr/>
          <p:nvPr/>
        </p:nvSpPr>
        <p:spPr>
          <a:xfrm>
            <a:off x="8348133" y="875171"/>
            <a:ext cx="3014134" cy="2093553"/>
          </a:xfrm>
          <a:prstGeom prst="rect">
            <a:avLst/>
          </a:prstGeom>
          <a:solidFill>
            <a:srgbClr val="FFFA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1D8B1B96-4344-41EC-BB3F-025E941480CE}"/>
              </a:ext>
            </a:extLst>
          </p:cNvPr>
          <p:cNvSpPr txBox="1"/>
          <p:nvPr/>
        </p:nvSpPr>
        <p:spPr>
          <a:xfrm>
            <a:off x="97008" y="-4146"/>
            <a:ext cx="5672379" cy="523220"/>
          </a:xfrm>
          <a:prstGeom prst="rect">
            <a:avLst/>
          </a:prstGeom>
          <a:noFill/>
        </p:spPr>
        <p:txBody>
          <a:bodyPr wrap="square" rtlCol="0">
            <a:spAutoFit/>
          </a:bodyPr>
          <a:lstStyle/>
          <a:p>
            <a:r>
              <a:rPr lang="fr-FR" sz="2800" dirty="0" err="1"/>
              <a:t>Context</a:t>
            </a:r>
            <a:endParaRPr lang="fr-FR" dirty="0"/>
          </a:p>
        </p:txBody>
      </p:sp>
      <p:grpSp>
        <p:nvGrpSpPr>
          <p:cNvPr id="15" name="Groupe 14">
            <a:extLst>
              <a:ext uri="{FF2B5EF4-FFF2-40B4-BE49-F238E27FC236}">
                <a16:creationId xmlns:a16="http://schemas.microsoft.com/office/drawing/2014/main" id="{48FD304A-50C5-4B55-8CF4-401540D07A06}"/>
              </a:ext>
            </a:extLst>
          </p:cNvPr>
          <p:cNvGrpSpPr/>
          <p:nvPr/>
        </p:nvGrpSpPr>
        <p:grpSpPr>
          <a:xfrm>
            <a:off x="1" y="875171"/>
            <a:ext cx="7124772" cy="1863943"/>
            <a:chOff x="511443" y="1098625"/>
            <a:chExt cx="7124772" cy="1863943"/>
          </a:xfrm>
        </p:grpSpPr>
        <p:pic>
          <p:nvPicPr>
            <p:cNvPr id="7" name="Image 6">
              <a:extLst>
                <a:ext uri="{FF2B5EF4-FFF2-40B4-BE49-F238E27FC236}">
                  <a16:creationId xmlns:a16="http://schemas.microsoft.com/office/drawing/2014/main" id="{FBAA6594-8E17-49EB-A17C-4BC8A7333AF6}"/>
                </a:ext>
              </a:extLst>
            </p:cNvPr>
            <p:cNvPicPr>
              <a:picLocks noChangeAspect="1"/>
            </p:cNvPicPr>
            <p:nvPr/>
          </p:nvPicPr>
          <p:blipFill>
            <a:blip r:embed="rId3"/>
            <a:stretch>
              <a:fillRect/>
            </a:stretch>
          </p:blipFill>
          <p:spPr>
            <a:xfrm>
              <a:off x="511443" y="1098625"/>
              <a:ext cx="1740048" cy="1185553"/>
            </a:xfrm>
            <a:prstGeom prst="rect">
              <a:avLst/>
            </a:prstGeom>
          </p:spPr>
        </p:pic>
        <p:sp>
          <p:nvSpPr>
            <p:cNvPr id="8" name="ZoneTexte 7">
              <a:extLst>
                <a:ext uri="{FF2B5EF4-FFF2-40B4-BE49-F238E27FC236}">
                  <a16:creationId xmlns:a16="http://schemas.microsoft.com/office/drawing/2014/main" id="{036669E2-910F-45EE-A32C-A312E717DC5A}"/>
                </a:ext>
              </a:extLst>
            </p:cNvPr>
            <p:cNvSpPr txBox="1"/>
            <p:nvPr/>
          </p:nvSpPr>
          <p:spPr>
            <a:xfrm>
              <a:off x="664204" y="2408570"/>
              <a:ext cx="1822257" cy="553998"/>
            </a:xfrm>
            <a:prstGeom prst="rect">
              <a:avLst/>
            </a:prstGeom>
            <a:noFill/>
          </p:spPr>
          <p:txBody>
            <a:bodyPr wrap="square" rtlCol="0">
              <a:spAutoFit/>
            </a:bodyPr>
            <a:lstStyle/>
            <a:p>
              <a:r>
                <a:rPr lang="fr-FR" sz="1000" dirty="0"/>
                <a:t>AMR: </a:t>
              </a:r>
              <a:r>
                <a:rPr lang="fr-FR" sz="1000" dirty="0" err="1"/>
                <a:t>forecast</a:t>
              </a:r>
              <a:r>
                <a:rPr lang="fr-FR" sz="1000" dirty="0"/>
                <a:t> of 10 million </a:t>
              </a:r>
              <a:r>
                <a:rPr lang="fr-FR" sz="1000" dirty="0" err="1"/>
                <a:t>deaths</a:t>
              </a:r>
              <a:r>
                <a:rPr lang="fr-FR" sz="1000" dirty="0"/>
                <a:t>/</a:t>
              </a:r>
              <a:r>
                <a:rPr lang="fr-FR" sz="1000" dirty="0" err="1"/>
                <a:t>year</a:t>
              </a:r>
              <a:r>
                <a:rPr lang="fr-FR" sz="1000" dirty="0"/>
                <a:t> by 2050</a:t>
              </a:r>
            </a:p>
          </p:txBody>
        </p:sp>
        <p:sp>
          <p:nvSpPr>
            <p:cNvPr id="11" name="Flèche : droite 10">
              <a:extLst>
                <a:ext uri="{FF2B5EF4-FFF2-40B4-BE49-F238E27FC236}">
                  <a16:creationId xmlns:a16="http://schemas.microsoft.com/office/drawing/2014/main" id="{937D2211-734F-44FC-A58B-9D4E76DAD6B4}"/>
                </a:ext>
              </a:extLst>
            </p:cNvPr>
            <p:cNvSpPr/>
            <p:nvPr/>
          </p:nvSpPr>
          <p:spPr>
            <a:xfrm>
              <a:off x="2892839" y="1655267"/>
              <a:ext cx="2286000" cy="581186"/>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p>
          </p:txBody>
        </p:sp>
        <p:pic>
          <p:nvPicPr>
            <p:cNvPr id="12" name="Image 11">
              <a:extLst>
                <a:ext uri="{FF2B5EF4-FFF2-40B4-BE49-F238E27FC236}">
                  <a16:creationId xmlns:a16="http://schemas.microsoft.com/office/drawing/2014/main" id="{29DCC0B9-3A08-45BA-9481-BED0C7C9334C}"/>
                </a:ext>
              </a:extLst>
            </p:cNvPr>
            <p:cNvPicPr>
              <a:picLocks noChangeAspect="1"/>
            </p:cNvPicPr>
            <p:nvPr/>
          </p:nvPicPr>
          <p:blipFill>
            <a:blip r:embed="rId4"/>
            <a:stretch>
              <a:fillRect/>
            </a:stretch>
          </p:blipFill>
          <p:spPr>
            <a:xfrm>
              <a:off x="5354648" y="1168386"/>
              <a:ext cx="2111475" cy="1240184"/>
            </a:xfrm>
            <a:prstGeom prst="rect">
              <a:avLst/>
            </a:prstGeom>
          </p:spPr>
        </p:pic>
        <p:sp>
          <p:nvSpPr>
            <p:cNvPr id="13" name="ZoneTexte 12">
              <a:extLst>
                <a:ext uri="{FF2B5EF4-FFF2-40B4-BE49-F238E27FC236}">
                  <a16:creationId xmlns:a16="http://schemas.microsoft.com/office/drawing/2014/main" id="{73E5E830-5F11-4283-B30C-190B5316D90B}"/>
                </a:ext>
              </a:extLst>
            </p:cNvPr>
            <p:cNvSpPr txBox="1"/>
            <p:nvPr/>
          </p:nvSpPr>
          <p:spPr>
            <a:xfrm>
              <a:off x="5354648" y="2297047"/>
              <a:ext cx="2281567" cy="392415"/>
            </a:xfrm>
            <a:prstGeom prst="rect">
              <a:avLst/>
            </a:prstGeom>
            <a:noFill/>
          </p:spPr>
          <p:txBody>
            <a:bodyPr wrap="square" rtlCol="0">
              <a:spAutoFit/>
            </a:bodyPr>
            <a:lstStyle/>
            <a:p>
              <a:r>
                <a:rPr lang="fr-FR" sz="900" dirty="0" err="1"/>
                <a:t>Launched</a:t>
              </a:r>
              <a:r>
                <a:rPr lang="fr-FR" sz="1050" dirty="0"/>
                <a:t> </a:t>
              </a:r>
              <a:r>
                <a:rPr lang="fr-FR" sz="900" dirty="0"/>
                <a:t>in 2021: One-</a:t>
              </a:r>
              <a:r>
                <a:rPr lang="fr-FR" sz="900" dirty="0" err="1"/>
                <a:t>Health</a:t>
              </a:r>
              <a:r>
                <a:rPr lang="fr-FR" sz="900" dirty="0"/>
                <a:t> Meta Network </a:t>
              </a:r>
              <a:r>
                <a:rPr lang="fr-FR" sz="900" dirty="0" err="1"/>
                <a:t>with</a:t>
              </a:r>
              <a:r>
                <a:rPr lang="fr-FR" sz="900" dirty="0"/>
                <a:t> 42 </a:t>
              </a:r>
              <a:r>
                <a:rPr lang="fr-FR" sz="900" dirty="0" err="1"/>
                <a:t>academic</a:t>
              </a:r>
              <a:r>
                <a:rPr lang="fr-FR" sz="900" dirty="0"/>
                <a:t> </a:t>
              </a:r>
              <a:r>
                <a:rPr lang="fr-FR" sz="900" dirty="0" err="1"/>
                <a:t>partners</a:t>
              </a:r>
              <a:r>
                <a:rPr lang="fr-FR" sz="900" dirty="0"/>
                <a:t>  </a:t>
              </a:r>
              <a:endParaRPr lang="fr-FR" sz="1050" dirty="0"/>
            </a:p>
          </p:txBody>
        </p:sp>
      </p:grpSp>
      <p:grpSp>
        <p:nvGrpSpPr>
          <p:cNvPr id="68" name="Groupe 67">
            <a:extLst>
              <a:ext uri="{FF2B5EF4-FFF2-40B4-BE49-F238E27FC236}">
                <a16:creationId xmlns:a16="http://schemas.microsoft.com/office/drawing/2014/main" id="{CE0F0505-81F8-456B-AF3B-04DAA0FA3BF8}"/>
              </a:ext>
            </a:extLst>
          </p:cNvPr>
          <p:cNvGrpSpPr/>
          <p:nvPr/>
        </p:nvGrpSpPr>
        <p:grpSpPr>
          <a:xfrm>
            <a:off x="298471" y="2920999"/>
            <a:ext cx="6411562" cy="3576207"/>
            <a:chOff x="247671" y="3251199"/>
            <a:chExt cx="6411562" cy="3576207"/>
          </a:xfrm>
        </p:grpSpPr>
        <p:sp>
          <p:nvSpPr>
            <p:cNvPr id="45" name="Rectangle 44">
              <a:extLst>
                <a:ext uri="{FF2B5EF4-FFF2-40B4-BE49-F238E27FC236}">
                  <a16:creationId xmlns:a16="http://schemas.microsoft.com/office/drawing/2014/main" id="{3DA5FA63-C877-4026-B80F-12C402535415}"/>
                </a:ext>
              </a:extLst>
            </p:cNvPr>
            <p:cNvSpPr/>
            <p:nvPr/>
          </p:nvSpPr>
          <p:spPr>
            <a:xfrm>
              <a:off x="247671" y="3251200"/>
              <a:ext cx="1639752" cy="356125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6" name="Picture 2" descr="Les bactéries - Icônes animaux gratuites">
              <a:extLst>
                <a:ext uri="{FF2B5EF4-FFF2-40B4-BE49-F238E27FC236}">
                  <a16:creationId xmlns:a16="http://schemas.microsoft.com/office/drawing/2014/main" id="{27CFB3D4-881A-427A-B9F2-5A3BB40BF8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358" y="3422213"/>
              <a:ext cx="643467" cy="64346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Les bactéries - Icônes animaux gratuites">
              <a:extLst>
                <a:ext uri="{FF2B5EF4-FFF2-40B4-BE49-F238E27FC236}">
                  <a16:creationId xmlns:a16="http://schemas.microsoft.com/office/drawing/2014/main" id="{AEA8B618-E7F0-485B-8018-A5FE527E2B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357" y="4522794"/>
              <a:ext cx="643467" cy="64346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Les bactéries - Icônes animaux gratuites">
              <a:extLst>
                <a:ext uri="{FF2B5EF4-FFF2-40B4-BE49-F238E27FC236}">
                  <a16:creationId xmlns:a16="http://schemas.microsoft.com/office/drawing/2014/main" id="{ADD9F66B-31C1-4BCE-89C9-4869B83D68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543" y="5515951"/>
              <a:ext cx="643467" cy="643467"/>
            </a:xfrm>
            <a:prstGeom prst="rect">
              <a:avLst/>
            </a:prstGeom>
            <a:noFill/>
            <a:extLst>
              <a:ext uri="{909E8E84-426E-40DD-AFC4-6F175D3DCCD1}">
                <a14:hiddenFill xmlns:a14="http://schemas.microsoft.com/office/drawing/2010/main">
                  <a:solidFill>
                    <a:srgbClr val="FFFFFF"/>
                  </a:solidFill>
                </a14:hiddenFill>
              </a:ext>
            </a:extLst>
          </p:spPr>
        </p:pic>
        <p:sp>
          <p:nvSpPr>
            <p:cNvPr id="25" name="ZoneTexte 24">
              <a:extLst>
                <a:ext uri="{FF2B5EF4-FFF2-40B4-BE49-F238E27FC236}">
                  <a16:creationId xmlns:a16="http://schemas.microsoft.com/office/drawing/2014/main" id="{FDB6FC1B-9A35-4067-870A-E37AB86DDD24}"/>
                </a:ext>
              </a:extLst>
            </p:cNvPr>
            <p:cNvSpPr txBox="1"/>
            <p:nvPr/>
          </p:nvSpPr>
          <p:spPr>
            <a:xfrm>
              <a:off x="768543" y="4128448"/>
              <a:ext cx="829733" cy="276999"/>
            </a:xfrm>
            <a:prstGeom prst="rect">
              <a:avLst/>
            </a:prstGeom>
            <a:noFill/>
          </p:spPr>
          <p:txBody>
            <a:bodyPr wrap="square" rtlCol="0">
              <a:spAutoFit/>
            </a:bodyPr>
            <a:lstStyle/>
            <a:p>
              <a:r>
                <a:rPr lang="fr-FR" sz="1200" i="1" dirty="0" err="1"/>
                <a:t>E.coli</a:t>
              </a:r>
              <a:endParaRPr lang="fr-FR" i="1" dirty="0"/>
            </a:p>
          </p:txBody>
        </p:sp>
        <p:sp>
          <p:nvSpPr>
            <p:cNvPr id="33" name="ZoneTexte 32">
              <a:extLst>
                <a:ext uri="{FF2B5EF4-FFF2-40B4-BE49-F238E27FC236}">
                  <a16:creationId xmlns:a16="http://schemas.microsoft.com/office/drawing/2014/main" id="{376FBBE6-A8F7-4345-9B4E-12D8B6D0E4AB}"/>
                </a:ext>
              </a:extLst>
            </p:cNvPr>
            <p:cNvSpPr txBox="1"/>
            <p:nvPr/>
          </p:nvSpPr>
          <p:spPr>
            <a:xfrm>
              <a:off x="552641" y="5176184"/>
              <a:ext cx="1261536" cy="276999"/>
            </a:xfrm>
            <a:prstGeom prst="rect">
              <a:avLst/>
            </a:prstGeom>
            <a:noFill/>
          </p:spPr>
          <p:txBody>
            <a:bodyPr wrap="square" rtlCol="0">
              <a:spAutoFit/>
            </a:bodyPr>
            <a:lstStyle/>
            <a:p>
              <a:r>
                <a:rPr lang="fr-FR" sz="1200" i="1" dirty="0" err="1"/>
                <a:t>K.pneumoniae</a:t>
              </a:r>
              <a:endParaRPr lang="fr-FR" i="1" dirty="0"/>
            </a:p>
          </p:txBody>
        </p:sp>
        <p:sp>
          <p:nvSpPr>
            <p:cNvPr id="34" name="ZoneTexte 33">
              <a:extLst>
                <a:ext uri="{FF2B5EF4-FFF2-40B4-BE49-F238E27FC236}">
                  <a16:creationId xmlns:a16="http://schemas.microsoft.com/office/drawing/2014/main" id="{EF594476-8D59-4C24-A6D0-DC67EDB6AE05}"/>
                </a:ext>
              </a:extLst>
            </p:cNvPr>
            <p:cNvSpPr txBox="1"/>
            <p:nvPr/>
          </p:nvSpPr>
          <p:spPr>
            <a:xfrm>
              <a:off x="732357" y="6138265"/>
              <a:ext cx="1261536" cy="276999"/>
            </a:xfrm>
            <a:prstGeom prst="rect">
              <a:avLst/>
            </a:prstGeom>
            <a:noFill/>
          </p:spPr>
          <p:txBody>
            <a:bodyPr wrap="square" rtlCol="0">
              <a:spAutoFit/>
            </a:bodyPr>
            <a:lstStyle/>
            <a:p>
              <a:r>
                <a:rPr lang="fr-FR" sz="1200" i="1" dirty="0" err="1"/>
                <a:t>S.aureus</a:t>
              </a:r>
              <a:endParaRPr lang="fr-FR" i="1" dirty="0"/>
            </a:p>
          </p:txBody>
        </p:sp>
        <p:sp>
          <p:nvSpPr>
            <p:cNvPr id="35" name="ZoneTexte 34">
              <a:extLst>
                <a:ext uri="{FF2B5EF4-FFF2-40B4-BE49-F238E27FC236}">
                  <a16:creationId xmlns:a16="http://schemas.microsoft.com/office/drawing/2014/main" id="{BABAB35B-0589-487B-BF24-09460F2EF7B9}"/>
                </a:ext>
              </a:extLst>
            </p:cNvPr>
            <p:cNvSpPr txBox="1"/>
            <p:nvPr/>
          </p:nvSpPr>
          <p:spPr>
            <a:xfrm>
              <a:off x="781242" y="6415264"/>
              <a:ext cx="1261536" cy="369332"/>
            </a:xfrm>
            <a:prstGeom prst="rect">
              <a:avLst/>
            </a:prstGeom>
            <a:noFill/>
          </p:spPr>
          <p:txBody>
            <a:bodyPr wrap="square" rtlCol="0">
              <a:spAutoFit/>
            </a:bodyPr>
            <a:lstStyle/>
            <a:p>
              <a:r>
                <a:rPr lang="fr-FR" dirty="0"/>
                <a:t>Etc.</a:t>
              </a:r>
            </a:p>
          </p:txBody>
        </p:sp>
        <p:grpSp>
          <p:nvGrpSpPr>
            <p:cNvPr id="51" name="Groupe 50">
              <a:extLst>
                <a:ext uri="{FF2B5EF4-FFF2-40B4-BE49-F238E27FC236}">
                  <a16:creationId xmlns:a16="http://schemas.microsoft.com/office/drawing/2014/main" id="{33481214-D620-4439-BBEC-035087A49855}"/>
                </a:ext>
              </a:extLst>
            </p:cNvPr>
            <p:cNvGrpSpPr/>
            <p:nvPr/>
          </p:nvGrpSpPr>
          <p:grpSpPr>
            <a:xfrm>
              <a:off x="2418217" y="3251199"/>
              <a:ext cx="1925892" cy="3561257"/>
              <a:chOff x="2418217" y="3251199"/>
              <a:chExt cx="1925892" cy="3561257"/>
            </a:xfrm>
          </p:grpSpPr>
          <p:sp>
            <p:nvSpPr>
              <p:cNvPr id="47" name="Rectangle 46">
                <a:extLst>
                  <a:ext uri="{FF2B5EF4-FFF2-40B4-BE49-F238E27FC236}">
                    <a16:creationId xmlns:a16="http://schemas.microsoft.com/office/drawing/2014/main" id="{40538230-832F-4B64-9C6B-2DAA1BE36453}"/>
                  </a:ext>
                </a:extLst>
              </p:cNvPr>
              <p:cNvSpPr/>
              <p:nvPr/>
            </p:nvSpPr>
            <p:spPr>
              <a:xfrm>
                <a:off x="2418217" y="3251199"/>
                <a:ext cx="1901238" cy="356125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8" name="Picture 22" descr="Pilule - Icônes médical gratuites">
                <a:extLst>
                  <a:ext uri="{FF2B5EF4-FFF2-40B4-BE49-F238E27FC236}">
                    <a16:creationId xmlns:a16="http://schemas.microsoft.com/office/drawing/2014/main" id="{DB18191D-6033-406F-A1BB-AB4AA8CA9C0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6200000" flipH="1" flipV="1">
                <a:off x="3050790" y="3369085"/>
                <a:ext cx="532065" cy="532065"/>
              </a:xfrm>
              <a:prstGeom prst="rect">
                <a:avLst/>
              </a:prstGeom>
              <a:noFill/>
              <a:extLst>
                <a:ext uri="{909E8E84-426E-40DD-AFC4-6F175D3DCCD1}">
                  <a14:hiddenFill xmlns:a14="http://schemas.microsoft.com/office/drawing/2010/main">
                    <a:solidFill>
                      <a:srgbClr val="FFFFFF"/>
                    </a:solidFill>
                  </a14:hiddenFill>
                </a:ext>
              </a:extLst>
            </p:spPr>
          </p:pic>
          <p:sp>
            <p:nvSpPr>
              <p:cNvPr id="39" name="ZoneTexte 38">
                <a:extLst>
                  <a:ext uri="{FF2B5EF4-FFF2-40B4-BE49-F238E27FC236}">
                    <a16:creationId xmlns:a16="http://schemas.microsoft.com/office/drawing/2014/main" id="{9F5E00E1-7BE8-43B6-B7C9-45DA640D1FBF}"/>
                  </a:ext>
                </a:extLst>
              </p:cNvPr>
              <p:cNvSpPr txBox="1"/>
              <p:nvPr/>
            </p:nvSpPr>
            <p:spPr>
              <a:xfrm>
                <a:off x="2704357" y="4038694"/>
                <a:ext cx="1430472" cy="415498"/>
              </a:xfrm>
              <a:prstGeom prst="rect">
                <a:avLst/>
              </a:prstGeom>
              <a:noFill/>
            </p:spPr>
            <p:txBody>
              <a:bodyPr wrap="square" rtlCol="0">
                <a:spAutoFit/>
              </a:bodyPr>
              <a:lstStyle/>
              <a:p>
                <a:r>
                  <a:rPr lang="fr-FR" sz="1050" dirty="0"/>
                  <a:t>Fluoroquinolone (FQ)</a:t>
                </a:r>
                <a:endParaRPr lang="fr-FR" sz="1400" dirty="0"/>
              </a:p>
            </p:txBody>
          </p:sp>
          <p:pic>
            <p:nvPicPr>
              <p:cNvPr id="40" name="Picture 22" descr="Pilule - Icônes médical gratuites">
                <a:extLst>
                  <a:ext uri="{FF2B5EF4-FFF2-40B4-BE49-F238E27FC236}">
                    <a16:creationId xmlns:a16="http://schemas.microsoft.com/office/drawing/2014/main" id="{9783098C-D82E-4085-86D9-6FD4FD80131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6200000" flipH="1" flipV="1">
                <a:off x="3092881" y="4578494"/>
                <a:ext cx="532065" cy="532065"/>
              </a:xfrm>
              <a:prstGeom prst="rect">
                <a:avLst/>
              </a:prstGeom>
              <a:noFill/>
              <a:extLst>
                <a:ext uri="{909E8E84-426E-40DD-AFC4-6F175D3DCCD1}">
                  <a14:hiddenFill xmlns:a14="http://schemas.microsoft.com/office/drawing/2010/main">
                    <a:solidFill>
                      <a:srgbClr val="FFFFFF"/>
                    </a:solidFill>
                  </a14:hiddenFill>
                </a:ext>
              </a:extLst>
            </p:spPr>
          </p:pic>
          <p:sp>
            <p:nvSpPr>
              <p:cNvPr id="41" name="ZoneTexte 40">
                <a:extLst>
                  <a:ext uri="{FF2B5EF4-FFF2-40B4-BE49-F238E27FC236}">
                    <a16:creationId xmlns:a16="http://schemas.microsoft.com/office/drawing/2014/main" id="{3458169B-099F-4F25-AABB-470DAD65676A}"/>
                  </a:ext>
                </a:extLst>
              </p:cNvPr>
              <p:cNvSpPr txBox="1"/>
              <p:nvPr/>
            </p:nvSpPr>
            <p:spPr>
              <a:xfrm>
                <a:off x="2704357" y="5217826"/>
                <a:ext cx="1639752" cy="415498"/>
              </a:xfrm>
              <a:prstGeom prst="rect">
                <a:avLst/>
              </a:prstGeom>
              <a:noFill/>
            </p:spPr>
            <p:txBody>
              <a:bodyPr wrap="square" rtlCol="0">
                <a:spAutoFit/>
              </a:bodyPr>
              <a:lstStyle/>
              <a:p>
                <a:r>
                  <a:rPr lang="fr-FR" sz="1050" dirty="0" err="1"/>
                  <a:t>Third-generation</a:t>
                </a:r>
                <a:r>
                  <a:rPr lang="fr-FR" sz="1050" dirty="0"/>
                  <a:t> </a:t>
                </a:r>
                <a:r>
                  <a:rPr lang="fr-FR" sz="1050" dirty="0" err="1"/>
                  <a:t>cephalosporins</a:t>
                </a:r>
                <a:r>
                  <a:rPr lang="fr-FR" sz="1050" dirty="0"/>
                  <a:t> (C3G)</a:t>
                </a:r>
                <a:endParaRPr lang="fr-FR" sz="1400" dirty="0"/>
              </a:p>
            </p:txBody>
          </p:sp>
          <p:sp>
            <p:nvSpPr>
              <p:cNvPr id="42" name="ZoneTexte 41">
                <a:extLst>
                  <a:ext uri="{FF2B5EF4-FFF2-40B4-BE49-F238E27FC236}">
                    <a16:creationId xmlns:a16="http://schemas.microsoft.com/office/drawing/2014/main" id="{8E650858-A3AB-4C14-959C-15562A1AE0A4}"/>
                  </a:ext>
                </a:extLst>
              </p:cNvPr>
              <p:cNvSpPr txBox="1"/>
              <p:nvPr/>
            </p:nvSpPr>
            <p:spPr>
              <a:xfrm>
                <a:off x="3041383" y="6011606"/>
                <a:ext cx="1261536" cy="369332"/>
              </a:xfrm>
              <a:prstGeom prst="rect">
                <a:avLst/>
              </a:prstGeom>
              <a:noFill/>
            </p:spPr>
            <p:txBody>
              <a:bodyPr wrap="square" rtlCol="0">
                <a:spAutoFit/>
              </a:bodyPr>
              <a:lstStyle/>
              <a:p>
                <a:r>
                  <a:rPr lang="fr-FR" dirty="0"/>
                  <a:t>Etc.</a:t>
                </a:r>
              </a:p>
            </p:txBody>
          </p:sp>
        </p:grpSp>
        <p:cxnSp>
          <p:nvCxnSpPr>
            <p:cNvPr id="48" name="Connecteur droit avec flèche 47">
              <a:extLst>
                <a:ext uri="{FF2B5EF4-FFF2-40B4-BE49-F238E27FC236}">
                  <a16:creationId xmlns:a16="http://schemas.microsoft.com/office/drawing/2014/main" id="{76C35B5E-3566-4C0D-ACB5-7EF6FB7EF4DA}"/>
                </a:ext>
              </a:extLst>
            </p:cNvPr>
            <p:cNvCxnSpPr>
              <a:stCxn id="47" idx="1"/>
            </p:cNvCxnSpPr>
            <p:nvPr/>
          </p:nvCxnSpPr>
          <p:spPr>
            <a:xfrm flipH="1" flipV="1">
              <a:off x="1887423" y="5020733"/>
              <a:ext cx="530794" cy="11095"/>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49" name="ZoneTexte 48">
              <a:extLst>
                <a:ext uri="{FF2B5EF4-FFF2-40B4-BE49-F238E27FC236}">
                  <a16:creationId xmlns:a16="http://schemas.microsoft.com/office/drawing/2014/main" id="{AEF088FE-1D84-419D-B273-FF6D727406CA}"/>
                </a:ext>
              </a:extLst>
            </p:cNvPr>
            <p:cNvSpPr txBox="1"/>
            <p:nvPr/>
          </p:nvSpPr>
          <p:spPr>
            <a:xfrm>
              <a:off x="1924219" y="5130085"/>
              <a:ext cx="530794" cy="246221"/>
            </a:xfrm>
            <a:prstGeom prst="rect">
              <a:avLst/>
            </a:prstGeom>
            <a:noFill/>
          </p:spPr>
          <p:txBody>
            <a:bodyPr wrap="square" rtlCol="0">
              <a:spAutoFit/>
            </a:bodyPr>
            <a:lstStyle/>
            <a:p>
              <a:r>
                <a:rPr lang="fr-FR" sz="1000" dirty="0">
                  <a:solidFill>
                    <a:srgbClr val="FF0000"/>
                  </a:solidFill>
                </a:rPr>
                <a:t>AMR</a:t>
              </a:r>
              <a:endParaRPr lang="fr-FR" dirty="0">
                <a:solidFill>
                  <a:srgbClr val="FF0000"/>
                </a:solidFill>
              </a:endParaRPr>
            </a:p>
          </p:txBody>
        </p:sp>
        <p:grpSp>
          <p:nvGrpSpPr>
            <p:cNvPr id="53" name="Groupe 52">
              <a:extLst>
                <a:ext uri="{FF2B5EF4-FFF2-40B4-BE49-F238E27FC236}">
                  <a16:creationId xmlns:a16="http://schemas.microsoft.com/office/drawing/2014/main" id="{26480A96-4103-4302-A3BD-42212C7D8F7B}"/>
                </a:ext>
              </a:extLst>
            </p:cNvPr>
            <p:cNvGrpSpPr/>
            <p:nvPr/>
          </p:nvGrpSpPr>
          <p:grpSpPr>
            <a:xfrm>
              <a:off x="4757995" y="3266149"/>
              <a:ext cx="1901238" cy="3561257"/>
              <a:chOff x="2418217" y="3251199"/>
              <a:chExt cx="1901238" cy="3561257"/>
            </a:xfrm>
          </p:grpSpPr>
          <p:sp>
            <p:nvSpPr>
              <p:cNvPr id="54" name="Rectangle 53">
                <a:extLst>
                  <a:ext uri="{FF2B5EF4-FFF2-40B4-BE49-F238E27FC236}">
                    <a16:creationId xmlns:a16="http://schemas.microsoft.com/office/drawing/2014/main" id="{BD42C126-C034-4908-A596-266D9221C9B6}"/>
                  </a:ext>
                </a:extLst>
              </p:cNvPr>
              <p:cNvSpPr/>
              <p:nvPr/>
            </p:nvSpPr>
            <p:spPr>
              <a:xfrm>
                <a:off x="2418217" y="3251199"/>
                <a:ext cx="1901238" cy="356125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ZoneTexte 55">
                <a:extLst>
                  <a:ext uri="{FF2B5EF4-FFF2-40B4-BE49-F238E27FC236}">
                    <a16:creationId xmlns:a16="http://schemas.microsoft.com/office/drawing/2014/main" id="{A6D8431C-BEA2-4B01-85E8-443F79969C86}"/>
                  </a:ext>
                </a:extLst>
              </p:cNvPr>
              <p:cNvSpPr txBox="1"/>
              <p:nvPr/>
            </p:nvSpPr>
            <p:spPr>
              <a:xfrm>
                <a:off x="2616809" y="4038694"/>
                <a:ext cx="1598562" cy="261610"/>
              </a:xfrm>
              <a:prstGeom prst="rect">
                <a:avLst/>
              </a:prstGeom>
              <a:noFill/>
            </p:spPr>
            <p:txBody>
              <a:bodyPr wrap="square" rtlCol="0">
                <a:spAutoFit/>
              </a:bodyPr>
              <a:lstStyle/>
              <a:p>
                <a:r>
                  <a:rPr lang="fr-FR" sz="1100" dirty="0" err="1"/>
                  <a:t>Primary</a:t>
                </a:r>
                <a:r>
                  <a:rPr lang="fr-FR" sz="1100" dirty="0"/>
                  <a:t> Care setting</a:t>
                </a:r>
                <a:endParaRPr lang="fr-FR" sz="1050" dirty="0"/>
              </a:p>
            </p:txBody>
          </p:sp>
          <p:sp>
            <p:nvSpPr>
              <p:cNvPr id="58" name="ZoneTexte 57">
                <a:extLst>
                  <a:ext uri="{FF2B5EF4-FFF2-40B4-BE49-F238E27FC236}">
                    <a16:creationId xmlns:a16="http://schemas.microsoft.com/office/drawing/2014/main" id="{38712756-0948-4520-A21F-CBD78CB34DCB}"/>
                  </a:ext>
                </a:extLst>
              </p:cNvPr>
              <p:cNvSpPr txBox="1"/>
              <p:nvPr/>
            </p:nvSpPr>
            <p:spPr>
              <a:xfrm>
                <a:off x="3075845" y="5075631"/>
                <a:ext cx="680261" cy="253916"/>
              </a:xfrm>
              <a:prstGeom prst="rect">
                <a:avLst/>
              </a:prstGeom>
              <a:noFill/>
            </p:spPr>
            <p:txBody>
              <a:bodyPr wrap="square" rtlCol="0">
                <a:spAutoFit/>
              </a:bodyPr>
              <a:lstStyle/>
              <a:p>
                <a:r>
                  <a:rPr lang="fr-FR" sz="1050" dirty="0"/>
                  <a:t>EHPAD</a:t>
                </a:r>
                <a:endParaRPr lang="fr-FR" sz="1400" dirty="0"/>
              </a:p>
            </p:txBody>
          </p:sp>
        </p:grpSp>
        <p:pic>
          <p:nvPicPr>
            <p:cNvPr id="60" name="Graphique 59" descr="Médical avec un remplissage uni">
              <a:extLst>
                <a:ext uri="{FF2B5EF4-FFF2-40B4-BE49-F238E27FC236}">
                  <a16:creationId xmlns:a16="http://schemas.microsoft.com/office/drawing/2014/main" id="{8975DE37-F99B-48EC-BBF5-894C7FA815D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15623" y="3410434"/>
              <a:ext cx="680261" cy="680261"/>
            </a:xfrm>
            <a:prstGeom prst="rect">
              <a:avLst/>
            </a:prstGeom>
          </p:spPr>
        </p:pic>
        <p:pic>
          <p:nvPicPr>
            <p:cNvPr id="62" name="Graphique 61" descr="Médical avec un remplissage uni">
              <a:extLst>
                <a:ext uri="{FF2B5EF4-FFF2-40B4-BE49-F238E27FC236}">
                  <a16:creationId xmlns:a16="http://schemas.microsoft.com/office/drawing/2014/main" id="{29623B75-5A73-4FD4-92A7-3202D21FF21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15623" y="4410320"/>
              <a:ext cx="680261" cy="680261"/>
            </a:xfrm>
            <a:prstGeom prst="rect">
              <a:avLst/>
            </a:prstGeom>
          </p:spPr>
        </p:pic>
        <p:pic>
          <p:nvPicPr>
            <p:cNvPr id="63" name="Graphique 62" descr="Médical avec un remplissage uni">
              <a:extLst>
                <a:ext uri="{FF2B5EF4-FFF2-40B4-BE49-F238E27FC236}">
                  <a16:creationId xmlns:a16="http://schemas.microsoft.com/office/drawing/2014/main" id="{0A1383D5-0B75-49AE-A63F-C92209994CB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41718" y="5476564"/>
              <a:ext cx="680261" cy="680261"/>
            </a:xfrm>
            <a:prstGeom prst="rect">
              <a:avLst/>
            </a:prstGeom>
          </p:spPr>
        </p:pic>
        <p:sp>
          <p:nvSpPr>
            <p:cNvPr id="64" name="ZoneTexte 63">
              <a:extLst>
                <a:ext uri="{FF2B5EF4-FFF2-40B4-BE49-F238E27FC236}">
                  <a16:creationId xmlns:a16="http://schemas.microsoft.com/office/drawing/2014/main" id="{AA6D4F65-548B-4E65-971C-C28B2243EFEC}"/>
                </a:ext>
              </a:extLst>
            </p:cNvPr>
            <p:cNvSpPr txBox="1"/>
            <p:nvPr/>
          </p:nvSpPr>
          <p:spPr>
            <a:xfrm>
              <a:off x="5416202" y="6161934"/>
              <a:ext cx="916749" cy="253916"/>
            </a:xfrm>
            <a:prstGeom prst="rect">
              <a:avLst/>
            </a:prstGeom>
            <a:noFill/>
          </p:spPr>
          <p:txBody>
            <a:bodyPr wrap="square" rtlCol="0">
              <a:spAutoFit/>
            </a:bodyPr>
            <a:lstStyle/>
            <a:p>
              <a:r>
                <a:rPr lang="fr-FR" sz="1050" dirty="0" err="1"/>
                <a:t>Hospitals</a:t>
              </a:r>
              <a:endParaRPr lang="fr-FR" sz="1400" dirty="0"/>
            </a:p>
          </p:txBody>
        </p:sp>
        <p:cxnSp>
          <p:nvCxnSpPr>
            <p:cNvPr id="65" name="Connecteur droit avec flèche 64">
              <a:extLst>
                <a:ext uri="{FF2B5EF4-FFF2-40B4-BE49-F238E27FC236}">
                  <a16:creationId xmlns:a16="http://schemas.microsoft.com/office/drawing/2014/main" id="{012EE5E7-4460-4252-ABF7-BAE892210571}"/>
                </a:ext>
              </a:extLst>
            </p:cNvPr>
            <p:cNvCxnSpPr>
              <a:stCxn id="47" idx="3"/>
              <a:endCxn id="54" idx="1"/>
            </p:cNvCxnSpPr>
            <p:nvPr/>
          </p:nvCxnSpPr>
          <p:spPr>
            <a:xfrm>
              <a:off x="4319455" y="5031828"/>
              <a:ext cx="438540" cy="1495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67" name="ZoneTexte 66">
              <a:extLst>
                <a:ext uri="{FF2B5EF4-FFF2-40B4-BE49-F238E27FC236}">
                  <a16:creationId xmlns:a16="http://schemas.microsoft.com/office/drawing/2014/main" id="{A4F11841-89C3-4C53-B4A2-73CA91609AB4}"/>
                </a:ext>
              </a:extLst>
            </p:cNvPr>
            <p:cNvSpPr txBox="1"/>
            <p:nvPr/>
          </p:nvSpPr>
          <p:spPr>
            <a:xfrm>
              <a:off x="4285655" y="5145923"/>
              <a:ext cx="530794" cy="246221"/>
            </a:xfrm>
            <a:prstGeom prst="rect">
              <a:avLst/>
            </a:prstGeom>
            <a:noFill/>
          </p:spPr>
          <p:txBody>
            <a:bodyPr wrap="square" rtlCol="0">
              <a:spAutoFit/>
            </a:bodyPr>
            <a:lstStyle/>
            <a:p>
              <a:r>
                <a:rPr lang="fr-FR" sz="1000" dirty="0">
                  <a:solidFill>
                    <a:schemeClr val="bg2"/>
                  </a:solidFill>
                </a:rPr>
                <a:t>AMC</a:t>
              </a:r>
              <a:endParaRPr lang="fr-FR" dirty="0">
                <a:solidFill>
                  <a:schemeClr val="bg2"/>
                </a:solidFill>
              </a:endParaRPr>
            </a:p>
          </p:txBody>
        </p:sp>
        <p:sp>
          <p:nvSpPr>
            <p:cNvPr id="66" name="Rectangle 65">
              <a:extLst>
                <a:ext uri="{FF2B5EF4-FFF2-40B4-BE49-F238E27FC236}">
                  <a16:creationId xmlns:a16="http://schemas.microsoft.com/office/drawing/2014/main" id="{C24BBF5C-8870-4FA3-8467-C9F74F5F4492}"/>
                </a:ext>
              </a:extLst>
            </p:cNvPr>
            <p:cNvSpPr/>
            <p:nvPr/>
          </p:nvSpPr>
          <p:spPr>
            <a:xfrm>
              <a:off x="440267" y="3369084"/>
              <a:ext cx="1241350" cy="1036363"/>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D4CF4D30-D2A9-4037-AAFA-B6774184E26B}"/>
                </a:ext>
              </a:extLst>
            </p:cNvPr>
            <p:cNvSpPr/>
            <p:nvPr/>
          </p:nvSpPr>
          <p:spPr>
            <a:xfrm>
              <a:off x="2732949" y="3298924"/>
              <a:ext cx="1241350" cy="1223870"/>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54264C13-857B-4B31-8DFE-1F6D550D54AD}"/>
                </a:ext>
              </a:extLst>
            </p:cNvPr>
            <p:cNvSpPr/>
            <p:nvPr/>
          </p:nvSpPr>
          <p:spPr>
            <a:xfrm>
              <a:off x="4956586" y="3365047"/>
              <a:ext cx="1598561" cy="950207"/>
            </a:xfrm>
            <a:prstGeom prst="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cxnSp>
        <p:nvCxnSpPr>
          <p:cNvPr id="72" name="Connecteur : en arc 71">
            <a:extLst>
              <a:ext uri="{FF2B5EF4-FFF2-40B4-BE49-F238E27FC236}">
                <a16:creationId xmlns:a16="http://schemas.microsoft.com/office/drawing/2014/main" id="{31A9D45C-EC9F-4090-A313-35993E402B01}"/>
              </a:ext>
            </a:extLst>
          </p:cNvPr>
          <p:cNvCxnSpPr>
            <a:cxnSpLocks/>
            <a:stCxn id="54" idx="3"/>
          </p:cNvCxnSpPr>
          <p:nvPr/>
        </p:nvCxnSpPr>
        <p:spPr>
          <a:xfrm flipV="1">
            <a:off x="6710033" y="3852356"/>
            <a:ext cx="2365458" cy="864222"/>
          </a:xfrm>
          <a:prstGeom prst="curvedConnector3">
            <a:avLst>
              <a:gd name="adj1" fmla="val 50000"/>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6" name="Connecteur : en arc 75">
            <a:extLst>
              <a:ext uri="{FF2B5EF4-FFF2-40B4-BE49-F238E27FC236}">
                <a16:creationId xmlns:a16="http://schemas.microsoft.com/office/drawing/2014/main" id="{02CFE82F-DA10-4E47-B34A-6ED4F25A34CD}"/>
              </a:ext>
            </a:extLst>
          </p:cNvPr>
          <p:cNvCxnSpPr>
            <a:cxnSpLocks/>
            <a:stCxn id="54" idx="3"/>
          </p:cNvCxnSpPr>
          <p:nvPr/>
        </p:nvCxnSpPr>
        <p:spPr>
          <a:xfrm>
            <a:off x="6710033" y="4716578"/>
            <a:ext cx="2484767" cy="873019"/>
          </a:xfrm>
          <a:prstGeom prst="curvedConnector3">
            <a:avLst/>
          </a:prstGeom>
          <a:ln>
            <a:tailEnd type="triangle"/>
          </a:ln>
        </p:spPr>
        <p:style>
          <a:lnRef idx="1">
            <a:schemeClr val="accent2"/>
          </a:lnRef>
          <a:fillRef idx="0">
            <a:schemeClr val="accent2"/>
          </a:fillRef>
          <a:effectRef idx="0">
            <a:schemeClr val="accent2"/>
          </a:effectRef>
          <a:fontRef idx="minor">
            <a:schemeClr val="tx1"/>
          </a:fontRef>
        </p:style>
      </p:cxnSp>
      <p:pic>
        <p:nvPicPr>
          <p:cNvPr id="82" name="Graphique 81" descr="Base de données avec un remplissage uni">
            <a:extLst>
              <a:ext uri="{FF2B5EF4-FFF2-40B4-BE49-F238E27FC236}">
                <a16:creationId xmlns:a16="http://schemas.microsoft.com/office/drawing/2014/main" id="{253CAF9F-0961-4C78-B444-C1BA0D340EF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228529" y="4318536"/>
            <a:ext cx="710191" cy="710191"/>
          </a:xfrm>
          <a:prstGeom prst="rect">
            <a:avLst/>
          </a:prstGeom>
        </p:spPr>
      </p:pic>
      <p:pic>
        <p:nvPicPr>
          <p:cNvPr id="83" name="Image 82">
            <a:extLst>
              <a:ext uri="{FF2B5EF4-FFF2-40B4-BE49-F238E27FC236}">
                <a16:creationId xmlns:a16="http://schemas.microsoft.com/office/drawing/2014/main" id="{6DC66C69-8661-4C96-B62C-595F34A2602D}"/>
              </a:ext>
            </a:extLst>
          </p:cNvPr>
          <p:cNvPicPr>
            <a:picLocks noChangeAspect="1"/>
          </p:cNvPicPr>
          <p:nvPr/>
        </p:nvPicPr>
        <p:blipFill>
          <a:blip r:embed="rId11"/>
          <a:stretch>
            <a:fillRect/>
          </a:stretch>
        </p:blipFill>
        <p:spPr>
          <a:xfrm>
            <a:off x="9609279" y="3096640"/>
            <a:ext cx="1639752" cy="1793479"/>
          </a:xfrm>
          <a:prstGeom prst="rect">
            <a:avLst/>
          </a:prstGeom>
        </p:spPr>
      </p:pic>
      <p:pic>
        <p:nvPicPr>
          <p:cNvPr id="85" name="Graphique 84" descr="Calendrier journalier avec un remplissage uni">
            <a:extLst>
              <a:ext uri="{FF2B5EF4-FFF2-40B4-BE49-F238E27FC236}">
                <a16:creationId xmlns:a16="http://schemas.microsoft.com/office/drawing/2014/main" id="{2CB168C6-5334-47FA-B2D2-0FBF3EC09A5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959590" y="4938833"/>
            <a:ext cx="1196104" cy="1196104"/>
          </a:xfrm>
          <a:prstGeom prst="rect">
            <a:avLst/>
          </a:prstGeom>
        </p:spPr>
      </p:pic>
      <p:sp>
        <p:nvSpPr>
          <p:cNvPr id="86" name="ZoneTexte 85">
            <a:extLst>
              <a:ext uri="{FF2B5EF4-FFF2-40B4-BE49-F238E27FC236}">
                <a16:creationId xmlns:a16="http://schemas.microsoft.com/office/drawing/2014/main" id="{96387D1D-808E-474D-A639-9EA723301C33}"/>
              </a:ext>
            </a:extLst>
          </p:cNvPr>
          <p:cNvSpPr txBox="1"/>
          <p:nvPr/>
        </p:nvSpPr>
        <p:spPr>
          <a:xfrm>
            <a:off x="9224361" y="5374153"/>
            <a:ext cx="1067576" cy="430887"/>
          </a:xfrm>
          <a:prstGeom prst="rect">
            <a:avLst/>
          </a:prstGeom>
          <a:noFill/>
        </p:spPr>
        <p:txBody>
          <a:bodyPr wrap="square" rtlCol="0">
            <a:spAutoFit/>
          </a:bodyPr>
          <a:lstStyle/>
          <a:p>
            <a:r>
              <a:rPr lang="fr-FR" sz="1100" dirty="0" err="1"/>
              <a:t>From</a:t>
            </a:r>
            <a:r>
              <a:rPr lang="fr-FR" sz="1100" dirty="0"/>
              <a:t> 2012 to 2024</a:t>
            </a:r>
          </a:p>
        </p:txBody>
      </p:sp>
      <p:grpSp>
        <p:nvGrpSpPr>
          <p:cNvPr id="101" name="Groupe 100">
            <a:extLst>
              <a:ext uri="{FF2B5EF4-FFF2-40B4-BE49-F238E27FC236}">
                <a16:creationId xmlns:a16="http://schemas.microsoft.com/office/drawing/2014/main" id="{6E006AFD-AFD2-4FE1-BD33-B96E824426FA}"/>
              </a:ext>
            </a:extLst>
          </p:cNvPr>
          <p:cNvGrpSpPr/>
          <p:nvPr/>
        </p:nvGrpSpPr>
        <p:grpSpPr>
          <a:xfrm>
            <a:off x="8482444" y="1327242"/>
            <a:ext cx="2784381" cy="461665"/>
            <a:chOff x="8464650" y="1268403"/>
            <a:chExt cx="2784381" cy="461665"/>
          </a:xfrm>
        </p:grpSpPr>
        <p:pic>
          <p:nvPicPr>
            <p:cNvPr id="88" name="Graphique 87" descr="Base de données avec un remplissage uni">
              <a:extLst>
                <a:ext uri="{FF2B5EF4-FFF2-40B4-BE49-F238E27FC236}">
                  <a16:creationId xmlns:a16="http://schemas.microsoft.com/office/drawing/2014/main" id="{8F74261C-9BAA-4127-AEA4-5EBFE041EC1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64650" y="1303062"/>
              <a:ext cx="364871" cy="364871"/>
            </a:xfrm>
            <a:prstGeom prst="rect">
              <a:avLst/>
            </a:prstGeom>
          </p:spPr>
        </p:pic>
        <p:sp>
          <p:nvSpPr>
            <p:cNvPr id="87" name="ZoneTexte 86">
              <a:extLst>
                <a:ext uri="{FF2B5EF4-FFF2-40B4-BE49-F238E27FC236}">
                  <a16:creationId xmlns:a16="http://schemas.microsoft.com/office/drawing/2014/main" id="{93B266F6-DD8C-4CD7-B7B8-AB13F2740601}"/>
                </a:ext>
              </a:extLst>
            </p:cNvPr>
            <p:cNvSpPr txBox="1"/>
            <p:nvPr/>
          </p:nvSpPr>
          <p:spPr>
            <a:xfrm>
              <a:off x="8803345" y="1268403"/>
              <a:ext cx="2445686" cy="461665"/>
            </a:xfrm>
            <a:prstGeom prst="rect">
              <a:avLst/>
            </a:prstGeom>
            <a:noFill/>
          </p:spPr>
          <p:txBody>
            <a:bodyPr wrap="square" rtlCol="0">
              <a:spAutoFit/>
            </a:bodyPr>
            <a:lstStyle/>
            <a:p>
              <a:r>
                <a:rPr lang="fr-FR" sz="1200" dirty="0" err="1"/>
                <a:t>Humans</a:t>
              </a:r>
              <a:r>
                <a:rPr lang="fr-FR" sz="1200" dirty="0"/>
                <a:t> variables (ex : </a:t>
              </a:r>
              <a:r>
                <a:rPr lang="fr-FR" sz="1200" dirty="0" err="1"/>
                <a:t>number</a:t>
              </a:r>
              <a:r>
                <a:rPr lang="fr-FR" sz="1200" dirty="0"/>
                <a:t> of </a:t>
              </a:r>
              <a:r>
                <a:rPr lang="fr-FR" sz="1200" dirty="0" err="1"/>
                <a:t>doctors</a:t>
              </a:r>
              <a:r>
                <a:rPr lang="fr-FR" sz="1200" dirty="0"/>
                <a:t>/</a:t>
              </a:r>
              <a:r>
                <a:rPr lang="fr-FR" sz="1200" dirty="0" err="1"/>
                <a:t>livers</a:t>
              </a:r>
              <a:r>
                <a:rPr lang="fr-FR" sz="1200" dirty="0"/>
                <a:t>)</a:t>
              </a:r>
              <a:endParaRPr lang="fr-FR" dirty="0"/>
            </a:p>
          </p:txBody>
        </p:sp>
      </p:grpSp>
      <p:grpSp>
        <p:nvGrpSpPr>
          <p:cNvPr id="89" name="Groupe 88">
            <a:extLst>
              <a:ext uri="{FF2B5EF4-FFF2-40B4-BE49-F238E27FC236}">
                <a16:creationId xmlns:a16="http://schemas.microsoft.com/office/drawing/2014/main" id="{964E05BF-27FF-4DF3-8A22-F52B4F14E842}"/>
              </a:ext>
            </a:extLst>
          </p:cNvPr>
          <p:cNvGrpSpPr/>
          <p:nvPr/>
        </p:nvGrpSpPr>
        <p:grpSpPr>
          <a:xfrm>
            <a:off x="8464650" y="1828368"/>
            <a:ext cx="2802175" cy="461665"/>
            <a:chOff x="8464650" y="1828368"/>
            <a:chExt cx="2802175" cy="461665"/>
          </a:xfrm>
        </p:grpSpPr>
        <p:pic>
          <p:nvPicPr>
            <p:cNvPr id="90" name="Graphique 89" descr="Base de données avec un remplissage uni">
              <a:extLst>
                <a:ext uri="{FF2B5EF4-FFF2-40B4-BE49-F238E27FC236}">
                  <a16:creationId xmlns:a16="http://schemas.microsoft.com/office/drawing/2014/main" id="{35BB2A7F-8524-4A6C-831F-C2D1BC69347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64650" y="1896138"/>
              <a:ext cx="364871" cy="364871"/>
            </a:xfrm>
            <a:prstGeom prst="rect">
              <a:avLst/>
            </a:prstGeom>
          </p:spPr>
        </p:pic>
        <p:sp>
          <p:nvSpPr>
            <p:cNvPr id="91" name="ZoneTexte 90">
              <a:extLst>
                <a:ext uri="{FF2B5EF4-FFF2-40B4-BE49-F238E27FC236}">
                  <a16:creationId xmlns:a16="http://schemas.microsoft.com/office/drawing/2014/main" id="{F4729194-1D5F-40D9-8DB7-5A37FE94EEBE}"/>
                </a:ext>
              </a:extLst>
            </p:cNvPr>
            <p:cNvSpPr txBox="1"/>
            <p:nvPr/>
          </p:nvSpPr>
          <p:spPr>
            <a:xfrm>
              <a:off x="8821139" y="1828368"/>
              <a:ext cx="2445686" cy="461665"/>
            </a:xfrm>
            <a:prstGeom prst="rect">
              <a:avLst/>
            </a:prstGeom>
            <a:noFill/>
          </p:spPr>
          <p:txBody>
            <a:bodyPr wrap="square" rtlCol="0">
              <a:spAutoFit/>
            </a:bodyPr>
            <a:lstStyle/>
            <a:p>
              <a:r>
                <a:rPr lang="fr-FR" sz="1200" dirty="0" err="1"/>
                <a:t>Environment</a:t>
              </a:r>
              <a:r>
                <a:rPr lang="fr-FR" sz="1200" dirty="0"/>
                <a:t> variables (ex : PM 2,5 mm)</a:t>
              </a:r>
            </a:p>
          </p:txBody>
        </p:sp>
      </p:grpSp>
      <p:grpSp>
        <p:nvGrpSpPr>
          <p:cNvPr id="94" name="Groupe 93">
            <a:extLst>
              <a:ext uri="{FF2B5EF4-FFF2-40B4-BE49-F238E27FC236}">
                <a16:creationId xmlns:a16="http://schemas.microsoft.com/office/drawing/2014/main" id="{AE98EC7E-482D-4405-B9E0-6A84B1BAAD68}"/>
              </a:ext>
            </a:extLst>
          </p:cNvPr>
          <p:cNvGrpSpPr/>
          <p:nvPr/>
        </p:nvGrpSpPr>
        <p:grpSpPr>
          <a:xfrm>
            <a:off x="8464650" y="2364184"/>
            <a:ext cx="2802175" cy="461665"/>
            <a:chOff x="8464650" y="1828368"/>
            <a:chExt cx="2802175" cy="461665"/>
          </a:xfrm>
        </p:grpSpPr>
        <p:pic>
          <p:nvPicPr>
            <p:cNvPr id="95" name="Graphique 94" descr="Base de données avec un remplissage uni">
              <a:extLst>
                <a:ext uri="{FF2B5EF4-FFF2-40B4-BE49-F238E27FC236}">
                  <a16:creationId xmlns:a16="http://schemas.microsoft.com/office/drawing/2014/main" id="{894245C0-DA8D-4218-90E2-ECC0750528D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64650" y="1896138"/>
              <a:ext cx="364871" cy="364871"/>
            </a:xfrm>
            <a:prstGeom prst="rect">
              <a:avLst/>
            </a:prstGeom>
          </p:spPr>
        </p:pic>
        <p:sp>
          <p:nvSpPr>
            <p:cNvPr id="96" name="ZoneTexte 95">
              <a:extLst>
                <a:ext uri="{FF2B5EF4-FFF2-40B4-BE49-F238E27FC236}">
                  <a16:creationId xmlns:a16="http://schemas.microsoft.com/office/drawing/2014/main" id="{61E638A4-0B57-4A17-8DE3-CD0ED4DB4FEA}"/>
                </a:ext>
              </a:extLst>
            </p:cNvPr>
            <p:cNvSpPr txBox="1"/>
            <p:nvPr/>
          </p:nvSpPr>
          <p:spPr>
            <a:xfrm>
              <a:off x="8821139" y="1828368"/>
              <a:ext cx="2445686" cy="461665"/>
            </a:xfrm>
            <a:prstGeom prst="rect">
              <a:avLst/>
            </a:prstGeom>
            <a:noFill/>
          </p:spPr>
          <p:txBody>
            <a:bodyPr wrap="square" rtlCol="0">
              <a:spAutoFit/>
            </a:bodyPr>
            <a:lstStyle/>
            <a:p>
              <a:r>
                <a:rPr lang="fr-FR" sz="1200" dirty="0"/>
                <a:t>Animals variables (ex : UGB </a:t>
              </a:r>
              <a:r>
                <a:rPr lang="fr-FR" sz="1200" dirty="0" err="1"/>
                <a:t>density</a:t>
              </a:r>
              <a:r>
                <a:rPr lang="fr-FR" sz="1200" dirty="0"/>
                <a:t> </a:t>
              </a:r>
              <a:r>
                <a:rPr lang="fr-FR" sz="1200" dirty="0" err="1"/>
                <a:t>livestock</a:t>
              </a:r>
              <a:r>
                <a:rPr lang="fr-FR" sz="1200" dirty="0"/>
                <a:t>)</a:t>
              </a:r>
            </a:p>
          </p:txBody>
        </p:sp>
      </p:grpSp>
      <p:sp>
        <p:nvSpPr>
          <p:cNvPr id="103" name="ZoneTexte 102">
            <a:extLst>
              <a:ext uri="{FF2B5EF4-FFF2-40B4-BE49-F238E27FC236}">
                <a16:creationId xmlns:a16="http://schemas.microsoft.com/office/drawing/2014/main" id="{F8D8DF67-DEDD-4B57-B763-45082AB167D9}"/>
              </a:ext>
            </a:extLst>
          </p:cNvPr>
          <p:cNvSpPr txBox="1"/>
          <p:nvPr/>
        </p:nvSpPr>
        <p:spPr>
          <a:xfrm>
            <a:off x="8664879" y="852094"/>
            <a:ext cx="2485827" cy="369332"/>
          </a:xfrm>
          <a:prstGeom prst="rect">
            <a:avLst/>
          </a:prstGeom>
          <a:noFill/>
        </p:spPr>
        <p:txBody>
          <a:bodyPr wrap="square" rtlCol="0">
            <a:spAutoFit/>
          </a:bodyPr>
          <a:lstStyle/>
          <a:p>
            <a:r>
              <a:rPr lang="fr-FR" u="sng" dirty="0" err="1"/>
              <a:t>Additional</a:t>
            </a:r>
            <a:r>
              <a:rPr lang="fr-FR" u="sng" dirty="0"/>
              <a:t> variables</a:t>
            </a:r>
          </a:p>
        </p:txBody>
      </p:sp>
      <p:cxnSp>
        <p:nvCxnSpPr>
          <p:cNvPr id="105" name="Connecteur : en arc 104">
            <a:extLst>
              <a:ext uri="{FF2B5EF4-FFF2-40B4-BE49-F238E27FC236}">
                <a16:creationId xmlns:a16="http://schemas.microsoft.com/office/drawing/2014/main" id="{A63FCBDC-7F14-420F-B5E1-130065C093C7}"/>
              </a:ext>
            </a:extLst>
          </p:cNvPr>
          <p:cNvCxnSpPr>
            <a:cxnSpLocks/>
            <a:stCxn id="102" idx="1"/>
          </p:cNvCxnSpPr>
          <p:nvPr/>
        </p:nvCxnSpPr>
        <p:spPr>
          <a:xfrm rot="10800000" flipH="1" flipV="1">
            <a:off x="8348133" y="1921948"/>
            <a:ext cx="298952" cy="2202044"/>
          </a:xfrm>
          <a:prstGeom prst="curvedConnector4">
            <a:avLst>
              <a:gd name="adj1" fmla="val -76467"/>
              <a:gd name="adj2" fmla="val 73768"/>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44398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a:t>State of the art of </a:t>
            </a:r>
            <a:r>
              <a:rPr lang="fr-FR" sz="2800" dirty="0" err="1"/>
              <a:t>existing</a:t>
            </a:r>
            <a:r>
              <a:rPr lang="fr-FR" sz="2800" dirty="0"/>
              <a:t> </a:t>
            </a:r>
            <a:r>
              <a:rPr lang="fr-FR" sz="2800" dirty="0" err="1"/>
              <a:t>methods</a:t>
            </a:r>
            <a:r>
              <a:rPr lang="fr-FR" sz="2800" dirty="0"/>
              <a:t> for temporal data</a:t>
            </a:r>
            <a:endParaRPr lang="fr-FR" dirty="0"/>
          </a:p>
        </p:txBody>
      </p:sp>
      <p:sp>
        <p:nvSpPr>
          <p:cNvPr id="2" name="ZoneTexte 1">
            <a:extLst>
              <a:ext uri="{FF2B5EF4-FFF2-40B4-BE49-F238E27FC236}">
                <a16:creationId xmlns:a16="http://schemas.microsoft.com/office/drawing/2014/main" id="{2126A8F8-27A3-411A-B855-21472B4CBE80}"/>
              </a:ext>
            </a:extLst>
          </p:cNvPr>
          <p:cNvSpPr txBox="1"/>
          <p:nvPr/>
        </p:nvSpPr>
        <p:spPr>
          <a:xfrm>
            <a:off x="812800" y="1769534"/>
            <a:ext cx="9177866" cy="3416320"/>
          </a:xfrm>
          <a:prstGeom prst="rect">
            <a:avLst/>
          </a:prstGeom>
          <a:noFill/>
        </p:spPr>
        <p:txBody>
          <a:bodyPr wrap="square" rtlCol="0">
            <a:spAutoFit/>
          </a:bodyPr>
          <a:lstStyle/>
          <a:p>
            <a:pPr marL="285750" indent="-285750">
              <a:buFont typeface="Arial" panose="020B0604020202020204" pitchFamily="34" charset="0"/>
              <a:buChar char="•"/>
            </a:pPr>
            <a:r>
              <a:rPr lang="fr-FR" dirty="0" err="1"/>
              <a:t>Linear</a:t>
            </a:r>
            <a:r>
              <a:rPr lang="fr-FR" dirty="0"/>
              <a:t> mixed model (LMM)</a:t>
            </a:r>
            <a:br>
              <a:rPr lang="fr-FR" dirty="0"/>
            </a:br>
            <a:endParaRPr lang="fr-FR" dirty="0"/>
          </a:p>
          <a:p>
            <a:pPr marL="285750" indent="-285750">
              <a:buFont typeface="Arial" panose="020B0604020202020204" pitchFamily="34" charset="0"/>
              <a:buChar char="•"/>
            </a:pPr>
            <a:r>
              <a:rPr lang="fr-FR" dirty="0" err="1"/>
              <a:t>Generalized</a:t>
            </a:r>
            <a:r>
              <a:rPr lang="fr-FR" dirty="0"/>
              <a:t> </a:t>
            </a:r>
            <a:r>
              <a:rPr lang="fr-FR" dirty="0" err="1"/>
              <a:t>linear</a:t>
            </a:r>
            <a:r>
              <a:rPr lang="fr-FR" dirty="0"/>
              <a:t> mixed model (GLMM)</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err="1"/>
              <a:t>Generalized</a:t>
            </a:r>
            <a:r>
              <a:rPr lang="fr-FR" dirty="0"/>
              <a:t> </a:t>
            </a:r>
            <a:r>
              <a:rPr lang="fr-FR" dirty="0" err="1"/>
              <a:t>estimating</a:t>
            </a:r>
            <a:r>
              <a:rPr lang="fr-FR" dirty="0"/>
              <a:t> </a:t>
            </a:r>
            <a:r>
              <a:rPr lang="fr-FR" dirty="0" err="1"/>
              <a:t>equations</a:t>
            </a:r>
            <a:r>
              <a:rPr lang="fr-FR" dirty="0"/>
              <a:t> (GEE)</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err="1"/>
              <a:t>Generalized</a:t>
            </a:r>
            <a:r>
              <a:rPr lang="fr-FR" dirty="0"/>
              <a:t> Least Square (GLS)</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Time </a:t>
            </a:r>
            <a:r>
              <a:rPr lang="fr-FR" dirty="0" err="1"/>
              <a:t>series</a:t>
            </a:r>
            <a:endParaRPr lang="fr-FR" dirty="0"/>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err="1"/>
              <a:t>Functional</a:t>
            </a:r>
            <a:r>
              <a:rPr lang="fr-FR" dirty="0"/>
              <a:t> </a:t>
            </a:r>
            <a:r>
              <a:rPr lang="fr-FR" dirty="0" err="1"/>
              <a:t>methods</a:t>
            </a:r>
            <a:endParaRPr lang="fr-FR" dirty="0"/>
          </a:p>
          <a:p>
            <a:pPr marL="285750" indent="-285750">
              <a:buFont typeface="Arial" panose="020B0604020202020204" pitchFamily="34" charset="0"/>
              <a:buChar char="•"/>
            </a:pPr>
            <a:endParaRPr lang="fr-FR" dirty="0"/>
          </a:p>
        </p:txBody>
      </p:sp>
    </p:spTree>
    <p:extLst>
      <p:ext uri="{BB962C8B-B14F-4D97-AF65-F5344CB8AC3E}">
        <p14:creationId xmlns:p14="http://schemas.microsoft.com/office/powerpoint/2010/main" val="733587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a:t>Scientific </a:t>
            </a:r>
            <a:r>
              <a:rPr lang="fr-FR" sz="2800" dirty="0" err="1"/>
              <a:t>Problematic</a:t>
            </a:r>
            <a:endParaRPr lang="fr-FR" dirty="0"/>
          </a:p>
        </p:txBody>
      </p:sp>
      <p:sp>
        <p:nvSpPr>
          <p:cNvPr id="2" name="ZoneTexte 1">
            <a:extLst>
              <a:ext uri="{FF2B5EF4-FFF2-40B4-BE49-F238E27FC236}">
                <a16:creationId xmlns:a16="http://schemas.microsoft.com/office/drawing/2014/main" id="{2126A8F8-27A3-411A-B855-21472B4CBE80}"/>
              </a:ext>
            </a:extLst>
          </p:cNvPr>
          <p:cNvSpPr txBox="1"/>
          <p:nvPr/>
        </p:nvSpPr>
        <p:spPr>
          <a:xfrm>
            <a:off x="812800" y="1769534"/>
            <a:ext cx="9177866" cy="369332"/>
          </a:xfrm>
          <a:prstGeom prst="rect">
            <a:avLst/>
          </a:prstGeom>
          <a:noFill/>
        </p:spPr>
        <p:txBody>
          <a:bodyPr wrap="square" rtlCol="0">
            <a:spAutoFit/>
          </a:bodyPr>
          <a:lstStyle/>
          <a:p>
            <a:pPr marL="285750" indent="-285750">
              <a:buFont typeface="Arial" panose="020B0604020202020204" pitchFamily="34" charset="0"/>
              <a:buChar char="•"/>
            </a:pPr>
            <a:endParaRPr lang="fr-FR" dirty="0"/>
          </a:p>
        </p:txBody>
      </p:sp>
      <p:sp>
        <p:nvSpPr>
          <p:cNvPr id="3" name="ZoneTexte 2">
            <a:extLst>
              <a:ext uri="{FF2B5EF4-FFF2-40B4-BE49-F238E27FC236}">
                <a16:creationId xmlns:a16="http://schemas.microsoft.com/office/drawing/2014/main" id="{8C8BC15E-4105-4180-B284-66CC3E7A6BFE}"/>
              </a:ext>
            </a:extLst>
          </p:cNvPr>
          <p:cNvSpPr txBox="1"/>
          <p:nvPr/>
        </p:nvSpPr>
        <p:spPr>
          <a:xfrm>
            <a:off x="1413933" y="2358274"/>
            <a:ext cx="8932333" cy="2062103"/>
          </a:xfrm>
          <a:prstGeom prst="rect">
            <a:avLst/>
          </a:prstGeom>
          <a:noFill/>
        </p:spPr>
        <p:txBody>
          <a:bodyPr wrap="square" rtlCol="0">
            <a:spAutoFit/>
          </a:bodyPr>
          <a:lstStyle/>
          <a:p>
            <a:r>
              <a:rPr lang="en-US" sz="3200" dirty="0">
                <a:solidFill>
                  <a:schemeClr val="accent2"/>
                </a:solidFill>
              </a:rPr>
              <a:t>How can temporal and regional variations in fluoroquinolone resistance in France primary care settings be explained within a One Health framework ?</a:t>
            </a:r>
            <a:endParaRPr lang="fr-FR" dirty="0">
              <a:solidFill>
                <a:schemeClr val="accent2"/>
              </a:solidFill>
            </a:endParaRPr>
          </a:p>
        </p:txBody>
      </p:sp>
    </p:spTree>
    <p:extLst>
      <p:ext uri="{BB962C8B-B14F-4D97-AF65-F5344CB8AC3E}">
        <p14:creationId xmlns:p14="http://schemas.microsoft.com/office/powerpoint/2010/main" val="1692534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ED82FD38-7D6B-4DC8-9FB6-E36A2700EE57}"/>
              </a:ext>
            </a:extLst>
          </p:cNvPr>
          <p:cNvSpPr>
            <a:spLocks noGrp="1"/>
          </p:cNvSpPr>
          <p:nvPr>
            <p:ph type="title"/>
          </p:nvPr>
        </p:nvSpPr>
        <p:spPr>
          <a:xfrm>
            <a:off x="479999" y="984000"/>
            <a:ext cx="11232000" cy="5395200"/>
          </a:xfrm>
        </p:spPr>
        <p:txBody>
          <a:bodyPr/>
          <a:lstStyle/>
          <a:p>
            <a:r>
              <a:rPr lang="fr-FR" sz="5333" dirty="0"/>
              <a:t>Methods</a:t>
            </a:r>
          </a:p>
        </p:txBody>
      </p:sp>
    </p:spTree>
    <p:extLst>
      <p:ext uri="{BB962C8B-B14F-4D97-AF65-F5344CB8AC3E}">
        <p14:creationId xmlns:p14="http://schemas.microsoft.com/office/powerpoint/2010/main" val="446869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954107"/>
          </a:xfrm>
          <a:prstGeom prst="rect">
            <a:avLst/>
          </a:prstGeom>
          <a:noFill/>
        </p:spPr>
        <p:txBody>
          <a:bodyPr wrap="square" rtlCol="0">
            <a:spAutoFit/>
          </a:bodyPr>
          <a:lstStyle/>
          <a:p>
            <a:r>
              <a:rPr lang="fr-FR" sz="2800" dirty="0"/>
              <a:t>Blocks of </a:t>
            </a:r>
            <a:r>
              <a:rPr lang="fr-FR" sz="2800" dirty="0" err="1"/>
              <a:t>function</a:t>
            </a:r>
            <a:r>
              <a:rPr lang="fr-FR" sz="2800" strike="sngStrike" dirty="0" err="1"/>
              <a:t>n</a:t>
            </a:r>
            <a:r>
              <a:rPr lang="fr-FR" sz="2800" dirty="0" err="1"/>
              <a:t>al</a:t>
            </a:r>
            <a:r>
              <a:rPr lang="fr-FR" sz="2800" dirty="0"/>
              <a:t> variables to block of </a:t>
            </a:r>
            <a:r>
              <a:rPr lang="fr-FR" sz="2800" strike="sngStrike" dirty="0" err="1"/>
              <a:t>classic</a:t>
            </a:r>
            <a:r>
              <a:rPr lang="fr-FR" sz="2800" dirty="0"/>
              <a:t> variables</a:t>
            </a:r>
          </a:p>
        </p:txBody>
      </p:sp>
      <p:pic>
        <p:nvPicPr>
          <p:cNvPr id="34" name="Image 33">
            <a:extLst>
              <a:ext uri="{FF2B5EF4-FFF2-40B4-BE49-F238E27FC236}">
                <a16:creationId xmlns:a16="http://schemas.microsoft.com/office/drawing/2014/main" id="{0BAF7120-109B-489F-B4A4-A8D5F112B5FA}"/>
              </a:ext>
            </a:extLst>
          </p:cNvPr>
          <p:cNvPicPr>
            <a:picLocks noChangeAspect="1"/>
          </p:cNvPicPr>
          <p:nvPr/>
        </p:nvPicPr>
        <p:blipFill>
          <a:blip r:embed="rId3"/>
          <a:stretch>
            <a:fillRect/>
          </a:stretch>
        </p:blipFill>
        <p:spPr>
          <a:xfrm>
            <a:off x="653889" y="1243687"/>
            <a:ext cx="2902112" cy="2341878"/>
          </a:xfrm>
          <a:prstGeom prst="rect">
            <a:avLst/>
          </a:prstGeom>
        </p:spPr>
      </p:pic>
      <p:sp>
        <p:nvSpPr>
          <p:cNvPr id="41" name="Accolade fermante 40">
            <a:extLst>
              <a:ext uri="{FF2B5EF4-FFF2-40B4-BE49-F238E27FC236}">
                <a16:creationId xmlns:a16="http://schemas.microsoft.com/office/drawing/2014/main" id="{13B92F81-1DF3-4309-84DC-891C06C0EF55}"/>
              </a:ext>
            </a:extLst>
          </p:cNvPr>
          <p:cNvSpPr/>
          <p:nvPr/>
        </p:nvSpPr>
        <p:spPr>
          <a:xfrm>
            <a:off x="3496733" y="1329266"/>
            <a:ext cx="457200" cy="2099733"/>
          </a:xfrm>
          <a:prstGeom prst="rightBrace">
            <a:avLst/>
          </a:pr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fr-FR"/>
          </a:p>
        </p:txBody>
      </p:sp>
      <p:sp>
        <p:nvSpPr>
          <p:cNvPr id="42" name="ZoneTexte 41">
            <a:extLst>
              <a:ext uri="{FF2B5EF4-FFF2-40B4-BE49-F238E27FC236}">
                <a16:creationId xmlns:a16="http://schemas.microsoft.com/office/drawing/2014/main" id="{826F5138-8AA5-4F5C-AA6E-E7400A724B00}"/>
              </a:ext>
            </a:extLst>
          </p:cNvPr>
          <p:cNvSpPr txBox="1"/>
          <p:nvPr/>
        </p:nvSpPr>
        <p:spPr>
          <a:xfrm>
            <a:off x="4349910" y="1243687"/>
            <a:ext cx="5046134" cy="2123658"/>
          </a:xfrm>
          <a:prstGeom prst="rect">
            <a:avLst/>
          </a:prstGeom>
          <a:noFill/>
        </p:spPr>
        <p:txBody>
          <a:bodyPr wrap="square" rtlCol="0">
            <a:spAutoFit/>
          </a:bodyPr>
          <a:lstStyle/>
          <a:p>
            <a:pPr algn="ctr"/>
            <a:r>
              <a:rPr lang="fr-FR" sz="1200" dirty="0"/>
              <a:t>5 blocks:</a:t>
            </a:r>
          </a:p>
          <a:p>
            <a:endParaRPr lang="fr-FR" sz="1200" dirty="0"/>
          </a:p>
          <a:p>
            <a:pPr marL="171450" indent="-171450">
              <a:buFont typeface="Arial" panose="020B0604020202020204" pitchFamily="34" charset="0"/>
              <a:buChar char="•"/>
            </a:pPr>
            <a:r>
              <a:rPr lang="fr-FR" sz="1200" dirty="0">
                <a:solidFill>
                  <a:srgbClr val="F8766D"/>
                </a:solidFill>
              </a:rPr>
              <a:t>Y (AMR FQ PCS), </a:t>
            </a:r>
            <a:r>
              <a:rPr lang="fr-FR" sz="1200" dirty="0" err="1">
                <a:solidFill>
                  <a:srgbClr val="F8766D"/>
                </a:solidFill>
              </a:rPr>
              <a:t>response</a:t>
            </a:r>
            <a:r>
              <a:rPr lang="fr-FR" sz="1200" dirty="0">
                <a:solidFill>
                  <a:srgbClr val="F8766D"/>
                </a:solidFill>
              </a:rPr>
              <a:t> block, 1 variable</a:t>
            </a:r>
          </a:p>
          <a:p>
            <a:pPr marL="171450" indent="-171450">
              <a:buFont typeface="Arial" panose="020B0604020202020204" pitchFamily="34" charset="0"/>
              <a:buChar char="•"/>
            </a:pPr>
            <a:endParaRPr lang="fr-FR" sz="1200" dirty="0">
              <a:solidFill>
                <a:srgbClr val="F8766D"/>
              </a:solidFill>
            </a:endParaRPr>
          </a:p>
          <a:p>
            <a:pPr marL="171450" indent="-171450">
              <a:buFont typeface="Arial" panose="020B0604020202020204" pitchFamily="34" charset="0"/>
              <a:buChar char="•"/>
            </a:pPr>
            <a:r>
              <a:rPr lang="fr-FR" sz="1200" dirty="0" err="1">
                <a:solidFill>
                  <a:srgbClr val="A3A500"/>
                </a:solidFill>
              </a:rPr>
              <a:t>Antimicrobial</a:t>
            </a:r>
            <a:r>
              <a:rPr lang="fr-FR" sz="1200" dirty="0">
                <a:solidFill>
                  <a:srgbClr val="A3A500"/>
                </a:solidFill>
              </a:rPr>
              <a:t> </a:t>
            </a:r>
            <a:r>
              <a:rPr lang="fr-FR" sz="1200" dirty="0" err="1">
                <a:solidFill>
                  <a:srgbClr val="A3A500"/>
                </a:solidFill>
              </a:rPr>
              <a:t>consumption</a:t>
            </a:r>
            <a:r>
              <a:rPr lang="fr-FR" sz="1200" dirty="0">
                <a:solidFill>
                  <a:srgbClr val="A3A500"/>
                </a:solidFill>
              </a:rPr>
              <a:t> (AMC), 21 variables</a:t>
            </a:r>
          </a:p>
          <a:p>
            <a:pPr marL="171450" indent="-171450">
              <a:buFont typeface="Arial" panose="020B0604020202020204" pitchFamily="34" charset="0"/>
              <a:buChar char="•"/>
            </a:pPr>
            <a:endParaRPr lang="fr-FR" sz="1200" dirty="0">
              <a:solidFill>
                <a:srgbClr val="A3A500"/>
              </a:solidFill>
            </a:endParaRPr>
          </a:p>
          <a:p>
            <a:pPr marL="171450" indent="-171450">
              <a:buFont typeface="Arial" panose="020B0604020202020204" pitchFamily="34" charset="0"/>
              <a:buChar char="•"/>
            </a:pPr>
            <a:r>
              <a:rPr lang="fr-FR" sz="1200" dirty="0">
                <a:solidFill>
                  <a:srgbClr val="00B0F6"/>
                </a:solidFill>
              </a:rPr>
              <a:t>Animals, 19 variables</a:t>
            </a:r>
            <a:r>
              <a:rPr lang="fr-FR" sz="1200" dirty="0"/>
              <a:t> </a:t>
            </a:r>
          </a:p>
          <a:p>
            <a:pPr marL="171450" indent="-171450">
              <a:buFont typeface="Arial" panose="020B0604020202020204" pitchFamily="34" charset="0"/>
              <a:buChar char="•"/>
            </a:pPr>
            <a:endParaRPr lang="fr-FR" sz="1200" dirty="0"/>
          </a:p>
          <a:p>
            <a:pPr marL="171450" indent="-171450">
              <a:buFont typeface="Arial" panose="020B0604020202020204" pitchFamily="34" charset="0"/>
              <a:buChar char="•"/>
            </a:pPr>
            <a:r>
              <a:rPr lang="fr-FR" sz="1200" dirty="0" err="1">
                <a:solidFill>
                  <a:srgbClr val="00BF7D"/>
                </a:solidFill>
              </a:rPr>
              <a:t>Environment</a:t>
            </a:r>
            <a:r>
              <a:rPr lang="fr-FR" sz="1200" dirty="0">
                <a:solidFill>
                  <a:srgbClr val="00BF7D"/>
                </a:solidFill>
              </a:rPr>
              <a:t>, 7 variables</a:t>
            </a:r>
          </a:p>
          <a:p>
            <a:pPr marL="171450" indent="-171450">
              <a:buFont typeface="Arial" panose="020B0604020202020204" pitchFamily="34" charset="0"/>
              <a:buChar char="•"/>
            </a:pPr>
            <a:endParaRPr lang="fr-FR" sz="1200" dirty="0">
              <a:solidFill>
                <a:srgbClr val="00BF7D"/>
              </a:solidFill>
            </a:endParaRPr>
          </a:p>
          <a:p>
            <a:pPr marL="171450" indent="-171450">
              <a:buFont typeface="Arial" panose="020B0604020202020204" pitchFamily="34" charset="0"/>
              <a:buChar char="•"/>
            </a:pPr>
            <a:r>
              <a:rPr lang="fr-FR" sz="1200" dirty="0" err="1">
                <a:solidFill>
                  <a:srgbClr val="E76BF3"/>
                </a:solidFill>
              </a:rPr>
              <a:t>Humans</a:t>
            </a:r>
            <a:r>
              <a:rPr lang="fr-FR" sz="1200" dirty="0">
                <a:solidFill>
                  <a:srgbClr val="E76BF3"/>
                </a:solidFill>
              </a:rPr>
              <a:t>, 11 variables</a:t>
            </a:r>
          </a:p>
        </p:txBody>
      </p:sp>
      <p:sp>
        <p:nvSpPr>
          <p:cNvPr id="84" name="Ellipse 83">
            <a:extLst>
              <a:ext uri="{FF2B5EF4-FFF2-40B4-BE49-F238E27FC236}">
                <a16:creationId xmlns:a16="http://schemas.microsoft.com/office/drawing/2014/main" id="{573295E4-86A9-4C09-B9D2-8BFE316F9427}"/>
              </a:ext>
            </a:extLst>
          </p:cNvPr>
          <p:cNvSpPr/>
          <p:nvPr/>
        </p:nvSpPr>
        <p:spPr>
          <a:xfrm rot="21253189">
            <a:off x="753533" y="1820333"/>
            <a:ext cx="186267" cy="1405467"/>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fr-FR"/>
          </a:p>
        </p:txBody>
      </p:sp>
      <p:cxnSp>
        <p:nvCxnSpPr>
          <p:cNvPr id="86" name="Connecteur droit avec flèche 85">
            <a:extLst>
              <a:ext uri="{FF2B5EF4-FFF2-40B4-BE49-F238E27FC236}">
                <a16:creationId xmlns:a16="http://schemas.microsoft.com/office/drawing/2014/main" id="{87A7C39D-E892-4B50-835A-9C6532A192BD}"/>
              </a:ext>
            </a:extLst>
          </p:cNvPr>
          <p:cNvCxnSpPr>
            <a:cxnSpLocks/>
            <a:stCxn id="84" idx="4"/>
          </p:cNvCxnSpPr>
          <p:nvPr/>
        </p:nvCxnSpPr>
        <p:spPr>
          <a:xfrm>
            <a:off x="917441" y="3222227"/>
            <a:ext cx="2181360" cy="16715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87" name="ZoneTexte 86">
            <a:extLst>
              <a:ext uri="{FF2B5EF4-FFF2-40B4-BE49-F238E27FC236}">
                <a16:creationId xmlns:a16="http://schemas.microsoft.com/office/drawing/2014/main" id="{1F4E51E8-C879-4769-A42C-0C80E0EB74FF}"/>
              </a:ext>
            </a:extLst>
          </p:cNvPr>
          <p:cNvSpPr txBox="1"/>
          <p:nvPr/>
        </p:nvSpPr>
        <p:spPr>
          <a:xfrm>
            <a:off x="1360564" y="4893733"/>
            <a:ext cx="982135" cy="646331"/>
          </a:xfrm>
          <a:prstGeom prst="rect">
            <a:avLst/>
          </a:prstGeom>
          <a:noFill/>
          <a:ln>
            <a:solidFill>
              <a:schemeClr val="accent2"/>
            </a:solidFill>
          </a:ln>
        </p:spPr>
        <p:txBody>
          <a:bodyPr wrap="square" rtlCol="0">
            <a:spAutoFit/>
          </a:bodyPr>
          <a:lstStyle/>
          <a:p>
            <a:r>
              <a:rPr lang="fr-FR" sz="1200" dirty="0"/>
              <a:t>fPCA</a:t>
            </a:r>
            <a:r>
              <a:rPr lang="fr-FR" sz="1200" baseline="30000" dirty="0"/>
              <a:t>1</a:t>
            </a:r>
            <a:r>
              <a:rPr lang="fr-FR" sz="1200" dirty="0"/>
              <a:t> on 1 </a:t>
            </a:r>
            <a:r>
              <a:rPr lang="fr-FR" sz="1200" dirty="0" err="1"/>
              <a:t>functional</a:t>
            </a:r>
            <a:r>
              <a:rPr lang="fr-FR" sz="1200" dirty="0"/>
              <a:t> variable</a:t>
            </a:r>
          </a:p>
        </p:txBody>
      </p:sp>
      <p:pic>
        <p:nvPicPr>
          <p:cNvPr id="97" name="Image 96">
            <a:extLst>
              <a:ext uri="{FF2B5EF4-FFF2-40B4-BE49-F238E27FC236}">
                <a16:creationId xmlns:a16="http://schemas.microsoft.com/office/drawing/2014/main" id="{4004EDBB-A1D1-4682-8E82-038C108ACF0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166090" y="3541868"/>
            <a:ext cx="4115242" cy="3292194"/>
          </a:xfrm>
          <a:prstGeom prst="rect">
            <a:avLst/>
          </a:prstGeom>
        </p:spPr>
      </p:pic>
      <p:sp>
        <p:nvSpPr>
          <p:cNvPr id="100" name="Ellipse 99">
            <a:extLst>
              <a:ext uri="{FF2B5EF4-FFF2-40B4-BE49-F238E27FC236}">
                <a16:creationId xmlns:a16="http://schemas.microsoft.com/office/drawing/2014/main" id="{CEBAF543-D3DC-46BC-A8F8-003AC0E04168}"/>
              </a:ext>
            </a:extLst>
          </p:cNvPr>
          <p:cNvSpPr/>
          <p:nvPr/>
        </p:nvSpPr>
        <p:spPr>
          <a:xfrm>
            <a:off x="6096000" y="6578600"/>
            <a:ext cx="465667" cy="16933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2" name="Connecteur : en angle 101">
            <a:extLst>
              <a:ext uri="{FF2B5EF4-FFF2-40B4-BE49-F238E27FC236}">
                <a16:creationId xmlns:a16="http://schemas.microsoft.com/office/drawing/2014/main" id="{66363EBB-502F-455D-BAB0-934914082C14}"/>
              </a:ext>
            </a:extLst>
          </p:cNvPr>
          <p:cNvCxnSpPr>
            <a:cxnSpLocks/>
            <a:endCxn id="108" idx="2"/>
          </p:cNvCxnSpPr>
          <p:nvPr/>
        </p:nvCxnSpPr>
        <p:spPr>
          <a:xfrm flipV="1">
            <a:off x="6561668" y="3979333"/>
            <a:ext cx="3530601" cy="2683937"/>
          </a:xfrm>
          <a:prstGeom prst="bentConnector2">
            <a:avLst/>
          </a:prstGeom>
          <a:ln>
            <a:tailEnd type="triangle"/>
          </a:ln>
        </p:spPr>
        <p:style>
          <a:lnRef idx="1">
            <a:schemeClr val="accent2"/>
          </a:lnRef>
          <a:fillRef idx="0">
            <a:schemeClr val="accent2"/>
          </a:fillRef>
          <a:effectRef idx="0">
            <a:schemeClr val="accent2"/>
          </a:effectRef>
          <a:fontRef idx="minor">
            <a:schemeClr val="tx1"/>
          </a:fontRef>
        </p:style>
      </p:cxnSp>
      <p:sp>
        <p:nvSpPr>
          <p:cNvPr id="107" name="ZoneTexte 106">
            <a:extLst>
              <a:ext uri="{FF2B5EF4-FFF2-40B4-BE49-F238E27FC236}">
                <a16:creationId xmlns:a16="http://schemas.microsoft.com/office/drawing/2014/main" id="{978ED333-486C-4AAF-9A0D-DF8E92989602}"/>
              </a:ext>
            </a:extLst>
          </p:cNvPr>
          <p:cNvSpPr txBox="1"/>
          <p:nvPr/>
        </p:nvSpPr>
        <p:spPr>
          <a:xfrm>
            <a:off x="8274660" y="5356518"/>
            <a:ext cx="1267274" cy="1015663"/>
          </a:xfrm>
          <a:prstGeom prst="rect">
            <a:avLst/>
          </a:prstGeom>
          <a:noFill/>
          <a:ln>
            <a:solidFill>
              <a:schemeClr val="accent2"/>
            </a:solidFill>
          </a:ln>
        </p:spPr>
        <p:txBody>
          <a:bodyPr wrap="square" rtlCol="0">
            <a:spAutoFit/>
          </a:bodyPr>
          <a:lstStyle/>
          <a:p>
            <a:r>
              <a:rPr lang="fr-FR" sz="1200" dirty="0" err="1"/>
              <a:t>We</a:t>
            </a:r>
            <a:r>
              <a:rPr lang="fr-FR" sz="1200" dirty="0"/>
              <a:t> </a:t>
            </a:r>
            <a:r>
              <a:rPr lang="fr-FR" sz="1200" dirty="0" err="1"/>
              <a:t>perform</a:t>
            </a:r>
            <a:r>
              <a:rPr lang="fr-FR" sz="1200" dirty="0"/>
              <a:t> </a:t>
            </a:r>
            <a:r>
              <a:rPr lang="fr-FR" sz="1200" dirty="0" err="1"/>
              <a:t>fPCA</a:t>
            </a:r>
            <a:r>
              <a:rPr lang="fr-FR" sz="1200" dirty="0"/>
              <a:t> </a:t>
            </a:r>
            <a:r>
              <a:rPr lang="fr-FR" sz="1200" dirty="0" err="1"/>
              <a:t>independently</a:t>
            </a:r>
            <a:r>
              <a:rPr lang="fr-FR" sz="1200" dirty="0"/>
              <a:t> on </a:t>
            </a:r>
            <a:r>
              <a:rPr lang="fr-FR" sz="1200" dirty="0" err="1"/>
              <a:t>each</a:t>
            </a:r>
            <a:r>
              <a:rPr lang="fr-FR" sz="1200" dirty="0"/>
              <a:t> variable</a:t>
            </a:r>
          </a:p>
        </p:txBody>
      </p:sp>
      <p:graphicFrame>
        <p:nvGraphicFramePr>
          <p:cNvPr id="108" name="Tableau 108">
            <a:extLst>
              <a:ext uri="{FF2B5EF4-FFF2-40B4-BE49-F238E27FC236}">
                <a16:creationId xmlns:a16="http://schemas.microsoft.com/office/drawing/2014/main" id="{C8B04203-005B-441C-ABA6-A588E54D9627}"/>
              </a:ext>
            </a:extLst>
          </p:cNvPr>
          <p:cNvGraphicFramePr>
            <a:graphicFrameLocks noGrp="1"/>
          </p:cNvGraphicFramePr>
          <p:nvPr>
            <p:extLst>
              <p:ext uri="{D42A27DB-BD31-4B8C-83A1-F6EECF244321}">
                <p14:modId xmlns:p14="http://schemas.microsoft.com/office/powerpoint/2010/main" val="122648965"/>
              </p:ext>
            </p:extLst>
          </p:nvPr>
        </p:nvGraphicFramePr>
        <p:xfrm>
          <a:off x="8238069" y="2611205"/>
          <a:ext cx="3708400" cy="1368128"/>
        </p:xfrm>
        <a:graphic>
          <a:graphicData uri="http://schemas.openxmlformats.org/drawingml/2006/table">
            <a:tbl>
              <a:tblPr firstRow="1" bandRow="1">
                <a:tableStyleId>{21E4AEA4-8DFA-4A89-87EB-49C32662AFE0}</a:tableStyleId>
              </a:tblPr>
              <a:tblGrid>
                <a:gridCol w="927100">
                  <a:extLst>
                    <a:ext uri="{9D8B030D-6E8A-4147-A177-3AD203B41FA5}">
                      <a16:colId xmlns:a16="http://schemas.microsoft.com/office/drawing/2014/main" val="4211775319"/>
                    </a:ext>
                  </a:extLst>
                </a:gridCol>
                <a:gridCol w="927100">
                  <a:extLst>
                    <a:ext uri="{9D8B030D-6E8A-4147-A177-3AD203B41FA5}">
                      <a16:colId xmlns:a16="http://schemas.microsoft.com/office/drawing/2014/main" val="2954494330"/>
                    </a:ext>
                  </a:extLst>
                </a:gridCol>
                <a:gridCol w="927100">
                  <a:extLst>
                    <a:ext uri="{9D8B030D-6E8A-4147-A177-3AD203B41FA5}">
                      <a16:colId xmlns:a16="http://schemas.microsoft.com/office/drawing/2014/main" val="2564078823"/>
                    </a:ext>
                  </a:extLst>
                </a:gridCol>
                <a:gridCol w="927100">
                  <a:extLst>
                    <a:ext uri="{9D8B030D-6E8A-4147-A177-3AD203B41FA5}">
                      <a16:colId xmlns:a16="http://schemas.microsoft.com/office/drawing/2014/main" val="3576557175"/>
                    </a:ext>
                  </a:extLst>
                </a:gridCol>
              </a:tblGrid>
              <a:tr h="327675">
                <a:tc>
                  <a:txBody>
                    <a:bodyPr/>
                    <a:lstStyle/>
                    <a:p>
                      <a:endParaRPr lang="fr-FR" sz="1200" dirty="0"/>
                    </a:p>
                  </a:txBody>
                  <a:tcPr/>
                </a:tc>
                <a:tc>
                  <a:txBody>
                    <a:bodyPr/>
                    <a:lstStyle/>
                    <a:p>
                      <a:r>
                        <a:rPr lang="fr-FR" sz="1200" dirty="0"/>
                        <a:t>fPC1_var1</a:t>
                      </a:r>
                      <a:endParaRPr lang="fr-FR" dirty="0"/>
                    </a:p>
                  </a:txBody>
                  <a:tcPr/>
                </a:tc>
                <a:tc>
                  <a:txBody>
                    <a:bodyPr/>
                    <a:lstStyle/>
                    <a:p>
                      <a:r>
                        <a:rPr lang="fr-FR" sz="1200" dirty="0"/>
                        <a:t>fPC1_var2</a:t>
                      </a:r>
                    </a:p>
                  </a:txBody>
                  <a:tcPr/>
                </a:tc>
                <a:tc>
                  <a:txBody>
                    <a:bodyPr/>
                    <a:lstStyle/>
                    <a:p>
                      <a:r>
                        <a:rPr lang="fr-FR" sz="1200" dirty="0"/>
                        <a:t>…</a:t>
                      </a:r>
                    </a:p>
                  </a:txBody>
                  <a:tcPr/>
                </a:tc>
                <a:extLst>
                  <a:ext uri="{0D108BD9-81ED-4DB2-BD59-A6C34878D82A}">
                    <a16:rowId xmlns:a16="http://schemas.microsoft.com/office/drawing/2014/main" val="3079805889"/>
                  </a:ext>
                </a:extLst>
              </a:tr>
              <a:tr h="327675">
                <a:tc>
                  <a:txBody>
                    <a:bodyPr/>
                    <a:lstStyle/>
                    <a:p>
                      <a:pPr algn="ctr"/>
                      <a:r>
                        <a:rPr lang="fr-FR" sz="1200" dirty="0"/>
                        <a:t>IDF</a:t>
                      </a:r>
                      <a:endParaRPr lang="fr-FR" dirty="0"/>
                    </a:p>
                  </a:txBody>
                  <a:tcPr/>
                </a:tc>
                <a:tc>
                  <a:txBody>
                    <a:bodyPr/>
                    <a:lstStyle/>
                    <a:p>
                      <a:r>
                        <a:rPr lang="fr-FR" sz="1200" dirty="0"/>
                        <a:t>xx</a:t>
                      </a:r>
                    </a:p>
                  </a:txBody>
                  <a:tcPr/>
                </a:tc>
                <a:tc>
                  <a:txBody>
                    <a:bodyPr/>
                    <a:lstStyle/>
                    <a:p>
                      <a:r>
                        <a:rPr lang="fr-FR" sz="1200" dirty="0"/>
                        <a:t>xx</a:t>
                      </a:r>
                    </a:p>
                  </a:txBody>
                  <a:tcPr/>
                </a:tc>
                <a:tc>
                  <a:txBody>
                    <a:bodyPr/>
                    <a:lstStyle/>
                    <a:p>
                      <a:r>
                        <a:rPr lang="fr-FR" sz="1200" dirty="0"/>
                        <a:t>xx</a:t>
                      </a:r>
                    </a:p>
                  </a:txBody>
                  <a:tcPr/>
                </a:tc>
                <a:extLst>
                  <a:ext uri="{0D108BD9-81ED-4DB2-BD59-A6C34878D82A}">
                    <a16:rowId xmlns:a16="http://schemas.microsoft.com/office/drawing/2014/main" val="510871132"/>
                  </a:ext>
                </a:extLst>
              </a:tr>
              <a:tr h="327675">
                <a:tc>
                  <a:txBody>
                    <a:bodyPr/>
                    <a:lstStyle/>
                    <a:p>
                      <a:pPr algn="ctr"/>
                      <a:r>
                        <a:rPr lang="fr-FR" sz="1200" dirty="0"/>
                        <a:t>PACA</a:t>
                      </a:r>
                    </a:p>
                  </a:txBody>
                  <a:tcPr/>
                </a:tc>
                <a:tc>
                  <a:txBody>
                    <a:bodyPr/>
                    <a:lstStyle/>
                    <a:p>
                      <a:r>
                        <a:rPr lang="fr-FR" sz="1200" dirty="0"/>
                        <a:t>xx</a:t>
                      </a:r>
                    </a:p>
                  </a:txBody>
                  <a:tcPr/>
                </a:tc>
                <a:tc>
                  <a:txBody>
                    <a:bodyPr/>
                    <a:lstStyle/>
                    <a:p>
                      <a:r>
                        <a:rPr lang="fr-FR" sz="1200" dirty="0"/>
                        <a:t>xx</a:t>
                      </a:r>
                    </a:p>
                  </a:txBody>
                  <a:tcPr/>
                </a:tc>
                <a:tc>
                  <a:txBody>
                    <a:bodyPr/>
                    <a:lstStyle/>
                    <a:p>
                      <a:r>
                        <a:rPr lang="fr-FR" sz="1200" dirty="0"/>
                        <a:t>xx</a:t>
                      </a:r>
                    </a:p>
                  </a:txBody>
                  <a:tcPr/>
                </a:tc>
                <a:extLst>
                  <a:ext uri="{0D108BD9-81ED-4DB2-BD59-A6C34878D82A}">
                    <a16:rowId xmlns:a16="http://schemas.microsoft.com/office/drawing/2014/main" val="1286790916"/>
                  </a:ext>
                </a:extLst>
              </a:tr>
              <a:tr h="385103">
                <a:tc>
                  <a:txBody>
                    <a:bodyPr/>
                    <a:lstStyle/>
                    <a:p>
                      <a:pPr algn="ctr"/>
                      <a:r>
                        <a:rPr lang="fr-FR" sz="1200" dirty="0"/>
                        <a:t>…</a:t>
                      </a:r>
                      <a:endParaRPr lang="fr-FR" dirty="0"/>
                    </a:p>
                  </a:txBody>
                  <a:tcPr/>
                </a:tc>
                <a:tc>
                  <a:txBody>
                    <a:bodyPr/>
                    <a:lstStyle/>
                    <a:p>
                      <a:r>
                        <a:rPr lang="fr-FR" sz="1200" dirty="0"/>
                        <a:t>…</a:t>
                      </a:r>
                    </a:p>
                  </a:txBody>
                  <a:tcPr/>
                </a:tc>
                <a:tc>
                  <a:txBody>
                    <a:bodyPr/>
                    <a:lstStyle/>
                    <a:p>
                      <a:r>
                        <a:rPr lang="fr-FR" sz="1200" dirty="0"/>
                        <a:t>…</a:t>
                      </a:r>
                    </a:p>
                  </a:txBody>
                  <a:tcPr/>
                </a:tc>
                <a:tc>
                  <a:txBody>
                    <a:bodyPr/>
                    <a:lstStyle/>
                    <a:p>
                      <a:r>
                        <a:rPr lang="fr-FR" sz="1200" dirty="0"/>
                        <a:t>…</a:t>
                      </a:r>
                      <a:endParaRPr lang="fr-FR" dirty="0"/>
                    </a:p>
                  </a:txBody>
                  <a:tcPr/>
                </a:tc>
                <a:extLst>
                  <a:ext uri="{0D108BD9-81ED-4DB2-BD59-A6C34878D82A}">
                    <a16:rowId xmlns:a16="http://schemas.microsoft.com/office/drawing/2014/main" val="100650544"/>
                  </a:ext>
                </a:extLst>
              </a:tr>
            </a:tbl>
          </a:graphicData>
        </a:graphic>
      </p:graphicFrame>
    </p:spTree>
    <p:extLst>
      <p:ext uri="{BB962C8B-B14F-4D97-AF65-F5344CB8AC3E}">
        <p14:creationId xmlns:p14="http://schemas.microsoft.com/office/powerpoint/2010/main" val="2563372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err="1"/>
              <a:t>Functional</a:t>
            </a:r>
            <a:r>
              <a:rPr lang="fr-FR" sz="2800" dirty="0"/>
              <a:t> Principal Component Analysis</a:t>
            </a:r>
            <a:r>
              <a:rPr lang="fr-FR" sz="2800" baseline="30000" dirty="0"/>
              <a:t>1</a:t>
            </a:r>
          </a:p>
        </p:txBody>
      </p:sp>
      <p:sp>
        <p:nvSpPr>
          <p:cNvPr id="6" name="Espace réservé du texte 5">
            <a:extLst>
              <a:ext uri="{FF2B5EF4-FFF2-40B4-BE49-F238E27FC236}">
                <a16:creationId xmlns:a16="http://schemas.microsoft.com/office/drawing/2014/main" id="{E71238A1-001B-4149-A8EC-705D1391B4FC}"/>
              </a:ext>
            </a:extLst>
          </p:cNvPr>
          <p:cNvSpPr>
            <a:spLocks noGrp="1"/>
          </p:cNvSpPr>
          <p:nvPr>
            <p:ph type="body" idx="1"/>
          </p:nvPr>
        </p:nvSpPr>
        <p:spPr>
          <a:xfrm>
            <a:off x="475722" y="576898"/>
            <a:ext cx="5157787" cy="523220"/>
          </a:xfrm>
        </p:spPr>
        <p:txBody>
          <a:bodyPr/>
          <a:lstStyle/>
          <a:p>
            <a:r>
              <a:rPr lang="fr-FR" dirty="0" err="1"/>
              <a:t>Classic</a:t>
            </a:r>
            <a:r>
              <a:rPr lang="fr-FR" dirty="0"/>
              <a:t> PCA</a:t>
            </a:r>
          </a:p>
        </p:txBody>
      </p:sp>
      <mc:AlternateContent xmlns:mc="http://schemas.openxmlformats.org/markup-compatibility/2006" xmlns:a14="http://schemas.microsoft.com/office/drawing/2010/main">
        <mc:Choice Requires="a14">
          <p:sp>
            <p:nvSpPr>
              <p:cNvPr id="7" name="Espace réservé du contenu 6">
                <a:extLst>
                  <a:ext uri="{FF2B5EF4-FFF2-40B4-BE49-F238E27FC236}">
                    <a16:creationId xmlns:a16="http://schemas.microsoft.com/office/drawing/2014/main" id="{DB40858F-0609-45DB-A279-DBCA7162D9FC}"/>
                  </a:ext>
                </a:extLst>
              </p:cNvPr>
              <p:cNvSpPr>
                <a:spLocks noGrp="1"/>
              </p:cNvSpPr>
              <p:nvPr>
                <p:ph sz="half" idx="2"/>
              </p:nvPr>
            </p:nvSpPr>
            <p:spPr>
              <a:xfrm>
                <a:off x="475721" y="1165349"/>
                <a:ext cx="5157787" cy="5303183"/>
              </a:xfrm>
              <a:ln>
                <a:solidFill>
                  <a:schemeClr val="tx1"/>
                </a:solidFill>
              </a:ln>
            </p:spPr>
            <p:txBody>
              <a:bodyPr/>
              <a:lstStyle/>
              <a:p>
                <a:r>
                  <a:rPr lang="fr-FR" sz="1600" u="sng" dirty="0"/>
                  <a:t>Data:</a:t>
                </a:r>
                <a:r>
                  <a:rPr lang="fr-FR" sz="1600" dirty="0"/>
                  <a:t>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𝑥</m:t>
                        </m:r>
                      </m:e>
                      <m:sub>
                        <m:r>
                          <a:rPr lang="fr-FR" sz="1600" b="0" i="1" smtClean="0">
                            <a:latin typeface="Cambria Math" panose="02040503050406030204" pitchFamily="18" charset="0"/>
                          </a:rPr>
                          <m:t>𝑖</m:t>
                        </m:r>
                      </m:sub>
                    </m:sSub>
                  </m:oMath>
                </a14:m>
                <a:r>
                  <a:rPr lang="fr-FR" sz="1600" dirty="0"/>
                  <a:t> a p*1 </a:t>
                </a:r>
                <a:r>
                  <a:rPr lang="fr-FR" sz="1600" dirty="0" err="1"/>
                  <a:t>vector</a:t>
                </a:r>
                <a:r>
                  <a:rPr lang="fr-FR" sz="1600" dirty="0"/>
                  <a:t> for an </a:t>
                </a:r>
                <a:r>
                  <a:rPr lang="fr-FR" sz="1600" dirty="0" err="1"/>
                  <a:t>individual</a:t>
                </a:r>
                <a:r>
                  <a:rPr lang="fr-FR" sz="1600" dirty="0"/>
                  <a:t> i </a:t>
                </a:r>
                <a:r>
                  <a:rPr lang="fr-FR" sz="1600" dirty="0" err="1"/>
                  <a:t>with</a:t>
                </a:r>
                <a:r>
                  <a:rPr lang="fr-FR" sz="1600" dirty="0"/>
                  <a:t> p </a:t>
                </a:r>
                <a:r>
                  <a:rPr lang="fr-FR" sz="1600" dirty="0" err="1"/>
                  <a:t>numeric</a:t>
                </a:r>
                <a:r>
                  <a:rPr lang="fr-FR" sz="1600" dirty="0"/>
                  <a:t> </a:t>
                </a:r>
                <a:r>
                  <a:rPr lang="fr-FR" sz="1600" dirty="0" err="1"/>
                  <a:t>measures</a:t>
                </a:r>
                <a:r>
                  <a:rPr lang="fr-FR" sz="1600" dirty="0"/>
                  <a:t>. </a:t>
                </a:r>
                <a14:m>
                  <m:oMath xmlns:m="http://schemas.openxmlformats.org/officeDocument/2006/math">
                    <m:r>
                      <a:rPr lang="fr-FR" sz="1600" i="1">
                        <a:latin typeface="Cambria Math" panose="02040503050406030204" pitchFamily="18" charset="0"/>
                      </a:rPr>
                      <m:t>𝑋</m:t>
                    </m:r>
                  </m:oMath>
                </a14:m>
                <a:r>
                  <a:rPr lang="fr-FR" sz="1600" dirty="0"/>
                  <a:t> is the </a:t>
                </a:r>
                <a:r>
                  <a:rPr lang="fr-FR" sz="1600" dirty="0" err="1"/>
                  <a:t>standardized</a:t>
                </a:r>
                <a:r>
                  <a:rPr lang="fr-FR" sz="1600" dirty="0"/>
                  <a:t> matrix of data.</a:t>
                </a:r>
              </a:p>
              <a:p>
                <a:r>
                  <a:rPr lang="fr-FR" sz="1600" u="sng" dirty="0" err="1"/>
                  <a:t>Scalar</a:t>
                </a:r>
                <a:r>
                  <a:rPr lang="fr-FR" sz="1600" u="sng" dirty="0"/>
                  <a:t> </a:t>
                </a:r>
                <a:r>
                  <a:rPr lang="fr-FR" sz="1600" u="sng" dirty="0" err="1"/>
                  <a:t>product</a:t>
                </a:r>
                <a:r>
                  <a:rPr lang="fr-FR" sz="1600" u="sng" dirty="0"/>
                  <a:t>:</a:t>
                </a:r>
                <a:r>
                  <a:rPr lang="fr-FR" sz="1600" dirty="0"/>
                  <a:t> </a:t>
                </a:r>
                <a14:m>
                  <m:oMath xmlns:m="http://schemas.openxmlformats.org/officeDocument/2006/math">
                    <m:r>
                      <a:rPr lang="fr-FR" sz="1600" b="0" i="1" smtClean="0">
                        <a:latin typeface="Cambria Math" panose="02040503050406030204" pitchFamily="18" charset="0"/>
                      </a:rPr>
                      <m:t>𝑥</m:t>
                    </m:r>
                    <m:r>
                      <a:rPr lang="fr-FR" sz="1600" b="0" i="1" smtClean="0">
                        <a:latin typeface="Cambria Math" panose="02040503050406030204" pitchFamily="18" charset="0"/>
                      </a:rPr>
                      <m:t>=</m:t>
                    </m:r>
                    <m:sSup>
                      <m:sSupPr>
                        <m:ctrlPr>
                          <a:rPr lang="fr-FR" sz="1600" b="0" i="1" smtClean="0">
                            <a:latin typeface="Cambria Math" panose="02040503050406030204" pitchFamily="18" charset="0"/>
                          </a:rPr>
                        </m:ctrlPr>
                      </m:sSupPr>
                      <m:e>
                        <m:d>
                          <m:dPr>
                            <m:ctrlPr>
                              <a:rPr lang="fr-FR" sz="1600" i="1">
                                <a:latin typeface="Cambria Math" panose="02040503050406030204" pitchFamily="18" charset="0"/>
                              </a:rPr>
                            </m:ctrlPr>
                          </m:dPr>
                          <m:e>
                            <m:sSub>
                              <m:sSubPr>
                                <m:ctrlPr>
                                  <a:rPr lang="fr-FR" sz="1600" i="1">
                                    <a:latin typeface="Cambria Math" panose="02040503050406030204" pitchFamily="18" charset="0"/>
                                  </a:rPr>
                                </m:ctrlPr>
                              </m:sSubPr>
                              <m:e>
                                <m:r>
                                  <a:rPr lang="fr-FR" sz="1600" i="1">
                                    <a:latin typeface="Cambria Math" panose="02040503050406030204" pitchFamily="18" charset="0"/>
                                  </a:rPr>
                                  <m:t>𝑥</m:t>
                                </m:r>
                              </m:e>
                              <m:sub>
                                <m:r>
                                  <a:rPr lang="fr-FR" sz="1600" i="1">
                                    <a:latin typeface="Cambria Math" panose="02040503050406030204" pitchFamily="18" charset="0"/>
                                  </a:rPr>
                                  <m:t>1</m:t>
                                </m:r>
                              </m:sub>
                            </m:sSub>
                            <m:r>
                              <a:rPr lang="fr-FR" sz="1600" i="1">
                                <a:latin typeface="Cambria Math" panose="02040503050406030204" pitchFamily="18" charset="0"/>
                              </a:rPr>
                              <m:t>,  …,</m:t>
                            </m:r>
                            <m:sSub>
                              <m:sSubPr>
                                <m:ctrlPr>
                                  <a:rPr lang="fr-FR" sz="1600" i="1">
                                    <a:latin typeface="Cambria Math" panose="02040503050406030204" pitchFamily="18" charset="0"/>
                                  </a:rPr>
                                </m:ctrlPr>
                              </m:sSubPr>
                              <m:e>
                                <m:r>
                                  <a:rPr lang="fr-FR" sz="1600" i="1">
                                    <a:latin typeface="Cambria Math" panose="02040503050406030204" pitchFamily="18" charset="0"/>
                                  </a:rPr>
                                  <m:t>𝑥</m:t>
                                </m:r>
                              </m:e>
                              <m:sub>
                                <m:r>
                                  <a:rPr lang="fr-FR" sz="1600" i="1">
                                    <a:latin typeface="Cambria Math" panose="02040503050406030204" pitchFamily="18" charset="0"/>
                                  </a:rPr>
                                  <m:t>𝑛</m:t>
                                </m:r>
                              </m:sub>
                            </m:sSub>
                          </m:e>
                        </m:d>
                      </m:e>
                      <m:sup>
                        <m:r>
                          <a:rPr lang="fr-FR" sz="1600" b="0" i="1" smtClean="0">
                            <a:latin typeface="Cambria Math" panose="02040503050406030204" pitchFamily="18" charset="0"/>
                          </a:rPr>
                          <m:t>𝑇</m:t>
                        </m:r>
                      </m:sup>
                    </m:sSup>
                  </m:oMath>
                </a14:m>
                <a:r>
                  <a:rPr lang="fr-FR" sz="1600" dirty="0"/>
                  <a:t> and</a:t>
                </a:r>
                <a14:m>
                  <m:oMath xmlns:m="http://schemas.openxmlformats.org/officeDocument/2006/math">
                    <m:r>
                      <a:rPr lang="fr-FR" sz="1600" b="0" i="0" smtClean="0">
                        <a:latin typeface="Cambria Math" panose="02040503050406030204" pitchFamily="18" charset="0"/>
                      </a:rPr>
                      <m:t> </m:t>
                    </m:r>
                    <m:r>
                      <a:rPr lang="fr-FR" sz="1600" i="1">
                        <a:latin typeface="Cambria Math" panose="02040503050406030204" pitchFamily="18" charset="0"/>
                      </a:rPr>
                      <m:t>𝑦</m:t>
                    </m:r>
                    <m:r>
                      <a:rPr lang="fr-FR" sz="1600" i="1">
                        <a:latin typeface="Cambria Math" panose="02040503050406030204" pitchFamily="18" charset="0"/>
                      </a:rPr>
                      <m:t>=</m:t>
                    </m:r>
                    <m:d>
                      <m:dPr>
                        <m:ctrlPr>
                          <a:rPr lang="fr-FR" sz="1600" i="1">
                            <a:latin typeface="Cambria Math" panose="02040503050406030204" pitchFamily="18" charset="0"/>
                          </a:rPr>
                        </m:ctrlPr>
                      </m:dPr>
                      <m:e>
                        <m:sSub>
                          <m:sSubPr>
                            <m:ctrlPr>
                              <a:rPr lang="fr-FR" sz="1600" i="1">
                                <a:latin typeface="Cambria Math" panose="02040503050406030204" pitchFamily="18" charset="0"/>
                              </a:rPr>
                            </m:ctrlPr>
                          </m:sSubPr>
                          <m:e>
                            <m:r>
                              <a:rPr lang="fr-FR" sz="1600" b="0" i="1" smtClean="0">
                                <a:latin typeface="Cambria Math" panose="02040503050406030204" pitchFamily="18" charset="0"/>
                              </a:rPr>
                              <m:t>𝑦</m:t>
                            </m:r>
                          </m:e>
                          <m:sub>
                            <m:r>
                              <a:rPr lang="fr-FR" sz="1600" i="1">
                                <a:latin typeface="Cambria Math" panose="02040503050406030204" pitchFamily="18" charset="0"/>
                              </a:rPr>
                              <m:t>1</m:t>
                            </m:r>
                          </m:sub>
                        </m:sSub>
                        <m:r>
                          <a:rPr lang="fr-FR" sz="1600" i="1">
                            <a:latin typeface="Cambria Math" panose="02040503050406030204" pitchFamily="18" charset="0"/>
                          </a:rPr>
                          <m:t>,  …,</m:t>
                        </m:r>
                        <m:sSub>
                          <m:sSubPr>
                            <m:ctrlPr>
                              <a:rPr lang="fr-FR" sz="1600" i="1">
                                <a:latin typeface="Cambria Math" panose="02040503050406030204" pitchFamily="18" charset="0"/>
                              </a:rPr>
                            </m:ctrlPr>
                          </m:sSubPr>
                          <m:e>
                            <m:r>
                              <a:rPr lang="fr-FR" sz="1600" b="0" i="1" smtClean="0">
                                <a:latin typeface="Cambria Math" panose="02040503050406030204" pitchFamily="18" charset="0"/>
                              </a:rPr>
                              <m:t>𝑦</m:t>
                            </m:r>
                          </m:e>
                          <m:sub>
                            <m:r>
                              <a:rPr lang="fr-FR" sz="1600" i="1">
                                <a:latin typeface="Cambria Math" panose="02040503050406030204" pitchFamily="18" charset="0"/>
                              </a:rPr>
                              <m:t>𝑛</m:t>
                            </m:r>
                          </m:sub>
                        </m:sSub>
                      </m:e>
                    </m:d>
                    <m:r>
                      <a:rPr lang="fr-FR" sz="1600" b="0" i="1" baseline="30000" smtClean="0">
                        <a:latin typeface="Cambria Math" panose="02040503050406030204" pitchFamily="18" charset="0"/>
                      </a:rPr>
                      <m:t>𝑇</m:t>
                    </m:r>
                  </m:oMath>
                </a14:m>
                <a:r>
                  <a:rPr lang="fr-FR" sz="1600" dirty="0"/>
                  <a:t>, </a:t>
                </a:r>
                <a14:m>
                  <m:oMath xmlns:m="http://schemas.openxmlformats.org/officeDocument/2006/math">
                    <m:d>
                      <m:dPr>
                        <m:begChr m:val="⟨"/>
                        <m:endChr m:val="⟩"/>
                        <m:ctrlPr>
                          <a:rPr lang="fr-FR" sz="1600" b="1" i="1" smtClean="0">
                            <a:latin typeface="Cambria Math" panose="02040503050406030204" pitchFamily="18" charset="0"/>
                          </a:rPr>
                        </m:ctrlPr>
                      </m:dPr>
                      <m:e>
                        <m:r>
                          <a:rPr lang="fr-FR" sz="1600" b="1" i="1" smtClean="0">
                            <a:latin typeface="Cambria Math" panose="02040503050406030204" pitchFamily="18" charset="0"/>
                          </a:rPr>
                          <m:t>𝒙</m:t>
                        </m:r>
                      </m:e>
                      <m:e>
                        <m:r>
                          <a:rPr lang="fr-FR" sz="1600" b="1" i="1" smtClean="0">
                            <a:latin typeface="Cambria Math" panose="02040503050406030204" pitchFamily="18" charset="0"/>
                          </a:rPr>
                          <m:t>𝒚</m:t>
                        </m:r>
                      </m:e>
                    </m:d>
                    <m:r>
                      <a:rPr lang="fr-FR" sz="1600" b="1" i="1" smtClean="0">
                        <a:latin typeface="Cambria Math" panose="02040503050406030204" pitchFamily="18" charset="0"/>
                      </a:rPr>
                      <m:t>= </m:t>
                    </m:r>
                    <m:nary>
                      <m:naryPr>
                        <m:chr m:val="∑"/>
                        <m:ctrlPr>
                          <a:rPr lang="fr-FR" sz="1600" b="1" i="1" smtClean="0">
                            <a:latin typeface="Cambria Math" panose="02040503050406030204" pitchFamily="18" charset="0"/>
                          </a:rPr>
                        </m:ctrlPr>
                      </m:naryPr>
                      <m:sub>
                        <m:r>
                          <m:rPr>
                            <m:brk m:alnAt="23"/>
                          </m:rPr>
                          <a:rPr lang="fr-FR" sz="1600" b="1" i="1" smtClean="0">
                            <a:latin typeface="Cambria Math" panose="02040503050406030204" pitchFamily="18" charset="0"/>
                          </a:rPr>
                          <m:t>𝒊</m:t>
                        </m:r>
                        <m:r>
                          <a:rPr lang="fr-FR" sz="1600" b="1" i="1" smtClean="0">
                            <a:latin typeface="Cambria Math" panose="02040503050406030204" pitchFamily="18" charset="0"/>
                          </a:rPr>
                          <m:t>=</m:t>
                        </m:r>
                        <m:r>
                          <a:rPr lang="fr-FR" sz="1600" b="1" i="1" smtClean="0">
                            <a:latin typeface="Cambria Math" panose="02040503050406030204" pitchFamily="18" charset="0"/>
                          </a:rPr>
                          <m:t>𝟏</m:t>
                        </m:r>
                      </m:sub>
                      <m:sup>
                        <m:r>
                          <a:rPr lang="fr-FR" sz="1600" b="1" i="1" smtClean="0">
                            <a:latin typeface="Cambria Math" panose="02040503050406030204" pitchFamily="18" charset="0"/>
                          </a:rPr>
                          <m:t>𝒏</m:t>
                        </m:r>
                      </m:sup>
                      <m:e>
                        <m:sSub>
                          <m:sSubPr>
                            <m:ctrlPr>
                              <a:rPr lang="fr-FR" sz="1600" b="1" i="1" smtClean="0">
                                <a:latin typeface="Cambria Math" panose="02040503050406030204" pitchFamily="18" charset="0"/>
                              </a:rPr>
                            </m:ctrlPr>
                          </m:sSubPr>
                          <m:e>
                            <m:r>
                              <a:rPr lang="fr-FR" sz="1600" b="1" i="1" smtClean="0">
                                <a:latin typeface="Cambria Math" panose="02040503050406030204" pitchFamily="18" charset="0"/>
                              </a:rPr>
                              <m:t>𝒙</m:t>
                            </m:r>
                          </m:e>
                          <m:sub>
                            <m:r>
                              <a:rPr lang="fr-FR" sz="1600" b="1" i="1" smtClean="0">
                                <a:latin typeface="Cambria Math" panose="02040503050406030204" pitchFamily="18" charset="0"/>
                              </a:rPr>
                              <m:t>𝒊</m:t>
                            </m:r>
                          </m:sub>
                        </m:sSub>
                        <m:sSub>
                          <m:sSubPr>
                            <m:ctrlPr>
                              <a:rPr lang="fr-FR" sz="1600" b="1" i="1" smtClean="0">
                                <a:latin typeface="Cambria Math" panose="02040503050406030204" pitchFamily="18" charset="0"/>
                              </a:rPr>
                            </m:ctrlPr>
                          </m:sSubPr>
                          <m:e>
                            <m:r>
                              <a:rPr lang="fr-FR" sz="1600" b="1" i="1" smtClean="0">
                                <a:latin typeface="Cambria Math" panose="02040503050406030204" pitchFamily="18" charset="0"/>
                              </a:rPr>
                              <m:t>𝒚</m:t>
                            </m:r>
                          </m:e>
                          <m:sub>
                            <m:r>
                              <a:rPr lang="fr-FR" sz="1600" b="1" i="1" smtClean="0">
                                <a:latin typeface="Cambria Math" panose="02040503050406030204" pitchFamily="18" charset="0"/>
                              </a:rPr>
                              <m:t>𝒊</m:t>
                            </m:r>
                          </m:sub>
                        </m:sSub>
                      </m:e>
                    </m:nary>
                    <m:r>
                      <a:rPr lang="fr-FR" sz="1600" b="1" i="1" smtClean="0">
                        <a:latin typeface="Cambria Math" panose="02040503050406030204" pitchFamily="18" charset="0"/>
                      </a:rPr>
                      <m:t>=</m:t>
                    </m:r>
                    <m:r>
                      <a:rPr lang="fr-FR" sz="1600" b="1" i="1" smtClean="0">
                        <a:latin typeface="Cambria Math" panose="02040503050406030204" pitchFamily="18" charset="0"/>
                      </a:rPr>
                      <m:t>𝒙𝑻𝒚</m:t>
                    </m:r>
                  </m:oMath>
                </a14:m>
                <a:endParaRPr lang="fr-FR" sz="1600" b="1" dirty="0"/>
              </a:p>
              <a:p>
                <a:r>
                  <a:rPr lang="fr-FR" sz="1600" u="sng" dirty="0" err="1"/>
                  <a:t>Norm</a:t>
                </a:r>
                <a:r>
                  <a:rPr lang="fr-FR" sz="1600" u="sng" dirty="0"/>
                  <a:t>:</a:t>
                </a:r>
                <a:r>
                  <a:rPr lang="fr-FR" sz="1600" dirty="0"/>
                  <a:t> </a:t>
                </a:r>
                <a14:m>
                  <m:oMath xmlns:m="http://schemas.openxmlformats.org/officeDocument/2006/math">
                    <m:r>
                      <a:rPr lang="fr-FR" sz="1600" b="0" i="1" smtClean="0">
                        <a:latin typeface="Cambria Math" panose="02040503050406030204" pitchFamily="18" charset="0"/>
                      </a:rPr>
                      <m:t>𝑥</m:t>
                    </m:r>
                    <m:r>
                      <a:rPr lang="fr-FR" sz="1600" b="0" i="1" smtClean="0">
                        <a:latin typeface="Cambria Math" panose="02040503050406030204" pitchFamily="18" charset="0"/>
                      </a:rPr>
                      <m:t>=</m:t>
                    </m:r>
                    <m:sSup>
                      <m:sSupPr>
                        <m:ctrlPr>
                          <a:rPr lang="fr-FR" sz="1600" b="0" i="1" smtClean="0">
                            <a:latin typeface="Cambria Math" panose="02040503050406030204" pitchFamily="18" charset="0"/>
                          </a:rPr>
                        </m:ctrlPr>
                      </m:sSupPr>
                      <m:e>
                        <m:d>
                          <m:dPr>
                            <m:ctrlPr>
                              <a:rPr lang="fr-FR" sz="1600" i="1">
                                <a:latin typeface="Cambria Math" panose="02040503050406030204" pitchFamily="18" charset="0"/>
                              </a:rPr>
                            </m:ctrlPr>
                          </m:dPr>
                          <m:e>
                            <m:sSub>
                              <m:sSubPr>
                                <m:ctrlPr>
                                  <a:rPr lang="fr-FR" sz="1600" i="1">
                                    <a:latin typeface="Cambria Math" panose="02040503050406030204" pitchFamily="18" charset="0"/>
                                  </a:rPr>
                                </m:ctrlPr>
                              </m:sSubPr>
                              <m:e>
                                <m:r>
                                  <a:rPr lang="fr-FR" sz="1600" i="1">
                                    <a:latin typeface="Cambria Math" panose="02040503050406030204" pitchFamily="18" charset="0"/>
                                  </a:rPr>
                                  <m:t>𝑥</m:t>
                                </m:r>
                              </m:e>
                              <m:sub>
                                <m:r>
                                  <a:rPr lang="fr-FR" sz="1600" i="1">
                                    <a:latin typeface="Cambria Math" panose="02040503050406030204" pitchFamily="18" charset="0"/>
                                  </a:rPr>
                                  <m:t>1</m:t>
                                </m:r>
                              </m:sub>
                            </m:sSub>
                            <m:r>
                              <a:rPr lang="fr-FR" sz="1600" i="1">
                                <a:latin typeface="Cambria Math" panose="02040503050406030204" pitchFamily="18" charset="0"/>
                              </a:rPr>
                              <m:t>,  …,</m:t>
                            </m:r>
                            <m:sSub>
                              <m:sSubPr>
                                <m:ctrlPr>
                                  <a:rPr lang="fr-FR" sz="1600" i="1">
                                    <a:latin typeface="Cambria Math" panose="02040503050406030204" pitchFamily="18" charset="0"/>
                                  </a:rPr>
                                </m:ctrlPr>
                              </m:sSubPr>
                              <m:e>
                                <m:r>
                                  <a:rPr lang="fr-FR" sz="1600" i="1">
                                    <a:latin typeface="Cambria Math" panose="02040503050406030204" pitchFamily="18" charset="0"/>
                                  </a:rPr>
                                  <m:t>𝑥</m:t>
                                </m:r>
                              </m:e>
                              <m:sub>
                                <m:r>
                                  <a:rPr lang="fr-FR" sz="1600" i="1">
                                    <a:latin typeface="Cambria Math" panose="02040503050406030204" pitchFamily="18" charset="0"/>
                                  </a:rPr>
                                  <m:t>𝑛</m:t>
                                </m:r>
                              </m:sub>
                            </m:sSub>
                          </m:e>
                        </m:d>
                      </m:e>
                      <m:sup>
                        <m:r>
                          <a:rPr lang="fr-FR" sz="1600" b="0" i="1" smtClean="0">
                            <a:latin typeface="Cambria Math" panose="02040503050406030204" pitchFamily="18" charset="0"/>
                          </a:rPr>
                          <m:t>𝑇</m:t>
                        </m:r>
                      </m:sup>
                    </m:sSup>
                  </m:oMath>
                </a14:m>
                <a:r>
                  <a:rPr lang="fr-FR" sz="1600" dirty="0"/>
                  <a:t>, </a:t>
                </a:r>
                <a14:m>
                  <m:oMath xmlns:m="http://schemas.openxmlformats.org/officeDocument/2006/math">
                    <m:r>
                      <a:rPr lang="fr-FR" sz="1600" b="1" i="1">
                        <a:latin typeface="Cambria Math" panose="02040503050406030204" pitchFamily="18" charset="0"/>
                        <a:ea typeface="Cambria Math" panose="02040503050406030204" pitchFamily="18" charset="0"/>
                      </a:rPr>
                      <m:t>∥</m:t>
                    </m:r>
                    <m:r>
                      <a:rPr lang="fr-FR" sz="1600" b="1" i="1" smtClean="0">
                        <a:latin typeface="Cambria Math" panose="02040503050406030204" pitchFamily="18" charset="0"/>
                      </a:rPr>
                      <m:t>𝒙</m:t>
                    </m:r>
                    <m:r>
                      <a:rPr lang="fr-FR" sz="1600" b="1" i="1">
                        <a:latin typeface="Cambria Math" panose="02040503050406030204" pitchFamily="18" charset="0"/>
                        <a:ea typeface="Cambria Math" panose="02040503050406030204" pitchFamily="18" charset="0"/>
                      </a:rPr>
                      <m:t>∥</m:t>
                    </m:r>
                    <m:r>
                      <a:rPr lang="fr-FR" sz="1600" b="1" i="1" smtClean="0">
                        <a:latin typeface="Cambria Math" panose="02040503050406030204" pitchFamily="18" charset="0"/>
                        <a:ea typeface="Cambria Math" panose="02040503050406030204" pitchFamily="18" charset="0"/>
                      </a:rPr>
                      <m:t>=</m:t>
                    </m:r>
                    <m:rad>
                      <m:radPr>
                        <m:degHide m:val="on"/>
                        <m:ctrlPr>
                          <a:rPr lang="fr-FR" sz="1600" b="1" i="1" smtClean="0">
                            <a:latin typeface="Cambria Math" panose="02040503050406030204" pitchFamily="18" charset="0"/>
                            <a:ea typeface="Cambria Math" panose="02040503050406030204" pitchFamily="18" charset="0"/>
                          </a:rPr>
                        </m:ctrlPr>
                      </m:radPr>
                      <m:deg/>
                      <m:e>
                        <m:d>
                          <m:dPr>
                            <m:begChr m:val="⟨"/>
                            <m:endChr m:val="⟩"/>
                            <m:ctrlPr>
                              <a:rPr lang="fr-FR" sz="1600" b="1" i="1">
                                <a:latin typeface="Cambria Math" panose="02040503050406030204" pitchFamily="18" charset="0"/>
                                <a:ea typeface="Cambria Math" panose="02040503050406030204" pitchFamily="18" charset="0"/>
                              </a:rPr>
                            </m:ctrlPr>
                          </m:dPr>
                          <m:e>
                            <m:r>
                              <a:rPr lang="fr-FR" sz="1600" b="1" i="1">
                                <a:latin typeface="Cambria Math" panose="02040503050406030204" pitchFamily="18" charset="0"/>
                                <a:ea typeface="Cambria Math" panose="02040503050406030204" pitchFamily="18" charset="0"/>
                              </a:rPr>
                              <m:t>𝒙</m:t>
                            </m:r>
                          </m:e>
                          <m:e>
                            <m:r>
                              <a:rPr lang="fr-FR" sz="1600" b="1" i="1">
                                <a:latin typeface="Cambria Math" panose="02040503050406030204" pitchFamily="18" charset="0"/>
                                <a:ea typeface="Cambria Math" panose="02040503050406030204" pitchFamily="18" charset="0"/>
                              </a:rPr>
                              <m:t>𝒙</m:t>
                            </m:r>
                          </m:e>
                        </m:d>
                      </m:e>
                    </m:rad>
                    <m:r>
                      <a:rPr lang="fr-FR" sz="1600" b="1" i="1" smtClean="0">
                        <a:latin typeface="Cambria Math" panose="02040503050406030204" pitchFamily="18" charset="0"/>
                        <a:ea typeface="Cambria Math" panose="02040503050406030204" pitchFamily="18" charset="0"/>
                      </a:rPr>
                      <m:t>=</m:t>
                    </m:r>
                    <m:rad>
                      <m:radPr>
                        <m:degHide m:val="on"/>
                        <m:ctrlPr>
                          <a:rPr lang="fr-FR" sz="1600" b="1" i="1" smtClean="0">
                            <a:latin typeface="Cambria Math" panose="02040503050406030204" pitchFamily="18" charset="0"/>
                            <a:ea typeface="Cambria Math" panose="02040503050406030204" pitchFamily="18" charset="0"/>
                          </a:rPr>
                        </m:ctrlPr>
                      </m:radPr>
                      <m:deg/>
                      <m:e>
                        <m:nary>
                          <m:naryPr>
                            <m:chr m:val="∑"/>
                            <m:ctrlPr>
                              <a:rPr lang="fr-FR" sz="1600" b="1" i="1" smtClean="0">
                                <a:latin typeface="Cambria Math" panose="02040503050406030204" pitchFamily="18" charset="0"/>
                                <a:ea typeface="Cambria Math" panose="02040503050406030204" pitchFamily="18" charset="0"/>
                              </a:rPr>
                            </m:ctrlPr>
                          </m:naryPr>
                          <m:sub>
                            <m:r>
                              <m:rPr>
                                <m:brk m:alnAt="23"/>
                              </m:rPr>
                              <a:rPr lang="fr-FR" sz="1600" b="1" i="1" smtClean="0">
                                <a:latin typeface="Cambria Math" panose="02040503050406030204" pitchFamily="18" charset="0"/>
                                <a:ea typeface="Cambria Math" panose="02040503050406030204" pitchFamily="18" charset="0"/>
                              </a:rPr>
                              <m:t>𝒊</m:t>
                            </m:r>
                            <m:r>
                              <a:rPr lang="fr-FR" sz="1600" b="1" i="1" smtClean="0">
                                <a:latin typeface="Cambria Math" panose="02040503050406030204" pitchFamily="18" charset="0"/>
                                <a:ea typeface="Cambria Math" panose="02040503050406030204" pitchFamily="18" charset="0"/>
                              </a:rPr>
                              <m:t>=</m:t>
                            </m:r>
                            <m:r>
                              <a:rPr lang="fr-FR" sz="1600" b="1" i="1" smtClean="0">
                                <a:latin typeface="Cambria Math" panose="02040503050406030204" pitchFamily="18" charset="0"/>
                                <a:ea typeface="Cambria Math" panose="02040503050406030204" pitchFamily="18" charset="0"/>
                              </a:rPr>
                              <m:t>𝟏</m:t>
                            </m:r>
                          </m:sub>
                          <m:sup>
                            <m:r>
                              <a:rPr lang="fr-FR" sz="1600" b="1" i="1" smtClean="0">
                                <a:latin typeface="Cambria Math" panose="02040503050406030204" pitchFamily="18" charset="0"/>
                                <a:ea typeface="Cambria Math" panose="02040503050406030204" pitchFamily="18" charset="0"/>
                              </a:rPr>
                              <m:t>𝒏</m:t>
                            </m:r>
                          </m:sup>
                          <m:e>
                            <m:sSup>
                              <m:sSupPr>
                                <m:ctrlPr>
                                  <a:rPr lang="fr-FR" sz="1600" b="1" i="1" smtClean="0">
                                    <a:latin typeface="Cambria Math" panose="02040503050406030204" pitchFamily="18" charset="0"/>
                                    <a:ea typeface="Cambria Math" panose="02040503050406030204" pitchFamily="18" charset="0"/>
                                  </a:rPr>
                                </m:ctrlPr>
                              </m:sSupPr>
                              <m:e>
                                <m:sSub>
                                  <m:sSubPr>
                                    <m:ctrlPr>
                                      <a:rPr lang="fr-FR" sz="1600" b="1" i="1" smtClean="0">
                                        <a:latin typeface="Cambria Math" panose="02040503050406030204" pitchFamily="18" charset="0"/>
                                        <a:ea typeface="Cambria Math" panose="02040503050406030204" pitchFamily="18" charset="0"/>
                                      </a:rPr>
                                    </m:ctrlPr>
                                  </m:sSubPr>
                                  <m:e>
                                    <m:r>
                                      <a:rPr lang="fr-FR" sz="1600" b="1" i="1" smtClean="0">
                                        <a:latin typeface="Cambria Math" panose="02040503050406030204" pitchFamily="18" charset="0"/>
                                        <a:ea typeface="Cambria Math" panose="02040503050406030204" pitchFamily="18" charset="0"/>
                                      </a:rPr>
                                      <m:t>𝒙</m:t>
                                    </m:r>
                                  </m:e>
                                  <m:sub>
                                    <m:r>
                                      <a:rPr lang="fr-FR" sz="1600" b="1" i="1" smtClean="0">
                                        <a:latin typeface="Cambria Math" panose="02040503050406030204" pitchFamily="18" charset="0"/>
                                        <a:ea typeface="Cambria Math" panose="02040503050406030204" pitchFamily="18" charset="0"/>
                                      </a:rPr>
                                      <m:t>𝒊</m:t>
                                    </m:r>
                                  </m:sub>
                                </m:sSub>
                              </m:e>
                              <m:sup>
                                <m:r>
                                  <a:rPr lang="fr-FR" sz="1600" b="1" i="1" smtClean="0">
                                    <a:latin typeface="Cambria Math" panose="02040503050406030204" pitchFamily="18" charset="0"/>
                                    <a:ea typeface="Cambria Math" panose="02040503050406030204" pitchFamily="18" charset="0"/>
                                  </a:rPr>
                                  <m:t>𝟐</m:t>
                                </m:r>
                              </m:sup>
                            </m:sSup>
                          </m:e>
                        </m:nary>
                      </m:e>
                    </m:rad>
                  </m:oMath>
                </a14:m>
                <a:endParaRPr lang="fr-FR" sz="1600" b="1" u="sng" dirty="0"/>
              </a:p>
              <a:p>
                <a:r>
                  <a:rPr lang="fr-FR" sz="1600" u="sng" dirty="0" err="1"/>
                  <a:t>Principle</a:t>
                </a:r>
                <a:r>
                  <a:rPr lang="fr-FR" sz="1600" u="sng" dirty="0"/>
                  <a:t>:</a:t>
                </a:r>
                <a:r>
                  <a:rPr lang="fr-FR" sz="1600" dirty="0"/>
                  <a:t> (i) </a:t>
                </a:r>
                <a:r>
                  <a:rPr lang="fr-FR" sz="1600" dirty="0" err="1"/>
                  <a:t>Find</a:t>
                </a:r>
                <a:r>
                  <a:rPr lang="fr-FR" sz="1600" dirty="0"/>
                  <a:t> the </a:t>
                </a:r>
                <a:r>
                  <a:rPr lang="fr-FR" sz="1600" dirty="0" err="1"/>
                  <a:t>weight</a:t>
                </a:r>
                <a:r>
                  <a:rPr lang="fr-FR" sz="1600" dirty="0"/>
                  <a:t> </a:t>
                </a:r>
                <a:r>
                  <a:rPr lang="fr-FR" sz="1600" dirty="0" err="1"/>
                  <a:t>vector</a:t>
                </a:r>
                <a:r>
                  <a:rPr lang="fr-FR" sz="1600" dirty="0"/>
                  <a:t> </a:t>
                </a:r>
                <a14:m>
                  <m:oMath xmlns:m="http://schemas.openxmlformats.org/officeDocument/2006/math">
                    <m:sSub>
                      <m:sSubPr>
                        <m:ctrlPr>
                          <a:rPr lang="fr-FR" sz="1600" i="1" smtClean="0">
                            <a:latin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𝜉</m:t>
                        </m:r>
                      </m:e>
                      <m:sub>
                        <m:r>
                          <a:rPr lang="fr-FR" sz="1600" b="0" i="1" smtClean="0">
                            <a:latin typeface="Cambria Math" panose="02040503050406030204" pitchFamily="18" charset="0"/>
                          </a:rPr>
                          <m:t>1</m:t>
                        </m:r>
                      </m:sub>
                    </m:sSub>
                    <m:r>
                      <a:rPr lang="fr-FR" sz="1600" b="0" i="1" smtClean="0">
                        <a:latin typeface="Cambria Math" panose="02040503050406030204" pitchFamily="18" charset="0"/>
                      </a:rPr>
                      <m:t>=</m:t>
                    </m:r>
                    <m:sSup>
                      <m:sSupPr>
                        <m:ctrlPr>
                          <a:rPr lang="fr-FR" sz="1600" b="0" i="1" smtClean="0">
                            <a:latin typeface="Cambria Math" panose="02040503050406030204" pitchFamily="18" charset="0"/>
                          </a:rPr>
                        </m:ctrlPr>
                      </m:sSupPr>
                      <m:e>
                        <m:r>
                          <a:rPr lang="fr-FR" sz="1600" i="1">
                            <a:latin typeface="Cambria Math" panose="02040503050406030204" pitchFamily="18" charset="0"/>
                          </a:rPr>
                          <m:t>(</m:t>
                        </m:r>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𝜉</m:t>
                            </m:r>
                          </m:e>
                          <m:sub>
                            <m:r>
                              <a:rPr lang="fr-FR" sz="1600" i="1">
                                <a:latin typeface="Cambria Math" panose="02040503050406030204" pitchFamily="18" charset="0"/>
                                <a:ea typeface="Cambria Math" panose="02040503050406030204" pitchFamily="18" charset="0"/>
                              </a:rPr>
                              <m:t>11</m:t>
                            </m:r>
                          </m:sub>
                        </m:sSub>
                        <m:r>
                          <a:rPr lang="fr-FR" sz="1600" i="1">
                            <a:latin typeface="Cambria Math" panose="02040503050406030204" pitchFamily="18" charset="0"/>
                          </a:rPr>
                          <m:t>,…,</m:t>
                        </m:r>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𝜉</m:t>
                            </m:r>
                          </m:e>
                          <m:sub>
                            <m:r>
                              <a:rPr lang="fr-FR" sz="1600" i="1">
                                <a:latin typeface="Cambria Math" panose="02040503050406030204" pitchFamily="18" charset="0"/>
                                <a:ea typeface="Cambria Math" panose="02040503050406030204" pitchFamily="18" charset="0"/>
                              </a:rPr>
                              <m:t>𝑝</m:t>
                            </m:r>
                            <m:r>
                              <a:rPr lang="fr-FR" sz="1600" i="1">
                                <a:latin typeface="Cambria Math" panose="02040503050406030204" pitchFamily="18" charset="0"/>
                                <a:ea typeface="Cambria Math" panose="02040503050406030204" pitchFamily="18" charset="0"/>
                              </a:rPr>
                              <m:t>1</m:t>
                            </m:r>
                          </m:sub>
                        </m:sSub>
                        <m:r>
                          <a:rPr lang="fr-FR" sz="1600" i="1">
                            <a:latin typeface="Cambria Math" panose="02040503050406030204" pitchFamily="18" charset="0"/>
                          </a:rPr>
                          <m:t>)</m:t>
                        </m:r>
                      </m:e>
                      <m:sup>
                        <m:r>
                          <a:rPr lang="fr-FR" sz="1600" b="0" i="1" smtClean="0">
                            <a:latin typeface="Cambria Math" panose="02040503050406030204" pitchFamily="18" charset="0"/>
                          </a:rPr>
                          <m:t>𝑇</m:t>
                        </m:r>
                      </m:sup>
                    </m:sSup>
                  </m:oMath>
                </a14:m>
                <a:r>
                  <a:rPr lang="fr-FR" sz="1600" u="sng" dirty="0"/>
                  <a:t> </a:t>
                </a:r>
                <a:r>
                  <a:rPr lang="fr-FR" sz="1600" dirty="0"/>
                  <a:t>for which the </a:t>
                </a:r>
                <a:r>
                  <a:rPr lang="fr-FR" sz="1600" dirty="0" err="1"/>
                  <a:t>linear</a:t>
                </a:r>
                <a:r>
                  <a:rPr lang="fr-FR" sz="1600" dirty="0"/>
                  <a:t> combination </a:t>
                </a:r>
                <a14:m>
                  <m:oMath xmlns:m="http://schemas.openxmlformats.org/officeDocument/2006/math">
                    <m:sSub>
                      <m:sSubPr>
                        <m:ctrlPr>
                          <a:rPr lang="fr-FR" sz="1600" b="1" i="1" smtClean="0">
                            <a:latin typeface="Cambria Math" panose="02040503050406030204" pitchFamily="18" charset="0"/>
                          </a:rPr>
                        </m:ctrlPr>
                      </m:sSubPr>
                      <m:e>
                        <m:r>
                          <a:rPr lang="fr-FR" sz="1600" b="1" i="1" smtClean="0">
                            <a:latin typeface="Cambria Math" panose="02040503050406030204" pitchFamily="18" charset="0"/>
                          </a:rPr>
                          <m:t>𝒇</m:t>
                        </m:r>
                      </m:e>
                      <m:sub>
                        <m:r>
                          <a:rPr lang="fr-FR" sz="1600" b="1" i="1" smtClean="0">
                            <a:latin typeface="Cambria Math" panose="02040503050406030204" pitchFamily="18" charset="0"/>
                          </a:rPr>
                          <m:t>𝒊</m:t>
                        </m:r>
                        <m:r>
                          <a:rPr lang="fr-FR" sz="1600" b="1" i="1" smtClean="0">
                            <a:latin typeface="Cambria Math" panose="02040503050406030204" pitchFamily="18" charset="0"/>
                          </a:rPr>
                          <m:t>𝟏</m:t>
                        </m:r>
                      </m:sub>
                    </m:sSub>
                    <m:r>
                      <a:rPr lang="fr-FR" sz="1600" b="1" i="1" smtClean="0">
                        <a:latin typeface="Cambria Math" panose="02040503050406030204" pitchFamily="18" charset="0"/>
                      </a:rPr>
                      <m:t>=</m:t>
                    </m:r>
                    <m:d>
                      <m:dPr>
                        <m:begChr m:val="⟨"/>
                        <m:endChr m:val="⟩"/>
                        <m:ctrlPr>
                          <a:rPr lang="fr-FR" sz="1600" b="1" i="1">
                            <a:latin typeface="Cambria Math" panose="02040503050406030204" pitchFamily="18" charset="0"/>
                          </a:rPr>
                        </m:ctrlPr>
                      </m:dPr>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a:latin typeface="Cambria Math" panose="02040503050406030204" pitchFamily="18" charset="0"/>
                              </a:rPr>
                              <m:t>𝟏</m:t>
                            </m:r>
                          </m:sub>
                        </m:sSub>
                      </m:e>
                      <m:e>
                        <m:sSub>
                          <m:sSubPr>
                            <m:ctrlPr>
                              <a:rPr lang="fr-FR" sz="1600" b="1" i="1">
                                <a:latin typeface="Cambria Math" panose="02040503050406030204" pitchFamily="18" charset="0"/>
                                <a:ea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𝒙</m:t>
                            </m:r>
                          </m:e>
                          <m:sub>
                            <m:r>
                              <a:rPr lang="fr-FR" sz="1600" b="1" i="1">
                                <a:latin typeface="Cambria Math" panose="02040503050406030204" pitchFamily="18" charset="0"/>
                                <a:ea typeface="Cambria Math" panose="02040503050406030204" pitchFamily="18" charset="0"/>
                              </a:rPr>
                              <m:t>𝒊</m:t>
                            </m:r>
                          </m:sub>
                        </m:sSub>
                      </m:e>
                    </m:d>
                    <m:r>
                      <a:rPr lang="fr-FR" sz="1600" b="1" i="1" smtClean="0">
                        <a:latin typeface="Cambria Math" panose="02040503050406030204" pitchFamily="18" charset="0"/>
                      </a:rPr>
                      <m:t>=</m:t>
                    </m:r>
                    <m:nary>
                      <m:naryPr>
                        <m:chr m:val="∑"/>
                        <m:ctrlPr>
                          <a:rPr lang="fr-FR" sz="1600" b="1" i="1" smtClean="0">
                            <a:latin typeface="Cambria Math" panose="02040503050406030204" pitchFamily="18" charset="0"/>
                          </a:rPr>
                        </m:ctrlPr>
                      </m:naryPr>
                      <m:sub>
                        <m:r>
                          <m:rPr>
                            <m:brk m:alnAt="23"/>
                          </m:rPr>
                          <a:rPr lang="fr-FR" sz="1600" b="1" i="1" smtClean="0">
                            <a:latin typeface="Cambria Math" panose="02040503050406030204" pitchFamily="18" charset="0"/>
                          </a:rPr>
                          <m:t>𝒋</m:t>
                        </m:r>
                        <m:r>
                          <a:rPr lang="fr-FR" sz="1600" b="1" i="1" smtClean="0">
                            <a:latin typeface="Cambria Math" panose="02040503050406030204" pitchFamily="18" charset="0"/>
                          </a:rPr>
                          <m:t>=</m:t>
                        </m:r>
                        <m:r>
                          <a:rPr lang="fr-FR" sz="1600" b="1" i="1" smtClean="0">
                            <a:latin typeface="Cambria Math" panose="02040503050406030204" pitchFamily="18" charset="0"/>
                          </a:rPr>
                          <m:t>𝟏</m:t>
                        </m:r>
                      </m:sub>
                      <m:sup>
                        <m:r>
                          <a:rPr lang="fr-FR" sz="1600" b="1" i="1" smtClean="0">
                            <a:latin typeface="Cambria Math" panose="02040503050406030204" pitchFamily="18" charset="0"/>
                          </a:rPr>
                          <m:t>𝒑</m:t>
                        </m:r>
                      </m:sup>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smtClean="0">
                                <a:latin typeface="Cambria Math" panose="02040503050406030204" pitchFamily="18" charset="0"/>
                                <a:ea typeface="Cambria Math" panose="02040503050406030204" pitchFamily="18" charset="0"/>
                              </a:rPr>
                              <m:t>𝒋</m:t>
                            </m:r>
                            <m:r>
                              <a:rPr lang="fr-FR" sz="1600" b="1" i="1">
                                <a:latin typeface="Cambria Math" panose="02040503050406030204" pitchFamily="18" charset="0"/>
                                <a:ea typeface="Cambria Math" panose="02040503050406030204" pitchFamily="18" charset="0"/>
                              </a:rPr>
                              <m:t>𝟏</m:t>
                            </m:r>
                          </m:sub>
                        </m:sSub>
                        <m:sSub>
                          <m:sSubPr>
                            <m:ctrlPr>
                              <a:rPr lang="fr-FR" sz="1600" b="1" i="1">
                                <a:latin typeface="Cambria Math" panose="02040503050406030204" pitchFamily="18" charset="0"/>
                              </a:rPr>
                            </m:ctrlPr>
                          </m:sSubPr>
                          <m:e>
                            <m:r>
                              <a:rPr lang="fr-FR" sz="1600" b="1" i="1">
                                <a:latin typeface="Cambria Math" panose="02040503050406030204" pitchFamily="18" charset="0"/>
                              </a:rPr>
                              <m:t>𝒙</m:t>
                            </m:r>
                          </m:e>
                          <m:sub>
                            <m:r>
                              <a:rPr lang="fr-FR" sz="1600" b="1" i="1">
                                <a:latin typeface="Cambria Math" panose="02040503050406030204" pitchFamily="18" charset="0"/>
                              </a:rPr>
                              <m:t>𝒊</m:t>
                            </m:r>
                            <m:r>
                              <a:rPr lang="fr-FR" sz="1600" b="1" i="1" smtClean="0">
                                <a:latin typeface="Cambria Math" panose="02040503050406030204" pitchFamily="18" charset="0"/>
                              </a:rPr>
                              <m:t>𝒋</m:t>
                            </m:r>
                          </m:sub>
                        </m:sSub>
                      </m:e>
                    </m:nary>
                  </m:oMath>
                </a14:m>
                <a:r>
                  <a:rPr lang="fr-FR" sz="1600" dirty="0"/>
                  <a:t> </a:t>
                </a:r>
                <a:r>
                  <a:rPr lang="fr-FR" sz="1600" dirty="0" err="1"/>
                  <a:t>maximizes</a:t>
                </a:r>
                <a:r>
                  <a:rPr lang="fr-FR" sz="1600" dirty="0"/>
                  <a:t> the total variance </a:t>
                </a:r>
                <a14:m>
                  <m:oMath xmlns:m="http://schemas.openxmlformats.org/officeDocument/2006/math">
                    <m:f>
                      <m:fPr>
                        <m:ctrlPr>
                          <a:rPr lang="fr-FR" sz="1600" i="1" smtClean="0">
                            <a:latin typeface="Cambria Math" panose="02040503050406030204" pitchFamily="18" charset="0"/>
                          </a:rPr>
                        </m:ctrlPr>
                      </m:fPr>
                      <m:num>
                        <m:r>
                          <a:rPr lang="fr-FR" sz="1600" b="0" i="1" smtClean="0">
                            <a:latin typeface="Cambria Math" panose="02040503050406030204" pitchFamily="18" charset="0"/>
                          </a:rPr>
                          <m:t>1</m:t>
                        </m:r>
                      </m:num>
                      <m:den>
                        <m:r>
                          <a:rPr lang="fr-FR" sz="1600" b="0" i="1" smtClean="0">
                            <a:latin typeface="Cambria Math" panose="02040503050406030204" pitchFamily="18" charset="0"/>
                          </a:rPr>
                          <m:t>𝑛</m:t>
                        </m:r>
                      </m:den>
                    </m:f>
                    <m:nary>
                      <m:naryPr>
                        <m:chr m:val="∑"/>
                        <m:ctrlPr>
                          <a:rPr lang="fr-FR" sz="1600" i="1" smtClean="0">
                            <a:latin typeface="Cambria Math" panose="02040503050406030204" pitchFamily="18" charset="0"/>
                          </a:rPr>
                        </m:ctrlPr>
                      </m:naryPr>
                      <m:sub>
                        <m:r>
                          <m:rPr>
                            <m:brk m:alnAt="23"/>
                          </m:rPr>
                          <a:rPr lang="fr-FR" sz="1600" b="0" i="1" smtClean="0">
                            <a:latin typeface="Cambria Math" panose="02040503050406030204" pitchFamily="18" charset="0"/>
                          </a:rPr>
                          <m:t>𝑖</m:t>
                        </m:r>
                        <m:r>
                          <a:rPr lang="fr-FR" sz="1600" b="0" i="1" smtClean="0">
                            <a:latin typeface="Cambria Math" panose="02040503050406030204" pitchFamily="18" charset="0"/>
                          </a:rPr>
                          <m:t>=1</m:t>
                        </m:r>
                      </m:sub>
                      <m:sup>
                        <m:r>
                          <a:rPr lang="fr-FR" sz="1600" b="0" i="1" smtClean="0">
                            <a:latin typeface="Cambria Math" panose="02040503050406030204" pitchFamily="18" charset="0"/>
                          </a:rPr>
                          <m:t>𝑛</m:t>
                        </m:r>
                      </m:sup>
                      <m:e>
                        <m:sSup>
                          <m:sSupPr>
                            <m:ctrlPr>
                              <a:rPr lang="fr-FR" sz="1600" i="1" smtClean="0">
                                <a:latin typeface="Cambria Math" panose="02040503050406030204" pitchFamily="18" charset="0"/>
                              </a:rPr>
                            </m:ctrlPr>
                          </m:sSupPr>
                          <m:e>
                            <m:sSub>
                              <m:sSubPr>
                                <m:ctrlPr>
                                  <a:rPr lang="fr-FR" sz="1600" i="1">
                                    <a:latin typeface="Cambria Math" panose="02040503050406030204" pitchFamily="18" charset="0"/>
                                  </a:rPr>
                                </m:ctrlPr>
                              </m:sSubPr>
                              <m:e>
                                <m:r>
                                  <a:rPr lang="fr-FR" sz="1600" i="1">
                                    <a:latin typeface="Cambria Math" panose="02040503050406030204" pitchFamily="18" charset="0"/>
                                  </a:rPr>
                                  <m:t>𝑓</m:t>
                                </m:r>
                              </m:e>
                              <m:sub>
                                <m:r>
                                  <a:rPr lang="fr-FR" sz="1600" i="1">
                                    <a:latin typeface="Cambria Math" panose="02040503050406030204" pitchFamily="18" charset="0"/>
                                  </a:rPr>
                                  <m:t>𝑖</m:t>
                                </m:r>
                                <m:r>
                                  <a:rPr lang="fr-FR" sz="1600" i="1">
                                    <a:latin typeface="Cambria Math" panose="02040503050406030204" pitchFamily="18" charset="0"/>
                                  </a:rPr>
                                  <m:t>1</m:t>
                                </m:r>
                              </m:sub>
                            </m:sSub>
                          </m:e>
                          <m:sup>
                            <m:r>
                              <a:rPr lang="fr-FR" sz="1600" b="0" i="1" smtClean="0">
                                <a:latin typeface="Cambria Math" panose="02040503050406030204" pitchFamily="18" charset="0"/>
                              </a:rPr>
                              <m:t>2</m:t>
                            </m:r>
                          </m:sup>
                        </m:sSup>
                      </m:e>
                    </m:nary>
                  </m:oMath>
                </a14:m>
                <a:r>
                  <a:rPr lang="fr-FR" sz="1600" dirty="0"/>
                  <a:t> </a:t>
                </a:r>
                <a:r>
                  <a:rPr lang="fr-FR" sz="1600" dirty="0" err="1"/>
                  <a:t>with</a:t>
                </a:r>
                <a:r>
                  <a:rPr lang="fr-FR" sz="1600" dirty="0"/>
                  <a:t> the </a:t>
                </a:r>
                <a:r>
                  <a:rPr lang="fr-FR" sz="1600" dirty="0" err="1"/>
                  <a:t>constraint</a:t>
                </a:r>
                <a:r>
                  <a:rPr lang="fr-FR" sz="1600" dirty="0"/>
                  <a:t> </a:t>
                </a:r>
                <a14:m>
                  <m:oMath xmlns:m="http://schemas.openxmlformats.org/officeDocument/2006/math">
                    <m:sSup>
                      <m:sSupPr>
                        <m:ctrlPr>
                          <a:rPr lang="fr-FR" sz="1600" b="1" i="1">
                            <a:latin typeface="Cambria Math" panose="02040503050406030204" pitchFamily="18" charset="0"/>
                          </a:rPr>
                        </m:ctrlPr>
                      </m:sSupPr>
                      <m:e>
                        <m:r>
                          <a:rPr lang="fr-FR" sz="1600" b="1" i="1">
                            <a:latin typeface="Cambria Math" panose="02040503050406030204" pitchFamily="18" charset="0"/>
                            <a:ea typeface="Cambria Math" panose="02040503050406030204" pitchFamily="18" charset="0"/>
                          </a:rPr>
                          <m:t>∥</m:t>
                        </m:r>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a:latin typeface="Cambria Math" panose="02040503050406030204" pitchFamily="18" charset="0"/>
                              </a:rPr>
                              <m:t>𝟏</m:t>
                            </m:r>
                          </m:sub>
                        </m:sSub>
                        <m:r>
                          <a:rPr lang="fr-FR" sz="1600" b="1" i="1">
                            <a:latin typeface="Cambria Math" panose="02040503050406030204" pitchFamily="18" charset="0"/>
                            <a:ea typeface="Cambria Math" panose="02040503050406030204" pitchFamily="18" charset="0"/>
                          </a:rPr>
                          <m:t>∥</m:t>
                        </m:r>
                      </m:e>
                      <m:sup>
                        <m:r>
                          <a:rPr lang="fr-FR" sz="1600" b="1" i="1">
                            <a:latin typeface="Cambria Math" panose="02040503050406030204" pitchFamily="18" charset="0"/>
                          </a:rPr>
                          <m:t>𝟐</m:t>
                        </m:r>
                      </m:sup>
                    </m:sSup>
                    <m:r>
                      <a:rPr lang="fr-FR" sz="1600" b="1" i="1" smtClean="0">
                        <a:latin typeface="Cambria Math" panose="02040503050406030204" pitchFamily="18" charset="0"/>
                      </a:rPr>
                      <m:t>=</m:t>
                    </m:r>
                    <m:nary>
                      <m:naryPr>
                        <m:chr m:val="∑"/>
                        <m:ctrlPr>
                          <a:rPr lang="fr-FR" sz="1600" b="1" i="1" smtClean="0">
                            <a:latin typeface="Cambria Math" panose="02040503050406030204" pitchFamily="18" charset="0"/>
                          </a:rPr>
                        </m:ctrlPr>
                      </m:naryPr>
                      <m:sub>
                        <m:r>
                          <m:rPr>
                            <m:brk m:alnAt="23"/>
                          </m:rPr>
                          <a:rPr lang="fr-FR" sz="1600" b="1" i="1" smtClean="0">
                            <a:latin typeface="Cambria Math" panose="02040503050406030204" pitchFamily="18" charset="0"/>
                          </a:rPr>
                          <m:t>𝒋</m:t>
                        </m:r>
                        <m:r>
                          <a:rPr lang="fr-FR" sz="1600" b="1" i="1" smtClean="0">
                            <a:latin typeface="Cambria Math" panose="02040503050406030204" pitchFamily="18" charset="0"/>
                          </a:rPr>
                          <m:t>=</m:t>
                        </m:r>
                        <m:r>
                          <a:rPr lang="fr-FR" sz="1600" b="1" i="1" smtClean="0">
                            <a:latin typeface="Cambria Math" panose="02040503050406030204" pitchFamily="18" charset="0"/>
                          </a:rPr>
                          <m:t>𝟏</m:t>
                        </m:r>
                      </m:sub>
                      <m:sup>
                        <m:r>
                          <a:rPr lang="fr-FR" sz="1600" b="1" i="1" smtClean="0">
                            <a:latin typeface="Cambria Math" panose="02040503050406030204" pitchFamily="18" charset="0"/>
                          </a:rPr>
                          <m:t>𝒑</m:t>
                        </m:r>
                      </m:sup>
                      <m:e>
                        <m:sSup>
                          <m:sSupPr>
                            <m:ctrlPr>
                              <a:rPr lang="fr-FR" sz="1600" b="1" i="1" smtClean="0">
                                <a:latin typeface="Cambria Math" panose="02040503050406030204" pitchFamily="18" charset="0"/>
                              </a:rPr>
                            </m:ctrlPr>
                          </m:sSupPr>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a:latin typeface="Cambria Math" panose="02040503050406030204" pitchFamily="18" charset="0"/>
                                    <a:ea typeface="Cambria Math" panose="02040503050406030204" pitchFamily="18" charset="0"/>
                                  </a:rPr>
                                  <m:t>𝒋</m:t>
                                </m:r>
                                <m:r>
                                  <a:rPr lang="fr-FR" sz="1600" b="1" i="1">
                                    <a:latin typeface="Cambria Math" panose="02040503050406030204" pitchFamily="18" charset="0"/>
                                    <a:ea typeface="Cambria Math" panose="02040503050406030204" pitchFamily="18" charset="0"/>
                                  </a:rPr>
                                  <m:t>𝟏</m:t>
                                </m:r>
                              </m:sub>
                            </m:sSub>
                          </m:e>
                          <m:sup>
                            <m:r>
                              <a:rPr lang="fr-FR" sz="1600" b="1" i="1" smtClean="0">
                                <a:latin typeface="Cambria Math" panose="02040503050406030204" pitchFamily="18" charset="0"/>
                              </a:rPr>
                              <m:t>𝟐</m:t>
                            </m:r>
                          </m:sup>
                        </m:sSup>
                      </m:e>
                    </m:nary>
                    <m:r>
                      <a:rPr lang="fr-FR" sz="1600" b="1" i="1" smtClean="0">
                        <a:latin typeface="Cambria Math" panose="02040503050406030204" pitchFamily="18" charset="0"/>
                      </a:rPr>
                      <m:t>=</m:t>
                    </m:r>
                    <m:r>
                      <a:rPr lang="fr-FR" sz="1600" b="1" i="1" smtClean="0">
                        <a:latin typeface="Cambria Math" panose="02040503050406030204" pitchFamily="18" charset="0"/>
                      </a:rPr>
                      <m:t>𝟏</m:t>
                    </m:r>
                  </m:oMath>
                </a14:m>
                <a:br>
                  <a:rPr lang="fr-FR" sz="1600" b="1" dirty="0"/>
                </a:br>
                <a:br>
                  <a:rPr lang="fr-FR" u="sng" dirty="0"/>
                </a:br>
                <a:r>
                  <a:rPr lang="fr-FR" sz="1600" dirty="0"/>
                  <a:t>(ii) Carry out second and </a:t>
                </a:r>
                <a:r>
                  <a:rPr lang="fr-FR" sz="1600" dirty="0" err="1"/>
                  <a:t>subsequent</a:t>
                </a:r>
                <a:r>
                  <a:rPr lang="fr-FR" sz="1600" dirty="0"/>
                  <a:t> </a:t>
                </a:r>
                <a:r>
                  <a:rPr lang="fr-FR" sz="1600" dirty="0" err="1"/>
                  <a:t>steps</a:t>
                </a:r>
                <a:r>
                  <a:rPr lang="fr-FR" sz="1600" dirty="0"/>
                  <a:t>, </a:t>
                </a:r>
                <a:r>
                  <a:rPr lang="fr-FR" sz="1600" dirty="0" err="1"/>
                  <a:t>possibly</a:t>
                </a:r>
                <a:r>
                  <a:rPr lang="fr-FR" sz="1600" dirty="0"/>
                  <a:t> to a </a:t>
                </a:r>
                <a:r>
                  <a:rPr lang="fr-FR" sz="1600" dirty="0" err="1"/>
                  <a:t>limit</a:t>
                </a:r>
                <a:r>
                  <a:rPr lang="fr-FR" sz="1600" dirty="0"/>
                  <a:t> of p.  On the </a:t>
                </a:r>
                <a:r>
                  <a:rPr lang="fr-FR" sz="1600" dirty="0" err="1"/>
                  <a:t>step</a:t>
                </a:r>
                <a:r>
                  <a:rPr lang="fr-FR" sz="1600" dirty="0"/>
                  <a:t> m, </a:t>
                </a:r>
                <a:r>
                  <a:rPr lang="fr-FR" sz="1600" dirty="0" err="1"/>
                  <a:t>compute</a:t>
                </a:r>
                <a:r>
                  <a:rPr lang="fr-FR" sz="1600" dirty="0"/>
                  <a:t> a new </a:t>
                </a:r>
                <a:r>
                  <a:rPr lang="fr-FR" sz="1600" dirty="0" err="1"/>
                  <a:t>weight</a:t>
                </a:r>
                <a:r>
                  <a:rPr lang="fr-FR" sz="1600" dirty="0"/>
                  <a:t> </a:t>
                </a:r>
                <a:r>
                  <a:rPr lang="fr-FR" sz="1600" dirty="0" err="1"/>
                  <a:t>vector</a:t>
                </a:r>
                <a:r>
                  <a:rPr lang="fr-FR" sz="1600" dirty="0"/>
                  <a:t>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𝜉</m:t>
                        </m:r>
                      </m:e>
                      <m:sub>
                        <m:r>
                          <a:rPr lang="fr-FR" sz="1600" b="0" i="1" smtClean="0">
                            <a:latin typeface="Cambria Math" panose="02040503050406030204" pitchFamily="18" charset="0"/>
                            <a:ea typeface="Cambria Math" panose="02040503050406030204" pitchFamily="18" charset="0"/>
                          </a:rPr>
                          <m:t>𝑚</m:t>
                        </m:r>
                      </m:sub>
                    </m:sSub>
                  </m:oMath>
                </a14:m>
                <a:r>
                  <a:rPr lang="fr-FR" sz="1600" dirty="0"/>
                  <a:t> and new values </a:t>
                </a:r>
                <a14:m>
                  <m:oMath xmlns:m="http://schemas.openxmlformats.org/officeDocument/2006/math">
                    <m:sSub>
                      <m:sSubPr>
                        <m:ctrlPr>
                          <a:rPr lang="fr-FR" sz="1600" b="1" i="1" smtClean="0">
                            <a:latin typeface="Cambria Math" panose="02040503050406030204" pitchFamily="18" charset="0"/>
                          </a:rPr>
                        </m:ctrlPr>
                      </m:sSubPr>
                      <m:e>
                        <m:r>
                          <a:rPr lang="fr-FR" sz="1600" b="1" i="1" smtClean="0">
                            <a:latin typeface="Cambria Math" panose="02040503050406030204" pitchFamily="18" charset="0"/>
                          </a:rPr>
                          <m:t>𝒇</m:t>
                        </m:r>
                      </m:e>
                      <m:sub>
                        <m:r>
                          <a:rPr lang="fr-FR" sz="1600" b="1" i="1" smtClean="0">
                            <a:latin typeface="Cambria Math" panose="02040503050406030204" pitchFamily="18" charset="0"/>
                          </a:rPr>
                          <m:t>𝒊𝒎</m:t>
                        </m:r>
                      </m:sub>
                    </m:sSub>
                    <m:r>
                      <a:rPr lang="fr-FR" sz="1600" b="1" i="1" smtClean="0">
                        <a:latin typeface="Cambria Math" panose="02040503050406030204" pitchFamily="18" charset="0"/>
                      </a:rPr>
                      <m:t>=</m:t>
                    </m:r>
                    <m:d>
                      <m:dPr>
                        <m:begChr m:val="⟨"/>
                        <m:endChr m:val="⟩"/>
                        <m:ctrlPr>
                          <a:rPr lang="fr-FR" sz="1600" b="1" i="1">
                            <a:latin typeface="Cambria Math" panose="02040503050406030204" pitchFamily="18" charset="0"/>
                          </a:rPr>
                        </m:ctrlPr>
                      </m:dPr>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smtClean="0">
                                <a:latin typeface="Cambria Math" panose="02040503050406030204" pitchFamily="18" charset="0"/>
                                <a:ea typeface="Cambria Math" panose="02040503050406030204" pitchFamily="18" charset="0"/>
                              </a:rPr>
                              <m:t>𝒎</m:t>
                            </m:r>
                          </m:sub>
                        </m:sSub>
                      </m:e>
                      <m:e>
                        <m:sSub>
                          <m:sSubPr>
                            <m:ctrlPr>
                              <a:rPr lang="fr-FR" sz="1600" b="1" i="1">
                                <a:latin typeface="Cambria Math" panose="02040503050406030204" pitchFamily="18" charset="0"/>
                                <a:ea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𝒙</m:t>
                            </m:r>
                          </m:e>
                          <m:sub>
                            <m:r>
                              <a:rPr lang="fr-FR" sz="1600" b="1" i="1">
                                <a:latin typeface="Cambria Math" panose="02040503050406030204" pitchFamily="18" charset="0"/>
                                <a:ea typeface="Cambria Math" panose="02040503050406030204" pitchFamily="18" charset="0"/>
                              </a:rPr>
                              <m:t>𝒊</m:t>
                            </m:r>
                          </m:sub>
                        </m:sSub>
                      </m:e>
                    </m:d>
                  </m:oMath>
                </a14:m>
                <a:r>
                  <a:rPr lang="fr-FR" sz="1600" dirty="0"/>
                  <a:t>. </a:t>
                </a:r>
                <a:r>
                  <a:rPr lang="fr-FR" sz="1600" dirty="0" err="1"/>
                  <a:t>Thus</a:t>
                </a:r>
                <a:r>
                  <a:rPr lang="fr-FR" sz="1600" dirty="0"/>
                  <a:t>, the values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rPr>
                          <m:t>𝑓</m:t>
                        </m:r>
                      </m:e>
                      <m:sub>
                        <m:r>
                          <a:rPr lang="fr-FR" sz="1600" i="1">
                            <a:latin typeface="Cambria Math" panose="02040503050406030204" pitchFamily="18" charset="0"/>
                          </a:rPr>
                          <m:t>𝑖𝑚</m:t>
                        </m:r>
                      </m:sub>
                    </m:sSub>
                  </m:oMath>
                </a14:m>
                <a:r>
                  <a:rPr lang="fr-FR" sz="1600" dirty="0"/>
                  <a:t> have maximum </a:t>
                </a:r>
                <a:r>
                  <a:rPr lang="fr-FR" sz="1600" dirty="0" err="1"/>
                  <a:t>mean</a:t>
                </a:r>
                <a:r>
                  <a:rPr lang="fr-FR" sz="1600" dirty="0"/>
                  <a:t> square </a:t>
                </a:r>
                <a:r>
                  <a:rPr lang="fr-FR" sz="1600" dirty="0" err="1"/>
                  <a:t>subject</a:t>
                </a:r>
                <a:r>
                  <a:rPr lang="fr-FR" sz="1600" dirty="0"/>
                  <a:t> to the </a:t>
                </a:r>
                <a:r>
                  <a:rPr lang="fr-FR" sz="1600" dirty="0" err="1"/>
                  <a:t>constraint</a:t>
                </a:r>
                <a:r>
                  <a:rPr lang="fr-FR" sz="1600" dirty="0"/>
                  <a:t> </a:t>
                </a:r>
                <a14:m>
                  <m:oMath xmlns:m="http://schemas.openxmlformats.org/officeDocument/2006/math">
                    <m:sSup>
                      <m:sSupPr>
                        <m:ctrlPr>
                          <a:rPr lang="fr-FR" sz="1600" i="1">
                            <a:latin typeface="Cambria Math" panose="02040503050406030204" pitchFamily="18" charset="0"/>
                          </a:rPr>
                        </m:ctrlPr>
                      </m:sSupPr>
                      <m:e>
                        <m:r>
                          <a:rPr lang="fr-FR" sz="1600" i="1">
                            <a:latin typeface="Cambria Math" panose="02040503050406030204" pitchFamily="18" charset="0"/>
                            <a:ea typeface="Cambria Math" panose="02040503050406030204" pitchFamily="18" charset="0"/>
                          </a:rPr>
                          <m:t>∥</m:t>
                        </m:r>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𝜉</m:t>
                            </m:r>
                          </m:e>
                          <m:sub>
                            <m:r>
                              <a:rPr lang="fr-FR" sz="1600" b="0" i="1" smtClean="0">
                                <a:latin typeface="Cambria Math" panose="02040503050406030204" pitchFamily="18" charset="0"/>
                                <a:ea typeface="Cambria Math" panose="02040503050406030204" pitchFamily="18" charset="0"/>
                              </a:rPr>
                              <m:t>𝑚</m:t>
                            </m:r>
                          </m:sub>
                        </m:sSub>
                        <m:r>
                          <a:rPr lang="fr-FR" sz="1600" i="1">
                            <a:latin typeface="Cambria Math" panose="02040503050406030204" pitchFamily="18" charset="0"/>
                            <a:ea typeface="Cambria Math" panose="02040503050406030204" pitchFamily="18" charset="0"/>
                          </a:rPr>
                          <m:t>∥</m:t>
                        </m:r>
                      </m:e>
                      <m:sup>
                        <m:r>
                          <a:rPr lang="fr-FR" sz="1600" i="1">
                            <a:latin typeface="Cambria Math" panose="02040503050406030204" pitchFamily="18" charset="0"/>
                          </a:rPr>
                          <m:t>2</m:t>
                        </m:r>
                      </m:sup>
                    </m:sSup>
                    <m:r>
                      <a:rPr lang="fr-FR" sz="1600" i="1">
                        <a:latin typeface="Cambria Math" panose="02040503050406030204" pitchFamily="18" charset="0"/>
                      </a:rPr>
                      <m:t>=1</m:t>
                    </m:r>
                  </m:oMath>
                </a14:m>
                <a:r>
                  <a:rPr lang="fr-FR" sz="1600" dirty="0"/>
                  <a:t>, and the </a:t>
                </a:r>
                <a14:m>
                  <m:oMath xmlns:m="http://schemas.openxmlformats.org/officeDocument/2006/math">
                    <m:r>
                      <a:rPr lang="fr-FR" sz="1600" b="0" i="1" smtClean="0">
                        <a:latin typeface="Cambria Math" panose="02040503050406030204" pitchFamily="18" charset="0"/>
                      </a:rPr>
                      <m:t>𝑚</m:t>
                    </m:r>
                    <m:r>
                      <a:rPr lang="fr-FR" sz="1600" b="0" i="1" smtClean="0">
                        <a:latin typeface="Cambria Math" panose="02040503050406030204" pitchFamily="18" charset="0"/>
                      </a:rPr>
                      <m:t>−1</m:t>
                    </m:r>
                  </m:oMath>
                </a14:m>
                <a:r>
                  <a:rPr lang="fr-FR" sz="1600" dirty="0"/>
                  <a:t> </a:t>
                </a:r>
                <a:r>
                  <a:rPr lang="fr-FR" sz="1600" dirty="0" err="1"/>
                  <a:t>additional</a:t>
                </a:r>
                <a:r>
                  <a:rPr lang="fr-FR" sz="1600" dirty="0"/>
                  <a:t> </a:t>
                </a:r>
                <a:r>
                  <a:rPr lang="fr-FR" sz="1600" dirty="0" err="1"/>
                  <a:t>orthogonality</a:t>
                </a:r>
                <a:r>
                  <a:rPr lang="fr-FR" sz="1600" dirty="0"/>
                  <a:t> </a:t>
                </a:r>
                <a:r>
                  <a:rPr lang="fr-FR" sz="1600" dirty="0" err="1"/>
                  <a:t>constraints</a:t>
                </a:r>
                <a:br>
                  <a:rPr lang="fr-FR" sz="1600" u="sng" dirty="0"/>
                </a:br>
                <a14:m>
                  <m:oMath xmlns:m="http://schemas.openxmlformats.org/officeDocument/2006/math">
                    <m:d>
                      <m:dPr>
                        <m:begChr m:val="⟨"/>
                        <m:endChr m:val="⟩"/>
                        <m:ctrlPr>
                          <a:rPr lang="fr-FR" sz="1600" b="1" i="1">
                            <a:latin typeface="Cambria Math" panose="02040503050406030204" pitchFamily="18" charset="0"/>
                          </a:rPr>
                        </m:ctrlPr>
                      </m:dPr>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smtClean="0">
                                <a:latin typeface="Cambria Math" panose="02040503050406030204" pitchFamily="18" charset="0"/>
                                <a:ea typeface="Cambria Math" panose="02040503050406030204" pitchFamily="18" charset="0"/>
                              </a:rPr>
                              <m:t>𝒌</m:t>
                            </m:r>
                          </m:sub>
                        </m:sSub>
                      </m:e>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smtClean="0">
                                <a:latin typeface="Cambria Math" panose="02040503050406030204" pitchFamily="18" charset="0"/>
                                <a:ea typeface="Cambria Math" panose="02040503050406030204" pitchFamily="18" charset="0"/>
                              </a:rPr>
                              <m:t>𝒎</m:t>
                            </m:r>
                          </m:sub>
                        </m:sSub>
                      </m:e>
                    </m:d>
                    <m:r>
                      <a:rPr lang="fr-FR" sz="1600" b="1" i="1">
                        <a:latin typeface="Cambria Math" panose="02040503050406030204" pitchFamily="18" charset="0"/>
                        <a:ea typeface="Cambria Math" panose="02040503050406030204" pitchFamily="18" charset="0"/>
                      </a:rPr>
                      <m:t> </m:t>
                    </m:r>
                    <m:r>
                      <a:rPr lang="fr-FR" sz="1600" b="1" i="1" smtClean="0">
                        <a:latin typeface="Cambria Math" panose="02040503050406030204" pitchFamily="18" charset="0"/>
                        <a:ea typeface="Cambria Math" panose="02040503050406030204" pitchFamily="18" charset="0"/>
                      </a:rPr>
                      <m:t>=</m:t>
                    </m:r>
                    <m:sSup>
                      <m:sSupPr>
                        <m:ctrlPr>
                          <a:rPr lang="fr-FR" sz="1600" b="1" i="1" smtClean="0">
                            <a:latin typeface="Cambria Math" panose="02040503050406030204" pitchFamily="18" charset="0"/>
                            <a:ea typeface="Cambria Math" panose="02040503050406030204" pitchFamily="18" charset="0"/>
                          </a:rPr>
                        </m:ctrlPr>
                      </m:sSupPr>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smtClean="0">
                                <a:latin typeface="Cambria Math" panose="02040503050406030204" pitchFamily="18" charset="0"/>
                                <a:ea typeface="Cambria Math" panose="02040503050406030204" pitchFamily="18" charset="0"/>
                              </a:rPr>
                              <m:t>𝒌</m:t>
                            </m:r>
                          </m:sub>
                        </m:sSub>
                      </m:e>
                      <m:sup>
                        <m:r>
                          <a:rPr lang="fr-FR" sz="1600" b="1" i="1" smtClean="0">
                            <a:latin typeface="Cambria Math" panose="02040503050406030204" pitchFamily="18" charset="0"/>
                            <a:ea typeface="Cambria Math" panose="02040503050406030204" pitchFamily="18" charset="0"/>
                          </a:rPr>
                          <m:t>𝑻</m:t>
                        </m:r>
                      </m:sup>
                    </m:sSup>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a:latin typeface="Cambria Math" panose="02040503050406030204" pitchFamily="18" charset="0"/>
                            <a:ea typeface="Cambria Math" panose="02040503050406030204" pitchFamily="18" charset="0"/>
                          </a:rPr>
                          <m:t>𝒎</m:t>
                        </m:r>
                      </m:sub>
                    </m:sSub>
                    <m:r>
                      <a:rPr lang="fr-FR" sz="1600" b="1" i="0" smtClean="0">
                        <a:latin typeface="Cambria Math" panose="02040503050406030204" pitchFamily="18" charset="0"/>
                        <a:ea typeface="Cambria Math" panose="02040503050406030204" pitchFamily="18" charset="0"/>
                      </a:rPr>
                      <m:t>=</m:t>
                    </m:r>
                    <m:r>
                      <a:rPr lang="fr-FR" sz="1600" b="1" i="0" smtClean="0">
                        <a:latin typeface="Cambria Math" panose="02040503050406030204" pitchFamily="18" charset="0"/>
                        <a:ea typeface="Cambria Math" panose="02040503050406030204" pitchFamily="18" charset="0"/>
                      </a:rPr>
                      <m:t>𝟎</m:t>
                    </m:r>
                    <m:r>
                      <a:rPr lang="fr-FR" sz="1600" b="1" i="0" smtClean="0">
                        <a:latin typeface="Cambria Math" panose="02040503050406030204" pitchFamily="18" charset="0"/>
                        <a:ea typeface="Cambria Math" panose="02040503050406030204" pitchFamily="18" charset="0"/>
                      </a:rPr>
                      <m:t>, </m:t>
                    </m:r>
                    <m:r>
                      <a:rPr lang="fr-FR" sz="1600" b="1" i="1" smtClean="0">
                        <a:latin typeface="Cambria Math" panose="02040503050406030204" pitchFamily="18" charset="0"/>
                        <a:ea typeface="Cambria Math" panose="02040503050406030204" pitchFamily="18" charset="0"/>
                      </a:rPr>
                      <m:t>𝒌</m:t>
                    </m:r>
                    <m:r>
                      <a:rPr lang="fr-FR" sz="1600" b="1" i="1" smtClean="0">
                        <a:latin typeface="Cambria Math" panose="02040503050406030204" pitchFamily="18" charset="0"/>
                        <a:ea typeface="Cambria Math" panose="02040503050406030204" pitchFamily="18" charset="0"/>
                      </a:rPr>
                      <m:t>&lt;</m:t>
                    </m:r>
                    <m:r>
                      <a:rPr lang="fr-FR" sz="1600" b="1" i="1" smtClean="0">
                        <a:latin typeface="Cambria Math" panose="02040503050406030204" pitchFamily="18" charset="0"/>
                        <a:ea typeface="Cambria Math" panose="02040503050406030204" pitchFamily="18" charset="0"/>
                      </a:rPr>
                      <m:t>𝒎</m:t>
                    </m:r>
                  </m:oMath>
                </a14:m>
                <a:endParaRPr lang="fr-FR" sz="1600" b="1" i="1" dirty="0"/>
              </a:p>
            </p:txBody>
          </p:sp>
        </mc:Choice>
        <mc:Fallback xmlns="">
          <p:sp>
            <p:nvSpPr>
              <p:cNvPr id="7" name="Espace réservé du contenu 6">
                <a:extLst>
                  <a:ext uri="{FF2B5EF4-FFF2-40B4-BE49-F238E27FC236}">
                    <a16:creationId xmlns:a16="http://schemas.microsoft.com/office/drawing/2014/main" id="{DB40858F-0609-45DB-A279-DBCA7162D9FC}"/>
                  </a:ext>
                </a:extLst>
              </p:cNvPr>
              <p:cNvSpPr>
                <a:spLocks noGrp="1" noRot="1" noChangeAspect="1" noMove="1" noResize="1" noEditPoints="1" noAdjustHandles="1" noChangeArrowheads="1" noChangeShapeType="1" noTextEdit="1"/>
              </p:cNvSpPr>
              <p:nvPr>
                <p:ph sz="half" idx="2"/>
              </p:nvPr>
            </p:nvSpPr>
            <p:spPr>
              <a:xfrm>
                <a:off x="475721" y="1165349"/>
                <a:ext cx="5157787" cy="5303183"/>
              </a:xfrm>
              <a:blipFill>
                <a:blip r:embed="rId3"/>
                <a:stretch>
                  <a:fillRect l="-708" t="-688"/>
                </a:stretch>
              </a:blipFill>
              <a:ln>
                <a:solidFill>
                  <a:schemeClr val="tx1"/>
                </a:solidFill>
              </a:ln>
            </p:spPr>
            <p:txBody>
              <a:bodyPr/>
              <a:lstStyle/>
              <a:p>
                <a:r>
                  <a:rPr lang="fr-FR">
                    <a:noFill/>
                  </a:rPr>
                  <a:t> </a:t>
                </a:r>
              </a:p>
            </p:txBody>
          </p:sp>
        </mc:Fallback>
      </mc:AlternateContent>
      <p:sp>
        <p:nvSpPr>
          <p:cNvPr id="8" name="Espace réservé du texte 7">
            <a:extLst>
              <a:ext uri="{FF2B5EF4-FFF2-40B4-BE49-F238E27FC236}">
                <a16:creationId xmlns:a16="http://schemas.microsoft.com/office/drawing/2014/main" id="{054D9708-BDDB-4370-BEB5-DA63D7086FF6}"/>
              </a:ext>
            </a:extLst>
          </p:cNvPr>
          <p:cNvSpPr>
            <a:spLocks noGrp="1"/>
          </p:cNvSpPr>
          <p:nvPr>
            <p:ph type="body" sz="quarter" idx="3"/>
          </p:nvPr>
        </p:nvSpPr>
        <p:spPr>
          <a:xfrm>
            <a:off x="6172200" y="576898"/>
            <a:ext cx="5183188" cy="523220"/>
          </a:xfrm>
        </p:spPr>
        <p:txBody>
          <a:bodyPr/>
          <a:lstStyle/>
          <a:p>
            <a:r>
              <a:rPr lang="fr-FR" dirty="0" err="1"/>
              <a:t>Functional</a:t>
            </a:r>
            <a:r>
              <a:rPr lang="fr-FR" dirty="0"/>
              <a:t> PCA</a:t>
            </a:r>
          </a:p>
        </p:txBody>
      </p:sp>
      <mc:AlternateContent xmlns:mc="http://schemas.openxmlformats.org/markup-compatibility/2006" xmlns:a14="http://schemas.microsoft.com/office/drawing/2010/main">
        <mc:Choice Requires="a14">
          <p:sp>
            <p:nvSpPr>
              <p:cNvPr id="9" name="Espace réservé du contenu 8">
                <a:extLst>
                  <a:ext uri="{FF2B5EF4-FFF2-40B4-BE49-F238E27FC236}">
                    <a16:creationId xmlns:a16="http://schemas.microsoft.com/office/drawing/2014/main" id="{97234ECC-919C-4A2F-8F32-568A572C87D4}"/>
                  </a:ext>
                </a:extLst>
              </p:cNvPr>
              <p:cNvSpPr>
                <a:spLocks noGrp="1"/>
              </p:cNvSpPr>
              <p:nvPr>
                <p:ph sz="quarter" idx="4"/>
              </p:nvPr>
            </p:nvSpPr>
            <p:spPr>
              <a:xfrm>
                <a:off x="6172200" y="1157942"/>
                <a:ext cx="5183188" cy="5303183"/>
              </a:xfrm>
              <a:ln>
                <a:solidFill>
                  <a:schemeClr val="tx1"/>
                </a:solidFill>
              </a:ln>
            </p:spPr>
            <p:txBody>
              <a:bodyPr>
                <a:normAutofit/>
              </a:bodyPr>
              <a:lstStyle/>
              <a:p>
                <a:r>
                  <a:rPr lang="fr-FR" sz="1600" u="sng" dirty="0"/>
                  <a:t>Data:</a:t>
                </a:r>
                <a:r>
                  <a:rPr lang="fr-FR" sz="1600" dirty="0"/>
                  <a:t>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𝑥</m:t>
                        </m:r>
                      </m:e>
                      <m:sub>
                        <m:r>
                          <a:rPr lang="fr-FR" sz="1600" b="0" i="1" smtClean="0">
                            <a:latin typeface="Cambria Math" panose="02040503050406030204" pitchFamily="18" charset="0"/>
                          </a:rPr>
                          <m:t>𝑖</m:t>
                        </m:r>
                      </m:sub>
                    </m:sSub>
                    <m:r>
                      <a:rPr lang="fr-FR" sz="1600" b="0" i="1" smtClean="0">
                        <a:latin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𝜏</m:t>
                    </m:r>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ℝ</m:t>
                    </m:r>
                  </m:oMath>
                </a14:m>
                <a:r>
                  <a:rPr lang="fr-FR" sz="1600" b="0" dirty="0">
                    <a:ea typeface="Cambria Math" panose="02040503050406030204" pitchFamily="18" charset="0"/>
                  </a:rPr>
                  <a:t> </a:t>
                </a:r>
                <a:r>
                  <a:rPr lang="fr-FR" sz="1600" dirty="0">
                    <a:ea typeface="Cambria Math" panose="02040503050406030204" pitchFamily="18" charset="0"/>
                  </a:rPr>
                  <a:t>an </a:t>
                </a:r>
                <a:r>
                  <a:rPr lang="fr-FR" sz="1600" dirty="0" err="1">
                    <a:ea typeface="Cambria Math" panose="02040503050406030204" pitchFamily="18" charset="0"/>
                  </a:rPr>
                  <a:t>individual</a:t>
                </a:r>
                <a:r>
                  <a:rPr lang="fr-FR" sz="1600" dirty="0">
                    <a:ea typeface="Cambria Math" panose="02040503050406030204" pitchFamily="18" charset="0"/>
                  </a:rPr>
                  <a:t> </a:t>
                </a:r>
                <a:r>
                  <a:rPr lang="fr-FR" sz="1600" dirty="0" err="1">
                    <a:ea typeface="Cambria Math" panose="02040503050406030204" pitchFamily="18" charset="0"/>
                  </a:rPr>
                  <a:t>function</a:t>
                </a:r>
                <a:r>
                  <a:rPr lang="fr-FR" sz="1600" dirty="0">
                    <a:ea typeface="Cambria Math" panose="02040503050406030204" pitchFamily="18" charset="0"/>
                  </a:rPr>
                  <a:t> </a:t>
                </a:r>
                <a:r>
                  <a:rPr lang="fr-FR" sz="1600" dirty="0" err="1">
                    <a:ea typeface="Cambria Math" panose="02040503050406030204" pitchFamily="18" charset="0"/>
                  </a:rPr>
                  <a:t>from</a:t>
                </a:r>
                <a:r>
                  <a:rPr lang="fr-FR" sz="1600" dirty="0">
                    <a:ea typeface="Cambria Math" panose="02040503050406030204" pitchFamily="18" charset="0"/>
                  </a:rPr>
                  <a:t> </a:t>
                </a:r>
                <a14:m>
                  <m:oMath xmlns:m="http://schemas.openxmlformats.org/officeDocument/2006/math">
                    <m:sSup>
                      <m:sSupPr>
                        <m:ctrlPr>
                          <a:rPr lang="fr-FR" sz="1600" i="1" smtClean="0">
                            <a:latin typeface="Cambria Math" panose="02040503050406030204" pitchFamily="18" charset="0"/>
                            <a:ea typeface="Cambria Math" panose="02040503050406030204" pitchFamily="18" charset="0"/>
                          </a:rPr>
                        </m:ctrlPr>
                      </m:sSupPr>
                      <m:e>
                        <m:r>
                          <a:rPr lang="fr-FR" sz="1600" b="0" i="1" smtClean="0">
                            <a:latin typeface="Cambria Math" panose="02040503050406030204" pitchFamily="18" charset="0"/>
                            <a:ea typeface="Cambria Math" panose="02040503050406030204" pitchFamily="18" charset="0"/>
                          </a:rPr>
                          <m:t>𝐿</m:t>
                        </m:r>
                      </m:e>
                      <m:sup>
                        <m:r>
                          <a:rPr lang="fr-FR" sz="1600" b="0" i="1" smtClean="0">
                            <a:latin typeface="Cambria Math" panose="02040503050406030204" pitchFamily="18" charset="0"/>
                            <a:ea typeface="Cambria Math" panose="02040503050406030204" pitchFamily="18" charset="0"/>
                          </a:rPr>
                          <m:t>2</m:t>
                        </m:r>
                      </m:sup>
                    </m:sSup>
                    <m:d>
                      <m:dPr>
                        <m:ctrlPr>
                          <a:rPr lang="fr-FR" sz="1600" b="0" i="1" smtClean="0">
                            <a:latin typeface="Cambria Math" panose="02040503050406030204" pitchFamily="18" charset="0"/>
                            <a:ea typeface="Cambria Math" panose="02040503050406030204" pitchFamily="18" charset="0"/>
                          </a:rPr>
                        </m:ctrlPr>
                      </m:dPr>
                      <m:e>
                        <m:r>
                          <a:rPr lang="fr-FR" sz="1600" b="0" i="1" smtClean="0">
                            <a:latin typeface="Cambria Math" panose="02040503050406030204" pitchFamily="18" charset="0"/>
                            <a:ea typeface="Cambria Math" panose="02040503050406030204" pitchFamily="18" charset="0"/>
                          </a:rPr>
                          <m:t>𝜏</m:t>
                        </m:r>
                      </m:e>
                    </m:d>
                    <m:r>
                      <a:rPr lang="fr-FR" sz="1600" b="0" i="0" smtClean="0">
                        <a:latin typeface="Cambria Math" panose="02040503050406030204" pitchFamily="18" charset="0"/>
                        <a:ea typeface="Cambria Math" panose="02040503050406030204" pitchFamily="18" charset="0"/>
                      </a:rPr>
                      <m:t>, </m:t>
                    </m:r>
                    <m:r>
                      <m:rPr>
                        <m:sty m:val="p"/>
                      </m:rPr>
                      <a:rPr lang="el-GR" sz="1600" b="0" i="1" smtClean="0">
                        <a:latin typeface="Cambria Math" panose="02040503050406030204" pitchFamily="18" charset="0"/>
                        <a:ea typeface="Cambria Math" panose="02040503050406030204" pitchFamily="18" charset="0"/>
                      </a:rPr>
                      <m:t>τ</m:t>
                    </m:r>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𝑎</m:t>
                    </m:r>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𝑏</m:t>
                    </m:r>
                    <m:r>
                      <a:rPr lang="fr-FR" sz="1600" b="0" i="1" smtClean="0">
                        <a:latin typeface="Cambria Math" panose="02040503050406030204" pitchFamily="18" charset="0"/>
                        <a:ea typeface="Cambria Math" panose="02040503050406030204" pitchFamily="18" charset="0"/>
                      </a:rPr>
                      <m:t>]</m:t>
                    </m:r>
                  </m:oMath>
                </a14:m>
                <a:r>
                  <a:rPr lang="fr-FR" sz="1600" b="0" dirty="0">
                    <a:ea typeface="Cambria Math" panose="02040503050406030204" pitchFamily="18" charset="0"/>
                  </a:rPr>
                  <a:t>, </a:t>
                </a:r>
                <a14:m>
                  <m:oMath xmlns:m="http://schemas.openxmlformats.org/officeDocument/2006/math">
                    <m:sSub>
                      <m:sSubPr>
                        <m:ctrlPr>
                          <a:rPr lang="fr-FR" sz="1600" b="0" i="1" dirty="0" smtClean="0">
                            <a:latin typeface="Cambria Math" panose="02040503050406030204" pitchFamily="18" charset="0"/>
                            <a:ea typeface="Cambria Math" panose="02040503050406030204" pitchFamily="18" charset="0"/>
                          </a:rPr>
                        </m:ctrlPr>
                      </m:sSubPr>
                      <m:e>
                        <m:r>
                          <a:rPr lang="fr-FR" sz="1600" b="0" i="1" dirty="0" smtClean="0">
                            <a:latin typeface="Cambria Math" panose="02040503050406030204" pitchFamily="18" charset="0"/>
                            <a:ea typeface="Cambria Math" panose="02040503050406030204" pitchFamily="18" charset="0"/>
                          </a:rPr>
                          <m:t>𝑦</m:t>
                        </m:r>
                      </m:e>
                      <m:sub>
                        <m:r>
                          <a:rPr lang="fr-FR" sz="1600" b="0" i="1" dirty="0" smtClean="0">
                            <a:latin typeface="Cambria Math" panose="02040503050406030204" pitchFamily="18" charset="0"/>
                            <a:ea typeface="Cambria Math" panose="02040503050406030204" pitchFamily="18" charset="0"/>
                          </a:rPr>
                          <m:t>𝑖</m:t>
                        </m:r>
                      </m:sub>
                    </m:sSub>
                    <m:d>
                      <m:dPr>
                        <m:ctrlPr>
                          <a:rPr lang="fr-FR" sz="1600" b="0" i="1" dirty="0" smtClean="0">
                            <a:latin typeface="Cambria Math" panose="02040503050406030204" pitchFamily="18" charset="0"/>
                            <a:ea typeface="Cambria Math" panose="02040503050406030204" pitchFamily="18" charset="0"/>
                          </a:rPr>
                        </m:ctrlPr>
                      </m:dPr>
                      <m:e>
                        <m:r>
                          <a:rPr lang="fr-FR" sz="1600" b="0" i="1" dirty="0" smtClean="0">
                            <a:latin typeface="Cambria Math" panose="02040503050406030204" pitchFamily="18" charset="0"/>
                            <a:ea typeface="Cambria Math" panose="02040503050406030204" pitchFamily="18" charset="0"/>
                          </a:rPr>
                          <m:t>𝑡</m:t>
                        </m:r>
                      </m:e>
                    </m:d>
                    <m:r>
                      <a:rPr lang="fr-FR" sz="1600" b="0" i="1" dirty="0" smtClean="0">
                        <a:latin typeface="Cambria Math" panose="02040503050406030204" pitchFamily="18" charset="0"/>
                        <a:ea typeface="Cambria Math" panose="02040503050406030204" pitchFamily="18" charset="0"/>
                      </a:rPr>
                      <m:t>=</m:t>
                    </m:r>
                    <m:sSub>
                      <m:sSubPr>
                        <m:ctrlPr>
                          <a:rPr lang="fr-FR" sz="1600" b="0" i="1" dirty="0" smtClean="0">
                            <a:latin typeface="Cambria Math" panose="02040503050406030204" pitchFamily="18" charset="0"/>
                            <a:ea typeface="Cambria Math" panose="02040503050406030204" pitchFamily="18" charset="0"/>
                          </a:rPr>
                        </m:ctrlPr>
                      </m:sSubPr>
                      <m:e>
                        <m:r>
                          <a:rPr lang="fr-FR" sz="1600" b="0" i="1" dirty="0" smtClean="0">
                            <a:latin typeface="Cambria Math" panose="02040503050406030204" pitchFamily="18" charset="0"/>
                            <a:ea typeface="Cambria Math" panose="02040503050406030204" pitchFamily="18" charset="0"/>
                          </a:rPr>
                          <m:t>𝑥</m:t>
                        </m:r>
                      </m:e>
                      <m:sub>
                        <m:r>
                          <a:rPr lang="fr-FR" sz="1600" b="0" i="1" dirty="0" smtClean="0">
                            <a:latin typeface="Cambria Math" panose="02040503050406030204" pitchFamily="18" charset="0"/>
                            <a:ea typeface="Cambria Math" panose="02040503050406030204" pitchFamily="18" charset="0"/>
                          </a:rPr>
                          <m:t>𝑖</m:t>
                        </m:r>
                      </m:sub>
                    </m:sSub>
                    <m:d>
                      <m:dPr>
                        <m:ctrlPr>
                          <a:rPr lang="fr-FR" sz="1600" b="0" i="1" dirty="0" smtClean="0">
                            <a:latin typeface="Cambria Math" panose="02040503050406030204" pitchFamily="18" charset="0"/>
                            <a:ea typeface="Cambria Math" panose="02040503050406030204" pitchFamily="18" charset="0"/>
                          </a:rPr>
                        </m:ctrlPr>
                      </m:dPr>
                      <m:e>
                        <m:r>
                          <a:rPr lang="fr-FR" sz="1600" b="0" i="1" dirty="0" smtClean="0">
                            <a:latin typeface="Cambria Math" panose="02040503050406030204" pitchFamily="18" charset="0"/>
                            <a:ea typeface="Cambria Math" panose="02040503050406030204" pitchFamily="18" charset="0"/>
                          </a:rPr>
                          <m:t>𝑡</m:t>
                        </m:r>
                      </m:e>
                    </m:d>
                    <m:r>
                      <a:rPr lang="fr-FR" sz="1600" b="0" i="1" dirty="0" smtClean="0">
                        <a:latin typeface="Cambria Math" panose="02040503050406030204" pitchFamily="18" charset="0"/>
                        <a:ea typeface="Cambria Math" panose="02040503050406030204" pitchFamily="18" charset="0"/>
                      </a:rPr>
                      <m:t>− </m:t>
                    </m:r>
                    <m:r>
                      <a:rPr lang="fr-FR" sz="1600" b="0" i="1" dirty="0" smtClean="0">
                        <a:latin typeface="Cambria Math" panose="02040503050406030204" pitchFamily="18" charset="0"/>
                        <a:ea typeface="Cambria Math" panose="02040503050406030204" pitchFamily="18" charset="0"/>
                      </a:rPr>
                      <m:t>𝜇</m:t>
                    </m:r>
                    <m:r>
                      <a:rPr lang="fr-FR" sz="1600" b="0" i="1" dirty="0" smtClean="0">
                        <a:latin typeface="Cambria Math" panose="02040503050406030204" pitchFamily="18" charset="0"/>
                        <a:ea typeface="Cambria Math" panose="02040503050406030204" pitchFamily="18" charset="0"/>
                      </a:rPr>
                      <m:t>(</m:t>
                    </m:r>
                    <m:r>
                      <a:rPr lang="fr-FR" sz="1600" b="0" i="1" dirty="0" smtClean="0">
                        <a:latin typeface="Cambria Math" panose="02040503050406030204" pitchFamily="18" charset="0"/>
                        <a:ea typeface="Cambria Math" panose="02040503050406030204" pitchFamily="18" charset="0"/>
                      </a:rPr>
                      <m:t>𝑡</m:t>
                    </m:r>
                    <m:r>
                      <a:rPr lang="fr-FR" sz="1600" b="0" i="1" dirty="0" smtClean="0">
                        <a:latin typeface="Cambria Math" panose="02040503050406030204" pitchFamily="18" charset="0"/>
                        <a:ea typeface="Cambria Math" panose="02040503050406030204" pitchFamily="18" charset="0"/>
                      </a:rPr>
                      <m:t>)</m:t>
                    </m:r>
                  </m:oMath>
                </a14:m>
                <a:r>
                  <a:rPr lang="fr-FR" sz="1600" b="0" dirty="0">
                    <a:ea typeface="Cambria Math" panose="02040503050406030204" pitchFamily="18" charset="0"/>
                  </a:rPr>
                  <a:t> the </a:t>
                </a:r>
                <a:r>
                  <a:rPr lang="fr-FR" sz="1600" b="0" dirty="0" err="1">
                    <a:ea typeface="Cambria Math" panose="02040503050406030204" pitchFamily="18" charset="0"/>
                  </a:rPr>
                  <a:t>centered</a:t>
                </a:r>
                <a:r>
                  <a:rPr lang="fr-FR" sz="1600" b="0" dirty="0">
                    <a:ea typeface="Cambria Math" panose="02040503050406030204" pitchFamily="18" charset="0"/>
                  </a:rPr>
                  <a:t> </a:t>
                </a:r>
                <a:r>
                  <a:rPr lang="fr-FR" sz="1600" b="0" dirty="0" err="1">
                    <a:ea typeface="Cambria Math" panose="02040503050406030204" pitchFamily="18" charset="0"/>
                  </a:rPr>
                  <a:t>function</a:t>
                </a:r>
                <a:r>
                  <a:rPr lang="fr-FR" sz="1600" b="0" dirty="0">
                    <a:ea typeface="Cambria Math" panose="02040503050406030204" pitchFamily="18" charset="0"/>
                  </a:rPr>
                  <a:t>.</a:t>
                </a:r>
              </a:p>
              <a:p>
                <a:r>
                  <a:rPr lang="fr-FR" sz="1600" u="sng" dirty="0" err="1">
                    <a:ea typeface="Cambria Math" panose="02040503050406030204" pitchFamily="18" charset="0"/>
                  </a:rPr>
                  <a:t>Scalar</a:t>
                </a:r>
                <a:r>
                  <a:rPr lang="fr-FR" sz="1600" u="sng" dirty="0">
                    <a:ea typeface="Cambria Math" panose="02040503050406030204" pitchFamily="18" charset="0"/>
                  </a:rPr>
                  <a:t> </a:t>
                </a:r>
                <a:r>
                  <a:rPr lang="fr-FR" sz="1600" u="sng" dirty="0" err="1">
                    <a:ea typeface="Cambria Math" panose="02040503050406030204" pitchFamily="18" charset="0"/>
                  </a:rPr>
                  <a:t>product</a:t>
                </a:r>
                <a:r>
                  <a:rPr lang="fr-FR" sz="1600" u="sng" dirty="0">
                    <a:ea typeface="Cambria Math" panose="02040503050406030204" pitchFamily="18" charset="0"/>
                  </a:rPr>
                  <a:t>:</a:t>
                </a:r>
                <a:r>
                  <a:rPr lang="fr-FR" sz="1600" dirty="0">
                    <a:ea typeface="Cambria Math" panose="02040503050406030204" pitchFamily="18" charset="0"/>
                  </a:rPr>
                  <a:t> </a:t>
                </a:r>
                <a14:m>
                  <m:oMath xmlns:m="http://schemas.openxmlformats.org/officeDocument/2006/math">
                    <m:r>
                      <a:rPr lang="fr-FR" sz="1600" b="0" i="1" smtClean="0">
                        <a:latin typeface="Cambria Math" panose="02040503050406030204" pitchFamily="18" charset="0"/>
                        <a:ea typeface="Cambria Math" panose="02040503050406030204" pitchFamily="18" charset="0"/>
                      </a:rPr>
                      <m:t>𝑓</m:t>
                    </m:r>
                    <m:r>
                      <a:rPr lang="fr-FR" sz="1600" b="0" i="1"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𝑔</m:t>
                    </m:r>
                    <m:r>
                      <a:rPr lang="fr-FR" sz="1600" b="0" i="1" smtClean="0">
                        <a:latin typeface="Cambria Math" panose="02040503050406030204" pitchFamily="18" charset="0"/>
                        <a:ea typeface="Cambria Math" panose="02040503050406030204" pitchFamily="18" charset="0"/>
                      </a:rPr>
                      <m:t> ∈</m:t>
                    </m:r>
                    <m:sSup>
                      <m:sSupPr>
                        <m:ctrlPr>
                          <a:rPr lang="fr-FR" sz="1600" i="1">
                            <a:latin typeface="Cambria Math" panose="02040503050406030204" pitchFamily="18" charset="0"/>
                            <a:ea typeface="Cambria Math" panose="02040503050406030204" pitchFamily="18" charset="0"/>
                          </a:rPr>
                        </m:ctrlPr>
                      </m:sSupPr>
                      <m:e>
                        <m:r>
                          <a:rPr lang="fr-FR" sz="1600" i="1">
                            <a:latin typeface="Cambria Math" panose="02040503050406030204" pitchFamily="18" charset="0"/>
                            <a:ea typeface="Cambria Math" panose="02040503050406030204" pitchFamily="18" charset="0"/>
                          </a:rPr>
                          <m:t>𝐿</m:t>
                        </m:r>
                      </m:e>
                      <m:sup>
                        <m:r>
                          <a:rPr lang="fr-FR" sz="1600" i="1">
                            <a:latin typeface="Cambria Math" panose="02040503050406030204" pitchFamily="18" charset="0"/>
                            <a:ea typeface="Cambria Math" panose="02040503050406030204" pitchFamily="18" charset="0"/>
                          </a:rPr>
                          <m:t>2</m:t>
                        </m:r>
                      </m:sup>
                    </m:sSup>
                    <m:d>
                      <m:dPr>
                        <m:ctrlPr>
                          <a:rPr lang="fr-FR" sz="1600" i="1">
                            <a:latin typeface="Cambria Math" panose="02040503050406030204" pitchFamily="18" charset="0"/>
                            <a:ea typeface="Cambria Math" panose="02040503050406030204" pitchFamily="18" charset="0"/>
                          </a:rPr>
                        </m:ctrlPr>
                      </m:dPr>
                      <m:e>
                        <m:r>
                          <a:rPr lang="fr-FR" sz="1600" i="1">
                            <a:latin typeface="Cambria Math" panose="02040503050406030204" pitchFamily="18" charset="0"/>
                            <a:ea typeface="Cambria Math" panose="02040503050406030204" pitchFamily="18" charset="0"/>
                          </a:rPr>
                          <m:t>𝜏</m:t>
                        </m:r>
                      </m:e>
                    </m:d>
                  </m:oMath>
                </a14:m>
                <a:r>
                  <a:rPr lang="fr-FR" sz="1600" b="1" dirty="0">
                    <a:ea typeface="Cambria Math" panose="02040503050406030204" pitchFamily="18" charset="0"/>
                  </a:rPr>
                  <a:t>, </a:t>
                </a:r>
                <a14:m>
                  <m:oMath xmlns:m="http://schemas.openxmlformats.org/officeDocument/2006/math">
                    <m:d>
                      <m:dPr>
                        <m:begChr m:val="⟨"/>
                        <m:endChr m:val="⟩"/>
                        <m:ctrlPr>
                          <a:rPr lang="fr-FR" sz="1600" b="1" i="1" smtClean="0">
                            <a:latin typeface="Cambria Math" panose="02040503050406030204" pitchFamily="18" charset="0"/>
                            <a:ea typeface="Cambria Math" panose="02040503050406030204" pitchFamily="18" charset="0"/>
                          </a:rPr>
                        </m:ctrlPr>
                      </m:dPr>
                      <m:e>
                        <m:r>
                          <a:rPr lang="fr-FR" sz="1600" b="1" i="1" smtClean="0">
                            <a:latin typeface="Cambria Math" panose="02040503050406030204" pitchFamily="18" charset="0"/>
                            <a:ea typeface="Cambria Math" panose="02040503050406030204" pitchFamily="18" charset="0"/>
                          </a:rPr>
                          <m:t>𝒇</m:t>
                        </m:r>
                      </m:e>
                      <m:e>
                        <m:r>
                          <a:rPr lang="fr-FR" sz="1600" b="1" i="1" smtClean="0">
                            <a:latin typeface="Cambria Math" panose="02040503050406030204" pitchFamily="18" charset="0"/>
                            <a:ea typeface="Cambria Math" panose="02040503050406030204" pitchFamily="18" charset="0"/>
                          </a:rPr>
                          <m:t>𝒈</m:t>
                        </m:r>
                      </m:e>
                    </m:d>
                    <m:r>
                      <a:rPr lang="fr-FR" sz="1600" b="1" i="1" smtClean="0">
                        <a:latin typeface="Cambria Math" panose="02040503050406030204" pitchFamily="18" charset="0"/>
                        <a:ea typeface="Cambria Math" panose="02040503050406030204" pitchFamily="18" charset="0"/>
                      </a:rPr>
                      <m:t>=</m:t>
                    </m:r>
                    <m:nary>
                      <m:naryPr>
                        <m:ctrlPr>
                          <a:rPr lang="fr-FR" sz="1600" b="1" i="1" smtClean="0">
                            <a:latin typeface="Cambria Math" panose="02040503050406030204" pitchFamily="18" charset="0"/>
                            <a:ea typeface="Cambria Math" panose="02040503050406030204" pitchFamily="18" charset="0"/>
                          </a:rPr>
                        </m:ctrlPr>
                      </m:naryPr>
                      <m:sub>
                        <m:r>
                          <m:rPr>
                            <m:brk m:alnAt="23"/>
                          </m:rPr>
                          <a:rPr lang="fr-FR" sz="1600" b="1" i="1" smtClean="0">
                            <a:latin typeface="Cambria Math" panose="02040503050406030204" pitchFamily="18" charset="0"/>
                            <a:ea typeface="Cambria Math" panose="02040503050406030204" pitchFamily="18" charset="0"/>
                          </a:rPr>
                          <m:t>𝒂</m:t>
                        </m:r>
                      </m:sub>
                      <m:sup>
                        <m:r>
                          <a:rPr lang="fr-FR" sz="1600" b="1" i="1" smtClean="0">
                            <a:latin typeface="Cambria Math" panose="02040503050406030204" pitchFamily="18" charset="0"/>
                            <a:ea typeface="Cambria Math" panose="02040503050406030204" pitchFamily="18" charset="0"/>
                          </a:rPr>
                          <m:t>𝒃</m:t>
                        </m:r>
                      </m:sup>
                      <m:e>
                        <m:r>
                          <a:rPr lang="fr-FR" sz="1600" b="1" i="1" smtClean="0">
                            <a:latin typeface="Cambria Math" panose="02040503050406030204" pitchFamily="18" charset="0"/>
                            <a:ea typeface="Cambria Math" panose="02040503050406030204" pitchFamily="18" charset="0"/>
                          </a:rPr>
                          <m:t>𝒇</m:t>
                        </m:r>
                        <m:d>
                          <m:dPr>
                            <m:ctrlPr>
                              <a:rPr lang="fr-FR" sz="1600" b="1" i="1" smtClean="0">
                                <a:latin typeface="Cambria Math" panose="02040503050406030204" pitchFamily="18" charset="0"/>
                                <a:ea typeface="Cambria Math" panose="02040503050406030204" pitchFamily="18" charset="0"/>
                              </a:rPr>
                            </m:ctrlPr>
                          </m:dPr>
                          <m:e>
                            <m:r>
                              <a:rPr lang="fr-FR" sz="1600" b="1" i="1" smtClean="0">
                                <a:latin typeface="Cambria Math" panose="02040503050406030204" pitchFamily="18" charset="0"/>
                                <a:ea typeface="Cambria Math" panose="02040503050406030204" pitchFamily="18" charset="0"/>
                              </a:rPr>
                              <m:t>𝒕</m:t>
                            </m:r>
                          </m:e>
                        </m:d>
                        <m:r>
                          <a:rPr lang="fr-FR" sz="1600" b="1" i="1" smtClean="0">
                            <a:latin typeface="Cambria Math" panose="02040503050406030204" pitchFamily="18" charset="0"/>
                            <a:ea typeface="Cambria Math" panose="02040503050406030204" pitchFamily="18" charset="0"/>
                          </a:rPr>
                          <m:t>𝒈</m:t>
                        </m:r>
                        <m:d>
                          <m:dPr>
                            <m:ctrlPr>
                              <a:rPr lang="fr-FR" sz="1600" b="1" i="1" smtClean="0">
                                <a:latin typeface="Cambria Math" panose="02040503050406030204" pitchFamily="18" charset="0"/>
                                <a:ea typeface="Cambria Math" panose="02040503050406030204" pitchFamily="18" charset="0"/>
                              </a:rPr>
                            </m:ctrlPr>
                          </m:dPr>
                          <m:e>
                            <m:r>
                              <a:rPr lang="fr-FR" sz="1600" b="1" i="1" smtClean="0">
                                <a:latin typeface="Cambria Math" panose="02040503050406030204" pitchFamily="18" charset="0"/>
                                <a:ea typeface="Cambria Math" panose="02040503050406030204" pitchFamily="18" charset="0"/>
                              </a:rPr>
                              <m:t>𝒕</m:t>
                            </m:r>
                          </m:e>
                        </m:d>
                        <m:r>
                          <a:rPr lang="fr-FR" sz="1600" b="1" i="1" smtClean="0">
                            <a:latin typeface="Cambria Math" panose="02040503050406030204" pitchFamily="18" charset="0"/>
                            <a:ea typeface="Cambria Math" panose="02040503050406030204" pitchFamily="18" charset="0"/>
                          </a:rPr>
                          <m:t>𝒅𝒕</m:t>
                        </m:r>
                      </m:e>
                    </m:nary>
                  </m:oMath>
                </a14:m>
                <a:endParaRPr lang="fr-FR" sz="1600" b="1" dirty="0">
                  <a:ea typeface="Cambria Math" panose="02040503050406030204" pitchFamily="18" charset="0"/>
                </a:endParaRPr>
              </a:p>
              <a:p>
                <a:r>
                  <a:rPr lang="fr-FR" sz="1600" u="sng" dirty="0" err="1">
                    <a:ea typeface="Cambria Math" panose="02040503050406030204" pitchFamily="18" charset="0"/>
                  </a:rPr>
                  <a:t>Norm</a:t>
                </a:r>
                <a:r>
                  <a:rPr lang="fr-FR" sz="1600" u="sng" dirty="0">
                    <a:ea typeface="Cambria Math" panose="02040503050406030204" pitchFamily="18" charset="0"/>
                  </a:rPr>
                  <a:t>:</a:t>
                </a:r>
                <a:r>
                  <a:rPr lang="fr-FR" sz="1600" dirty="0">
                    <a:ea typeface="Cambria Math" panose="02040503050406030204" pitchFamily="18" charset="0"/>
                  </a:rPr>
                  <a:t> </a:t>
                </a:r>
                <a14:m>
                  <m:oMath xmlns:m="http://schemas.openxmlformats.org/officeDocument/2006/math">
                    <m:r>
                      <a:rPr lang="fr-FR" sz="1600" b="0" i="1" smtClean="0">
                        <a:latin typeface="Cambria Math" panose="02040503050406030204" pitchFamily="18" charset="0"/>
                        <a:ea typeface="Cambria Math" panose="02040503050406030204" pitchFamily="18" charset="0"/>
                      </a:rPr>
                      <m:t>𝑓</m:t>
                    </m:r>
                    <m:r>
                      <a:rPr lang="fr-FR" sz="1600" b="0" i="1" smtClean="0">
                        <a:latin typeface="Cambria Math" panose="02040503050406030204" pitchFamily="18" charset="0"/>
                        <a:ea typeface="Cambria Math" panose="02040503050406030204" pitchFamily="18" charset="0"/>
                      </a:rPr>
                      <m:t>∈</m:t>
                    </m:r>
                    <m:sSup>
                      <m:sSupPr>
                        <m:ctrlPr>
                          <a:rPr lang="fr-FR" sz="1600" i="1">
                            <a:latin typeface="Cambria Math" panose="02040503050406030204" pitchFamily="18" charset="0"/>
                            <a:ea typeface="Cambria Math" panose="02040503050406030204" pitchFamily="18" charset="0"/>
                          </a:rPr>
                        </m:ctrlPr>
                      </m:sSupPr>
                      <m:e>
                        <m:r>
                          <a:rPr lang="fr-FR" sz="1600" i="1">
                            <a:latin typeface="Cambria Math" panose="02040503050406030204" pitchFamily="18" charset="0"/>
                            <a:ea typeface="Cambria Math" panose="02040503050406030204" pitchFamily="18" charset="0"/>
                          </a:rPr>
                          <m:t>𝐿</m:t>
                        </m:r>
                      </m:e>
                      <m:sup>
                        <m:r>
                          <a:rPr lang="fr-FR" sz="1600" i="1">
                            <a:latin typeface="Cambria Math" panose="02040503050406030204" pitchFamily="18" charset="0"/>
                            <a:ea typeface="Cambria Math" panose="02040503050406030204" pitchFamily="18" charset="0"/>
                          </a:rPr>
                          <m:t>2</m:t>
                        </m:r>
                      </m:sup>
                    </m:sSup>
                    <m:d>
                      <m:dPr>
                        <m:ctrlPr>
                          <a:rPr lang="fr-FR" sz="1600" i="1">
                            <a:latin typeface="Cambria Math" panose="02040503050406030204" pitchFamily="18" charset="0"/>
                            <a:ea typeface="Cambria Math" panose="02040503050406030204" pitchFamily="18" charset="0"/>
                          </a:rPr>
                        </m:ctrlPr>
                      </m:dPr>
                      <m:e>
                        <m:r>
                          <a:rPr lang="fr-FR" sz="1600" i="1">
                            <a:latin typeface="Cambria Math" panose="02040503050406030204" pitchFamily="18" charset="0"/>
                            <a:ea typeface="Cambria Math" panose="02040503050406030204" pitchFamily="18" charset="0"/>
                          </a:rPr>
                          <m:t>𝜏</m:t>
                        </m:r>
                      </m:e>
                    </m:d>
                  </m:oMath>
                </a14:m>
                <a:r>
                  <a:rPr lang="fr-FR" sz="1600" dirty="0">
                    <a:ea typeface="Cambria Math" panose="02040503050406030204" pitchFamily="18" charset="0"/>
                  </a:rPr>
                  <a:t>, </a:t>
                </a:r>
                <a14:m>
                  <m:oMath xmlns:m="http://schemas.openxmlformats.org/officeDocument/2006/math">
                    <m:r>
                      <a:rPr lang="fr-FR" sz="1600" b="1" i="1">
                        <a:latin typeface="Cambria Math" panose="02040503050406030204" pitchFamily="18" charset="0"/>
                        <a:ea typeface="Cambria Math" panose="02040503050406030204" pitchFamily="18" charset="0"/>
                      </a:rPr>
                      <m:t>∥</m:t>
                    </m:r>
                    <m:r>
                      <a:rPr lang="fr-FR" sz="1600" b="1" i="1" smtClean="0">
                        <a:latin typeface="Cambria Math" panose="02040503050406030204" pitchFamily="18" charset="0"/>
                        <a:ea typeface="Cambria Math" panose="02040503050406030204" pitchFamily="18" charset="0"/>
                      </a:rPr>
                      <m:t>𝒇</m:t>
                    </m:r>
                    <m:r>
                      <a:rPr lang="fr-FR" sz="1600" b="1" i="1">
                        <a:latin typeface="Cambria Math" panose="02040503050406030204" pitchFamily="18" charset="0"/>
                        <a:ea typeface="Cambria Math" panose="02040503050406030204" pitchFamily="18" charset="0"/>
                      </a:rPr>
                      <m:t>∥=</m:t>
                    </m:r>
                    <m:rad>
                      <m:radPr>
                        <m:degHide m:val="on"/>
                        <m:ctrlPr>
                          <a:rPr lang="fr-FR" sz="1600" b="1" i="1" smtClean="0">
                            <a:latin typeface="Cambria Math" panose="02040503050406030204" pitchFamily="18" charset="0"/>
                            <a:ea typeface="Cambria Math" panose="02040503050406030204" pitchFamily="18" charset="0"/>
                          </a:rPr>
                        </m:ctrlPr>
                      </m:radPr>
                      <m:deg/>
                      <m:e>
                        <m:d>
                          <m:dPr>
                            <m:begChr m:val="⟨"/>
                            <m:endChr m:val="⟩"/>
                            <m:ctrlPr>
                              <a:rPr lang="fr-FR" sz="1600" b="1" i="1" smtClean="0">
                                <a:latin typeface="Cambria Math" panose="02040503050406030204" pitchFamily="18" charset="0"/>
                                <a:ea typeface="Cambria Math" panose="02040503050406030204" pitchFamily="18" charset="0"/>
                              </a:rPr>
                            </m:ctrlPr>
                          </m:dPr>
                          <m:e>
                            <m:r>
                              <a:rPr lang="fr-FR" sz="1600" b="1" i="1" smtClean="0">
                                <a:latin typeface="Cambria Math" panose="02040503050406030204" pitchFamily="18" charset="0"/>
                                <a:ea typeface="Cambria Math" panose="02040503050406030204" pitchFamily="18" charset="0"/>
                              </a:rPr>
                              <m:t>𝒇</m:t>
                            </m:r>
                          </m:e>
                          <m:e>
                            <m:r>
                              <a:rPr lang="fr-FR" sz="1600" b="1" i="1" smtClean="0">
                                <a:latin typeface="Cambria Math" panose="02040503050406030204" pitchFamily="18" charset="0"/>
                                <a:ea typeface="Cambria Math" panose="02040503050406030204" pitchFamily="18" charset="0"/>
                              </a:rPr>
                              <m:t>𝒇</m:t>
                            </m:r>
                          </m:e>
                        </m:d>
                      </m:e>
                    </m:rad>
                    <m:r>
                      <a:rPr lang="fr-FR" sz="1600" b="1" i="1" smtClean="0">
                        <a:latin typeface="Cambria Math" panose="02040503050406030204" pitchFamily="18" charset="0"/>
                        <a:ea typeface="Cambria Math" panose="02040503050406030204" pitchFamily="18" charset="0"/>
                      </a:rPr>
                      <m:t>=</m:t>
                    </m:r>
                    <m:rad>
                      <m:radPr>
                        <m:degHide m:val="on"/>
                        <m:ctrlPr>
                          <a:rPr lang="fr-FR" sz="1600" b="1" i="1">
                            <a:latin typeface="Cambria Math" panose="02040503050406030204" pitchFamily="18" charset="0"/>
                            <a:ea typeface="Cambria Math" panose="02040503050406030204" pitchFamily="18" charset="0"/>
                          </a:rPr>
                        </m:ctrlPr>
                      </m:radPr>
                      <m:deg/>
                      <m:e>
                        <m:nary>
                          <m:naryPr>
                            <m:ctrlPr>
                              <a:rPr lang="fr-FR" sz="1600" b="1" i="1" smtClean="0">
                                <a:latin typeface="Cambria Math" panose="02040503050406030204" pitchFamily="18" charset="0"/>
                                <a:ea typeface="Cambria Math" panose="02040503050406030204" pitchFamily="18" charset="0"/>
                              </a:rPr>
                            </m:ctrlPr>
                          </m:naryPr>
                          <m:sub>
                            <m:r>
                              <m:rPr>
                                <m:brk m:alnAt="23"/>
                              </m:rPr>
                              <a:rPr lang="fr-FR" sz="1600" b="1" i="1" smtClean="0">
                                <a:latin typeface="Cambria Math" panose="02040503050406030204" pitchFamily="18" charset="0"/>
                                <a:ea typeface="Cambria Math" panose="02040503050406030204" pitchFamily="18" charset="0"/>
                              </a:rPr>
                              <m:t>𝒂</m:t>
                            </m:r>
                          </m:sub>
                          <m:sup>
                            <m:r>
                              <a:rPr lang="fr-FR" sz="1600" b="1" i="1" smtClean="0">
                                <a:latin typeface="Cambria Math" panose="02040503050406030204" pitchFamily="18" charset="0"/>
                                <a:ea typeface="Cambria Math" panose="02040503050406030204" pitchFamily="18" charset="0"/>
                              </a:rPr>
                              <m:t>𝒃</m:t>
                            </m:r>
                          </m:sup>
                          <m:e>
                            <m:d>
                              <m:dPr>
                                <m:ctrlPr>
                                  <a:rPr lang="fr-FR" sz="1600" b="1" i="1" smtClean="0">
                                    <a:latin typeface="Cambria Math" panose="02040503050406030204" pitchFamily="18" charset="0"/>
                                    <a:ea typeface="Cambria Math" panose="02040503050406030204" pitchFamily="18" charset="0"/>
                                  </a:rPr>
                                </m:ctrlPr>
                              </m:dPr>
                              <m:e>
                                <m:r>
                                  <a:rPr lang="fr-FR" sz="1600" b="1" i="1" smtClean="0">
                                    <a:latin typeface="Cambria Math" panose="02040503050406030204" pitchFamily="18" charset="0"/>
                                    <a:ea typeface="Cambria Math" panose="02040503050406030204" pitchFamily="18" charset="0"/>
                                  </a:rPr>
                                  <m:t>𝒇</m:t>
                                </m:r>
                                <m:d>
                                  <m:dPr>
                                    <m:ctrlPr>
                                      <a:rPr lang="fr-FR" sz="1600" b="1" i="1" smtClean="0">
                                        <a:latin typeface="Cambria Math" panose="02040503050406030204" pitchFamily="18" charset="0"/>
                                        <a:ea typeface="Cambria Math" panose="02040503050406030204" pitchFamily="18" charset="0"/>
                                      </a:rPr>
                                    </m:ctrlPr>
                                  </m:dPr>
                                  <m:e>
                                    <m:r>
                                      <a:rPr lang="fr-FR" sz="1600" b="1" i="1" smtClean="0">
                                        <a:latin typeface="Cambria Math" panose="02040503050406030204" pitchFamily="18" charset="0"/>
                                        <a:ea typeface="Cambria Math" panose="02040503050406030204" pitchFamily="18" charset="0"/>
                                      </a:rPr>
                                      <m:t>𝒕</m:t>
                                    </m:r>
                                  </m:e>
                                </m:d>
                              </m:e>
                            </m:d>
                            <m:r>
                              <a:rPr lang="fr-FR" sz="1600" b="1" i="1" baseline="30000" smtClean="0">
                                <a:latin typeface="Cambria Math" panose="02040503050406030204" pitchFamily="18" charset="0"/>
                                <a:ea typeface="Cambria Math" panose="02040503050406030204" pitchFamily="18" charset="0"/>
                              </a:rPr>
                              <m:t>𝟐</m:t>
                            </m:r>
                          </m:e>
                        </m:nary>
                        <m:r>
                          <a:rPr lang="fr-FR" sz="1600" b="1" i="1" smtClean="0">
                            <a:latin typeface="Cambria Math" panose="02040503050406030204" pitchFamily="18" charset="0"/>
                            <a:ea typeface="Cambria Math" panose="02040503050406030204" pitchFamily="18" charset="0"/>
                          </a:rPr>
                          <m:t>𝒅𝒕</m:t>
                        </m:r>
                      </m:e>
                    </m:rad>
                  </m:oMath>
                </a14:m>
                <a:endParaRPr lang="fr-FR" sz="1600" b="1" dirty="0">
                  <a:ea typeface="Cambria Math" panose="02040503050406030204" pitchFamily="18" charset="0"/>
                </a:endParaRPr>
              </a:p>
              <a:p>
                <a:r>
                  <a:rPr lang="fr-FR" sz="1600" u="sng" dirty="0" err="1">
                    <a:ea typeface="Cambria Math" panose="02040503050406030204" pitchFamily="18" charset="0"/>
                  </a:rPr>
                  <a:t>Principle</a:t>
                </a:r>
                <a:r>
                  <a:rPr lang="fr-FR" sz="1600" u="sng" dirty="0">
                    <a:ea typeface="Cambria Math" panose="02040503050406030204" pitchFamily="18" charset="0"/>
                  </a:rPr>
                  <a:t>:</a:t>
                </a:r>
                <a:r>
                  <a:rPr lang="fr-FR" sz="1600" dirty="0">
                    <a:ea typeface="Cambria Math" panose="02040503050406030204" pitchFamily="18" charset="0"/>
                  </a:rPr>
                  <a:t> (i) </a:t>
                </a:r>
                <a:r>
                  <a:rPr lang="fr-FR" sz="1600" dirty="0" err="1">
                    <a:ea typeface="Cambria Math" panose="02040503050406030204" pitchFamily="18" charset="0"/>
                  </a:rPr>
                  <a:t>Find</a:t>
                </a:r>
                <a:r>
                  <a:rPr lang="fr-FR" sz="1600" dirty="0">
                    <a:ea typeface="Cambria Math" panose="02040503050406030204" pitchFamily="18" charset="0"/>
                  </a:rPr>
                  <a:t> the </a:t>
                </a:r>
                <a:r>
                  <a:rPr lang="fr-FR" sz="1600" dirty="0" err="1">
                    <a:ea typeface="Cambria Math" panose="02040503050406030204" pitchFamily="18" charset="0"/>
                  </a:rPr>
                  <a:t>weight</a:t>
                </a:r>
                <a:r>
                  <a:rPr lang="fr-FR" sz="1600" dirty="0">
                    <a:ea typeface="Cambria Math" panose="02040503050406030204" pitchFamily="18" charset="0"/>
                  </a:rPr>
                  <a:t> </a:t>
                </a:r>
                <a:r>
                  <a:rPr lang="fr-FR" sz="1600" dirty="0" err="1">
                    <a:ea typeface="Cambria Math" panose="02040503050406030204" pitchFamily="18" charset="0"/>
                  </a:rPr>
                  <a:t>function</a:t>
                </a:r>
                <a:r>
                  <a:rPr lang="fr-FR" sz="1600" dirty="0">
                    <a:ea typeface="Cambria Math" panose="02040503050406030204" pitchFamily="18" charset="0"/>
                  </a:rPr>
                  <a:t> </a:t>
                </a:r>
                <a14:m>
                  <m:oMath xmlns:m="http://schemas.openxmlformats.org/officeDocument/2006/math">
                    <m:sSub>
                      <m:sSubPr>
                        <m:ctrlPr>
                          <a:rPr lang="fr-FR" sz="1600" i="1" smtClean="0">
                            <a:latin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𝜉</m:t>
                        </m:r>
                      </m:e>
                      <m:sub>
                        <m:r>
                          <a:rPr lang="fr-FR" sz="1600" b="0" i="1" smtClean="0">
                            <a:latin typeface="Cambria Math" panose="02040503050406030204" pitchFamily="18" charset="0"/>
                          </a:rPr>
                          <m:t>1</m:t>
                        </m:r>
                      </m:sub>
                    </m:sSub>
                    <m:d>
                      <m:dPr>
                        <m:ctrlPr>
                          <a:rPr lang="fr-FR" sz="1600" b="0" i="1" smtClean="0">
                            <a:latin typeface="Cambria Math" panose="02040503050406030204" pitchFamily="18" charset="0"/>
                          </a:rPr>
                        </m:ctrlPr>
                      </m:dPr>
                      <m:e>
                        <m:r>
                          <a:rPr lang="fr-FR" sz="1600" b="0" i="1" smtClean="0">
                            <a:latin typeface="Cambria Math" panose="02040503050406030204" pitchFamily="18" charset="0"/>
                          </a:rPr>
                          <m:t>𝑡</m:t>
                        </m:r>
                      </m:e>
                    </m:d>
                  </m:oMath>
                </a14:m>
                <a:r>
                  <a:rPr lang="fr-FR" sz="1600" dirty="0">
                    <a:ea typeface="Cambria Math" panose="02040503050406030204" pitchFamily="18" charset="0"/>
                  </a:rPr>
                  <a:t> for </a:t>
                </a:r>
                <a:r>
                  <a:rPr lang="fr-FR" sz="1600" dirty="0" err="1">
                    <a:ea typeface="Cambria Math" panose="02040503050406030204" pitchFamily="18" charset="0"/>
                  </a:rPr>
                  <a:t>which</a:t>
                </a:r>
                <a:r>
                  <a:rPr lang="fr-FR" sz="1600" dirty="0">
                    <a:ea typeface="Cambria Math" panose="02040503050406030204" pitchFamily="18" charset="0"/>
                  </a:rPr>
                  <a:t> the first principal component score </a:t>
                </a:r>
                <a14:m>
                  <m:oMath xmlns:m="http://schemas.openxmlformats.org/officeDocument/2006/math">
                    <m:sSub>
                      <m:sSubPr>
                        <m:ctrlPr>
                          <a:rPr lang="fr-FR" sz="1600" b="1" i="1">
                            <a:latin typeface="Cambria Math" panose="02040503050406030204" pitchFamily="18" charset="0"/>
                          </a:rPr>
                        </m:ctrlPr>
                      </m:sSubPr>
                      <m:e>
                        <m:r>
                          <a:rPr lang="fr-FR" sz="1600" b="1" i="1">
                            <a:latin typeface="Cambria Math" panose="02040503050406030204" pitchFamily="18" charset="0"/>
                          </a:rPr>
                          <m:t>𝒇</m:t>
                        </m:r>
                      </m:e>
                      <m:sub>
                        <m:r>
                          <a:rPr lang="fr-FR" sz="1600" b="1" i="1">
                            <a:latin typeface="Cambria Math" panose="02040503050406030204" pitchFamily="18" charset="0"/>
                          </a:rPr>
                          <m:t>𝒊</m:t>
                        </m:r>
                        <m:r>
                          <a:rPr lang="fr-FR" sz="1600" b="1" i="1">
                            <a:latin typeface="Cambria Math" panose="02040503050406030204" pitchFamily="18" charset="0"/>
                          </a:rPr>
                          <m:t>𝟏</m:t>
                        </m:r>
                      </m:sub>
                    </m:sSub>
                    <m:r>
                      <a:rPr lang="fr-FR" sz="1600" b="1" i="1" smtClean="0">
                        <a:latin typeface="Cambria Math" panose="02040503050406030204" pitchFamily="18" charset="0"/>
                      </a:rPr>
                      <m:t>=</m:t>
                    </m:r>
                    <m:d>
                      <m:dPr>
                        <m:begChr m:val="⟨"/>
                        <m:endChr m:val="⟩"/>
                        <m:ctrlPr>
                          <a:rPr lang="fr-FR" sz="1600" b="1" i="1">
                            <a:latin typeface="Cambria Math" panose="02040503050406030204" pitchFamily="18" charset="0"/>
                          </a:rPr>
                        </m:ctrlPr>
                      </m:dPr>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a:latin typeface="Cambria Math" panose="02040503050406030204" pitchFamily="18" charset="0"/>
                              </a:rPr>
                              <m:t>𝟏</m:t>
                            </m:r>
                          </m:sub>
                        </m:sSub>
                      </m:e>
                      <m:e>
                        <m:sSub>
                          <m:sSubPr>
                            <m:ctrlPr>
                              <a:rPr lang="fr-FR" sz="1600" b="1" i="1">
                                <a:latin typeface="Cambria Math" panose="02040503050406030204" pitchFamily="18" charset="0"/>
                                <a:ea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𝒙</m:t>
                            </m:r>
                          </m:e>
                          <m:sub>
                            <m:r>
                              <a:rPr lang="fr-FR" sz="1600" b="1" i="1">
                                <a:latin typeface="Cambria Math" panose="02040503050406030204" pitchFamily="18" charset="0"/>
                                <a:ea typeface="Cambria Math" panose="02040503050406030204" pitchFamily="18" charset="0"/>
                              </a:rPr>
                              <m:t>𝒊</m:t>
                            </m:r>
                          </m:sub>
                        </m:sSub>
                      </m:e>
                    </m:d>
                    <m:r>
                      <a:rPr lang="fr-FR" sz="1600" b="1" i="1" smtClean="0">
                        <a:latin typeface="Cambria Math" panose="02040503050406030204" pitchFamily="18" charset="0"/>
                        <a:ea typeface="Cambria Math" panose="02040503050406030204" pitchFamily="18" charset="0"/>
                      </a:rPr>
                      <m:t>=</m:t>
                    </m:r>
                    <m:nary>
                      <m:naryPr>
                        <m:ctrlPr>
                          <a:rPr lang="fr-FR" sz="1600" b="1" i="1" smtClean="0">
                            <a:latin typeface="Cambria Math" panose="02040503050406030204" pitchFamily="18" charset="0"/>
                            <a:ea typeface="Cambria Math" panose="02040503050406030204" pitchFamily="18" charset="0"/>
                          </a:rPr>
                        </m:ctrlPr>
                      </m:naryPr>
                      <m:sub>
                        <m:r>
                          <m:rPr>
                            <m:brk m:alnAt="23"/>
                          </m:rPr>
                          <a:rPr lang="fr-FR" sz="1600" b="1" i="1" smtClean="0">
                            <a:latin typeface="Cambria Math" panose="02040503050406030204" pitchFamily="18" charset="0"/>
                            <a:ea typeface="Cambria Math" panose="02040503050406030204" pitchFamily="18" charset="0"/>
                          </a:rPr>
                          <m:t>𝒂</m:t>
                        </m:r>
                      </m:sub>
                      <m:sup>
                        <m:r>
                          <a:rPr lang="fr-FR" sz="1600" b="1" i="1" smtClean="0">
                            <a:latin typeface="Cambria Math" panose="02040503050406030204" pitchFamily="18" charset="0"/>
                            <a:ea typeface="Cambria Math" panose="02040503050406030204" pitchFamily="18" charset="0"/>
                          </a:rPr>
                          <m:t>𝒃</m:t>
                        </m:r>
                      </m:sup>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a:latin typeface="Cambria Math" panose="02040503050406030204" pitchFamily="18" charset="0"/>
                              </a:rPr>
                              <m:t>𝟏</m:t>
                            </m:r>
                          </m:sub>
                        </m:sSub>
                        <m:d>
                          <m:dPr>
                            <m:ctrlPr>
                              <a:rPr lang="fr-FR" sz="1600" b="1" i="1">
                                <a:latin typeface="Cambria Math" panose="02040503050406030204" pitchFamily="18" charset="0"/>
                              </a:rPr>
                            </m:ctrlPr>
                          </m:dPr>
                          <m:e>
                            <m:r>
                              <a:rPr lang="fr-FR" sz="1600" b="1" i="1">
                                <a:latin typeface="Cambria Math" panose="02040503050406030204" pitchFamily="18" charset="0"/>
                              </a:rPr>
                              <m:t>𝒕</m:t>
                            </m:r>
                          </m:e>
                        </m:d>
                        <m:sSub>
                          <m:sSubPr>
                            <m:ctrlPr>
                              <a:rPr lang="fr-FR" sz="1600" b="1" i="1" dirty="0">
                                <a:latin typeface="Cambria Math" panose="02040503050406030204" pitchFamily="18" charset="0"/>
                                <a:ea typeface="Cambria Math" panose="02040503050406030204" pitchFamily="18" charset="0"/>
                              </a:rPr>
                            </m:ctrlPr>
                          </m:sSubPr>
                          <m:e>
                            <m:r>
                              <a:rPr lang="fr-FR" sz="1600" b="1" i="1" dirty="0">
                                <a:latin typeface="Cambria Math" panose="02040503050406030204" pitchFamily="18" charset="0"/>
                                <a:ea typeface="Cambria Math" panose="02040503050406030204" pitchFamily="18" charset="0"/>
                              </a:rPr>
                              <m:t>𝒙</m:t>
                            </m:r>
                          </m:e>
                          <m:sub>
                            <m:r>
                              <a:rPr lang="fr-FR" sz="1600" b="1" i="1" dirty="0">
                                <a:latin typeface="Cambria Math" panose="02040503050406030204" pitchFamily="18" charset="0"/>
                                <a:ea typeface="Cambria Math" panose="02040503050406030204" pitchFamily="18" charset="0"/>
                              </a:rPr>
                              <m:t>𝒊</m:t>
                            </m:r>
                          </m:sub>
                        </m:sSub>
                        <m:d>
                          <m:dPr>
                            <m:ctrlPr>
                              <a:rPr lang="fr-FR" sz="1600" b="1" i="1" dirty="0">
                                <a:latin typeface="Cambria Math" panose="02040503050406030204" pitchFamily="18" charset="0"/>
                                <a:ea typeface="Cambria Math" panose="02040503050406030204" pitchFamily="18" charset="0"/>
                              </a:rPr>
                            </m:ctrlPr>
                          </m:dPr>
                          <m:e>
                            <m:r>
                              <a:rPr lang="fr-FR" sz="1600" b="1" i="1" dirty="0">
                                <a:latin typeface="Cambria Math" panose="02040503050406030204" pitchFamily="18" charset="0"/>
                                <a:ea typeface="Cambria Math" panose="02040503050406030204" pitchFamily="18" charset="0"/>
                              </a:rPr>
                              <m:t>𝒕</m:t>
                            </m:r>
                          </m:e>
                        </m:d>
                        <m:r>
                          <a:rPr lang="fr-FR" sz="1600" b="1" i="1" dirty="0" smtClean="0">
                            <a:latin typeface="Cambria Math" panose="02040503050406030204" pitchFamily="18" charset="0"/>
                            <a:ea typeface="Cambria Math" panose="02040503050406030204" pitchFamily="18" charset="0"/>
                          </a:rPr>
                          <m:t>𝒅𝒕</m:t>
                        </m:r>
                      </m:e>
                    </m:nary>
                  </m:oMath>
                </a14:m>
                <a:r>
                  <a:rPr lang="fr-FR" sz="1600" dirty="0">
                    <a:ea typeface="Cambria Math" panose="02040503050406030204" pitchFamily="18" charset="0"/>
                  </a:rPr>
                  <a:t> </a:t>
                </a:r>
                <a:r>
                  <a:rPr lang="fr-FR" sz="1600" dirty="0" err="1">
                    <a:ea typeface="Cambria Math" panose="02040503050406030204" pitchFamily="18" charset="0"/>
                  </a:rPr>
                  <a:t>maximizes</a:t>
                </a:r>
                <a:r>
                  <a:rPr lang="fr-FR" sz="1600" dirty="0">
                    <a:ea typeface="Cambria Math" panose="02040503050406030204" pitchFamily="18" charset="0"/>
                  </a:rPr>
                  <a:t> </a:t>
                </a:r>
                <a14:m>
                  <m:oMath xmlns:m="http://schemas.openxmlformats.org/officeDocument/2006/math">
                    <m:f>
                      <m:fPr>
                        <m:ctrlPr>
                          <a:rPr lang="fr-FR" sz="1600" i="1">
                            <a:latin typeface="Cambria Math" panose="02040503050406030204" pitchFamily="18" charset="0"/>
                          </a:rPr>
                        </m:ctrlPr>
                      </m:fPr>
                      <m:num>
                        <m:r>
                          <a:rPr lang="fr-FR" sz="1600" i="1">
                            <a:latin typeface="Cambria Math" panose="02040503050406030204" pitchFamily="18" charset="0"/>
                          </a:rPr>
                          <m:t>1</m:t>
                        </m:r>
                      </m:num>
                      <m:den>
                        <m:r>
                          <a:rPr lang="fr-FR" sz="1600" i="1">
                            <a:latin typeface="Cambria Math" panose="02040503050406030204" pitchFamily="18" charset="0"/>
                          </a:rPr>
                          <m:t>𝑛</m:t>
                        </m:r>
                      </m:den>
                    </m:f>
                    <m:nary>
                      <m:naryPr>
                        <m:chr m:val="∑"/>
                        <m:ctrlPr>
                          <a:rPr lang="fr-FR" sz="1600" i="1">
                            <a:latin typeface="Cambria Math" panose="02040503050406030204" pitchFamily="18" charset="0"/>
                          </a:rPr>
                        </m:ctrlPr>
                      </m:naryPr>
                      <m:sub>
                        <m:r>
                          <m:rPr>
                            <m:brk m:alnAt="23"/>
                          </m:rPr>
                          <a:rPr lang="fr-FR" sz="1600" i="1">
                            <a:latin typeface="Cambria Math" panose="02040503050406030204" pitchFamily="18" charset="0"/>
                          </a:rPr>
                          <m:t>𝑖</m:t>
                        </m:r>
                      </m:sub>
                      <m:sup>
                        <m:r>
                          <a:rPr lang="fr-FR" sz="1600" i="1">
                            <a:latin typeface="Cambria Math" panose="02040503050406030204" pitchFamily="18" charset="0"/>
                          </a:rPr>
                          <m:t>𝑛</m:t>
                        </m:r>
                      </m:sup>
                      <m:e>
                        <m:sSup>
                          <m:sSupPr>
                            <m:ctrlPr>
                              <a:rPr lang="fr-FR" sz="1600" i="1">
                                <a:latin typeface="Cambria Math" panose="02040503050406030204" pitchFamily="18" charset="0"/>
                              </a:rPr>
                            </m:ctrlPr>
                          </m:sSupPr>
                          <m:e>
                            <m:sSub>
                              <m:sSubPr>
                                <m:ctrlPr>
                                  <a:rPr lang="fr-FR" sz="1600" i="1">
                                    <a:latin typeface="Cambria Math" panose="02040503050406030204" pitchFamily="18" charset="0"/>
                                  </a:rPr>
                                </m:ctrlPr>
                              </m:sSubPr>
                              <m:e>
                                <m:r>
                                  <a:rPr lang="fr-FR" sz="1600" i="1">
                                    <a:latin typeface="Cambria Math" panose="02040503050406030204" pitchFamily="18" charset="0"/>
                                  </a:rPr>
                                  <m:t>𝑓</m:t>
                                </m:r>
                              </m:e>
                              <m:sub>
                                <m:r>
                                  <a:rPr lang="fr-FR" sz="1600" i="1">
                                    <a:latin typeface="Cambria Math" panose="02040503050406030204" pitchFamily="18" charset="0"/>
                                  </a:rPr>
                                  <m:t>𝑖</m:t>
                                </m:r>
                                <m:r>
                                  <a:rPr lang="fr-FR" sz="1600" i="1">
                                    <a:latin typeface="Cambria Math" panose="02040503050406030204" pitchFamily="18" charset="0"/>
                                  </a:rPr>
                                  <m:t>1</m:t>
                                </m:r>
                              </m:sub>
                            </m:sSub>
                          </m:e>
                          <m:sup>
                            <m:r>
                              <a:rPr lang="fr-FR" sz="1600" i="1">
                                <a:latin typeface="Cambria Math" panose="02040503050406030204" pitchFamily="18" charset="0"/>
                              </a:rPr>
                              <m:t>2</m:t>
                            </m:r>
                          </m:sup>
                        </m:sSup>
                      </m:e>
                    </m:nary>
                    <m:r>
                      <a:rPr lang="fr-FR" sz="1600" b="0" i="1" smtClean="0">
                        <a:latin typeface="Cambria Math" panose="02040503050406030204" pitchFamily="18" charset="0"/>
                      </a:rPr>
                      <m:t>=</m:t>
                    </m:r>
                    <m:f>
                      <m:fPr>
                        <m:ctrlPr>
                          <a:rPr lang="fr-FR" sz="1600" b="0" i="1" smtClean="0">
                            <a:latin typeface="Cambria Math" panose="02040503050406030204" pitchFamily="18" charset="0"/>
                          </a:rPr>
                        </m:ctrlPr>
                      </m:fPr>
                      <m:num>
                        <m:r>
                          <a:rPr lang="fr-FR" sz="1600" b="0" i="1" smtClean="0">
                            <a:latin typeface="Cambria Math" panose="02040503050406030204" pitchFamily="18" charset="0"/>
                          </a:rPr>
                          <m:t>1</m:t>
                        </m:r>
                      </m:num>
                      <m:den>
                        <m:r>
                          <a:rPr lang="fr-FR" sz="1600" b="0" i="1" smtClean="0">
                            <a:latin typeface="Cambria Math" panose="02040503050406030204" pitchFamily="18" charset="0"/>
                          </a:rPr>
                          <m:t>𝑛</m:t>
                        </m:r>
                      </m:den>
                    </m:f>
                    <m:nary>
                      <m:naryPr>
                        <m:chr m:val="∑"/>
                        <m:ctrlPr>
                          <a:rPr lang="fr-FR" sz="1600" b="0" i="1" smtClean="0">
                            <a:latin typeface="Cambria Math" panose="02040503050406030204" pitchFamily="18" charset="0"/>
                          </a:rPr>
                        </m:ctrlPr>
                      </m:naryPr>
                      <m:sub>
                        <m:r>
                          <m:rPr>
                            <m:brk m:alnAt="23"/>
                          </m:rPr>
                          <a:rPr lang="fr-FR" sz="1600" b="0" i="1" smtClean="0">
                            <a:latin typeface="Cambria Math" panose="02040503050406030204" pitchFamily="18" charset="0"/>
                          </a:rPr>
                          <m:t>𝑖</m:t>
                        </m:r>
                        <m:r>
                          <a:rPr lang="fr-FR" sz="1600" b="0" i="1" smtClean="0">
                            <a:latin typeface="Cambria Math" panose="02040503050406030204" pitchFamily="18" charset="0"/>
                          </a:rPr>
                          <m:t>=1</m:t>
                        </m:r>
                      </m:sub>
                      <m:sup>
                        <m:r>
                          <a:rPr lang="fr-FR" sz="1600" b="0" i="1" smtClean="0">
                            <a:latin typeface="Cambria Math" panose="02040503050406030204" pitchFamily="18" charset="0"/>
                          </a:rPr>
                          <m:t>𝑛</m:t>
                        </m:r>
                      </m:sup>
                      <m:e>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m:t>
                            </m:r>
                            <m:nary>
                              <m:naryPr>
                                <m:ctrlPr>
                                  <a:rPr lang="fr-FR" sz="1600" b="0" i="1" smtClean="0">
                                    <a:latin typeface="Cambria Math" panose="02040503050406030204" pitchFamily="18" charset="0"/>
                                  </a:rPr>
                                </m:ctrlPr>
                              </m:naryPr>
                              <m:sub>
                                <m:r>
                                  <m:rPr>
                                    <m:brk m:alnAt="23"/>
                                  </m:rPr>
                                  <a:rPr lang="fr-FR" sz="1600" b="0" i="1" smtClean="0">
                                    <a:latin typeface="Cambria Math" panose="02040503050406030204" pitchFamily="18" charset="0"/>
                                  </a:rPr>
                                  <m:t>𝑎</m:t>
                                </m:r>
                              </m:sub>
                              <m:sup>
                                <m:r>
                                  <a:rPr lang="fr-FR" sz="1600" b="0" i="1" smtClean="0">
                                    <a:latin typeface="Cambria Math" panose="02040503050406030204" pitchFamily="18" charset="0"/>
                                  </a:rPr>
                                  <m:t>𝑏</m:t>
                                </m:r>
                              </m:sup>
                              <m:e>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𝜉</m:t>
                                    </m:r>
                                  </m:e>
                                  <m:sub>
                                    <m:r>
                                      <a:rPr lang="fr-FR" sz="1600" i="1">
                                        <a:latin typeface="Cambria Math" panose="02040503050406030204" pitchFamily="18" charset="0"/>
                                      </a:rPr>
                                      <m:t>1</m:t>
                                    </m:r>
                                  </m:sub>
                                </m:sSub>
                                <m:d>
                                  <m:dPr>
                                    <m:ctrlPr>
                                      <a:rPr lang="fr-FR" sz="1600" i="1">
                                        <a:latin typeface="Cambria Math" panose="02040503050406030204" pitchFamily="18" charset="0"/>
                                      </a:rPr>
                                    </m:ctrlPr>
                                  </m:dPr>
                                  <m:e>
                                    <m:r>
                                      <a:rPr lang="fr-FR" sz="1600" i="1">
                                        <a:latin typeface="Cambria Math" panose="02040503050406030204" pitchFamily="18" charset="0"/>
                                      </a:rPr>
                                      <m:t>𝑡</m:t>
                                    </m:r>
                                  </m:e>
                                </m:d>
                                <m:sSub>
                                  <m:sSubPr>
                                    <m:ctrlPr>
                                      <a:rPr lang="fr-FR" sz="1600" i="1" dirty="0">
                                        <a:latin typeface="Cambria Math" panose="02040503050406030204" pitchFamily="18" charset="0"/>
                                        <a:ea typeface="Cambria Math" panose="02040503050406030204" pitchFamily="18" charset="0"/>
                                      </a:rPr>
                                    </m:ctrlPr>
                                  </m:sSubPr>
                                  <m:e>
                                    <m:r>
                                      <a:rPr lang="fr-FR" sz="1600" i="1" dirty="0">
                                        <a:latin typeface="Cambria Math" panose="02040503050406030204" pitchFamily="18" charset="0"/>
                                        <a:ea typeface="Cambria Math" panose="02040503050406030204" pitchFamily="18" charset="0"/>
                                      </a:rPr>
                                      <m:t>𝑥</m:t>
                                    </m:r>
                                  </m:e>
                                  <m:sub>
                                    <m:r>
                                      <a:rPr lang="fr-FR" sz="1600" i="1" dirty="0">
                                        <a:latin typeface="Cambria Math" panose="02040503050406030204" pitchFamily="18" charset="0"/>
                                        <a:ea typeface="Cambria Math" panose="02040503050406030204" pitchFamily="18" charset="0"/>
                                      </a:rPr>
                                      <m:t>𝑖</m:t>
                                    </m:r>
                                  </m:sub>
                                </m:sSub>
                                <m:d>
                                  <m:dPr>
                                    <m:ctrlPr>
                                      <a:rPr lang="fr-FR" sz="1600" i="1" dirty="0">
                                        <a:latin typeface="Cambria Math" panose="02040503050406030204" pitchFamily="18" charset="0"/>
                                        <a:ea typeface="Cambria Math" panose="02040503050406030204" pitchFamily="18" charset="0"/>
                                      </a:rPr>
                                    </m:ctrlPr>
                                  </m:dPr>
                                  <m:e>
                                    <m:r>
                                      <a:rPr lang="fr-FR" sz="1600" i="1" dirty="0">
                                        <a:latin typeface="Cambria Math" panose="02040503050406030204" pitchFamily="18" charset="0"/>
                                        <a:ea typeface="Cambria Math" panose="02040503050406030204" pitchFamily="18" charset="0"/>
                                      </a:rPr>
                                      <m:t>𝑡</m:t>
                                    </m:r>
                                  </m:e>
                                </m:d>
                                <m:r>
                                  <a:rPr lang="fr-FR" sz="1600" i="1" dirty="0">
                                    <a:latin typeface="Cambria Math" panose="02040503050406030204" pitchFamily="18" charset="0"/>
                                    <a:ea typeface="Cambria Math" panose="02040503050406030204" pitchFamily="18" charset="0"/>
                                  </a:rPr>
                                  <m:t>𝑑𝑡</m:t>
                                </m:r>
                              </m:e>
                            </m:nary>
                            <m:r>
                              <a:rPr lang="fr-FR" sz="1600" b="0" i="1" smtClean="0">
                                <a:latin typeface="Cambria Math" panose="02040503050406030204" pitchFamily="18" charset="0"/>
                              </a:rPr>
                              <m:t>)</m:t>
                            </m:r>
                          </m:e>
                          <m:sup>
                            <m:r>
                              <a:rPr lang="fr-FR" sz="1600" b="0" i="1" smtClean="0">
                                <a:latin typeface="Cambria Math" panose="02040503050406030204" pitchFamily="18" charset="0"/>
                              </a:rPr>
                              <m:t>2</m:t>
                            </m:r>
                          </m:sup>
                        </m:sSup>
                      </m:e>
                    </m:nary>
                  </m:oMath>
                </a14:m>
                <a:r>
                  <a:rPr lang="fr-FR" sz="1600" dirty="0">
                    <a:ea typeface="Cambria Math" panose="02040503050406030204" pitchFamily="18" charset="0"/>
                  </a:rPr>
                  <a:t> </a:t>
                </a:r>
                <a:r>
                  <a:rPr lang="fr-FR" sz="1600" dirty="0" err="1">
                    <a:ea typeface="Cambria Math" panose="02040503050406030204" pitchFamily="18" charset="0"/>
                  </a:rPr>
                  <a:t>with</a:t>
                </a:r>
                <a:r>
                  <a:rPr lang="fr-FR" sz="1600" dirty="0">
                    <a:ea typeface="Cambria Math" panose="02040503050406030204" pitchFamily="18" charset="0"/>
                  </a:rPr>
                  <a:t> the </a:t>
                </a:r>
                <a:r>
                  <a:rPr lang="fr-FR" sz="1600" dirty="0" err="1">
                    <a:ea typeface="Cambria Math" panose="02040503050406030204" pitchFamily="18" charset="0"/>
                  </a:rPr>
                  <a:t>constraint</a:t>
                </a:r>
                <a:r>
                  <a:rPr lang="fr-FR" sz="1600" dirty="0">
                    <a:ea typeface="Cambria Math" panose="02040503050406030204" pitchFamily="18" charset="0"/>
                  </a:rPr>
                  <a:t> </a:t>
                </a:r>
                <a14:m>
                  <m:oMath xmlns:m="http://schemas.openxmlformats.org/officeDocument/2006/math">
                    <m:sSup>
                      <m:sSupPr>
                        <m:ctrlPr>
                          <a:rPr lang="fr-FR" sz="1600" b="1" i="1">
                            <a:latin typeface="Cambria Math" panose="02040503050406030204" pitchFamily="18" charset="0"/>
                          </a:rPr>
                        </m:ctrlPr>
                      </m:sSupPr>
                      <m:e>
                        <m:r>
                          <a:rPr lang="fr-FR" sz="1600" b="1" i="1">
                            <a:latin typeface="Cambria Math" panose="02040503050406030204" pitchFamily="18" charset="0"/>
                            <a:ea typeface="Cambria Math" panose="02040503050406030204" pitchFamily="18" charset="0"/>
                          </a:rPr>
                          <m:t>∥</m:t>
                        </m:r>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a:latin typeface="Cambria Math" panose="02040503050406030204" pitchFamily="18" charset="0"/>
                              </a:rPr>
                              <m:t>𝟏</m:t>
                            </m:r>
                          </m:sub>
                        </m:sSub>
                        <m:r>
                          <a:rPr lang="fr-FR" sz="1600" b="1" i="1">
                            <a:latin typeface="Cambria Math" panose="02040503050406030204" pitchFamily="18" charset="0"/>
                            <a:ea typeface="Cambria Math" panose="02040503050406030204" pitchFamily="18" charset="0"/>
                          </a:rPr>
                          <m:t>∥</m:t>
                        </m:r>
                      </m:e>
                      <m:sup>
                        <m:r>
                          <a:rPr lang="fr-FR" sz="1600" b="1" i="1">
                            <a:latin typeface="Cambria Math" panose="02040503050406030204" pitchFamily="18" charset="0"/>
                          </a:rPr>
                          <m:t>𝟐</m:t>
                        </m:r>
                      </m:sup>
                    </m:sSup>
                    <m:r>
                      <a:rPr lang="fr-FR" sz="1600" b="1" i="1" smtClean="0">
                        <a:latin typeface="Cambria Math" panose="02040503050406030204" pitchFamily="18" charset="0"/>
                      </a:rPr>
                      <m:t>=</m:t>
                    </m:r>
                    <m:nary>
                      <m:naryPr>
                        <m:ctrlPr>
                          <a:rPr lang="fr-FR" sz="1600" b="1" i="1" smtClean="0">
                            <a:latin typeface="Cambria Math" panose="02040503050406030204" pitchFamily="18" charset="0"/>
                          </a:rPr>
                        </m:ctrlPr>
                      </m:naryPr>
                      <m:sub>
                        <m:r>
                          <m:rPr>
                            <m:brk m:alnAt="23"/>
                          </m:rPr>
                          <a:rPr lang="fr-FR" sz="1600" b="1" i="1" smtClean="0">
                            <a:latin typeface="Cambria Math" panose="02040503050406030204" pitchFamily="18" charset="0"/>
                          </a:rPr>
                          <m:t>𝒂</m:t>
                        </m:r>
                      </m:sub>
                      <m:sup>
                        <m:r>
                          <a:rPr lang="fr-FR" sz="1600" b="1" i="1" smtClean="0">
                            <a:latin typeface="Cambria Math" panose="02040503050406030204" pitchFamily="18" charset="0"/>
                          </a:rPr>
                          <m:t>𝒃</m:t>
                        </m:r>
                      </m:sup>
                      <m:e>
                        <m:sSup>
                          <m:sSupPr>
                            <m:ctrlPr>
                              <a:rPr lang="fr-FR" sz="1600" b="1" i="1" smtClean="0">
                                <a:latin typeface="Cambria Math" panose="02040503050406030204" pitchFamily="18" charset="0"/>
                              </a:rPr>
                            </m:ctrlPr>
                          </m:sSupPr>
                          <m:e>
                            <m:r>
                              <a:rPr lang="fr-FR" sz="1600" b="1" i="1">
                                <a:latin typeface="Cambria Math" panose="02040503050406030204" pitchFamily="18" charset="0"/>
                              </a:rPr>
                              <m:t>(</m:t>
                            </m:r>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a:latin typeface="Cambria Math" panose="02040503050406030204" pitchFamily="18" charset="0"/>
                                  </a:rPr>
                                  <m:t>𝟏</m:t>
                                </m:r>
                              </m:sub>
                            </m:sSub>
                            <m:d>
                              <m:dPr>
                                <m:ctrlPr>
                                  <a:rPr lang="fr-FR" sz="1600" b="1" i="1">
                                    <a:latin typeface="Cambria Math" panose="02040503050406030204" pitchFamily="18" charset="0"/>
                                  </a:rPr>
                                </m:ctrlPr>
                              </m:dPr>
                              <m:e>
                                <m:r>
                                  <a:rPr lang="fr-FR" sz="1600" b="1" i="1">
                                    <a:latin typeface="Cambria Math" panose="02040503050406030204" pitchFamily="18" charset="0"/>
                                  </a:rPr>
                                  <m:t>𝒕</m:t>
                                </m:r>
                              </m:e>
                            </m:d>
                            <m:r>
                              <a:rPr lang="fr-FR" sz="1600" b="1" i="1">
                                <a:latin typeface="Cambria Math" panose="02040503050406030204" pitchFamily="18" charset="0"/>
                              </a:rPr>
                              <m:t>)</m:t>
                            </m:r>
                          </m:e>
                          <m:sup>
                            <m:r>
                              <a:rPr lang="fr-FR" sz="1600" b="1" i="1" smtClean="0">
                                <a:latin typeface="Cambria Math" panose="02040503050406030204" pitchFamily="18" charset="0"/>
                              </a:rPr>
                              <m:t>𝟐</m:t>
                            </m:r>
                          </m:sup>
                        </m:sSup>
                        <m:r>
                          <a:rPr lang="fr-FR" sz="1600" b="1" i="1" smtClean="0">
                            <a:latin typeface="Cambria Math" panose="02040503050406030204" pitchFamily="18" charset="0"/>
                          </a:rPr>
                          <m:t>𝒅𝒕</m:t>
                        </m:r>
                      </m:e>
                    </m:nary>
                    <m:r>
                      <a:rPr lang="fr-FR" sz="1600" b="1" i="1" smtClean="0">
                        <a:latin typeface="Cambria Math" panose="02040503050406030204" pitchFamily="18" charset="0"/>
                      </a:rPr>
                      <m:t>=</m:t>
                    </m:r>
                    <m:r>
                      <a:rPr lang="fr-FR" sz="1600" b="1" i="1" smtClean="0">
                        <a:latin typeface="Cambria Math" panose="02040503050406030204" pitchFamily="18" charset="0"/>
                      </a:rPr>
                      <m:t>𝟏</m:t>
                    </m:r>
                  </m:oMath>
                </a14:m>
                <a:br>
                  <a:rPr lang="fr-FR" sz="1600" dirty="0">
                    <a:ea typeface="Cambria Math" panose="02040503050406030204" pitchFamily="18" charset="0"/>
                  </a:rPr>
                </a:br>
                <a:br>
                  <a:rPr lang="fr-FR" sz="1600" dirty="0">
                    <a:ea typeface="Cambria Math" panose="02040503050406030204" pitchFamily="18" charset="0"/>
                  </a:rPr>
                </a:br>
                <a:r>
                  <a:rPr lang="fr-FR" sz="1600" dirty="0">
                    <a:ea typeface="Cambria Math" panose="02040503050406030204" pitchFamily="18" charset="0"/>
                  </a:rPr>
                  <a:t>(ii) Carry out second and </a:t>
                </a:r>
                <a:r>
                  <a:rPr lang="fr-FR" sz="1600" dirty="0" err="1">
                    <a:ea typeface="Cambria Math" panose="02040503050406030204" pitchFamily="18" charset="0"/>
                  </a:rPr>
                  <a:t>subsequent</a:t>
                </a:r>
                <a:r>
                  <a:rPr lang="fr-FR" sz="1600" dirty="0">
                    <a:ea typeface="Cambria Math" panose="02040503050406030204" pitchFamily="18" charset="0"/>
                  </a:rPr>
                  <a:t> </a:t>
                </a:r>
                <a:r>
                  <a:rPr lang="fr-FR" sz="1600" dirty="0" err="1">
                    <a:ea typeface="Cambria Math" panose="02040503050406030204" pitchFamily="18" charset="0"/>
                  </a:rPr>
                  <a:t>steps</a:t>
                </a:r>
                <a:r>
                  <a:rPr lang="fr-FR" sz="1600" dirty="0">
                    <a:ea typeface="Cambria Math" panose="02040503050406030204" pitchFamily="18" charset="0"/>
                  </a:rPr>
                  <a:t>. On the </a:t>
                </a:r>
                <a:r>
                  <a:rPr lang="fr-FR" sz="1600" dirty="0" err="1">
                    <a:ea typeface="Cambria Math" panose="02040503050406030204" pitchFamily="18" charset="0"/>
                  </a:rPr>
                  <a:t>step</a:t>
                </a:r>
                <a:r>
                  <a:rPr lang="fr-FR" sz="1600" dirty="0">
                    <a:ea typeface="Cambria Math" panose="02040503050406030204" pitchFamily="18" charset="0"/>
                  </a:rPr>
                  <a:t> m, </a:t>
                </a:r>
                <a:r>
                  <a:rPr lang="fr-FR" sz="1600" dirty="0" err="1">
                    <a:ea typeface="Cambria Math" panose="02040503050406030204" pitchFamily="18" charset="0"/>
                  </a:rPr>
                  <a:t>compute</a:t>
                </a:r>
                <a:r>
                  <a:rPr lang="fr-FR" sz="1600" dirty="0">
                    <a:ea typeface="Cambria Math" panose="02040503050406030204" pitchFamily="18" charset="0"/>
                  </a:rPr>
                  <a:t> a new </a:t>
                </a:r>
                <a:r>
                  <a:rPr lang="fr-FR" sz="1600" dirty="0" err="1">
                    <a:ea typeface="Cambria Math" panose="02040503050406030204" pitchFamily="18" charset="0"/>
                  </a:rPr>
                  <a:t>weight</a:t>
                </a:r>
                <a:r>
                  <a:rPr lang="fr-FR" sz="1600" dirty="0">
                    <a:ea typeface="Cambria Math" panose="02040503050406030204" pitchFamily="18" charset="0"/>
                  </a:rPr>
                  <a:t> </a:t>
                </a:r>
                <a:r>
                  <a:rPr lang="fr-FR" sz="1600" dirty="0" err="1">
                    <a:ea typeface="Cambria Math" panose="02040503050406030204" pitchFamily="18" charset="0"/>
                  </a:rPr>
                  <a:t>function</a:t>
                </a:r>
                <a:r>
                  <a:rPr lang="fr-FR" sz="1600" dirty="0">
                    <a:ea typeface="Cambria Math" panose="02040503050406030204" pitchFamily="18" charset="0"/>
                  </a:rPr>
                  <a:t>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𝜉</m:t>
                        </m:r>
                      </m:e>
                      <m:sub>
                        <m:r>
                          <a:rPr lang="fr-FR" sz="1600" b="0" i="1" smtClean="0">
                            <a:latin typeface="Cambria Math" panose="02040503050406030204" pitchFamily="18" charset="0"/>
                            <a:ea typeface="Cambria Math" panose="02040503050406030204" pitchFamily="18" charset="0"/>
                          </a:rPr>
                          <m:t>𝑚</m:t>
                        </m:r>
                      </m:sub>
                    </m:sSub>
                    <m:d>
                      <m:dPr>
                        <m:ctrlPr>
                          <a:rPr lang="fr-FR" sz="1600" b="0" i="1" smtClean="0">
                            <a:latin typeface="Cambria Math" panose="02040503050406030204" pitchFamily="18" charset="0"/>
                          </a:rPr>
                        </m:ctrlPr>
                      </m:dPr>
                      <m:e>
                        <m:r>
                          <a:rPr lang="fr-FR" sz="1600" b="0" i="1" smtClean="0">
                            <a:latin typeface="Cambria Math" panose="02040503050406030204" pitchFamily="18" charset="0"/>
                          </a:rPr>
                          <m:t>𝑡</m:t>
                        </m:r>
                      </m:e>
                    </m:d>
                  </m:oMath>
                </a14:m>
                <a:r>
                  <a:rPr lang="fr-FR" sz="1600" dirty="0">
                    <a:ea typeface="Cambria Math" panose="02040503050406030204" pitchFamily="18" charset="0"/>
                  </a:rPr>
                  <a:t> and new values </a:t>
                </a:r>
                <a14:m>
                  <m:oMath xmlns:m="http://schemas.openxmlformats.org/officeDocument/2006/math">
                    <m:sSub>
                      <m:sSubPr>
                        <m:ctrlPr>
                          <a:rPr lang="fr-FR" sz="1600" b="1" i="1">
                            <a:latin typeface="Cambria Math" panose="02040503050406030204" pitchFamily="18" charset="0"/>
                          </a:rPr>
                        </m:ctrlPr>
                      </m:sSubPr>
                      <m:e>
                        <m:r>
                          <a:rPr lang="fr-FR" sz="1600" b="1" i="1">
                            <a:latin typeface="Cambria Math" panose="02040503050406030204" pitchFamily="18" charset="0"/>
                          </a:rPr>
                          <m:t>𝒇</m:t>
                        </m:r>
                      </m:e>
                      <m:sub>
                        <m:r>
                          <a:rPr lang="fr-FR" sz="1600" b="1" i="1">
                            <a:latin typeface="Cambria Math" panose="02040503050406030204" pitchFamily="18" charset="0"/>
                          </a:rPr>
                          <m:t>𝒊𝒎</m:t>
                        </m:r>
                      </m:sub>
                    </m:sSub>
                    <m:r>
                      <a:rPr lang="fr-FR" sz="1600" b="1" i="1">
                        <a:latin typeface="Cambria Math" panose="02040503050406030204" pitchFamily="18" charset="0"/>
                      </a:rPr>
                      <m:t>=</m:t>
                    </m:r>
                    <m:d>
                      <m:dPr>
                        <m:begChr m:val="⟨"/>
                        <m:endChr m:val="⟩"/>
                        <m:ctrlPr>
                          <a:rPr lang="fr-FR" sz="1600" b="1" i="1">
                            <a:latin typeface="Cambria Math" panose="02040503050406030204" pitchFamily="18" charset="0"/>
                          </a:rPr>
                        </m:ctrlPr>
                      </m:dPr>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a:latin typeface="Cambria Math" panose="02040503050406030204" pitchFamily="18" charset="0"/>
                                <a:ea typeface="Cambria Math" panose="02040503050406030204" pitchFamily="18" charset="0"/>
                              </a:rPr>
                              <m:t>𝒎</m:t>
                            </m:r>
                          </m:sub>
                        </m:sSub>
                      </m:e>
                      <m:e>
                        <m:sSub>
                          <m:sSubPr>
                            <m:ctrlPr>
                              <a:rPr lang="fr-FR" sz="1600" b="1" i="1">
                                <a:latin typeface="Cambria Math" panose="02040503050406030204" pitchFamily="18" charset="0"/>
                                <a:ea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𝒙</m:t>
                            </m:r>
                          </m:e>
                          <m:sub>
                            <m:r>
                              <a:rPr lang="fr-FR" sz="1600" b="1" i="1">
                                <a:latin typeface="Cambria Math" panose="02040503050406030204" pitchFamily="18" charset="0"/>
                                <a:ea typeface="Cambria Math" panose="02040503050406030204" pitchFamily="18" charset="0"/>
                              </a:rPr>
                              <m:t>𝒊</m:t>
                            </m:r>
                          </m:sub>
                        </m:sSub>
                      </m:e>
                    </m:d>
                  </m:oMath>
                </a14:m>
                <a:r>
                  <a:rPr lang="fr-FR" sz="1600" dirty="0">
                    <a:ea typeface="Cambria Math" panose="02040503050406030204" pitchFamily="18" charset="0"/>
                  </a:rPr>
                  <a:t>. </a:t>
                </a:r>
                <a:r>
                  <a:rPr lang="fr-FR" sz="1600" dirty="0"/>
                  <a:t>Thus, the values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rPr>
                          <m:t>𝑓</m:t>
                        </m:r>
                      </m:e>
                      <m:sub>
                        <m:r>
                          <a:rPr lang="fr-FR" sz="1600" i="1">
                            <a:latin typeface="Cambria Math" panose="02040503050406030204" pitchFamily="18" charset="0"/>
                          </a:rPr>
                          <m:t>𝑖𝑚</m:t>
                        </m:r>
                      </m:sub>
                    </m:sSub>
                  </m:oMath>
                </a14:m>
                <a:r>
                  <a:rPr lang="fr-FR" sz="1600" dirty="0"/>
                  <a:t> have maximum </a:t>
                </a:r>
                <a:r>
                  <a:rPr lang="fr-FR" sz="1600" dirty="0" err="1"/>
                  <a:t>mean</a:t>
                </a:r>
                <a:r>
                  <a:rPr lang="fr-FR" sz="1600" dirty="0"/>
                  <a:t> square </a:t>
                </a:r>
                <a:r>
                  <a:rPr lang="fr-FR" sz="1600" dirty="0" err="1"/>
                  <a:t>subject</a:t>
                </a:r>
                <a:r>
                  <a:rPr lang="fr-FR" sz="1600" dirty="0"/>
                  <a:t> to the </a:t>
                </a:r>
                <a:r>
                  <a:rPr lang="fr-FR" sz="1600" dirty="0" err="1"/>
                  <a:t>constraint</a:t>
                </a:r>
                <a:r>
                  <a:rPr lang="fr-FR" sz="1600" dirty="0"/>
                  <a:t> </a:t>
                </a:r>
                <a14:m>
                  <m:oMath xmlns:m="http://schemas.openxmlformats.org/officeDocument/2006/math">
                    <m:sSup>
                      <m:sSupPr>
                        <m:ctrlPr>
                          <a:rPr lang="fr-FR" sz="1600" i="1">
                            <a:latin typeface="Cambria Math" panose="02040503050406030204" pitchFamily="18" charset="0"/>
                          </a:rPr>
                        </m:ctrlPr>
                      </m:sSupPr>
                      <m:e>
                        <m:r>
                          <a:rPr lang="fr-FR" sz="1600" i="1">
                            <a:latin typeface="Cambria Math" panose="02040503050406030204" pitchFamily="18" charset="0"/>
                            <a:ea typeface="Cambria Math" panose="02040503050406030204" pitchFamily="18" charset="0"/>
                          </a:rPr>
                          <m:t>∥</m:t>
                        </m:r>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𝜉</m:t>
                            </m:r>
                          </m:e>
                          <m:sub>
                            <m:r>
                              <a:rPr lang="fr-FR" sz="1600" i="1">
                                <a:latin typeface="Cambria Math" panose="02040503050406030204" pitchFamily="18" charset="0"/>
                                <a:ea typeface="Cambria Math" panose="02040503050406030204" pitchFamily="18" charset="0"/>
                              </a:rPr>
                              <m:t>𝑚</m:t>
                            </m:r>
                          </m:sub>
                        </m:sSub>
                        <m:r>
                          <a:rPr lang="fr-FR" sz="1600" i="1">
                            <a:latin typeface="Cambria Math" panose="02040503050406030204" pitchFamily="18" charset="0"/>
                            <a:ea typeface="Cambria Math" panose="02040503050406030204" pitchFamily="18" charset="0"/>
                          </a:rPr>
                          <m:t>∥</m:t>
                        </m:r>
                      </m:e>
                      <m:sup>
                        <m:r>
                          <a:rPr lang="fr-FR" sz="1600" i="1">
                            <a:latin typeface="Cambria Math" panose="02040503050406030204" pitchFamily="18" charset="0"/>
                          </a:rPr>
                          <m:t>2</m:t>
                        </m:r>
                      </m:sup>
                    </m:sSup>
                    <m:r>
                      <a:rPr lang="fr-FR" sz="1600" i="1">
                        <a:latin typeface="Cambria Math" panose="02040503050406030204" pitchFamily="18" charset="0"/>
                      </a:rPr>
                      <m:t>=1</m:t>
                    </m:r>
                  </m:oMath>
                </a14:m>
                <a:r>
                  <a:rPr lang="fr-FR" sz="1600" dirty="0"/>
                  <a:t>, and the </a:t>
                </a:r>
                <a14:m>
                  <m:oMath xmlns:m="http://schemas.openxmlformats.org/officeDocument/2006/math">
                    <m:r>
                      <a:rPr lang="fr-FR" sz="1600" i="1">
                        <a:latin typeface="Cambria Math" panose="02040503050406030204" pitchFamily="18" charset="0"/>
                      </a:rPr>
                      <m:t>𝑚</m:t>
                    </m:r>
                    <m:r>
                      <a:rPr lang="fr-FR" sz="1600" i="1">
                        <a:latin typeface="Cambria Math" panose="02040503050406030204" pitchFamily="18" charset="0"/>
                      </a:rPr>
                      <m:t>−1</m:t>
                    </m:r>
                  </m:oMath>
                </a14:m>
                <a:r>
                  <a:rPr lang="fr-FR" sz="1600" dirty="0"/>
                  <a:t> </a:t>
                </a:r>
                <a:r>
                  <a:rPr lang="fr-FR" sz="1600" dirty="0" err="1"/>
                  <a:t>additional</a:t>
                </a:r>
                <a:r>
                  <a:rPr lang="fr-FR" sz="1600" dirty="0"/>
                  <a:t> </a:t>
                </a:r>
                <a:r>
                  <a:rPr lang="fr-FR" sz="1600" dirty="0" err="1"/>
                  <a:t>constraints</a:t>
                </a:r>
                <a:br>
                  <a:rPr lang="fr-FR" sz="1600" dirty="0"/>
                </a:br>
                <a14:m>
                  <m:oMath xmlns:m="http://schemas.openxmlformats.org/officeDocument/2006/math">
                    <m:d>
                      <m:dPr>
                        <m:begChr m:val="⟨"/>
                        <m:endChr m:val="⟩"/>
                        <m:ctrlPr>
                          <a:rPr lang="fr-FR" sz="1600" b="1" i="1">
                            <a:latin typeface="Cambria Math" panose="02040503050406030204" pitchFamily="18" charset="0"/>
                          </a:rPr>
                        </m:ctrlPr>
                      </m:dPr>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a:latin typeface="Cambria Math" panose="02040503050406030204" pitchFamily="18" charset="0"/>
                                <a:ea typeface="Cambria Math" panose="02040503050406030204" pitchFamily="18" charset="0"/>
                              </a:rPr>
                              <m:t>𝒌</m:t>
                            </m:r>
                          </m:sub>
                        </m:sSub>
                      </m:e>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a:latin typeface="Cambria Math" panose="02040503050406030204" pitchFamily="18" charset="0"/>
                                <a:ea typeface="Cambria Math" panose="02040503050406030204" pitchFamily="18" charset="0"/>
                              </a:rPr>
                              <m:t>𝒎</m:t>
                            </m:r>
                          </m:sub>
                        </m:sSub>
                      </m:e>
                    </m:d>
                    <m:r>
                      <a:rPr lang="fr-FR" sz="1600" b="1" i="1" smtClean="0">
                        <a:latin typeface="Cambria Math" panose="02040503050406030204" pitchFamily="18" charset="0"/>
                        <a:ea typeface="Cambria Math" panose="02040503050406030204" pitchFamily="18" charset="0"/>
                      </a:rPr>
                      <m:t>=</m:t>
                    </m:r>
                    <m:nary>
                      <m:naryPr>
                        <m:ctrlPr>
                          <a:rPr lang="fr-FR" sz="1600" b="1" i="1" smtClean="0">
                            <a:latin typeface="Cambria Math" panose="02040503050406030204" pitchFamily="18" charset="0"/>
                          </a:rPr>
                        </m:ctrlPr>
                      </m:naryPr>
                      <m:sub>
                        <m:r>
                          <m:rPr>
                            <m:brk m:alnAt="23"/>
                          </m:rPr>
                          <a:rPr lang="fr-FR" sz="1600" b="1" i="1" smtClean="0">
                            <a:latin typeface="Cambria Math" panose="02040503050406030204" pitchFamily="18" charset="0"/>
                          </a:rPr>
                          <m:t>𝒂</m:t>
                        </m:r>
                      </m:sub>
                      <m:sup>
                        <m:r>
                          <a:rPr lang="fr-FR" sz="1600" b="1" i="1" smtClean="0">
                            <a:latin typeface="Cambria Math" panose="02040503050406030204" pitchFamily="18" charset="0"/>
                          </a:rPr>
                          <m:t>𝒃</m:t>
                        </m:r>
                      </m:sup>
                      <m:e>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smtClean="0">
                                <a:latin typeface="Cambria Math" panose="02040503050406030204" pitchFamily="18" charset="0"/>
                                <a:ea typeface="Cambria Math" panose="02040503050406030204" pitchFamily="18" charset="0"/>
                              </a:rPr>
                              <m:t>𝒌</m:t>
                            </m:r>
                          </m:sub>
                        </m:sSub>
                        <m:d>
                          <m:dPr>
                            <m:ctrlPr>
                              <a:rPr lang="fr-FR" sz="1600" b="1" i="1">
                                <a:latin typeface="Cambria Math" panose="02040503050406030204" pitchFamily="18" charset="0"/>
                              </a:rPr>
                            </m:ctrlPr>
                          </m:dPr>
                          <m:e>
                            <m:r>
                              <a:rPr lang="fr-FR" sz="1600" b="1" i="1">
                                <a:latin typeface="Cambria Math" panose="02040503050406030204" pitchFamily="18" charset="0"/>
                              </a:rPr>
                              <m:t>𝒕</m:t>
                            </m:r>
                          </m:e>
                        </m:d>
                        <m:sSub>
                          <m:sSubPr>
                            <m:ctrlPr>
                              <a:rPr lang="fr-FR" sz="1600" b="1" i="1">
                                <a:latin typeface="Cambria Math" panose="02040503050406030204" pitchFamily="18" charset="0"/>
                              </a:rPr>
                            </m:ctrlPr>
                          </m:sSubPr>
                          <m:e>
                            <m:r>
                              <a:rPr lang="fr-FR" sz="1600" b="1" i="1">
                                <a:latin typeface="Cambria Math" panose="02040503050406030204" pitchFamily="18" charset="0"/>
                                <a:ea typeface="Cambria Math" panose="02040503050406030204" pitchFamily="18" charset="0"/>
                              </a:rPr>
                              <m:t>𝝃</m:t>
                            </m:r>
                          </m:e>
                          <m:sub>
                            <m:r>
                              <a:rPr lang="fr-FR" sz="1600" b="1" i="1" smtClean="0">
                                <a:latin typeface="Cambria Math" panose="02040503050406030204" pitchFamily="18" charset="0"/>
                                <a:ea typeface="Cambria Math" panose="02040503050406030204" pitchFamily="18" charset="0"/>
                              </a:rPr>
                              <m:t>𝒎</m:t>
                            </m:r>
                          </m:sub>
                        </m:sSub>
                        <m:d>
                          <m:dPr>
                            <m:ctrlPr>
                              <a:rPr lang="fr-FR" sz="1600" b="1" i="1">
                                <a:latin typeface="Cambria Math" panose="02040503050406030204" pitchFamily="18" charset="0"/>
                              </a:rPr>
                            </m:ctrlPr>
                          </m:dPr>
                          <m:e>
                            <m:r>
                              <a:rPr lang="fr-FR" sz="1600" b="1" i="1">
                                <a:latin typeface="Cambria Math" panose="02040503050406030204" pitchFamily="18" charset="0"/>
                              </a:rPr>
                              <m:t>𝒕</m:t>
                            </m:r>
                          </m:e>
                        </m:d>
                        <m:r>
                          <a:rPr lang="fr-FR" sz="1600" b="1" i="1" smtClean="0">
                            <a:latin typeface="Cambria Math" panose="02040503050406030204" pitchFamily="18" charset="0"/>
                          </a:rPr>
                          <m:t>𝒅𝒕</m:t>
                        </m:r>
                      </m:e>
                    </m:nary>
                    <m:r>
                      <a:rPr lang="fr-FR" sz="1600" b="1" i="1" smtClean="0">
                        <a:latin typeface="Cambria Math" panose="02040503050406030204" pitchFamily="18" charset="0"/>
                      </a:rPr>
                      <m:t>=</m:t>
                    </m:r>
                    <m:r>
                      <a:rPr lang="fr-FR" sz="1600" b="1" i="1" smtClean="0">
                        <a:latin typeface="Cambria Math" panose="02040503050406030204" pitchFamily="18" charset="0"/>
                      </a:rPr>
                      <m:t>𝟎</m:t>
                    </m:r>
                    <m:r>
                      <a:rPr lang="fr-FR" sz="1600" b="1" i="1" smtClean="0">
                        <a:latin typeface="Cambria Math" panose="02040503050406030204" pitchFamily="18" charset="0"/>
                      </a:rPr>
                      <m:t>, </m:t>
                    </m:r>
                    <m:r>
                      <a:rPr lang="fr-FR" sz="1600" b="1" i="1" smtClean="0">
                        <a:latin typeface="Cambria Math" panose="02040503050406030204" pitchFamily="18" charset="0"/>
                      </a:rPr>
                      <m:t>𝒌</m:t>
                    </m:r>
                    <m:r>
                      <a:rPr lang="fr-FR" sz="1600" b="1" i="1" smtClean="0">
                        <a:latin typeface="Cambria Math" panose="02040503050406030204" pitchFamily="18" charset="0"/>
                      </a:rPr>
                      <m:t>&lt;</m:t>
                    </m:r>
                    <m:r>
                      <a:rPr lang="fr-FR" sz="1600" b="1" i="1" smtClean="0">
                        <a:latin typeface="Cambria Math" panose="02040503050406030204" pitchFamily="18" charset="0"/>
                      </a:rPr>
                      <m:t>𝒎</m:t>
                    </m:r>
                  </m:oMath>
                </a14:m>
                <a:endParaRPr lang="fr-FR" sz="1600" b="1" dirty="0">
                  <a:ea typeface="Cambria Math" panose="02040503050406030204" pitchFamily="18" charset="0"/>
                </a:endParaRPr>
              </a:p>
            </p:txBody>
          </p:sp>
        </mc:Choice>
        <mc:Fallback xmlns="">
          <p:sp>
            <p:nvSpPr>
              <p:cNvPr id="9" name="Espace réservé du contenu 8">
                <a:extLst>
                  <a:ext uri="{FF2B5EF4-FFF2-40B4-BE49-F238E27FC236}">
                    <a16:creationId xmlns:a16="http://schemas.microsoft.com/office/drawing/2014/main" id="{97234ECC-919C-4A2F-8F32-568A572C87D4}"/>
                  </a:ext>
                </a:extLst>
              </p:cNvPr>
              <p:cNvSpPr>
                <a:spLocks noGrp="1" noRot="1" noChangeAspect="1" noMove="1" noResize="1" noEditPoints="1" noAdjustHandles="1" noChangeArrowheads="1" noChangeShapeType="1" noTextEdit="1"/>
              </p:cNvSpPr>
              <p:nvPr>
                <p:ph sz="quarter" idx="4"/>
              </p:nvPr>
            </p:nvSpPr>
            <p:spPr>
              <a:xfrm>
                <a:off x="6172200" y="1157942"/>
                <a:ext cx="5183188" cy="5303183"/>
              </a:xfrm>
              <a:blipFill>
                <a:blip r:embed="rId4"/>
                <a:stretch>
                  <a:fillRect l="-2230" t="-688" r="-704"/>
                </a:stretch>
              </a:blipFill>
              <a:ln>
                <a:solidFill>
                  <a:schemeClr val="tx1"/>
                </a:solidFill>
              </a:ln>
            </p:spPr>
            <p:txBody>
              <a:bodyPr/>
              <a:lstStyle/>
              <a:p>
                <a:r>
                  <a:rPr lang="fr-FR">
                    <a:noFill/>
                  </a:rPr>
                  <a:t> </a:t>
                </a:r>
              </a:p>
            </p:txBody>
          </p:sp>
        </mc:Fallback>
      </mc:AlternateContent>
    </p:spTree>
    <p:extLst>
      <p:ext uri="{BB962C8B-B14F-4D97-AF65-F5344CB8AC3E}">
        <p14:creationId xmlns:p14="http://schemas.microsoft.com/office/powerpoint/2010/main" val="1380892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err="1"/>
              <a:t>Decomposition</a:t>
            </a:r>
            <a:r>
              <a:rPr lang="fr-FR" sz="2800" dirty="0"/>
              <a:t> of </a:t>
            </a:r>
            <a:r>
              <a:rPr lang="fr-FR" sz="2800" dirty="0" err="1"/>
              <a:t>functions</a:t>
            </a:r>
            <a:r>
              <a:rPr lang="fr-FR" sz="2800" dirty="0"/>
              <a:t> in B-</a:t>
            </a:r>
            <a:r>
              <a:rPr lang="fr-FR" sz="2800" dirty="0" err="1"/>
              <a:t>spline</a:t>
            </a:r>
            <a:r>
              <a:rPr lang="fr-FR" sz="2800" dirty="0"/>
              <a:t> basis</a:t>
            </a:r>
            <a:endParaRPr lang="fr-FR" sz="2800" baseline="30000" dirty="0"/>
          </a:p>
        </p:txBody>
      </p:sp>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4A0FF0A9-D3D9-45A8-942D-A3FF65C84014}"/>
                  </a:ext>
                </a:extLst>
              </p:cNvPr>
              <p:cNvSpPr txBox="1"/>
              <p:nvPr/>
            </p:nvSpPr>
            <p:spPr>
              <a:xfrm>
                <a:off x="276837" y="679508"/>
                <a:ext cx="10628851" cy="3706336"/>
              </a:xfrm>
              <a:prstGeom prst="rect">
                <a:avLst/>
              </a:prstGeom>
              <a:noFill/>
            </p:spPr>
            <p:txBody>
              <a:bodyPr wrap="square" rtlCol="0">
                <a:spAutoFit/>
              </a:bodyPr>
              <a:lstStyle/>
              <a:p>
                <a:pPr marL="285750" indent="-285750">
                  <a:buFont typeface="Arial" panose="020B0604020202020204" pitchFamily="34" charset="0"/>
                  <a:buChar char="•"/>
                </a:pPr>
                <a:r>
                  <a:rPr lang="fr-FR" sz="1600" dirty="0"/>
                  <a:t>The </a:t>
                </a:r>
                <a:r>
                  <a:rPr lang="fr-FR" sz="1600" dirty="0" err="1"/>
                  <a:t>problem</a:t>
                </a:r>
                <a:r>
                  <a:rPr lang="fr-FR" sz="1600" dirty="0"/>
                  <a:t> </a:t>
                </a:r>
                <a:r>
                  <a:rPr lang="fr-FR" sz="1600" dirty="0" err="1"/>
                  <a:t>is</a:t>
                </a:r>
                <a:r>
                  <a:rPr lang="fr-FR" sz="1600" dirty="0"/>
                  <a:t> </a:t>
                </a:r>
                <a:r>
                  <a:rPr lang="fr-FR" sz="1600" dirty="0" err="1"/>
                  <a:t>that</a:t>
                </a:r>
                <a:r>
                  <a:rPr lang="fr-FR" sz="1600" dirty="0"/>
                  <a:t> in the real life, </a:t>
                </a:r>
                <a:r>
                  <a:rPr lang="fr-FR" sz="1600" dirty="0" err="1"/>
                  <a:t>generally</a:t>
                </a:r>
                <a:r>
                  <a:rPr lang="fr-FR" sz="1600" dirty="0"/>
                  <a:t> </a:t>
                </a:r>
                <a:r>
                  <a:rPr lang="fr-FR" sz="1600" dirty="0" err="1"/>
                  <a:t>we</a:t>
                </a:r>
                <a:r>
                  <a:rPr lang="fr-FR" sz="1600" dirty="0"/>
                  <a:t> </a:t>
                </a:r>
                <a:r>
                  <a:rPr lang="fr-FR" sz="1600" dirty="0" err="1"/>
                  <a:t>don’t</a:t>
                </a:r>
                <a:r>
                  <a:rPr lang="fr-FR" sz="1600" dirty="0"/>
                  <a:t> know the expression of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𝑥</m:t>
                        </m:r>
                      </m:e>
                      <m:sub>
                        <m:r>
                          <a:rPr lang="fr-FR" sz="1600" b="0" i="1" smtClean="0">
                            <a:latin typeface="Cambria Math" panose="02040503050406030204" pitchFamily="18" charset="0"/>
                          </a:rPr>
                          <m:t>𝑖</m:t>
                        </m:r>
                      </m:sub>
                    </m:sSub>
                    <m:d>
                      <m:dPr>
                        <m:ctrlPr>
                          <a:rPr lang="fr-FR" sz="1600" b="0" i="1" smtClean="0">
                            <a:latin typeface="Cambria Math" panose="02040503050406030204" pitchFamily="18" charset="0"/>
                          </a:rPr>
                        </m:ctrlPr>
                      </m:dPr>
                      <m:e>
                        <m:r>
                          <a:rPr lang="fr-FR" sz="1600" b="0" i="1" smtClean="0">
                            <a:latin typeface="Cambria Math" panose="02040503050406030204" pitchFamily="18" charset="0"/>
                          </a:rPr>
                          <m:t>𝑡</m:t>
                        </m:r>
                      </m:e>
                    </m:d>
                  </m:oMath>
                </a14:m>
                <a:r>
                  <a:rPr lang="fr-FR" sz="1600" dirty="0"/>
                  <a:t>… In </a:t>
                </a:r>
                <a:r>
                  <a:rPr lang="fr-FR" sz="1600" dirty="0" err="1"/>
                  <a:t>my</a:t>
                </a:r>
                <a:r>
                  <a:rPr lang="fr-FR" sz="1600" dirty="0"/>
                  <a:t> case, a </a:t>
                </a:r>
                <a:r>
                  <a:rPr lang="fr-FR" sz="1600" dirty="0" err="1"/>
                  <a:t>functional</a:t>
                </a:r>
                <a:r>
                  <a:rPr lang="fr-FR" sz="1600" dirty="0"/>
                  <a:t> variable </a:t>
                </a:r>
                <a:r>
                  <a:rPr lang="fr-FR" sz="1600" dirty="0" err="1"/>
                  <a:t>is</a:t>
                </a:r>
                <a:r>
                  <a:rPr lang="fr-FR" sz="1600" dirty="0"/>
                  <a:t> </a:t>
                </a:r>
                <a:r>
                  <a:rPr lang="fr-FR" sz="1600" dirty="0" err="1"/>
                  <a:t>observed</a:t>
                </a:r>
                <a:r>
                  <a:rPr lang="fr-FR" sz="1600" dirty="0"/>
                  <a:t> like a Time*</a:t>
                </a:r>
                <a:r>
                  <a:rPr lang="fr-FR" sz="1600" dirty="0" err="1"/>
                  <a:t>Regions</a:t>
                </a:r>
                <a:r>
                  <a:rPr lang="fr-FR" sz="1600" dirty="0"/>
                  <a:t> matrix.</a:t>
                </a:r>
                <a:br>
                  <a:rPr lang="fr-FR" sz="1600" dirty="0"/>
                </a:br>
                <a:endParaRPr lang="fr-FR" sz="1600" dirty="0"/>
              </a:p>
              <a:p>
                <a:pPr marL="285750" indent="-285750">
                  <a:buFont typeface="Arial" panose="020B0604020202020204" pitchFamily="34" charset="0"/>
                  <a:buChar char="•"/>
                </a:pPr>
                <a:r>
                  <a:rPr lang="fr-FR" sz="1600" dirty="0"/>
                  <a:t>For </a:t>
                </a:r>
                <a:r>
                  <a:rPr lang="fr-FR" sz="1600" dirty="0" err="1"/>
                  <a:t>that</a:t>
                </a:r>
                <a:r>
                  <a:rPr lang="fr-FR" sz="1600" dirty="0"/>
                  <a:t> </a:t>
                </a:r>
                <a:r>
                  <a:rPr lang="fr-FR" sz="1600" dirty="0" err="1"/>
                  <a:t>we</a:t>
                </a:r>
                <a:r>
                  <a:rPr lang="fr-FR" sz="1600" dirty="0"/>
                  <a:t> suppose </a:t>
                </a:r>
                <a:r>
                  <a:rPr lang="fr-FR" sz="1600" dirty="0" err="1"/>
                  <a:t>that</a:t>
                </a:r>
                <a:r>
                  <a:rPr lang="fr-FR" sz="1600" dirty="0"/>
                  <a:t> </a:t>
                </a:r>
                <a:r>
                  <a:rPr lang="fr-FR" sz="1600" dirty="0" err="1"/>
                  <a:t>each</a:t>
                </a:r>
                <a:r>
                  <a:rPr lang="fr-FR" sz="1600" dirty="0"/>
                  <a:t> </a:t>
                </a:r>
                <a:r>
                  <a:rPr lang="fr-FR" sz="1600" dirty="0" err="1"/>
                  <a:t>function</a:t>
                </a:r>
                <a:r>
                  <a:rPr lang="fr-FR" sz="1600" dirty="0"/>
                  <a:t>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𝑥</m:t>
                        </m:r>
                      </m:e>
                      <m:sub>
                        <m:r>
                          <a:rPr lang="fr-FR" sz="1600" b="0" i="1" smtClean="0">
                            <a:latin typeface="Cambria Math" panose="02040503050406030204" pitchFamily="18" charset="0"/>
                          </a:rPr>
                          <m:t>𝑖</m:t>
                        </m:r>
                      </m:sub>
                    </m:sSub>
                    <m:r>
                      <a:rPr lang="fr-FR" sz="1600" b="0" i="1" smtClean="0">
                        <a:latin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𝜏</m:t>
                    </m:r>
                    <m:r>
                      <a:rPr lang="fr-FR" sz="1600" b="0" i="1" smtClean="0">
                        <a:latin typeface="Cambria Math" panose="02040503050406030204" pitchFamily="18" charset="0"/>
                        <a:ea typeface="Cambria Math" panose="02040503050406030204" pitchFamily="18" charset="0"/>
                      </a:rPr>
                      <m:t>=[2012, 2024]→</m:t>
                    </m:r>
                    <m:r>
                      <a:rPr lang="fr-FR" sz="1600" b="0" i="1" smtClean="0">
                        <a:latin typeface="Cambria Math" panose="02040503050406030204" pitchFamily="18" charset="0"/>
                        <a:ea typeface="Cambria Math" panose="02040503050406030204" pitchFamily="18" charset="0"/>
                      </a:rPr>
                      <m:t>ℝ</m:t>
                    </m:r>
                  </m:oMath>
                </a14:m>
                <a:r>
                  <a:rPr lang="fr-FR" sz="1600" dirty="0"/>
                  <a:t> can </a:t>
                </a:r>
                <a:r>
                  <a:rPr lang="fr-FR" sz="1600" dirty="0" err="1"/>
                  <a:t>be</a:t>
                </a:r>
                <a:r>
                  <a:rPr lang="fr-FR" sz="1600" dirty="0"/>
                  <a:t> </a:t>
                </a:r>
                <a:r>
                  <a:rPr lang="fr-FR" sz="1600" dirty="0" err="1"/>
                  <a:t>approximated</a:t>
                </a:r>
                <a:r>
                  <a:rPr lang="fr-FR" sz="1600" dirty="0"/>
                  <a:t> by a </a:t>
                </a:r>
                <a:r>
                  <a:rPr lang="fr-FR" sz="1600" dirty="0" err="1"/>
                  <a:t>linear</a:t>
                </a:r>
                <a:r>
                  <a:rPr lang="fr-FR" sz="1600" dirty="0"/>
                  <a:t> combination </a:t>
                </a:r>
                <a:r>
                  <a:rPr lang="fr-FR" sz="1600" b="1" dirty="0"/>
                  <a:t>of K basis </a:t>
                </a:r>
                <a:r>
                  <a:rPr lang="fr-FR" sz="1600" b="1" dirty="0" err="1"/>
                  <a:t>functions</a:t>
                </a:r>
                <a:r>
                  <a:rPr lang="fr-FR" sz="1600" dirty="0"/>
                  <a:t>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𝜓</m:t>
                        </m:r>
                      </m:e>
                      <m:sub>
                        <m:r>
                          <a:rPr lang="fr-FR" sz="1600" i="1">
                            <a:latin typeface="Cambria Math" panose="02040503050406030204" pitchFamily="18" charset="0"/>
                          </a:rPr>
                          <m:t>𝑘</m:t>
                        </m:r>
                      </m:sub>
                    </m:sSub>
                    <m:r>
                      <a:rPr lang="fr-FR" sz="1600" i="1">
                        <a:latin typeface="Cambria Math" panose="02040503050406030204" pitchFamily="18" charset="0"/>
                      </a:rPr>
                      <m:t>(</m:t>
                    </m:r>
                    <m:r>
                      <a:rPr lang="fr-FR" sz="1600" i="1">
                        <a:latin typeface="Cambria Math" panose="02040503050406030204" pitchFamily="18" charset="0"/>
                      </a:rPr>
                      <m:t>𝑡</m:t>
                    </m:r>
                    <m:r>
                      <a:rPr lang="fr-FR" sz="1600" i="1">
                        <a:latin typeface="Cambria Math" panose="02040503050406030204" pitchFamily="18" charset="0"/>
                      </a:rPr>
                      <m:t>) </m:t>
                    </m:r>
                  </m:oMath>
                </a14:m>
                <a:r>
                  <a:rPr lang="fr-FR" sz="1600" dirty="0"/>
                  <a:t>: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𝑥</m:t>
                        </m:r>
                      </m:e>
                      <m:sub>
                        <m:r>
                          <a:rPr lang="fr-FR" sz="1600" b="0" i="1" smtClean="0">
                            <a:latin typeface="Cambria Math" panose="02040503050406030204" pitchFamily="18" charset="0"/>
                          </a:rPr>
                          <m:t>𝑖</m:t>
                        </m:r>
                      </m:sub>
                    </m:sSub>
                    <m:d>
                      <m:dPr>
                        <m:ctrlPr>
                          <a:rPr lang="fr-FR" sz="1600" b="0" i="1" smtClean="0">
                            <a:latin typeface="Cambria Math" panose="02040503050406030204" pitchFamily="18" charset="0"/>
                          </a:rPr>
                        </m:ctrlPr>
                      </m:dPr>
                      <m:e>
                        <m:r>
                          <a:rPr lang="fr-FR" sz="1600" b="0" i="1" smtClean="0">
                            <a:latin typeface="Cambria Math" panose="02040503050406030204" pitchFamily="18" charset="0"/>
                          </a:rPr>
                          <m:t>𝑡</m:t>
                        </m:r>
                      </m:e>
                    </m:d>
                    <m:r>
                      <a:rPr lang="fr-FR" sz="1600" i="1">
                        <a:latin typeface="Cambria Math" panose="02040503050406030204" pitchFamily="18" charset="0"/>
                        <a:ea typeface="Cambria Math" panose="02040503050406030204" pitchFamily="18" charset="0"/>
                      </a:rPr>
                      <m:t>≃</m:t>
                    </m:r>
                    <m:nary>
                      <m:naryPr>
                        <m:chr m:val="∑"/>
                        <m:ctrlPr>
                          <a:rPr lang="fr-FR" sz="1600" b="0" i="1" smtClean="0">
                            <a:latin typeface="Cambria Math" panose="02040503050406030204" pitchFamily="18" charset="0"/>
                          </a:rPr>
                        </m:ctrlPr>
                      </m:naryPr>
                      <m:sub>
                        <m:r>
                          <m:rPr>
                            <m:brk m:alnAt="23"/>
                          </m:rPr>
                          <a:rPr lang="fr-FR" sz="1600" b="0" i="1" smtClean="0">
                            <a:latin typeface="Cambria Math" panose="02040503050406030204" pitchFamily="18" charset="0"/>
                          </a:rPr>
                          <m:t>𝑘</m:t>
                        </m:r>
                        <m:r>
                          <a:rPr lang="fr-FR" sz="1600" b="0" i="1" smtClean="0">
                            <a:latin typeface="Cambria Math" panose="02040503050406030204" pitchFamily="18" charset="0"/>
                          </a:rPr>
                          <m:t>=1</m:t>
                        </m:r>
                      </m:sub>
                      <m:sup>
                        <m:r>
                          <a:rPr lang="fr-FR" sz="1600" b="0" i="1" smtClean="0">
                            <a:latin typeface="Cambria Math" panose="02040503050406030204" pitchFamily="18" charset="0"/>
                          </a:rPr>
                          <m:t>𝐾</m:t>
                        </m:r>
                      </m:sup>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𝑐</m:t>
                            </m:r>
                          </m:e>
                          <m:sub>
                            <m:r>
                              <a:rPr lang="fr-FR" sz="1600" b="0" i="1" smtClean="0">
                                <a:latin typeface="Cambria Math" panose="02040503050406030204" pitchFamily="18" charset="0"/>
                              </a:rPr>
                              <m:t>𝑖𝑘</m:t>
                            </m:r>
                          </m:sub>
                        </m:sSub>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𝜓</m:t>
                            </m:r>
                          </m:e>
                          <m:sub>
                            <m:r>
                              <a:rPr lang="fr-FR" sz="1600" b="0" i="1" smtClean="0">
                                <a:latin typeface="Cambria Math" panose="02040503050406030204" pitchFamily="18" charset="0"/>
                              </a:rPr>
                              <m:t>𝑘</m:t>
                            </m:r>
                          </m:sub>
                        </m:sSub>
                        <m:r>
                          <a:rPr lang="fr-FR" sz="1600" b="0" i="1" smtClean="0">
                            <a:latin typeface="Cambria Math" panose="02040503050406030204" pitchFamily="18" charset="0"/>
                          </a:rPr>
                          <m:t>(</m:t>
                        </m:r>
                        <m:r>
                          <a:rPr lang="fr-FR" sz="1600" b="0" i="1" smtClean="0">
                            <a:latin typeface="Cambria Math" panose="02040503050406030204" pitchFamily="18" charset="0"/>
                          </a:rPr>
                          <m:t>𝑡</m:t>
                        </m:r>
                        <m:r>
                          <a:rPr lang="fr-FR" sz="1600" b="0" i="1" smtClean="0">
                            <a:latin typeface="Cambria Math" panose="02040503050406030204" pitchFamily="18" charset="0"/>
                          </a:rPr>
                          <m:t>)</m:t>
                        </m:r>
                      </m:e>
                    </m:nary>
                  </m:oMath>
                </a14:m>
                <a:r>
                  <a:rPr lang="fr-FR" sz="1600" dirty="0"/>
                  <a:t> </a:t>
                </a:r>
                <a:r>
                  <a:rPr lang="fr-FR" sz="1600" dirty="0" err="1"/>
                  <a:t>with</a:t>
                </a:r>
                <a:r>
                  <a:rPr lang="fr-FR" sz="1600" dirty="0"/>
                  <a:t>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𝑐</m:t>
                        </m:r>
                      </m:e>
                      <m:sub>
                        <m:r>
                          <a:rPr lang="fr-FR" sz="1600" b="0" i="1" smtClean="0">
                            <a:latin typeface="Cambria Math" panose="02040503050406030204" pitchFamily="18" charset="0"/>
                          </a:rPr>
                          <m:t>𝑖𝑘</m:t>
                        </m:r>
                      </m:sub>
                    </m:sSub>
                  </m:oMath>
                </a14:m>
                <a:r>
                  <a:rPr lang="fr-FR" sz="1600" dirty="0"/>
                  <a:t> the coefficient </a:t>
                </a:r>
                <a:r>
                  <a:rPr lang="fr-FR" sz="1600" dirty="0" err="1"/>
                  <a:t>associated</a:t>
                </a:r>
                <a:r>
                  <a:rPr lang="fr-FR" sz="1600" dirty="0"/>
                  <a:t> to the </a:t>
                </a:r>
                <a:r>
                  <a:rPr lang="fr-FR" sz="1600" dirty="0" err="1"/>
                  <a:t>individual</a:t>
                </a:r>
                <a:r>
                  <a:rPr lang="fr-FR" sz="1600" dirty="0"/>
                  <a:t> </a:t>
                </a:r>
                <a14:m>
                  <m:oMath xmlns:m="http://schemas.openxmlformats.org/officeDocument/2006/math">
                    <m:r>
                      <a:rPr lang="fr-FR" sz="1600" b="0" i="1" smtClean="0">
                        <a:latin typeface="Cambria Math" panose="02040503050406030204" pitchFamily="18" charset="0"/>
                      </a:rPr>
                      <m:t>𝑖</m:t>
                    </m:r>
                  </m:oMath>
                </a14:m>
                <a:r>
                  <a:rPr lang="fr-FR" sz="1600" i="1" dirty="0"/>
                  <a:t> </a:t>
                </a:r>
                <a:r>
                  <a:rPr lang="fr-FR" sz="1600" dirty="0"/>
                  <a:t>for the </a:t>
                </a:r>
                <a:r>
                  <a:rPr lang="fr-FR" sz="1600" dirty="0" err="1"/>
                  <a:t>spline</a:t>
                </a:r>
                <a:r>
                  <a:rPr lang="fr-FR" sz="1600" dirty="0"/>
                  <a:t> K</a:t>
                </a:r>
                <a:r>
                  <a:rPr lang="fr-FR" sz="1600" i="1" dirty="0"/>
                  <a:t>.</a:t>
                </a:r>
                <a:br>
                  <a:rPr lang="fr-FR" sz="1600" i="1" dirty="0"/>
                </a:br>
                <a:endParaRPr lang="fr-FR" sz="1600" i="1" dirty="0"/>
              </a:p>
              <a:p>
                <a:pPr marL="285750" indent="-285750">
                  <a:buFont typeface="Arial" panose="020B0604020202020204" pitchFamily="34" charset="0"/>
                  <a:buChar char="•"/>
                </a:pPr>
                <a:r>
                  <a:rPr lang="fr-FR" sz="1600" dirty="0"/>
                  <a:t>A B-</a:t>
                </a:r>
                <a:r>
                  <a:rPr lang="fr-FR" sz="1600" dirty="0" err="1"/>
                  <a:t>spline</a:t>
                </a:r>
                <a:r>
                  <a:rPr lang="fr-FR" sz="1600" dirty="0"/>
                  <a:t> </a:t>
                </a:r>
                <a:r>
                  <a:rPr lang="fr-FR" sz="1600" dirty="0" err="1"/>
                  <a:t>is</a:t>
                </a:r>
                <a:r>
                  <a:rPr lang="fr-FR" sz="1600" dirty="0"/>
                  <a:t> a </a:t>
                </a:r>
                <a:r>
                  <a:rPr lang="fr-FR" sz="1600" dirty="0" err="1"/>
                  <a:t>piecewise</a:t>
                </a:r>
                <a:r>
                  <a:rPr lang="fr-FR" sz="1600" dirty="0"/>
                  <a:t> polynomial </a:t>
                </a:r>
                <a:r>
                  <a:rPr lang="fr-FR" sz="1600" dirty="0" err="1"/>
                  <a:t>function</a:t>
                </a:r>
                <a:r>
                  <a:rPr lang="fr-FR" sz="1600" dirty="0"/>
                  <a:t>, </a:t>
                </a:r>
                <a:r>
                  <a:rPr lang="fr-FR" sz="1600" dirty="0" err="1"/>
                  <a:t>caracterized</a:t>
                </a:r>
                <a:r>
                  <a:rPr lang="fr-FR" sz="1600" dirty="0"/>
                  <a:t> by </a:t>
                </a:r>
                <a:r>
                  <a:rPr lang="fr-FR" sz="1600" b="1" dirty="0"/>
                  <a:t>L </a:t>
                </a:r>
                <a:r>
                  <a:rPr lang="fr-FR" sz="1600" b="1" dirty="0" err="1"/>
                  <a:t>nodes</a:t>
                </a:r>
                <a:r>
                  <a:rPr lang="fr-FR" sz="1600" b="1" dirty="0"/>
                  <a:t> </a:t>
                </a:r>
                <a14:m>
                  <m:oMath xmlns:m="http://schemas.openxmlformats.org/officeDocument/2006/math">
                    <m:sSub>
                      <m:sSubPr>
                        <m:ctrlPr>
                          <a:rPr lang="fr-FR" sz="1600" i="1" smtClean="0">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𝜏</m:t>
                        </m:r>
                      </m:e>
                      <m:sub>
                        <m:r>
                          <a:rPr lang="fr-FR" sz="1600" b="0" i="1" smtClean="0">
                            <a:latin typeface="Cambria Math" panose="02040503050406030204" pitchFamily="18" charset="0"/>
                          </a:rPr>
                          <m:t>0</m:t>
                        </m:r>
                      </m:sub>
                    </m:sSub>
                    <m:r>
                      <a:rPr lang="fr-FR" sz="1600" b="0" i="1" smtClean="0">
                        <a:latin typeface="Cambria Math" panose="02040503050406030204" pitchFamily="18" charset="0"/>
                      </a:rPr>
                      <m:t>=</m:t>
                    </m:r>
                    <m:r>
                      <a:rPr lang="fr-FR" sz="1600" b="0" i="1" smtClean="0">
                        <a:latin typeface="Cambria Math" panose="02040503050406030204" pitchFamily="18" charset="0"/>
                      </a:rPr>
                      <m:t>𝑎</m:t>
                    </m:r>
                    <m:r>
                      <a:rPr lang="fr-FR" sz="1600" b="0" i="1" smtClean="0">
                        <a:latin typeface="Cambria Math" panose="02040503050406030204" pitchFamily="18" charset="0"/>
                        <a:ea typeface="Cambria Math" panose="02040503050406030204" pitchFamily="18" charset="0"/>
                      </a:rPr>
                      <m:t>≤</m:t>
                    </m:r>
                  </m:oMath>
                </a14:m>
                <a:r>
                  <a:rPr lang="fr-FR" sz="1600" i="1" dirty="0"/>
                  <a:t>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𝜏</m:t>
                        </m:r>
                      </m:e>
                      <m:sub>
                        <m:r>
                          <a:rPr lang="fr-FR" sz="1600" b="0" i="1" smtClean="0">
                            <a:latin typeface="Cambria Math" panose="02040503050406030204" pitchFamily="18" charset="0"/>
                            <a:ea typeface="Cambria Math" panose="02040503050406030204" pitchFamily="18" charset="0"/>
                          </a:rPr>
                          <m:t>1</m:t>
                        </m:r>
                      </m:sub>
                    </m:sSub>
                  </m:oMath>
                </a14:m>
                <a:r>
                  <a:rPr lang="fr-FR" sz="1600" i="1" dirty="0"/>
                  <a:t> </a:t>
                </a:r>
                <a14:m>
                  <m:oMath xmlns:m="http://schemas.openxmlformats.org/officeDocument/2006/math">
                    <m:r>
                      <a:rPr lang="fr-FR" sz="1600" i="1">
                        <a:latin typeface="Cambria Math" panose="02040503050406030204" pitchFamily="18" charset="0"/>
                        <a:ea typeface="Cambria Math" panose="02040503050406030204" pitchFamily="18" charset="0"/>
                      </a:rPr>
                      <m:t>≤</m:t>
                    </m:r>
                  </m:oMath>
                </a14:m>
                <a:r>
                  <a:rPr lang="fr-FR" sz="1600" i="1" dirty="0"/>
                  <a:t> … </a:t>
                </a:r>
                <a14:m>
                  <m:oMath xmlns:m="http://schemas.openxmlformats.org/officeDocument/2006/math">
                    <m:r>
                      <a:rPr lang="fr-FR" sz="1600" i="1">
                        <a:latin typeface="Cambria Math" panose="02040503050406030204" pitchFamily="18" charset="0"/>
                        <a:ea typeface="Cambria Math" panose="02040503050406030204" pitchFamily="18" charset="0"/>
                      </a:rPr>
                      <m:t>≤</m:t>
                    </m:r>
                  </m:oMath>
                </a14:m>
                <a:r>
                  <a:rPr lang="fr-FR" sz="1600" i="1" dirty="0"/>
                  <a:t>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𝜏</m:t>
                        </m:r>
                      </m:e>
                      <m:sub>
                        <m:r>
                          <a:rPr lang="fr-FR" sz="1600" b="0" i="1" smtClean="0">
                            <a:latin typeface="Cambria Math" panose="02040503050406030204" pitchFamily="18" charset="0"/>
                            <a:ea typeface="Cambria Math" panose="02040503050406030204" pitchFamily="18" charset="0"/>
                          </a:rPr>
                          <m:t>𝐿</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𝑏</m:t>
                    </m:r>
                  </m:oMath>
                </a14:m>
                <a:r>
                  <a:rPr lang="fr-FR" sz="1600" i="1" dirty="0"/>
                  <a:t>, </a:t>
                </a:r>
                <a:r>
                  <a:rPr lang="fr-FR" sz="1600" b="1" dirty="0"/>
                  <a:t>an </a:t>
                </a:r>
                <a:r>
                  <a:rPr lang="fr-FR" sz="1600" b="1" dirty="0" err="1"/>
                  <a:t>order</a:t>
                </a:r>
                <a:r>
                  <a:rPr lang="fr-FR" sz="1600" b="1" dirty="0"/>
                  <a:t> </a:t>
                </a:r>
                <a14:m>
                  <m:oMath xmlns:m="http://schemas.openxmlformats.org/officeDocument/2006/math">
                    <m:r>
                      <a:rPr lang="fr-FR" sz="1600" b="1" i="1" smtClean="0">
                        <a:latin typeface="Cambria Math" panose="02040503050406030204" pitchFamily="18" charset="0"/>
                      </a:rPr>
                      <m:t>𝒎</m:t>
                    </m:r>
                  </m:oMath>
                </a14:m>
                <a:r>
                  <a:rPr lang="fr-FR" sz="1600" i="1" dirty="0"/>
                  <a:t>, </a:t>
                </a:r>
                <a:r>
                  <a:rPr lang="fr-FR" sz="1600" dirty="0" err="1"/>
                  <a:t>where</a:t>
                </a:r>
                <a:r>
                  <a:rPr lang="fr-FR" sz="1600" dirty="0"/>
                  <a:t> </a:t>
                </a:r>
                <a14:m>
                  <m:oMath xmlns:m="http://schemas.openxmlformats.org/officeDocument/2006/math">
                    <m:r>
                      <a:rPr lang="fr-FR" sz="1600" b="0" i="1" smtClean="0">
                        <a:latin typeface="Cambria Math" panose="02040503050406030204" pitchFamily="18" charset="0"/>
                      </a:rPr>
                      <m:t>𝑚</m:t>
                    </m:r>
                    <m:r>
                      <a:rPr lang="fr-FR" sz="1600" b="0" i="1" smtClean="0">
                        <a:latin typeface="Cambria Math" panose="02040503050406030204" pitchFamily="18" charset="0"/>
                      </a:rPr>
                      <m:t>−1</m:t>
                    </m:r>
                  </m:oMath>
                </a14:m>
                <a:r>
                  <a:rPr lang="fr-FR" sz="1600" i="1" dirty="0"/>
                  <a:t> </a:t>
                </a:r>
                <a:r>
                  <a:rPr lang="fr-FR" sz="1600" dirty="0" err="1"/>
                  <a:t>is</a:t>
                </a:r>
                <a:r>
                  <a:rPr lang="fr-FR" sz="1600" dirty="0"/>
                  <a:t> the</a:t>
                </a:r>
                <a:r>
                  <a:rPr lang="fr-FR" sz="1600" i="1" dirty="0"/>
                  <a:t> </a:t>
                </a:r>
                <a:r>
                  <a:rPr lang="fr-FR" sz="1600" dirty="0"/>
                  <a:t>maximal </a:t>
                </a:r>
                <a:r>
                  <a:rPr lang="fr-FR" sz="1600" dirty="0" err="1"/>
                  <a:t>degree</a:t>
                </a:r>
                <a:r>
                  <a:rPr lang="fr-FR" sz="1600" dirty="0"/>
                  <a:t> of </a:t>
                </a:r>
                <a:r>
                  <a:rPr lang="fr-FR" sz="1600" dirty="0" err="1"/>
                  <a:t>polynomes</a:t>
                </a:r>
                <a:r>
                  <a:rPr lang="fr-FR" sz="1600" dirty="0"/>
                  <a:t> (</a:t>
                </a:r>
                <a14:m>
                  <m:oMath xmlns:m="http://schemas.openxmlformats.org/officeDocument/2006/math">
                    <m:r>
                      <a:rPr lang="fr-FR" sz="1600" b="0" i="1" smtClean="0">
                        <a:latin typeface="Cambria Math" panose="02040503050406030204" pitchFamily="18" charset="0"/>
                      </a:rPr>
                      <m:t>𝑚</m:t>
                    </m:r>
                    <m:r>
                      <a:rPr lang="fr-FR" sz="1600" b="0" i="1" smtClean="0">
                        <a:latin typeface="Cambria Math" panose="02040503050406030204" pitchFamily="18" charset="0"/>
                      </a:rPr>
                      <m:t>=3</m:t>
                    </m:r>
                  </m:oMath>
                </a14:m>
                <a:r>
                  <a:rPr lang="fr-FR" sz="1600" dirty="0"/>
                  <a:t> in </a:t>
                </a:r>
                <a:r>
                  <a:rPr lang="fr-FR" sz="1600" dirty="0" err="1"/>
                  <a:t>our</a:t>
                </a:r>
                <a:r>
                  <a:rPr lang="fr-FR" sz="1600" dirty="0"/>
                  <a:t> </a:t>
                </a:r>
                <a:r>
                  <a:rPr lang="fr-FR" sz="1600" dirty="0" err="1"/>
                  <a:t>work</a:t>
                </a:r>
                <a:r>
                  <a:rPr lang="fr-FR" sz="1600" dirty="0"/>
                  <a:t>). The </a:t>
                </a:r>
                <a:r>
                  <a:rPr lang="fr-FR" sz="1600" dirty="0" err="1"/>
                  <a:t>number</a:t>
                </a:r>
                <a:r>
                  <a:rPr lang="fr-FR" sz="1600" dirty="0"/>
                  <a:t> of basis </a:t>
                </a:r>
                <a:r>
                  <a:rPr lang="fr-FR" sz="1600" dirty="0" err="1"/>
                  <a:t>function</a:t>
                </a:r>
                <a:r>
                  <a:rPr lang="fr-FR" sz="1600" dirty="0"/>
                  <a:t> K has to </a:t>
                </a:r>
                <a:r>
                  <a:rPr lang="fr-FR" sz="1600" dirty="0" err="1"/>
                  <a:t>be</a:t>
                </a:r>
                <a:r>
                  <a:rPr lang="fr-FR" sz="1600" dirty="0"/>
                  <a:t> </a:t>
                </a:r>
                <a:r>
                  <a:rPr lang="fr-FR" sz="1600" dirty="0" err="1"/>
                  <a:t>chosen</a:t>
                </a:r>
                <a:r>
                  <a:rPr lang="fr-FR" sz="1600" dirty="0"/>
                  <a:t> </a:t>
                </a:r>
                <a:r>
                  <a:rPr lang="fr-FR" sz="1600" dirty="0" err="1"/>
                  <a:t>between</a:t>
                </a:r>
                <a:r>
                  <a:rPr lang="fr-FR" sz="1600" dirty="0"/>
                  <a:t> the </a:t>
                </a:r>
                <a:r>
                  <a:rPr lang="fr-FR" sz="1600" dirty="0" err="1"/>
                  <a:t>order</a:t>
                </a:r>
                <a:r>
                  <a:rPr lang="fr-FR" sz="1600" dirty="0"/>
                  <a:t> and the </a:t>
                </a:r>
                <a:r>
                  <a:rPr lang="fr-FR" sz="1600" dirty="0" err="1"/>
                  <a:t>number</a:t>
                </a:r>
                <a:r>
                  <a:rPr lang="fr-FR" sz="1600" dirty="0"/>
                  <a:t> of </a:t>
                </a:r>
                <a:r>
                  <a:rPr lang="fr-FR" sz="1600" dirty="0" err="1"/>
                  <a:t>individuals</a:t>
                </a:r>
                <a:r>
                  <a:rPr lang="fr-FR" sz="1600" dirty="0"/>
                  <a:t>: </a:t>
                </a:r>
                <a14:m>
                  <m:oMath xmlns:m="http://schemas.openxmlformats.org/officeDocument/2006/math">
                    <m:r>
                      <a:rPr lang="fr-FR" sz="1600" b="0" i="1" smtClean="0">
                        <a:latin typeface="Cambria Math" panose="02040503050406030204" pitchFamily="18" charset="0"/>
                      </a:rPr>
                      <m:t>𝑚</m:t>
                    </m:r>
                    <m:r>
                      <a:rPr lang="fr-FR" sz="1600" b="0" i="1" smtClean="0">
                        <a:latin typeface="Cambria Math" panose="02040503050406030204" pitchFamily="18" charset="0"/>
                      </a:rPr>
                      <m:t>&lt;</m:t>
                    </m:r>
                    <m:r>
                      <a:rPr lang="fr-FR" sz="1600" b="0" i="1" smtClean="0">
                        <a:latin typeface="Cambria Math" panose="02040503050406030204" pitchFamily="18" charset="0"/>
                      </a:rPr>
                      <m:t>𝐾</m:t>
                    </m:r>
                    <m:r>
                      <a:rPr lang="fr-FR" sz="1600" b="0" i="1" smtClean="0">
                        <a:latin typeface="Cambria Math" panose="02040503050406030204" pitchFamily="18" charset="0"/>
                      </a:rPr>
                      <m:t>&lt;</m:t>
                    </m:r>
                    <m:r>
                      <a:rPr lang="fr-FR" sz="1600" b="0" i="1" smtClean="0">
                        <a:latin typeface="Cambria Math" panose="02040503050406030204" pitchFamily="18" charset="0"/>
                      </a:rPr>
                      <m:t>𝑛</m:t>
                    </m:r>
                  </m:oMath>
                </a14:m>
                <a:r>
                  <a:rPr lang="fr-FR" sz="1600" dirty="0"/>
                  <a:t>. </a:t>
                </a:r>
                <a:r>
                  <a:rPr lang="fr-FR" sz="1600" b="1" dirty="0"/>
                  <a:t>In </a:t>
                </a:r>
                <a:r>
                  <a:rPr lang="fr-FR" sz="1600" b="1" dirty="0" err="1"/>
                  <a:t>our</a:t>
                </a:r>
                <a:r>
                  <a:rPr lang="fr-FR" sz="1600" b="1" dirty="0"/>
                  <a:t> </a:t>
                </a:r>
                <a:r>
                  <a:rPr lang="fr-FR" sz="1600" b="1" dirty="0" err="1"/>
                  <a:t>work</a:t>
                </a:r>
                <a:r>
                  <a:rPr lang="fr-FR" sz="1600" b="1" dirty="0"/>
                  <a:t> </a:t>
                </a:r>
                <a:r>
                  <a:rPr lang="fr-FR" sz="1600" b="1" dirty="0" err="1"/>
                  <a:t>we</a:t>
                </a:r>
                <a:r>
                  <a:rPr lang="fr-FR" sz="1600" b="1" dirty="0"/>
                  <a:t> </a:t>
                </a:r>
                <a:r>
                  <a:rPr lang="fr-FR" sz="1600" b="1" dirty="0" err="1"/>
                  <a:t>choose</a:t>
                </a:r>
                <a:r>
                  <a:rPr lang="fr-FR" sz="1600" b="1" dirty="0"/>
                  <a:t> </a:t>
                </a:r>
                <a14:m>
                  <m:oMath xmlns:m="http://schemas.openxmlformats.org/officeDocument/2006/math">
                    <m:r>
                      <a:rPr lang="fr-FR" sz="1600" b="1" i="1" smtClean="0">
                        <a:latin typeface="Cambria Math" panose="02040503050406030204" pitchFamily="18" charset="0"/>
                      </a:rPr>
                      <m:t>𝑲</m:t>
                    </m:r>
                    <m:r>
                      <a:rPr lang="fr-FR" sz="1600" b="1" i="1" smtClean="0">
                        <a:latin typeface="Cambria Math" panose="02040503050406030204" pitchFamily="18" charset="0"/>
                      </a:rPr>
                      <m:t>=</m:t>
                    </m:r>
                    <m:r>
                      <a:rPr lang="fr-FR" sz="1600" b="1" i="1" smtClean="0">
                        <a:latin typeface="Cambria Math" panose="02040503050406030204" pitchFamily="18" charset="0"/>
                      </a:rPr>
                      <m:t>𝟓</m:t>
                    </m:r>
                  </m:oMath>
                </a14:m>
                <a:r>
                  <a:rPr lang="fr-FR" sz="1600" b="1" dirty="0"/>
                  <a:t>.</a:t>
                </a:r>
                <a:r>
                  <a:rPr lang="fr-FR" sz="1600" dirty="0"/>
                  <a:t>  </a:t>
                </a:r>
                <a:r>
                  <a:rPr lang="fr-FR" sz="1600" i="1" dirty="0"/>
                  <a:t> </a:t>
                </a:r>
                <a:br>
                  <a:rPr lang="fr-FR" sz="1600" i="1" dirty="0"/>
                </a:br>
                <a:endParaRPr lang="fr-FR" sz="1600" i="1" dirty="0"/>
              </a:p>
              <a:p>
                <a:pPr marL="285750" indent="-285750">
                  <a:buFont typeface="Arial" panose="020B0604020202020204" pitchFamily="34" charset="0"/>
                  <a:buChar char="•"/>
                </a:pPr>
                <a:r>
                  <a:rPr lang="fr-FR" sz="1600" dirty="0"/>
                  <a:t>The coefficients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𝑐</m:t>
                        </m:r>
                      </m:e>
                      <m:sub>
                        <m:r>
                          <a:rPr lang="fr-FR" sz="1600" b="0" i="1" smtClean="0">
                            <a:latin typeface="Cambria Math" panose="02040503050406030204" pitchFamily="18" charset="0"/>
                          </a:rPr>
                          <m:t>𝑖𝑘</m:t>
                        </m:r>
                      </m:sub>
                    </m:sSub>
                  </m:oMath>
                </a14:m>
                <a:r>
                  <a:rPr lang="fr-FR" i="1" dirty="0"/>
                  <a:t> </a:t>
                </a:r>
                <a:r>
                  <a:rPr lang="fr-FR" sz="1600" dirty="0"/>
                  <a:t>are </a:t>
                </a:r>
                <a:r>
                  <a:rPr lang="fr-FR" sz="1600" dirty="0" err="1"/>
                  <a:t>obtained</a:t>
                </a:r>
                <a:r>
                  <a:rPr lang="fr-FR" sz="1600" dirty="0"/>
                  <a:t> by </a:t>
                </a:r>
                <a:r>
                  <a:rPr lang="fr-FR" sz="1600" dirty="0" err="1"/>
                  <a:t>minimizing</a:t>
                </a:r>
                <a:r>
                  <a:rPr lang="fr-FR" sz="1600" dirty="0"/>
                  <a:t> the least square expression. Suppose </a:t>
                </a:r>
                <a:r>
                  <a:rPr lang="fr-FR" sz="1600" dirty="0" err="1"/>
                  <a:t>that</a:t>
                </a:r>
                <a:r>
                  <a:rPr lang="fr-FR" sz="1600" dirty="0"/>
                  <a:t> for an </a:t>
                </a:r>
                <a:r>
                  <a:rPr lang="fr-FR" sz="1600" dirty="0" err="1"/>
                  <a:t>individual</a:t>
                </a:r>
                <a:r>
                  <a:rPr lang="fr-FR" sz="1600" dirty="0"/>
                  <a:t> i, </a:t>
                </a:r>
                <a:r>
                  <a:rPr lang="fr-FR" sz="1600" dirty="0" err="1"/>
                  <a:t>we</a:t>
                </a:r>
                <a:r>
                  <a:rPr lang="fr-FR" sz="1600" dirty="0"/>
                  <a:t> observe the </a:t>
                </a:r>
                <a:r>
                  <a:rPr lang="fr-FR" sz="1600" dirty="0" err="1"/>
                  <a:t>following</a:t>
                </a:r>
                <a:r>
                  <a:rPr lang="fr-FR" sz="1600" dirty="0"/>
                  <a:t> pairs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𝑡</m:t>
                        </m:r>
                      </m:e>
                      <m:sub>
                        <m:r>
                          <a:rPr lang="fr-FR" sz="1600" b="0" i="1" smtClean="0">
                            <a:latin typeface="Cambria Math" panose="02040503050406030204" pitchFamily="18" charset="0"/>
                          </a:rPr>
                          <m:t>𝑖</m:t>
                        </m:r>
                        <m:r>
                          <a:rPr lang="fr-FR" sz="1600" b="0" i="1" smtClean="0">
                            <a:latin typeface="Cambria Math" panose="02040503050406030204" pitchFamily="18" charset="0"/>
                          </a:rPr>
                          <m:t>1</m:t>
                        </m:r>
                      </m:sub>
                    </m:sSub>
                    <m:r>
                      <a:rPr lang="fr-FR" sz="1600" b="0" i="1" smtClean="0">
                        <a:latin typeface="Cambria Math" panose="02040503050406030204" pitchFamily="18" charset="0"/>
                      </a:rPr>
                      <m:t>, </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𝑖</m:t>
                        </m:r>
                        <m:r>
                          <a:rPr lang="fr-FR" sz="1600" b="0" i="1" smtClean="0">
                            <a:latin typeface="Cambria Math" panose="02040503050406030204" pitchFamily="18" charset="0"/>
                          </a:rPr>
                          <m:t>1</m:t>
                        </m:r>
                      </m:sub>
                    </m:sSub>
                  </m:oMath>
                </a14:m>
                <a:r>
                  <a:rPr lang="fr-FR" sz="1600" dirty="0"/>
                  <a:t>), …,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rPr>
                          <m:t>𝑡</m:t>
                        </m:r>
                      </m:e>
                      <m:sub>
                        <m:r>
                          <a:rPr lang="fr-FR" sz="1600" i="1">
                            <a:latin typeface="Cambria Math" panose="02040503050406030204" pitchFamily="18" charset="0"/>
                          </a:rPr>
                          <m:t>𝑖</m:t>
                        </m:r>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𝑚</m:t>
                            </m:r>
                          </m:e>
                          <m:sub>
                            <m:r>
                              <a:rPr lang="fr-FR" sz="1600" b="0" i="1" smtClean="0">
                                <a:latin typeface="Cambria Math" panose="02040503050406030204" pitchFamily="18" charset="0"/>
                              </a:rPr>
                              <m:t>𝑖</m:t>
                            </m:r>
                          </m:sub>
                        </m:sSub>
                      </m:sub>
                    </m:sSub>
                    <m:r>
                      <a:rPr lang="fr-FR" sz="1600" i="1">
                        <a:latin typeface="Cambria Math" panose="02040503050406030204" pitchFamily="18" charset="0"/>
                      </a:rPr>
                      <m:t>, </m:t>
                    </m:r>
                    <m:sSub>
                      <m:sSubPr>
                        <m:ctrlPr>
                          <a:rPr lang="fr-FR" sz="1600" i="1">
                            <a:latin typeface="Cambria Math" panose="02040503050406030204" pitchFamily="18" charset="0"/>
                          </a:rPr>
                        </m:ctrlPr>
                      </m:sSubPr>
                      <m:e>
                        <m:r>
                          <a:rPr lang="fr-FR" sz="1600" i="1">
                            <a:latin typeface="Cambria Math" panose="02040503050406030204" pitchFamily="18" charset="0"/>
                          </a:rPr>
                          <m:t>𝑦</m:t>
                        </m:r>
                      </m:e>
                      <m:sub>
                        <m:r>
                          <a:rPr lang="fr-FR" sz="1600" i="1">
                            <a:latin typeface="Cambria Math" panose="02040503050406030204" pitchFamily="18" charset="0"/>
                          </a:rPr>
                          <m:t>𝑖</m:t>
                        </m:r>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𝑚</m:t>
                            </m:r>
                          </m:e>
                          <m:sub>
                            <m:r>
                              <a:rPr lang="fr-FR" sz="1600" b="0" i="1" smtClean="0">
                                <a:latin typeface="Cambria Math" panose="02040503050406030204" pitchFamily="18" charset="0"/>
                              </a:rPr>
                              <m:t>𝑖</m:t>
                            </m:r>
                          </m:sub>
                        </m:sSub>
                      </m:sub>
                    </m:sSub>
                  </m:oMath>
                </a14:m>
                <a:r>
                  <a:rPr lang="fr-FR" sz="1600" dirty="0"/>
                  <a:t>), </a:t>
                </a:r>
                <a:r>
                  <a:rPr lang="fr-FR" sz="1600" dirty="0" err="1"/>
                  <a:t>we</a:t>
                </a:r>
                <a:r>
                  <a:rPr lang="fr-FR" sz="1600" dirty="0"/>
                  <a:t> </a:t>
                </a:r>
                <a:r>
                  <a:rPr lang="fr-FR" sz="1600" dirty="0" err="1"/>
                  <a:t>want</a:t>
                </a:r>
                <a:r>
                  <a:rPr lang="fr-FR" sz="1600" dirty="0"/>
                  <a:t> to </a:t>
                </a:r>
                <a:r>
                  <a:rPr lang="fr-FR" sz="1600" dirty="0" err="1"/>
                  <a:t>minimize</a:t>
                </a:r>
                <a:r>
                  <a:rPr lang="fr-FR" sz="1600" dirty="0"/>
                  <a:t> </a:t>
                </a:r>
                <a14:m>
                  <m:oMath xmlns:m="http://schemas.openxmlformats.org/officeDocument/2006/math">
                    <m:nary>
                      <m:naryPr>
                        <m:chr m:val="∑"/>
                        <m:ctrlPr>
                          <a:rPr lang="fr-FR" sz="1600" i="1" smtClean="0">
                            <a:latin typeface="Cambria Math" panose="02040503050406030204" pitchFamily="18" charset="0"/>
                          </a:rPr>
                        </m:ctrlPr>
                      </m:naryPr>
                      <m:sub>
                        <m:r>
                          <m:rPr>
                            <m:brk m:alnAt="23"/>
                          </m:rPr>
                          <a:rPr lang="fr-FR" sz="1600" b="0" i="1" smtClean="0">
                            <a:latin typeface="Cambria Math" panose="02040503050406030204" pitchFamily="18" charset="0"/>
                          </a:rPr>
                          <m:t>𝑗</m:t>
                        </m:r>
                        <m:r>
                          <a:rPr lang="fr-FR" sz="1600" b="0" i="1" smtClean="0">
                            <a:latin typeface="Cambria Math" panose="02040503050406030204" pitchFamily="18" charset="0"/>
                          </a:rPr>
                          <m:t>=1</m:t>
                        </m:r>
                      </m:sub>
                      <m:sup>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𝑚</m:t>
                            </m:r>
                          </m:e>
                          <m:sub>
                            <m:r>
                              <a:rPr lang="fr-FR" sz="1600" b="0" i="1" smtClean="0">
                                <a:latin typeface="Cambria Math" panose="02040503050406030204" pitchFamily="18" charset="0"/>
                              </a:rPr>
                              <m:t>𝑖</m:t>
                            </m:r>
                          </m:sub>
                        </m:sSub>
                      </m:sup>
                      <m:e>
                        <m:sSup>
                          <m:sSupPr>
                            <m:ctrlPr>
                              <a:rPr lang="fr-FR" sz="1600" i="1" smtClean="0">
                                <a:latin typeface="Cambria Math" panose="02040503050406030204" pitchFamily="18" charset="0"/>
                              </a:rPr>
                            </m:ctrlPr>
                          </m:sSupPr>
                          <m:e>
                            <m:r>
                              <a:rPr lang="fr-FR" sz="1600" b="0" i="1" smtClean="0">
                                <a:latin typeface="Cambria Math" panose="02040503050406030204" pitchFamily="18" charset="0"/>
                              </a:rPr>
                              <m:t>(</m:t>
                            </m:r>
                            <m:sSub>
                              <m:sSubPr>
                                <m:ctrlPr>
                                  <a:rPr lang="fr-FR" sz="1600" i="1">
                                    <a:latin typeface="Cambria Math" panose="02040503050406030204" pitchFamily="18" charset="0"/>
                                  </a:rPr>
                                </m:ctrlPr>
                              </m:sSubPr>
                              <m:e>
                                <m:r>
                                  <a:rPr lang="fr-FR" sz="1600" i="1">
                                    <a:latin typeface="Cambria Math" panose="02040503050406030204" pitchFamily="18" charset="0"/>
                                  </a:rPr>
                                  <m:t>𝑦</m:t>
                                </m:r>
                              </m:e>
                              <m:sub>
                                <m:r>
                                  <a:rPr lang="fr-FR" sz="1600" i="1">
                                    <a:latin typeface="Cambria Math" panose="02040503050406030204" pitchFamily="18" charset="0"/>
                                  </a:rPr>
                                  <m:t>𝑖</m:t>
                                </m:r>
                                <m:r>
                                  <a:rPr lang="fr-FR" sz="1600" b="0" i="1" smtClean="0">
                                    <a:latin typeface="Cambria Math" panose="02040503050406030204" pitchFamily="18" charset="0"/>
                                  </a:rPr>
                                  <m:t>𝑗</m:t>
                                </m:r>
                              </m:sub>
                            </m:sSub>
                            <m:r>
                              <a:rPr lang="fr-FR" sz="1600" b="0" i="1" smtClean="0">
                                <a:latin typeface="Cambria Math" panose="02040503050406030204" pitchFamily="18" charset="0"/>
                              </a:rPr>
                              <m:t>−</m:t>
                            </m:r>
                            <m:nary>
                              <m:naryPr>
                                <m:chr m:val="∑"/>
                                <m:ctrlPr>
                                  <a:rPr lang="fr-FR" sz="1600" b="0" i="1" smtClean="0">
                                    <a:latin typeface="Cambria Math" panose="02040503050406030204" pitchFamily="18" charset="0"/>
                                  </a:rPr>
                                </m:ctrlPr>
                              </m:naryPr>
                              <m:sub>
                                <m:r>
                                  <m:rPr>
                                    <m:brk m:alnAt="23"/>
                                  </m:rPr>
                                  <a:rPr lang="fr-FR" sz="1600" b="0" i="1" smtClean="0">
                                    <a:latin typeface="Cambria Math" panose="02040503050406030204" pitchFamily="18" charset="0"/>
                                  </a:rPr>
                                  <m:t>𝑘</m:t>
                                </m:r>
                                <m:r>
                                  <a:rPr lang="fr-FR" sz="1600" b="0" i="1" smtClean="0">
                                    <a:latin typeface="Cambria Math" panose="02040503050406030204" pitchFamily="18" charset="0"/>
                                  </a:rPr>
                                  <m:t>=1</m:t>
                                </m:r>
                              </m:sub>
                              <m:sup>
                                <m:r>
                                  <a:rPr lang="fr-FR" sz="1600" b="0" i="1" smtClean="0">
                                    <a:latin typeface="Cambria Math" panose="02040503050406030204" pitchFamily="18" charset="0"/>
                                  </a:rPr>
                                  <m:t>𝐾</m:t>
                                </m:r>
                              </m:sup>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𝑐</m:t>
                                    </m:r>
                                  </m:e>
                                  <m:sub>
                                    <m:r>
                                      <a:rPr lang="fr-FR" sz="1600" b="0" i="1" smtClean="0">
                                        <a:latin typeface="Cambria Math" panose="02040503050406030204" pitchFamily="18" charset="0"/>
                                      </a:rPr>
                                      <m:t>𝑖𝑘</m:t>
                                    </m:r>
                                  </m:sub>
                                </m:sSub>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𝜓</m:t>
                                    </m:r>
                                  </m:e>
                                  <m:sub>
                                    <m:r>
                                      <a:rPr lang="fr-FR" sz="1600" b="0" i="1" smtClean="0">
                                        <a:latin typeface="Cambria Math" panose="02040503050406030204" pitchFamily="18" charset="0"/>
                                      </a:rPr>
                                      <m:t>𝑘</m:t>
                                    </m:r>
                                  </m:sub>
                                </m:sSub>
                                <m:r>
                                  <a:rPr lang="fr-FR" sz="1600" b="0" i="1" smtClean="0">
                                    <a:latin typeface="Cambria Math" panose="02040503050406030204" pitchFamily="18" charset="0"/>
                                  </a:rPr>
                                  <m:t>(</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𝑡</m:t>
                                    </m:r>
                                  </m:e>
                                  <m:sub>
                                    <m:r>
                                      <a:rPr lang="fr-FR" sz="1600" b="0" i="1" smtClean="0">
                                        <a:latin typeface="Cambria Math" panose="02040503050406030204" pitchFamily="18" charset="0"/>
                                      </a:rPr>
                                      <m:t>𝑖𝑗</m:t>
                                    </m:r>
                                  </m:sub>
                                </m:sSub>
                                <m:r>
                                  <a:rPr lang="fr-FR" sz="1600" b="0" i="1" smtClean="0">
                                    <a:latin typeface="Cambria Math" panose="02040503050406030204" pitchFamily="18" charset="0"/>
                                  </a:rPr>
                                  <m:t>)</m:t>
                                </m:r>
                              </m:e>
                            </m:nary>
                            <m:r>
                              <a:rPr lang="fr-FR" sz="1600" b="0" i="1" smtClean="0">
                                <a:latin typeface="Cambria Math" panose="02040503050406030204" pitchFamily="18" charset="0"/>
                              </a:rPr>
                              <m:t>)</m:t>
                            </m:r>
                          </m:e>
                          <m:sup>
                            <m:r>
                              <a:rPr lang="fr-FR" sz="1600" b="0" i="1" smtClean="0">
                                <a:latin typeface="Cambria Math" panose="02040503050406030204" pitchFamily="18" charset="0"/>
                              </a:rPr>
                              <m:t>2</m:t>
                            </m:r>
                          </m:sup>
                        </m:sSup>
                      </m:e>
                    </m:nary>
                  </m:oMath>
                </a14:m>
                <a:r>
                  <a:rPr lang="fr-FR" i="1" dirty="0"/>
                  <a:t>. </a:t>
                </a:r>
                <a:r>
                  <a:rPr lang="fr-FR" sz="1600" dirty="0"/>
                  <a:t>If </a:t>
                </a:r>
                <a:r>
                  <a:rPr lang="fr-FR" sz="1600" dirty="0" err="1"/>
                  <a:t>we</a:t>
                </a:r>
                <a:r>
                  <a:rPr lang="fr-FR" sz="1600" dirty="0"/>
                  <a:t> note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𝐵</m:t>
                        </m:r>
                      </m:e>
                      <m:sub>
                        <m:r>
                          <a:rPr lang="fr-FR" sz="1600" b="0" i="1" smtClean="0">
                            <a:latin typeface="Cambria Math" panose="02040503050406030204" pitchFamily="18" charset="0"/>
                          </a:rPr>
                          <m:t>𝑗𝑘</m:t>
                        </m:r>
                      </m:sub>
                    </m:sSub>
                    <m:r>
                      <a:rPr lang="fr-FR" sz="1600" b="0" i="1" smtClean="0">
                        <a:latin typeface="Cambria Math" panose="02040503050406030204" pitchFamily="18" charset="0"/>
                      </a:rPr>
                      <m:t>=</m:t>
                    </m:r>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𝜓</m:t>
                        </m:r>
                      </m:e>
                      <m:sub>
                        <m:r>
                          <a:rPr lang="fr-FR" sz="1600" i="1">
                            <a:latin typeface="Cambria Math" panose="02040503050406030204" pitchFamily="18" charset="0"/>
                          </a:rPr>
                          <m:t>𝑘</m:t>
                        </m:r>
                      </m:sub>
                    </m:sSub>
                    <m:r>
                      <a:rPr lang="fr-FR" sz="1600" i="1">
                        <a:latin typeface="Cambria Math" panose="02040503050406030204" pitchFamily="18" charset="0"/>
                      </a:rPr>
                      <m:t>(</m:t>
                    </m:r>
                    <m:sSub>
                      <m:sSubPr>
                        <m:ctrlPr>
                          <a:rPr lang="fr-FR" sz="1600" i="1">
                            <a:latin typeface="Cambria Math" panose="02040503050406030204" pitchFamily="18" charset="0"/>
                          </a:rPr>
                        </m:ctrlPr>
                      </m:sSubPr>
                      <m:e>
                        <m:r>
                          <a:rPr lang="fr-FR" sz="1600" i="1">
                            <a:latin typeface="Cambria Math" panose="02040503050406030204" pitchFamily="18" charset="0"/>
                          </a:rPr>
                          <m:t>𝑡</m:t>
                        </m:r>
                      </m:e>
                      <m:sub>
                        <m:r>
                          <a:rPr lang="fr-FR" sz="1600" i="1">
                            <a:latin typeface="Cambria Math" panose="02040503050406030204" pitchFamily="18" charset="0"/>
                          </a:rPr>
                          <m:t>𝑖𝑗</m:t>
                        </m:r>
                      </m:sub>
                    </m:sSub>
                    <m:r>
                      <a:rPr lang="fr-FR" sz="1600" i="1">
                        <a:latin typeface="Cambria Math" panose="02040503050406030204" pitchFamily="18" charset="0"/>
                      </a:rPr>
                      <m:t>)</m:t>
                    </m:r>
                  </m:oMath>
                </a14:m>
                <a:r>
                  <a:rPr lang="fr-FR" i="1" dirty="0"/>
                  <a:t>, </a:t>
                </a:r>
                <a:r>
                  <a:rPr lang="fr-FR" sz="1600" dirty="0" err="1"/>
                  <a:t>then</a:t>
                </a:r>
                <a:r>
                  <a:rPr lang="fr-FR" sz="1600" dirty="0"/>
                  <a:t>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𝑖</m:t>
                        </m:r>
                      </m:sub>
                    </m:sSub>
                    <m:r>
                      <a:rPr lang="fr-FR" sz="1600" b="0" i="1" smtClean="0">
                        <a:latin typeface="Cambria Math" panose="02040503050406030204" pitchFamily="18" charset="0"/>
                      </a:rPr>
                      <m:t>=</m:t>
                    </m:r>
                    <m:r>
                      <a:rPr lang="fr-FR" sz="1600" b="0" i="1" smtClean="0">
                        <a:latin typeface="Cambria Math" panose="02040503050406030204" pitchFamily="18" charset="0"/>
                      </a:rPr>
                      <m:t>𝐵</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𝑐</m:t>
                        </m:r>
                      </m:e>
                      <m:sub>
                        <m:r>
                          <a:rPr lang="fr-FR" sz="1600" b="0" i="1" smtClean="0">
                            <a:latin typeface="Cambria Math" panose="02040503050406030204" pitchFamily="18" charset="0"/>
                          </a:rPr>
                          <m:t>𝑖</m:t>
                        </m:r>
                      </m:sub>
                    </m:sSub>
                    <m:r>
                      <a:rPr lang="fr-FR" sz="1600" b="0" i="1" smtClean="0">
                        <a:latin typeface="Cambria Math" panose="02040503050406030204" pitchFamily="18" charset="0"/>
                      </a:rPr>
                      <m:t>+</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𝜀</m:t>
                        </m:r>
                      </m:e>
                      <m:sub>
                        <m:r>
                          <a:rPr lang="fr-FR" sz="1600" b="0" i="1" smtClean="0">
                            <a:latin typeface="Cambria Math" panose="02040503050406030204" pitchFamily="18" charset="0"/>
                          </a:rPr>
                          <m:t>𝑖</m:t>
                        </m:r>
                      </m:sub>
                    </m:sSub>
                  </m:oMath>
                </a14:m>
                <a:r>
                  <a:rPr lang="fr-FR" i="1" dirty="0"/>
                  <a:t>. </a:t>
                </a:r>
                <a:r>
                  <a:rPr lang="fr-FR" sz="1600" dirty="0"/>
                  <a:t>The solution of least square </a:t>
                </a:r>
                <a:r>
                  <a:rPr lang="fr-FR" sz="1600" dirty="0" err="1"/>
                  <a:t>is</a:t>
                </a:r>
                <a:r>
                  <a:rPr lang="fr-FR" sz="1600" dirty="0"/>
                  <a:t> </a:t>
                </a:r>
                <a:r>
                  <a:rPr lang="fr-FR" sz="1600" dirty="0" err="1"/>
                  <a:t>given</a:t>
                </a:r>
                <a:r>
                  <a:rPr lang="fr-FR" sz="1600" dirty="0"/>
                  <a:t> by </a:t>
                </a:r>
                <a14:m>
                  <m:oMath xmlns:m="http://schemas.openxmlformats.org/officeDocument/2006/math">
                    <m:acc>
                      <m:accPr>
                        <m:chr m:val="̂"/>
                        <m:ctrlPr>
                          <a:rPr lang="fr-FR" sz="1600" i="1" smtClean="0">
                            <a:latin typeface="Cambria Math" panose="02040503050406030204" pitchFamily="18" charset="0"/>
                          </a:rPr>
                        </m:ctrlPr>
                      </m:accPr>
                      <m:e>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𝑐</m:t>
                            </m:r>
                          </m:e>
                          <m:sub>
                            <m:r>
                              <a:rPr lang="fr-FR" sz="1600" b="0" i="1" smtClean="0">
                                <a:latin typeface="Cambria Math" panose="02040503050406030204" pitchFamily="18" charset="0"/>
                              </a:rPr>
                              <m:t>𝑖</m:t>
                            </m:r>
                          </m:sub>
                        </m:sSub>
                      </m:e>
                    </m:acc>
                    <m:r>
                      <a:rPr lang="fr-FR" sz="1600" b="0" i="1" smtClean="0">
                        <a:latin typeface="Cambria Math" panose="02040503050406030204" pitchFamily="18" charset="0"/>
                      </a:rPr>
                      <m:t>=</m:t>
                    </m:r>
                    <m:sSup>
                      <m:sSupPr>
                        <m:ctrlPr>
                          <a:rPr lang="fr-FR" sz="1600" b="0" i="1" smtClean="0">
                            <a:latin typeface="Cambria Math" panose="02040503050406030204" pitchFamily="18" charset="0"/>
                          </a:rPr>
                        </m:ctrlPr>
                      </m:sSupPr>
                      <m:e>
                        <m:r>
                          <a:rPr lang="fr-FR" sz="1600" i="1">
                            <a:latin typeface="Cambria Math" panose="02040503050406030204" pitchFamily="18" charset="0"/>
                          </a:rPr>
                          <m:t>(</m:t>
                        </m:r>
                        <m:sSup>
                          <m:sSupPr>
                            <m:ctrlPr>
                              <a:rPr lang="fr-FR" sz="1600" i="1">
                                <a:latin typeface="Cambria Math" panose="02040503050406030204" pitchFamily="18" charset="0"/>
                              </a:rPr>
                            </m:ctrlPr>
                          </m:sSupPr>
                          <m:e>
                            <m:r>
                              <a:rPr lang="fr-FR" sz="1600" i="1">
                                <a:latin typeface="Cambria Math" panose="02040503050406030204" pitchFamily="18" charset="0"/>
                              </a:rPr>
                              <m:t>𝐵</m:t>
                            </m:r>
                          </m:e>
                          <m:sup>
                            <m:r>
                              <a:rPr lang="fr-FR" sz="1600" i="1">
                                <a:latin typeface="Cambria Math" panose="02040503050406030204" pitchFamily="18" charset="0"/>
                              </a:rPr>
                              <m:t>𝑇</m:t>
                            </m:r>
                          </m:sup>
                        </m:sSup>
                        <m:r>
                          <a:rPr lang="fr-FR" sz="1600" i="1">
                            <a:latin typeface="Cambria Math" panose="02040503050406030204" pitchFamily="18" charset="0"/>
                          </a:rPr>
                          <m:t>𝐵</m:t>
                        </m:r>
                        <m:r>
                          <a:rPr lang="fr-FR" sz="1600" i="1">
                            <a:latin typeface="Cambria Math" panose="02040503050406030204" pitchFamily="18" charset="0"/>
                          </a:rPr>
                          <m:t>)</m:t>
                        </m:r>
                      </m:e>
                      <m:sup>
                        <m:r>
                          <a:rPr lang="fr-FR" sz="1600" b="0" i="1" smtClean="0">
                            <a:latin typeface="Cambria Math" panose="02040503050406030204" pitchFamily="18" charset="0"/>
                          </a:rPr>
                          <m:t>−1</m:t>
                        </m:r>
                      </m:sup>
                    </m:sSup>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𝐵</m:t>
                        </m:r>
                      </m:e>
                      <m:sup>
                        <m:r>
                          <a:rPr lang="fr-FR" sz="1600" b="0" i="1" smtClean="0">
                            <a:latin typeface="Cambria Math" panose="02040503050406030204" pitchFamily="18" charset="0"/>
                          </a:rPr>
                          <m:t>𝑇</m:t>
                        </m:r>
                      </m:sup>
                    </m:sSup>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𝑦</m:t>
                        </m:r>
                      </m:e>
                      <m:sub>
                        <m:r>
                          <a:rPr lang="fr-FR" sz="1600" b="0" i="1" smtClean="0">
                            <a:latin typeface="Cambria Math" panose="02040503050406030204" pitchFamily="18" charset="0"/>
                          </a:rPr>
                          <m:t>𝑖</m:t>
                        </m:r>
                      </m:sub>
                    </m:sSub>
                  </m:oMath>
                </a14:m>
                <a:endParaRPr lang="fr-FR" i="1" dirty="0"/>
              </a:p>
              <a:p>
                <a:pPr marL="285750" indent="-285750">
                  <a:buFont typeface="Arial" panose="020B0604020202020204" pitchFamily="34" charset="0"/>
                  <a:buChar char="•"/>
                </a:pPr>
                <a:endParaRPr lang="fr-FR" i="1" dirty="0"/>
              </a:p>
            </p:txBody>
          </p:sp>
        </mc:Choice>
        <mc:Fallback xmlns="">
          <p:sp>
            <p:nvSpPr>
              <p:cNvPr id="15" name="ZoneTexte 14">
                <a:extLst>
                  <a:ext uri="{FF2B5EF4-FFF2-40B4-BE49-F238E27FC236}">
                    <a16:creationId xmlns:a16="http://schemas.microsoft.com/office/drawing/2014/main" id="{4A0FF0A9-D3D9-45A8-942D-A3FF65C84014}"/>
                  </a:ext>
                </a:extLst>
              </p:cNvPr>
              <p:cNvSpPr txBox="1">
                <a:spLocks noRot="1" noChangeAspect="1" noMove="1" noResize="1" noEditPoints="1" noAdjustHandles="1" noChangeArrowheads="1" noChangeShapeType="1" noTextEdit="1"/>
              </p:cNvSpPr>
              <p:nvPr/>
            </p:nvSpPr>
            <p:spPr>
              <a:xfrm>
                <a:off x="276837" y="679508"/>
                <a:ext cx="10628851" cy="3706336"/>
              </a:xfrm>
              <a:prstGeom prst="rect">
                <a:avLst/>
              </a:prstGeom>
              <a:blipFill>
                <a:blip r:embed="rId3"/>
                <a:stretch>
                  <a:fillRect l="-229" t="-493"/>
                </a:stretch>
              </a:blipFill>
            </p:spPr>
            <p:txBody>
              <a:bodyPr/>
              <a:lstStyle/>
              <a:p>
                <a:r>
                  <a:rPr lang="fr-FR">
                    <a:noFill/>
                  </a:rPr>
                  <a:t> </a:t>
                </a:r>
              </a:p>
            </p:txBody>
          </p:sp>
        </mc:Fallback>
      </mc:AlternateContent>
      <p:pic>
        <p:nvPicPr>
          <p:cNvPr id="18" name="Image 17">
            <a:extLst>
              <a:ext uri="{FF2B5EF4-FFF2-40B4-BE49-F238E27FC236}">
                <a16:creationId xmlns:a16="http://schemas.microsoft.com/office/drawing/2014/main" id="{62B64440-6B0C-43AE-8DC8-E8596F781387}"/>
              </a:ext>
            </a:extLst>
          </p:cNvPr>
          <p:cNvPicPr>
            <a:picLocks noChangeAspect="1"/>
          </p:cNvPicPr>
          <p:nvPr/>
        </p:nvPicPr>
        <p:blipFill>
          <a:blip r:embed="rId4"/>
          <a:stretch>
            <a:fillRect/>
          </a:stretch>
        </p:blipFill>
        <p:spPr>
          <a:xfrm>
            <a:off x="8889830" y="4159357"/>
            <a:ext cx="3302170" cy="2616334"/>
          </a:xfrm>
          <a:prstGeom prst="rect">
            <a:avLst/>
          </a:prstGeom>
        </p:spPr>
      </p:pic>
      <p:sp>
        <p:nvSpPr>
          <p:cNvPr id="20" name="Rectangle 19">
            <a:extLst>
              <a:ext uri="{FF2B5EF4-FFF2-40B4-BE49-F238E27FC236}">
                <a16:creationId xmlns:a16="http://schemas.microsoft.com/office/drawing/2014/main" id="{2992D3AC-ACFF-47C4-A044-C1C1F360D4B1}"/>
              </a:ext>
            </a:extLst>
          </p:cNvPr>
          <p:cNvSpPr/>
          <p:nvPr/>
        </p:nvSpPr>
        <p:spPr>
          <a:xfrm>
            <a:off x="5519955" y="3748297"/>
            <a:ext cx="1711355" cy="3119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ZoneTexte 1">
            <a:extLst>
              <a:ext uri="{FF2B5EF4-FFF2-40B4-BE49-F238E27FC236}">
                <a16:creationId xmlns:a16="http://schemas.microsoft.com/office/drawing/2014/main" id="{035D1FFD-CFB4-4E3B-A1F5-512D95663CFA}"/>
              </a:ext>
            </a:extLst>
          </p:cNvPr>
          <p:cNvSpPr txBox="1"/>
          <p:nvPr/>
        </p:nvSpPr>
        <p:spPr>
          <a:xfrm>
            <a:off x="9541933" y="3974674"/>
            <a:ext cx="2294466" cy="369332"/>
          </a:xfrm>
          <a:prstGeom prst="rect">
            <a:avLst/>
          </a:prstGeom>
          <a:noFill/>
        </p:spPr>
        <p:txBody>
          <a:bodyPr wrap="square" rtlCol="0">
            <a:spAutoFit/>
          </a:bodyPr>
          <a:lstStyle/>
          <a:p>
            <a:pPr algn="ctr"/>
            <a:r>
              <a:rPr lang="fr-FR" dirty="0"/>
              <a:t>B-</a:t>
            </a:r>
            <a:r>
              <a:rPr lang="fr-FR" dirty="0" err="1"/>
              <a:t>spline</a:t>
            </a:r>
            <a:r>
              <a:rPr lang="fr-FR" dirty="0"/>
              <a:t> basis </a:t>
            </a:r>
            <a:r>
              <a:rPr lang="fr-FR" dirty="0" err="1"/>
              <a:t>order</a:t>
            </a:r>
            <a:r>
              <a:rPr lang="fr-FR" dirty="0"/>
              <a:t> 3</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03A122CD-529F-4056-A108-40BD12182B57}"/>
                  </a:ext>
                </a:extLst>
              </p:cNvPr>
              <p:cNvSpPr txBox="1"/>
              <p:nvPr/>
            </p:nvSpPr>
            <p:spPr>
              <a:xfrm>
                <a:off x="327941" y="4159340"/>
                <a:ext cx="8034696" cy="2254913"/>
              </a:xfrm>
              <a:prstGeom prst="rect">
                <a:avLst/>
              </a:prstGeom>
              <a:noFill/>
            </p:spPr>
            <p:txBody>
              <a:bodyPr wrap="square" rtlCol="0">
                <a:spAutoFit/>
              </a:bodyPr>
              <a:lstStyle/>
              <a:p>
                <a:pPr marL="285750" indent="-285750">
                  <a:buFont typeface="Arial" panose="020B0604020202020204" pitchFamily="34" charset="0"/>
                  <a:buChar char="•"/>
                </a:pPr>
                <a:r>
                  <a:rPr lang="fr-FR" sz="1600" dirty="0"/>
                  <a:t>If </a:t>
                </a:r>
                <a:r>
                  <a:rPr lang="fr-FR" sz="1600" dirty="0" err="1"/>
                  <a:t>we</a:t>
                </a:r>
                <a:r>
                  <a:rPr lang="fr-FR" sz="1600" dirty="0"/>
                  <a:t> note </a:t>
                </a:r>
                <a14:m>
                  <m:oMath xmlns:m="http://schemas.openxmlformats.org/officeDocument/2006/math">
                    <m:r>
                      <a:rPr lang="fr-FR" sz="1600" b="0" i="1" smtClean="0">
                        <a:latin typeface="Cambria Math" panose="02040503050406030204" pitchFamily="18" charset="0"/>
                      </a:rPr>
                      <m:t>𝑊</m:t>
                    </m:r>
                  </m:oMath>
                </a14:m>
                <a:r>
                  <a:rPr lang="fr-FR" sz="1600" dirty="0"/>
                  <a:t> the </a:t>
                </a:r>
                <a14:m>
                  <m:oMath xmlns:m="http://schemas.openxmlformats.org/officeDocument/2006/math">
                    <m:r>
                      <a:rPr lang="fr-FR" sz="1600" b="0" i="1" smtClean="0">
                        <a:latin typeface="Cambria Math" panose="02040503050406030204" pitchFamily="18" charset="0"/>
                      </a:rPr>
                      <m:t>𝐾</m:t>
                    </m:r>
                    <m:r>
                      <a:rPr lang="fr-FR" sz="1600" b="0" i="1" smtClean="0">
                        <a:latin typeface="Cambria Math" panose="02040503050406030204" pitchFamily="18" charset="0"/>
                      </a:rPr>
                      <m:t>∗</m:t>
                    </m:r>
                    <m:r>
                      <a:rPr lang="fr-FR" sz="1600" b="0" i="1" smtClean="0">
                        <a:latin typeface="Cambria Math" panose="02040503050406030204" pitchFamily="18" charset="0"/>
                      </a:rPr>
                      <m:t>𝐾</m:t>
                    </m:r>
                  </m:oMath>
                </a14:m>
                <a:r>
                  <a:rPr lang="fr-FR" sz="1600" dirty="0"/>
                  <a:t> matrix </a:t>
                </a:r>
                <a:r>
                  <a:rPr lang="fr-FR" sz="1600" dirty="0" err="1"/>
                  <a:t>defined</a:t>
                </a:r>
                <a:r>
                  <a:rPr lang="fr-FR" sz="1600" dirty="0"/>
                  <a:t> by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𝑤</m:t>
                        </m:r>
                      </m:e>
                      <m:sub>
                        <m:r>
                          <a:rPr lang="fr-FR" sz="1600" b="0" i="1" smtClean="0">
                            <a:latin typeface="Cambria Math" panose="02040503050406030204" pitchFamily="18" charset="0"/>
                          </a:rPr>
                          <m:t>𝑖𝑗</m:t>
                        </m:r>
                      </m:sub>
                    </m:sSub>
                    <m:r>
                      <a:rPr lang="fr-FR" sz="1600" b="0" i="1" smtClean="0">
                        <a:latin typeface="Cambria Math" panose="02040503050406030204" pitchFamily="18" charset="0"/>
                      </a:rPr>
                      <m:t>=</m:t>
                    </m:r>
                    <m:nary>
                      <m:naryPr>
                        <m:ctrlPr>
                          <a:rPr lang="fr-FR" sz="1600" b="0" i="1" smtClean="0">
                            <a:latin typeface="Cambria Math" panose="02040503050406030204" pitchFamily="18" charset="0"/>
                          </a:rPr>
                        </m:ctrlPr>
                      </m:naryPr>
                      <m:sub>
                        <m:r>
                          <m:rPr>
                            <m:brk m:alnAt="23"/>
                          </m:rPr>
                          <a:rPr lang="fr-FR" sz="1600" b="0" i="1" smtClean="0">
                            <a:latin typeface="Cambria Math" panose="02040503050406030204" pitchFamily="18" charset="0"/>
                          </a:rPr>
                          <m:t>𝑎</m:t>
                        </m:r>
                      </m:sub>
                      <m:sup>
                        <m:r>
                          <a:rPr lang="fr-FR" sz="1600" b="0" i="1" smtClean="0">
                            <a:latin typeface="Cambria Math" panose="02040503050406030204" pitchFamily="18" charset="0"/>
                          </a:rPr>
                          <m:t>𝑏</m:t>
                        </m:r>
                      </m:sup>
                      <m:e>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𝜓</m:t>
                            </m:r>
                          </m:e>
                          <m:sub>
                            <m:r>
                              <a:rPr lang="fr-FR" sz="1600" b="0" i="1" smtClean="0">
                                <a:latin typeface="Cambria Math" panose="02040503050406030204" pitchFamily="18" charset="0"/>
                                <a:ea typeface="Cambria Math" panose="02040503050406030204" pitchFamily="18" charset="0"/>
                              </a:rPr>
                              <m:t>𝑖</m:t>
                            </m:r>
                          </m:sub>
                        </m:sSub>
                        <m:d>
                          <m:dPr>
                            <m:ctrlPr>
                              <a:rPr lang="fr-FR" sz="1600" i="1">
                                <a:latin typeface="Cambria Math" panose="02040503050406030204" pitchFamily="18" charset="0"/>
                              </a:rPr>
                            </m:ctrlPr>
                          </m:dPr>
                          <m:e>
                            <m:r>
                              <a:rPr lang="fr-FR" sz="1600" i="1">
                                <a:latin typeface="Cambria Math" panose="02040503050406030204" pitchFamily="18" charset="0"/>
                              </a:rPr>
                              <m:t>𝑡</m:t>
                            </m:r>
                          </m:e>
                        </m:d>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𝜓</m:t>
                            </m:r>
                          </m:e>
                          <m:sub>
                            <m:r>
                              <a:rPr lang="fr-FR" sz="1600" b="0" i="1" smtClean="0">
                                <a:latin typeface="Cambria Math" panose="02040503050406030204" pitchFamily="18" charset="0"/>
                                <a:ea typeface="Cambria Math" panose="02040503050406030204" pitchFamily="18" charset="0"/>
                              </a:rPr>
                              <m:t>𝑗</m:t>
                            </m:r>
                          </m:sub>
                        </m:sSub>
                        <m:d>
                          <m:dPr>
                            <m:ctrlPr>
                              <a:rPr lang="fr-FR" sz="1600" i="1">
                                <a:latin typeface="Cambria Math" panose="02040503050406030204" pitchFamily="18" charset="0"/>
                              </a:rPr>
                            </m:ctrlPr>
                          </m:dPr>
                          <m:e>
                            <m:r>
                              <a:rPr lang="fr-FR" sz="1600" i="1">
                                <a:latin typeface="Cambria Math" panose="02040503050406030204" pitchFamily="18" charset="0"/>
                              </a:rPr>
                              <m:t>𝑡</m:t>
                            </m:r>
                          </m:e>
                        </m:d>
                        <m:r>
                          <a:rPr lang="fr-FR" sz="1600" b="0" i="1" smtClean="0">
                            <a:latin typeface="Cambria Math" panose="02040503050406030204" pitchFamily="18" charset="0"/>
                          </a:rPr>
                          <m:t>𝑑𝑡</m:t>
                        </m:r>
                      </m:e>
                    </m:nary>
                  </m:oMath>
                </a14:m>
                <a:r>
                  <a:rPr lang="fr-FR" sz="1600" dirty="0"/>
                  <a:t>, and C the </a:t>
                </a:r>
                <a14:m>
                  <m:oMath xmlns:m="http://schemas.openxmlformats.org/officeDocument/2006/math">
                    <m:r>
                      <a:rPr lang="fr-FR" sz="1600" b="0" i="1" smtClean="0">
                        <a:latin typeface="Cambria Math" panose="02040503050406030204" pitchFamily="18" charset="0"/>
                      </a:rPr>
                      <m:t>𝑛</m:t>
                    </m:r>
                    <m:r>
                      <a:rPr lang="fr-FR" sz="1600" b="0" i="1" smtClean="0">
                        <a:latin typeface="Cambria Math" panose="02040503050406030204" pitchFamily="18" charset="0"/>
                      </a:rPr>
                      <m:t>∗</m:t>
                    </m:r>
                    <m:r>
                      <a:rPr lang="fr-FR" sz="1600" b="0" i="1" smtClean="0">
                        <a:latin typeface="Cambria Math" panose="02040503050406030204" pitchFamily="18" charset="0"/>
                      </a:rPr>
                      <m:t>𝐾</m:t>
                    </m:r>
                  </m:oMath>
                </a14:m>
                <a:r>
                  <a:rPr lang="fr-FR" sz="1600" dirty="0"/>
                  <a:t> matrix </a:t>
                </a:r>
                <a:r>
                  <a:rPr lang="fr-FR" sz="1600" dirty="0" err="1"/>
                  <a:t>where</a:t>
                </a:r>
                <a:r>
                  <a:rPr lang="fr-FR" sz="1600" dirty="0"/>
                  <a:t> </a:t>
                </a:r>
                <a:r>
                  <a:rPr lang="fr-FR" sz="1600" dirty="0" err="1"/>
                  <a:t>each</a:t>
                </a:r>
                <a:r>
                  <a:rPr lang="fr-FR" sz="1600" dirty="0"/>
                  <a:t> </a:t>
                </a:r>
                <a:r>
                  <a:rPr lang="fr-FR" sz="1600" dirty="0" err="1"/>
                  <a:t>row</a:t>
                </a:r>
                <a:r>
                  <a:rPr lang="fr-FR" sz="1600" dirty="0"/>
                  <a:t> corresponds to coefficients </a:t>
                </a:r>
                <a14:m>
                  <m:oMath xmlns:m="http://schemas.openxmlformats.org/officeDocument/2006/math">
                    <m:acc>
                      <m:accPr>
                        <m:chr m:val="̂"/>
                        <m:ctrlPr>
                          <a:rPr lang="fr-FR" sz="1600" i="1">
                            <a:latin typeface="Cambria Math" panose="02040503050406030204" pitchFamily="18" charset="0"/>
                          </a:rPr>
                        </m:ctrlPr>
                      </m:accPr>
                      <m:e>
                        <m:sSub>
                          <m:sSubPr>
                            <m:ctrlPr>
                              <a:rPr lang="fr-FR" sz="1600" i="1">
                                <a:latin typeface="Cambria Math" panose="02040503050406030204" pitchFamily="18" charset="0"/>
                              </a:rPr>
                            </m:ctrlPr>
                          </m:sSubPr>
                          <m:e>
                            <m:r>
                              <a:rPr lang="fr-FR" sz="1600" i="1">
                                <a:latin typeface="Cambria Math" panose="02040503050406030204" pitchFamily="18" charset="0"/>
                              </a:rPr>
                              <m:t>𝑐</m:t>
                            </m:r>
                          </m:e>
                          <m:sub>
                            <m:r>
                              <a:rPr lang="fr-FR" sz="1600" i="1">
                                <a:latin typeface="Cambria Math" panose="02040503050406030204" pitchFamily="18" charset="0"/>
                              </a:rPr>
                              <m:t>𝑖</m:t>
                            </m:r>
                          </m:sub>
                        </m:sSub>
                      </m:e>
                    </m:acc>
                  </m:oMath>
                </a14:m>
                <a:r>
                  <a:rPr lang="fr-FR" sz="1600" dirty="0"/>
                  <a:t>. </a:t>
                </a:r>
                <a:r>
                  <a:rPr lang="fr-FR" sz="1600" dirty="0" err="1"/>
                  <a:t>We</a:t>
                </a:r>
                <a:r>
                  <a:rPr lang="fr-FR" sz="1600" dirty="0"/>
                  <a:t> note the </a:t>
                </a:r>
                <a:r>
                  <a:rPr lang="fr-FR" sz="1600" dirty="0" err="1"/>
                  <a:t>eigenfunction</a:t>
                </a:r>
                <a:r>
                  <a:rPr lang="fr-FR" sz="1600" dirty="0"/>
                  <a:t> </a:t>
                </a:r>
                <a14:m>
                  <m:oMath xmlns:m="http://schemas.openxmlformats.org/officeDocument/2006/math">
                    <m:r>
                      <a:rPr lang="fr-FR" sz="1600" i="1" smtClean="0">
                        <a:latin typeface="Cambria Math" panose="02040503050406030204" pitchFamily="18" charset="0"/>
                        <a:ea typeface="Cambria Math" panose="02040503050406030204" pitchFamily="18" charset="0"/>
                      </a:rPr>
                      <m:t>𝜉</m:t>
                    </m:r>
                  </m:oMath>
                </a14:m>
                <a:r>
                  <a:rPr lang="fr-FR" sz="1600" dirty="0"/>
                  <a:t> by </a:t>
                </a:r>
                <a14:m>
                  <m:oMath xmlns:m="http://schemas.openxmlformats.org/officeDocument/2006/math">
                    <m:r>
                      <a:rPr lang="fr-FR" sz="1600" i="1">
                        <a:latin typeface="Cambria Math" panose="02040503050406030204" pitchFamily="18" charset="0"/>
                        <a:ea typeface="Cambria Math" panose="02040503050406030204" pitchFamily="18" charset="0"/>
                      </a:rPr>
                      <m:t>𝜉</m:t>
                    </m:r>
                    <m:d>
                      <m:dPr>
                        <m:ctrlPr>
                          <a:rPr lang="fr-FR" sz="1600" b="0" i="1" smtClean="0">
                            <a:latin typeface="Cambria Math" panose="02040503050406030204" pitchFamily="18" charset="0"/>
                            <a:ea typeface="Cambria Math" panose="02040503050406030204" pitchFamily="18" charset="0"/>
                          </a:rPr>
                        </m:ctrlPr>
                      </m:dPr>
                      <m:e>
                        <m:r>
                          <m:rPr>
                            <m:sty m:val="p"/>
                          </m:rPr>
                          <a:rPr lang="fr-FR" sz="1600" b="0" i="0" smtClean="0">
                            <a:latin typeface="Cambria Math" panose="02040503050406030204" pitchFamily="18" charset="0"/>
                            <a:ea typeface="Cambria Math" panose="02040503050406030204" pitchFamily="18" charset="0"/>
                          </a:rPr>
                          <m:t>t</m:t>
                        </m:r>
                      </m:e>
                    </m:d>
                    <m:r>
                      <a:rPr lang="fr-FR" sz="1600" b="0" i="0" smtClean="0">
                        <a:latin typeface="Cambria Math" panose="02040503050406030204" pitchFamily="18" charset="0"/>
                        <a:ea typeface="Cambria Math" panose="02040503050406030204" pitchFamily="18" charset="0"/>
                      </a:rPr>
                      <m:t>= </m:t>
                    </m:r>
                    <m:nary>
                      <m:naryPr>
                        <m:chr m:val="∑"/>
                        <m:ctrlPr>
                          <a:rPr lang="fr-FR" sz="1600" b="0" i="1" smtClean="0">
                            <a:latin typeface="Cambria Math" panose="02040503050406030204" pitchFamily="18" charset="0"/>
                            <a:ea typeface="Cambria Math" panose="02040503050406030204" pitchFamily="18" charset="0"/>
                          </a:rPr>
                        </m:ctrlPr>
                      </m:naryPr>
                      <m:sub>
                        <m:r>
                          <m:rPr>
                            <m:brk m:alnAt="23"/>
                          </m:rPr>
                          <a:rPr lang="fr-FR" sz="1600" b="0" i="1" smtClean="0">
                            <a:latin typeface="Cambria Math" panose="02040503050406030204" pitchFamily="18" charset="0"/>
                            <a:ea typeface="Cambria Math" panose="02040503050406030204" pitchFamily="18" charset="0"/>
                          </a:rPr>
                          <m:t>𝑘</m:t>
                        </m:r>
                        <m:r>
                          <a:rPr lang="fr-FR" sz="1600" b="0" i="1" smtClean="0">
                            <a:latin typeface="Cambria Math" panose="02040503050406030204" pitchFamily="18" charset="0"/>
                            <a:ea typeface="Cambria Math" panose="02040503050406030204" pitchFamily="18" charset="0"/>
                          </a:rPr>
                          <m:t>=1</m:t>
                        </m:r>
                      </m:sub>
                      <m:sup>
                        <m:r>
                          <a:rPr lang="fr-FR" sz="1600" b="0" i="1" smtClean="0">
                            <a:latin typeface="Cambria Math" panose="02040503050406030204" pitchFamily="18" charset="0"/>
                            <a:ea typeface="Cambria Math" panose="02040503050406030204" pitchFamily="18" charset="0"/>
                          </a:rPr>
                          <m:t>𝐾</m:t>
                        </m:r>
                      </m:sup>
                      <m:e>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𝑏</m:t>
                            </m:r>
                          </m:e>
                          <m:sub>
                            <m:r>
                              <a:rPr lang="fr-FR" sz="1600" b="0" i="1" smtClean="0">
                                <a:latin typeface="Cambria Math" panose="02040503050406030204" pitchFamily="18" charset="0"/>
                                <a:ea typeface="Cambria Math" panose="02040503050406030204" pitchFamily="18" charset="0"/>
                              </a:rPr>
                              <m:t>𝑘</m:t>
                            </m:r>
                          </m:sub>
                        </m:sSub>
                        <m:sSub>
                          <m:sSubPr>
                            <m:ctrlPr>
                              <a:rPr lang="fr-FR" sz="1600" i="1">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𝜓</m:t>
                            </m:r>
                          </m:e>
                          <m:sub>
                            <m:r>
                              <a:rPr lang="fr-FR" sz="1600" b="0" i="1" smtClean="0">
                                <a:latin typeface="Cambria Math" panose="02040503050406030204" pitchFamily="18" charset="0"/>
                                <a:ea typeface="Cambria Math" panose="02040503050406030204" pitchFamily="18" charset="0"/>
                              </a:rPr>
                              <m:t>𝑘</m:t>
                            </m:r>
                          </m:sub>
                        </m:sSub>
                        <m:d>
                          <m:dPr>
                            <m:ctrlPr>
                              <a:rPr lang="fr-FR" sz="1600" i="1">
                                <a:latin typeface="Cambria Math" panose="02040503050406030204" pitchFamily="18" charset="0"/>
                              </a:rPr>
                            </m:ctrlPr>
                          </m:dPr>
                          <m:e>
                            <m:r>
                              <a:rPr lang="fr-FR" sz="1600" i="1">
                                <a:latin typeface="Cambria Math" panose="02040503050406030204" pitchFamily="18" charset="0"/>
                              </a:rPr>
                              <m:t>𝑡</m:t>
                            </m:r>
                          </m:e>
                        </m:d>
                      </m:e>
                    </m:nary>
                    <m:r>
                      <a:rPr lang="fr-FR" sz="1600" b="0" i="1" smtClean="0">
                        <a:latin typeface="Cambria Math" panose="02040503050406030204" pitchFamily="18" charset="0"/>
                        <a:ea typeface="Cambria Math" panose="02040503050406030204" pitchFamily="18" charset="0"/>
                      </a:rPr>
                      <m:t>=</m:t>
                    </m:r>
                    <m:sSup>
                      <m:sSupPr>
                        <m:ctrlPr>
                          <a:rPr lang="fr-FR" sz="1600" b="0" i="1" smtClean="0">
                            <a:latin typeface="Cambria Math" panose="02040503050406030204" pitchFamily="18" charset="0"/>
                            <a:ea typeface="Cambria Math" panose="02040503050406030204" pitchFamily="18" charset="0"/>
                          </a:rPr>
                        </m:ctrlPr>
                      </m:sSupPr>
                      <m:e>
                        <m:r>
                          <a:rPr lang="fr-FR" sz="1600" i="1">
                            <a:latin typeface="Cambria Math" panose="02040503050406030204" pitchFamily="18" charset="0"/>
                            <a:ea typeface="Cambria Math" panose="02040503050406030204" pitchFamily="18" charset="0"/>
                          </a:rPr>
                          <m:t>𝜓</m:t>
                        </m:r>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𝑡</m:t>
                        </m:r>
                        <m:r>
                          <a:rPr lang="fr-FR" sz="1600" b="0" i="1" smtClean="0">
                            <a:latin typeface="Cambria Math" panose="02040503050406030204" pitchFamily="18" charset="0"/>
                            <a:ea typeface="Cambria Math" panose="02040503050406030204" pitchFamily="18" charset="0"/>
                          </a:rPr>
                          <m:t>)</m:t>
                        </m:r>
                      </m:e>
                      <m:sup>
                        <m:r>
                          <a:rPr lang="fr-FR" sz="1600" b="0" i="1" smtClean="0">
                            <a:latin typeface="Cambria Math" panose="02040503050406030204" pitchFamily="18" charset="0"/>
                            <a:ea typeface="Cambria Math" panose="02040503050406030204" pitchFamily="18" charset="0"/>
                          </a:rPr>
                          <m:t>𝑇</m:t>
                        </m:r>
                      </m:sup>
                    </m:sSup>
                    <m:r>
                      <a:rPr lang="fr-FR" sz="1600" b="0" i="1" smtClean="0">
                        <a:latin typeface="Cambria Math" panose="02040503050406030204" pitchFamily="18" charset="0"/>
                        <a:ea typeface="Cambria Math" panose="02040503050406030204" pitchFamily="18" charset="0"/>
                      </a:rPr>
                      <m:t>𝑏</m:t>
                    </m:r>
                    <m:r>
                      <a:rPr lang="fr-FR" sz="1600" b="0" i="0" smtClean="0">
                        <a:latin typeface="Cambria Math" panose="02040503050406030204" pitchFamily="18" charset="0"/>
                        <a:ea typeface="Cambria Math" panose="02040503050406030204" pitchFamily="18" charset="0"/>
                      </a:rPr>
                      <m:t>.</m:t>
                    </m:r>
                  </m:oMath>
                </a14:m>
                <a:r>
                  <a:rPr lang="fr-FR" sz="1600" baseline="30000" dirty="0"/>
                  <a:t>  </a:t>
                </a:r>
                <a:r>
                  <a:rPr lang="fr-FR" sz="1600" dirty="0" err="1"/>
                  <a:t>Then</a:t>
                </a:r>
                <a:r>
                  <a:rPr lang="fr-FR" sz="1600" dirty="0"/>
                  <a:t> to </a:t>
                </a:r>
                <a:r>
                  <a:rPr lang="fr-FR" sz="1600" dirty="0" err="1"/>
                  <a:t>find</a:t>
                </a:r>
                <a:r>
                  <a:rPr lang="fr-FR" sz="1600" dirty="0"/>
                  <a:t> </a:t>
                </a:r>
                <a14:m>
                  <m:oMath xmlns:m="http://schemas.openxmlformats.org/officeDocument/2006/math">
                    <m:r>
                      <a:rPr lang="fr-FR" sz="1600" i="1">
                        <a:latin typeface="Cambria Math" panose="02040503050406030204" pitchFamily="18" charset="0"/>
                        <a:ea typeface="Cambria Math" panose="02040503050406030204" pitchFamily="18" charset="0"/>
                      </a:rPr>
                      <m:t>𝜉</m:t>
                    </m:r>
                  </m:oMath>
                </a14:m>
                <a:r>
                  <a:rPr lang="fr-FR" sz="1600" dirty="0"/>
                  <a:t> we </a:t>
                </a:r>
                <a:r>
                  <a:rPr lang="fr-FR" sz="1600" dirty="0" err="1"/>
                  <a:t>define</a:t>
                </a:r>
                <a:r>
                  <a:rPr lang="fr-FR" sz="1600" dirty="0"/>
                  <a:t> </a:t>
                </a:r>
                <a14:m>
                  <m:oMath xmlns:m="http://schemas.openxmlformats.org/officeDocument/2006/math">
                    <m:r>
                      <a:rPr lang="fr-FR" sz="1600" i="1">
                        <a:latin typeface="Cambria Math" panose="02040503050406030204" pitchFamily="18" charset="0"/>
                      </a:rPr>
                      <m:t>𝑢</m:t>
                    </m:r>
                    <m:r>
                      <a:rPr lang="fr-FR" sz="1600" i="1">
                        <a:latin typeface="Cambria Math" panose="02040503050406030204" pitchFamily="18" charset="0"/>
                      </a:rPr>
                      <m:t>=</m:t>
                    </m:r>
                    <m:sSup>
                      <m:sSupPr>
                        <m:ctrlPr>
                          <a:rPr lang="fr-FR" sz="1600" i="1">
                            <a:latin typeface="Cambria Math" panose="02040503050406030204" pitchFamily="18" charset="0"/>
                          </a:rPr>
                        </m:ctrlPr>
                      </m:sSupPr>
                      <m:e>
                        <m:r>
                          <a:rPr lang="fr-FR" sz="1600" i="1">
                            <a:latin typeface="Cambria Math" panose="02040503050406030204" pitchFamily="18" charset="0"/>
                          </a:rPr>
                          <m:t>𝑊</m:t>
                        </m:r>
                      </m:e>
                      <m:sup>
                        <m:r>
                          <a:rPr lang="fr-FR" sz="1600" i="1">
                            <a:latin typeface="Cambria Math" panose="02040503050406030204" pitchFamily="18" charset="0"/>
                          </a:rPr>
                          <m:t>1/2</m:t>
                        </m:r>
                      </m:sup>
                    </m:sSup>
                    <m:r>
                      <a:rPr lang="fr-FR" sz="1600" i="1">
                        <a:latin typeface="Cambria Math" panose="02040503050406030204" pitchFamily="18" charset="0"/>
                      </a:rPr>
                      <m:t>𝑏</m:t>
                    </m:r>
                  </m:oMath>
                </a14:m>
                <a:r>
                  <a:rPr lang="fr-FR" sz="1600" dirty="0"/>
                  <a:t>, </a:t>
                </a:r>
                <a:r>
                  <a:rPr lang="fr-FR" sz="1600" dirty="0" err="1"/>
                  <a:t>we</a:t>
                </a:r>
                <a:r>
                  <a:rPr lang="fr-FR" sz="1600" dirty="0"/>
                  <a:t> have to solve </a:t>
                </a:r>
                <a:r>
                  <a:rPr lang="fr-FR" sz="1600" dirty="0" err="1"/>
                  <a:t>this</a:t>
                </a:r>
                <a:r>
                  <a:rPr lang="fr-FR" sz="1600" dirty="0"/>
                  <a:t> </a:t>
                </a:r>
                <a:r>
                  <a:rPr lang="fr-FR" sz="1600" dirty="0" err="1"/>
                  <a:t>eigenequatuion</a:t>
                </a:r>
                <a:r>
                  <a:rPr lang="fr-FR" sz="1600" dirty="0"/>
                  <a:t> </a:t>
                </a:r>
                <a:r>
                  <a:rPr lang="fr-FR" sz="1600" dirty="0" err="1"/>
                  <a:t>problem</a:t>
                </a:r>
                <a:br>
                  <a:rPr lang="fr-FR" sz="1600" dirty="0"/>
                </a:br>
                <a:br>
                  <a:rPr lang="fr-FR" sz="1600" b="0" dirty="0">
                    <a:ea typeface="Cambria Math" panose="02040503050406030204" pitchFamily="18" charset="0"/>
                  </a:rPr>
                </a:br>
                <a:endParaRPr lang="fr-FR" sz="1600" b="0" dirty="0">
                  <a:ea typeface="Cambria Math" panose="02040503050406030204" pitchFamily="18" charset="0"/>
                </a:endParaRPr>
              </a:p>
              <a:p>
                <a:pPr marL="285750" indent="-285750">
                  <a:buFont typeface="Arial" panose="020B0604020202020204" pitchFamily="34" charset="0"/>
                  <a:buChar char="•"/>
                </a:pPr>
                <a:r>
                  <a:rPr lang="fr-FR" sz="1600" dirty="0" err="1">
                    <a:ea typeface="Cambria Math" panose="02040503050406030204" pitchFamily="18" charset="0"/>
                  </a:rPr>
                  <a:t>Then</a:t>
                </a:r>
                <a:r>
                  <a:rPr lang="fr-FR" sz="1600" dirty="0">
                    <a:ea typeface="Cambria Math" panose="02040503050406030204" pitchFamily="18" charset="0"/>
                  </a:rPr>
                  <a:t> to </a:t>
                </a:r>
                <a:r>
                  <a:rPr lang="fr-FR" sz="1600" dirty="0" err="1">
                    <a:ea typeface="Cambria Math" panose="02040503050406030204" pitchFamily="18" charset="0"/>
                  </a:rPr>
                  <a:t>find</a:t>
                </a:r>
                <a:r>
                  <a:rPr lang="fr-FR" sz="1600" dirty="0">
                    <a:ea typeface="Cambria Math" panose="02040503050406030204" pitchFamily="18" charset="0"/>
                  </a:rPr>
                  <a:t> principal </a:t>
                </a:r>
                <a:r>
                  <a:rPr lang="fr-FR" sz="1600" dirty="0" err="1">
                    <a:ea typeface="Cambria Math" panose="02040503050406030204" pitchFamily="18" charset="0"/>
                  </a:rPr>
                  <a:t>functional</a:t>
                </a:r>
                <a:r>
                  <a:rPr lang="fr-FR" sz="1600" dirty="0">
                    <a:ea typeface="Cambria Math" panose="02040503050406030204" pitchFamily="18" charset="0"/>
                  </a:rPr>
                  <a:t> scores </a:t>
                </a:r>
                <a14:m>
                  <m:oMath xmlns:m="http://schemas.openxmlformats.org/officeDocument/2006/math">
                    <m:sSub>
                      <m:sSubPr>
                        <m:ctrlPr>
                          <a:rPr lang="fr-FR" sz="160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𝑓</m:t>
                        </m:r>
                      </m:e>
                      <m:sub>
                        <m:r>
                          <a:rPr lang="fr-FR" sz="1600" b="0" i="1" smtClean="0">
                            <a:latin typeface="Cambria Math" panose="02040503050406030204" pitchFamily="18" charset="0"/>
                            <a:ea typeface="Cambria Math" panose="02040503050406030204" pitchFamily="18" charset="0"/>
                          </a:rPr>
                          <m:t>𝑖𝑗</m:t>
                        </m:r>
                      </m:sub>
                    </m:sSub>
                  </m:oMath>
                </a14:m>
                <a:r>
                  <a:rPr lang="fr-FR" sz="1600" b="0" dirty="0">
                    <a:ea typeface="Cambria Math" panose="02040503050406030204" pitchFamily="18" charset="0"/>
                  </a:rPr>
                  <a:t>, </a:t>
                </a:r>
                <a:r>
                  <a:rPr lang="fr-FR" sz="1600" b="0" dirty="0" err="1">
                    <a:ea typeface="Cambria Math" panose="02040503050406030204" pitchFamily="18" charset="0"/>
                  </a:rPr>
                  <a:t>we</a:t>
                </a:r>
                <a:r>
                  <a:rPr lang="fr-FR" sz="1600" b="0" dirty="0">
                    <a:ea typeface="Cambria Math" panose="02040503050406030204" pitchFamily="18" charset="0"/>
                  </a:rPr>
                  <a:t> observe </a:t>
                </a:r>
                <a:r>
                  <a:rPr lang="fr-FR" sz="1600" b="0" dirty="0" err="1">
                    <a:ea typeface="Cambria Math" panose="02040503050406030204" pitchFamily="18" charset="0"/>
                  </a:rPr>
                  <a:t>that</a:t>
                </a:r>
                <a:r>
                  <a:rPr lang="fr-FR" sz="1600" b="0" dirty="0">
                    <a:ea typeface="Cambria Math" panose="02040503050406030204" pitchFamily="18" charset="0"/>
                  </a:rPr>
                  <a:t> </a:t>
                </a:r>
                <a14:m>
                  <m:oMath xmlns:m="http://schemas.openxmlformats.org/officeDocument/2006/math">
                    <m:r>
                      <a:rPr lang="fr-FR" sz="1600" b="0" i="1" smtClean="0">
                        <a:latin typeface="Cambria Math" panose="02040503050406030204" pitchFamily="18" charset="0"/>
                        <a:ea typeface="Cambria Math" panose="02040503050406030204" pitchFamily="18" charset="0"/>
                      </a:rPr>
                      <m:t>𝑏</m:t>
                    </m:r>
                    <m:r>
                      <a:rPr lang="fr-FR" sz="1600" b="0" i="1" smtClean="0">
                        <a:latin typeface="Cambria Math" panose="02040503050406030204" pitchFamily="18" charset="0"/>
                        <a:ea typeface="Cambria Math" panose="02040503050406030204" pitchFamily="18" charset="0"/>
                      </a:rPr>
                      <m:t>= </m:t>
                    </m:r>
                    <m:sSup>
                      <m:sSupPr>
                        <m:ctrlPr>
                          <a:rPr lang="fr-FR" sz="1600" b="0" i="1" smtClean="0">
                            <a:latin typeface="Cambria Math" panose="02040503050406030204" pitchFamily="18" charset="0"/>
                            <a:ea typeface="Cambria Math" panose="02040503050406030204" pitchFamily="18" charset="0"/>
                          </a:rPr>
                        </m:ctrlPr>
                      </m:sSupPr>
                      <m:e>
                        <m:r>
                          <a:rPr lang="fr-FR" sz="1600" b="0" i="1" smtClean="0">
                            <a:latin typeface="Cambria Math" panose="02040503050406030204" pitchFamily="18" charset="0"/>
                            <a:ea typeface="Cambria Math" panose="02040503050406030204" pitchFamily="18" charset="0"/>
                          </a:rPr>
                          <m:t>𝑊</m:t>
                        </m:r>
                      </m:e>
                      <m:sup>
                        <m:r>
                          <a:rPr lang="fr-FR" sz="1600" b="0" i="1" smtClean="0">
                            <a:latin typeface="Cambria Math" panose="02040503050406030204" pitchFamily="18" charset="0"/>
                            <a:ea typeface="Cambria Math" panose="02040503050406030204" pitchFamily="18" charset="0"/>
                          </a:rPr>
                          <m:t>−</m:t>
                        </m:r>
                        <m:f>
                          <m:fPr>
                            <m:ctrlPr>
                              <a:rPr lang="fr-FR" sz="1600" b="0" i="1" smtClean="0">
                                <a:latin typeface="Cambria Math" panose="02040503050406030204" pitchFamily="18" charset="0"/>
                                <a:ea typeface="Cambria Math" panose="02040503050406030204" pitchFamily="18" charset="0"/>
                              </a:rPr>
                            </m:ctrlPr>
                          </m:fPr>
                          <m:num>
                            <m:r>
                              <a:rPr lang="fr-FR" sz="1600" b="0" i="1" smtClean="0">
                                <a:latin typeface="Cambria Math" panose="02040503050406030204" pitchFamily="18" charset="0"/>
                                <a:ea typeface="Cambria Math" panose="02040503050406030204" pitchFamily="18" charset="0"/>
                              </a:rPr>
                              <m:t>1</m:t>
                            </m:r>
                          </m:num>
                          <m:den>
                            <m:r>
                              <a:rPr lang="fr-FR" sz="1600" b="0" i="1" smtClean="0">
                                <a:latin typeface="Cambria Math" panose="02040503050406030204" pitchFamily="18" charset="0"/>
                                <a:ea typeface="Cambria Math" panose="02040503050406030204" pitchFamily="18" charset="0"/>
                              </a:rPr>
                              <m:t>2</m:t>
                            </m:r>
                          </m:den>
                        </m:f>
                      </m:sup>
                    </m:sSup>
                    <m:r>
                      <a:rPr lang="fr-FR" sz="1600" b="0" i="1" smtClean="0">
                        <a:latin typeface="Cambria Math" panose="02040503050406030204" pitchFamily="18" charset="0"/>
                        <a:ea typeface="Cambria Math" panose="02040503050406030204" pitchFamily="18" charset="0"/>
                      </a:rPr>
                      <m:t>𝑢</m:t>
                    </m:r>
                  </m:oMath>
                </a14:m>
                <a:r>
                  <a:rPr lang="fr-FR" sz="1600" b="0" dirty="0">
                    <a:ea typeface="Cambria Math" panose="02040503050406030204" pitchFamily="18" charset="0"/>
                  </a:rPr>
                  <a:t>, and </a:t>
                </a:r>
                <a:r>
                  <a:rPr lang="fr-FR" sz="1600" b="0" dirty="0" err="1">
                    <a:ea typeface="Cambria Math" panose="02040503050406030204" pitchFamily="18" charset="0"/>
                  </a:rPr>
                  <a:t>we</a:t>
                </a:r>
                <a:r>
                  <a:rPr lang="fr-FR" sz="1600" b="0" dirty="0">
                    <a:ea typeface="Cambria Math" panose="02040503050406030204" pitchFamily="18" charset="0"/>
                  </a:rPr>
                  <a:t> </a:t>
                </a:r>
                <a:r>
                  <a:rPr lang="fr-FR" sz="1600" b="0" dirty="0" err="1">
                    <a:ea typeface="Cambria Math" panose="02040503050406030204" pitchFamily="18" charset="0"/>
                  </a:rPr>
                  <a:t>calculate</a:t>
                </a:r>
                <a:endParaRPr lang="fr-FR" sz="1600" b="0" dirty="0">
                  <a:ea typeface="Cambria Math" panose="02040503050406030204" pitchFamily="18" charset="0"/>
                </a:endParaRPr>
              </a:p>
              <a:p>
                <a:endParaRPr lang="fr-FR" sz="1600" b="0" dirty="0">
                  <a:ea typeface="Cambria Math" panose="02040503050406030204" pitchFamily="18" charset="0"/>
                </a:endParaRPr>
              </a:p>
            </p:txBody>
          </p:sp>
        </mc:Choice>
        <mc:Fallback xmlns="">
          <p:sp>
            <p:nvSpPr>
              <p:cNvPr id="3" name="ZoneTexte 2">
                <a:extLst>
                  <a:ext uri="{FF2B5EF4-FFF2-40B4-BE49-F238E27FC236}">
                    <a16:creationId xmlns:a16="http://schemas.microsoft.com/office/drawing/2014/main" id="{03A122CD-529F-4056-A108-40BD12182B57}"/>
                  </a:ext>
                </a:extLst>
              </p:cNvPr>
              <p:cNvSpPr txBox="1">
                <a:spLocks noRot="1" noChangeAspect="1" noMove="1" noResize="1" noEditPoints="1" noAdjustHandles="1" noChangeArrowheads="1" noChangeShapeType="1" noTextEdit="1"/>
              </p:cNvSpPr>
              <p:nvPr/>
            </p:nvSpPr>
            <p:spPr>
              <a:xfrm>
                <a:off x="327941" y="4159340"/>
                <a:ext cx="8034696" cy="2254913"/>
              </a:xfrm>
              <a:prstGeom prst="rect">
                <a:avLst/>
              </a:prstGeom>
              <a:blipFill>
                <a:blip r:embed="rId5"/>
                <a:stretch>
                  <a:fillRect l="-303" t="-18649"/>
                </a:stretch>
              </a:blipFill>
            </p:spPr>
            <p:txBody>
              <a:bodyPr/>
              <a:lstStyle/>
              <a:p>
                <a:r>
                  <a:rPr lang="fr-FR">
                    <a:noFill/>
                  </a:rPr>
                  <a:t> </a:t>
                </a:r>
              </a:p>
            </p:txBody>
          </p:sp>
        </mc:Fallback>
      </mc:AlternateContent>
      <p:sp>
        <p:nvSpPr>
          <p:cNvPr id="9" name="Rectangle 8">
            <a:extLst>
              <a:ext uri="{FF2B5EF4-FFF2-40B4-BE49-F238E27FC236}">
                <a16:creationId xmlns:a16="http://schemas.microsoft.com/office/drawing/2014/main" id="{C1C4AF19-5806-4214-B993-B4E29285F0A0}"/>
              </a:ext>
            </a:extLst>
          </p:cNvPr>
          <p:cNvSpPr/>
          <p:nvPr/>
        </p:nvSpPr>
        <p:spPr>
          <a:xfrm>
            <a:off x="2964581" y="5193722"/>
            <a:ext cx="2346539" cy="5103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AC7C5D50-52D7-44B8-A038-34D75409EA53}"/>
                  </a:ext>
                </a:extLst>
              </p:cNvPr>
              <p:cNvSpPr txBox="1"/>
              <p:nvPr/>
            </p:nvSpPr>
            <p:spPr>
              <a:xfrm>
                <a:off x="2964580" y="5149102"/>
                <a:ext cx="2346540" cy="5549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fr-FR" sz="1600" i="1" smtClean="0">
                              <a:latin typeface="Cambria Math" panose="02040503050406030204" pitchFamily="18" charset="0"/>
                            </a:rPr>
                          </m:ctrlPr>
                        </m:fPr>
                        <m:num>
                          <m:r>
                            <a:rPr lang="fr-FR" sz="1600" b="0" i="1" smtClean="0">
                              <a:latin typeface="Cambria Math" panose="02040503050406030204" pitchFamily="18" charset="0"/>
                            </a:rPr>
                            <m:t>1</m:t>
                          </m:r>
                        </m:num>
                        <m:den>
                          <m:r>
                            <a:rPr lang="fr-FR" sz="1600" b="0" i="1" smtClean="0">
                              <a:latin typeface="Cambria Math" panose="02040503050406030204" pitchFamily="18" charset="0"/>
                            </a:rPr>
                            <m:t>𝑛</m:t>
                          </m:r>
                        </m:den>
                      </m:f>
                      <m:sSup>
                        <m:sSupPr>
                          <m:ctrlPr>
                            <a:rPr lang="fr-FR" sz="1600" i="1" smtClean="0">
                              <a:latin typeface="Cambria Math" panose="02040503050406030204" pitchFamily="18" charset="0"/>
                            </a:rPr>
                          </m:ctrlPr>
                        </m:sSupPr>
                        <m:e>
                          <m:r>
                            <a:rPr lang="fr-FR" sz="1600" b="0" i="1" smtClean="0">
                              <a:latin typeface="Cambria Math" panose="02040503050406030204" pitchFamily="18" charset="0"/>
                            </a:rPr>
                            <m:t>𝑊</m:t>
                          </m:r>
                        </m:e>
                        <m:sup>
                          <m:r>
                            <a:rPr lang="fr-FR" sz="1600" b="0" i="1" smtClean="0">
                              <a:latin typeface="Cambria Math" panose="02040503050406030204" pitchFamily="18" charset="0"/>
                            </a:rPr>
                            <m:t>1/2</m:t>
                          </m:r>
                        </m:sup>
                      </m:sSup>
                      <m:sSup>
                        <m:sSupPr>
                          <m:ctrlPr>
                            <a:rPr lang="fr-FR" sz="1600" i="1" smtClean="0">
                              <a:latin typeface="Cambria Math" panose="02040503050406030204" pitchFamily="18" charset="0"/>
                            </a:rPr>
                          </m:ctrlPr>
                        </m:sSupPr>
                        <m:e>
                          <m:r>
                            <a:rPr lang="fr-FR" sz="1600" b="0" i="1" smtClean="0">
                              <a:latin typeface="Cambria Math" panose="02040503050406030204" pitchFamily="18" charset="0"/>
                            </a:rPr>
                            <m:t>𝐶</m:t>
                          </m:r>
                        </m:e>
                        <m:sup>
                          <m:r>
                            <a:rPr lang="fr-FR" sz="1600" b="0" i="1" smtClean="0">
                              <a:latin typeface="Cambria Math" panose="02040503050406030204" pitchFamily="18" charset="0"/>
                            </a:rPr>
                            <m:t>𝑇</m:t>
                          </m:r>
                        </m:sup>
                      </m:sSup>
                      <m:r>
                        <a:rPr lang="fr-FR" sz="1600" b="0" i="1" smtClean="0">
                          <a:latin typeface="Cambria Math" panose="02040503050406030204" pitchFamily="18" charset="0"/>
                        </a:rPr>
                        <m:t>𝐶</m:t>
                      </m:r>
                      <m:sSup>
                        <m:sSupPr>
                          <m:ctrlPr>
                            <a:rPr lang="fr-FR" sz="1600" i="1">
                              <a:latin typeface="Cambria Math" panose="02040503050406030204" pitchFamily="18" charset="0"/>
                            </a:rPr>
                          </m:ctrlPr>
                        </m:sSupPr>
                        <m:e>
                          <m:r>
                            <a:rPr lang="fr-FR" sz="1600" i="1">
                              <a:latin typeface="Cambria Math" panose="02040503050406030204" pitchFamily="18" charset="0"/>
                            </a:rPr>
                            <m:t>𝑊</m:t>
                          </m:r>
                        </m:e>
                        <m:sup>
                          <m:r>
                            <a:rPr lang="fr-FR" sz="1600" i="1">
                              <a:latin typeface="Cambria Math" panose="02040503050406030204" pitchFamily="18" charset="0"/>
                            </a:rPr>
                            <m:t>1/2</m:t>
                          </m:r>
                        </m:sup>
                      </m:sSup>
                      <m:r>
                        <a:rPr lang="fr-FR" sz="1600" b="0" i="1" smtClean="0">
                          <a:latin typeface="Cambria Math" panose="02040503050406030204" pitchFamily="18" charset="0"/>
                        </a:rPr>
                        <m:t>𝑢</m:t>
                      </m:r>
                      <m:r>
                        <a:rPr lang="fr-FR" sz="1600" b="0" i="1" smtClean="0">
                          <a:latin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𝜌</m:t>
                      </m:r>
                      <m:r>
                        <a:rPr lang="fr-FR" sz="1600" b="0" i="1" smtClean="0">
                          <a:latin typeface="Cambria Math" panose="02040503050406030204" pitchFamily="18" charset="0"/>
                          <a:ea typeface="Cambria Math" panose="02040503050406030204" pitchFamily="18" charset="0"/>
                        </a:rPr>
                        <m:t>𝑢</m:t>
                      </m:r>
                    </m:oMath>
                  </m:oMathPara>
                </a14:m>
                <a:endParaRPr lang="fr-FR" dirty="0"/>
              </a:p>
            </p:txBody>
          </p:sp>
        </mc:Choice>
        <mc:Fallback xmlns="">
          <p:sp>
            <p:nvSpPr>
              <p:cNvPr id="6" name="ZoneTexte 5">
                <a:extLst>
                  <a:ext uri="{FF2B5EF4-FFF2-40B4-BE49-F238E27FC236}">
                    <a16:creationId xmlns:a16="http://schemas.microsoft.com/office/drawing/2014/main" id="{AC7C5D50-52D7-44B8-A038-34D75409EA53}"/>
                  </a:ext>
                </a:extLst>
              </p:cNvPr>
              <p:cNvSpPr txBox="1">
                <a:spLocks noRot="1" noChangeAspect="1" noMove="1" noResize="1" noEditPoints="1" noAdjustHandles="1" noChangeArrowheads="1" noChangeShapeType="1" noTextEdit="1"/>
              </p:cNvSpPr>
              <p:nvPr/>
            </p:nvSpPr>
            <p:spPr>
              <a:xfrm>
                <a:off x="2964580" y="5149102"/>
                <a:ext cx="2346540" cy="554960"/>
              </a:xfrm>
              <a:prstGeom prst="rect">
                <a:avLst/>
              </a:prstGeom>
              <a:blipFill>
                <a:blip r:embed="rId6"/>
                <a:stretch>
                  <a:fillRect/>
                </a:stretch>
              </a:blipFill>
            </p:spPr>
            <p:txBody>
              <a:bodyPr/>
              <a:lstStyle/>
              <a:p>
                <a:r>
                  <a:rPr lang="fr-FR">
                    <a:noFill/>
                  </a:rPr>
                  <a:t> </a:t>
                </a:r>
              </a:p>
            </p:txBody>
          </p:sp>
        </mc:Fallback>
      </mc:AlternateContent>
      <p:sp>
        <p:nvSpPr>
          <p:cNvPr id="7" name="Rectangle 6">
            <a:extLst>
              <a:ext uri="{FF2B5EF4-FFF2-40B4-BE49-F238E27FC236}">
                <a16:creationId xmlns:a16="http://schemas.microsoft.com/office/drawing/2014/main" id="{1CE62FBC-27E7-487A-B119-26A0F1EAEA10}"/>
              </a:ext>
            </a:extLst>
          </p:cNvPr>
          <p:cNvSpPr/>
          <p:nvPr/>
        </p:nvSpPr>
        <p:spPr>
          <a:xfrm>
            <a:off x="2964580" y="6226039"/>
            <a:ext cx="2462553" cy="4656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552AA9F3-2FDF-4C3A-8C2A-E4DDA4F51936}"/>
                  </a:ext>
                </a:extLst>
              </p:cNvPr>
              <p:cNvSpPr txBox="1"/>
              <p:nvPr/>
            </p:nvSpPr>
            <p:spPr>
              <a:xfrm>
                <a:off x="3022586" y="6265229"/>
                <a:ext cx="2346540" cy="3872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𝑓</m:t>
                          </m:r>
                        </m:e>
                        <m:sub>
                          <m:r>
                            <a:rPr lang="fr-FR" sz="1600" b="0" i="1" smtClean="0">
                              <a:latin typeface="Cambria Math" panose="02040503050406030204" pitchFamily="18" charset="0"/>
                            </a:rPr>
                            <m:t>𝑖𝑗</m:t>
                          </m:r>
                        </m:sub>
                      </m:sSub>
                      <m:r>
                        <a:rPr lang="fr-FR" sz="1600" b="0" i="1" smtClean="0">
                          <a:latin typeface="Cambria Math" panose="02040503050406030204" pitchFamily="18" charset="0"/>
                        </a:rPr>
                        <m:t>=</m:t>
                      </m:r>
                      <m:sSup>
                        <m:sSupPr>
                          <m:ctrlPr>
                            <a:rPr lang="fr-FR" sz="1600" b="0" i="1" smtClean="0">
                              <a:latin typeface="Cambria Math" panose="02040503050406030204" pitchFamily="18" charset="0"/>
                            </a:rPr>
                          </m:ctrlPr>
                        </m:sSupPr>
                        <m:e>
                          <m:acc>
                            <m:accPr>
                              <m:chr m:val="̂"/>
                              <m:ctrlPr>
                                <a:rPr lang="fr-FR" sz="1600" b="0" i="1" smtClean="0">
                                  <a:latin typeface="Cambria Math" panose="02040503050406030204" pitchFamily="18" charset="0"/>
                                </a:rPr>
                              </m:ctrlPr>
                            </m:accPr>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𝑐</m:t>
                                  </m:r>
                                </m:e>
                                <m:sub>
                                  <m:r>
                                    <a:rPr lang="fr-FR" sz="1600" b="0" i="1" smtClean="0">
                                      <a:latin typeface="Cambria Math" panose="02040503050406030204" pitchFamily="18" charset="0"/>
                                    </a:rPr>
                                    <m:t>𝑖</m:t>
                                  </m:r>
                                </m:sub>
                              </m:sSub>
                            </m:e>
                          </m:acc>
                        </m:e>
                        <m:sup>
                          <m:r>
                            <a:rPr lang="fr-FR" sz="1600" b="0" i="1" smtClean="0">
                              <a:latin typeface="Cambria Math" panose="02040503050406030204" pitchFamily="18" charset="0"/>
                            </a:rPr>
                            <m:t>𝑇</m:t>
                          </m:r>
                        </m:sup>
                      </m:sSup>
                      <m:r>
                        <a:rPr lang="fr-FR" sz="1600" b="0" i="1" smtClean="0">
                          <a:latin typeface="Cambria Math" panose="02040503050406030204" pitchFamily="18" charset="0"/>
                        </a:rPr>
                        <m:t>𝑊</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𝑏</m:t>
                          </m:r>
                        </m:e>
                        <m:sub>
                          <m:r>
                            <a:rPr lang="fr-FR" sz="1600" b="0" i="1" smtClean="0">
                              <a:latin typeface="Cambria Math" panose="02040503050406030204" pitchFamily="18" charset="0"/>
                            </a:rPr>
                            <m:t>𝑗</m:t>
                          </m:r>
                        </m:sub>
                      </m:sSub>
                    </m:oMath>
                  </m:oMathPara>
                </a14:m>
                <a:endParaRPr lang="fr-FR" dirty="0"/>
              </a:p>
            </p:txBody>
          </p:sp>
        </mc:Choice>
        <mc:Fallback xmlns="">
          <p:sp>
            <p:nvSpPr>
              <p:cNvPr id="8" name="ZoneTexte 7">
                <a:extLst>
                  <a:ext uri="{FF2B5EF4-FFF2-40B4-BE49-F238E27FC236}">
                    <a16:creationId xmlns:a16="http://schemas.microsoft.com/office/drawing/2014/main" id="{552AA9F3-2FDF-4C3A-8C2A-E4DDA4F51936}"/>
                  </a:ext>
                </a:extLst>
              </p:cNvPr>
              <p:cNvSpPr txBox="1">
                <a:spLocks noRot="1" noChangeAspect="1" noMove="1" noResize="1" noEditPoints="1" noAdjustHandles="1" noChangeArrowheads="1" noChangeShapeType="1" noTextEdit="1"/>
              </p:cNvSpPr>
              <p:nvPr/>
            </p:nvSpPr>
            <p:spPr>
              <a:xfrm>
                <a:off x="3022586" y="6265229"/>
                <a:ext cx="2346540" cy="387286"/>
              </a:xfrm>
              <a:prstGeom prst="rect">
                <a:avLst/>
              </a:prstGeom>
              <a:blipFill>
                <a:blip r:embed="rId7"/>
                <a:stretch>
                  <a:fillRect b="-6349"/>
                </a:stretch>
              </a:blipFill>
            </p:spPr>
            <p:txBody>
              <a:bodyPr/>
              <a:lstStyle/>
              <a:p>
                <a:r>
                  <a:rPr lang="fr-FR">
                    <a:noFill/>
                  </a:rPr>
                  <a:t> </a:t>
                </a:r>
              </a:p>
            </p:txBody>
          </p:sp>
        </mc:Fallback>
      </mc:AlternateContent>
    </p:spTree>
    <p:extLst>
      <p:ext uri="{BB962C8B-B14F-4D97-AF65-F5344CB8AC3E}">
        <p14:creationId xmlns:p14="http://schemas.microsoft.com/office/powerpoint/2010/main" val="1038010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a:t>Clustering of variables </a:t>
            </a:r>
            <a:r>
              <a:rPr lang="fr-FR" sz="2800" dirty="0" err="1"/>
              <a:t>around</a:t>
            </a:r>
            <a:r>
              <a:rPr lang="fr-FR" sz="2800" dirty="0"/>
              <a:t> latent components</a:t>
            </a:r>
            <a:r>
              <a:rPr lang="fr-FR" sz="2800" baseline="30000" dirty="0"/>
              <a:t>2</a:t>
            </a:r>
          </a:p>
        </p:txBody>
      </p:sp>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E46AB018-0C81-43C0-9830-E35560594028}"/>
                  </a:ext>
                </a:extLst>
              </p:cNvPr>
              <p:cNvSpPr txBox="1"/>
              <p:nvPr/>
            </p:nvSpPr>
            <p:spPr>
              <a:xfrm>
                <a:off x="330200" y="519074"/>
                <a:ext cx="11311467" cy="2422138"/>
              </a:xfrm>
              <a:prstGeom prst="rect">
                <a:avLst/>
              </a:prstGeom>
              <a:noFill/>
            </p:spPr>
            <p:txBody>
              <a:bodyPr wrap="square" rtlCol="0">
                <a:spAutoFit/>
              </a:bodyPr>
              <a:lstStyle/>
              <a:p>
                <a:pPr marL="285750" indent="-285750">
                  <a:buFont typeface="Arial" panose="020B0604020202020204" pitchFamily="34" charset="0"/>
                  <a:buChar char="•"/>
                </a:pPr>
                <a:r>
                  <a:rPr lang="en-US" sz="1600" dirty="0"/>
                  <a:t>Once the first functional principal component (fPC1) scores have been computed, we aim to reduce redundancy within each block X by removing variables that are highly correlated with others while retaining those that are considered more relevant.</a:t>
                </a:r>
                <a:br>
                  <a:rPr lang="en-US" sz="1600" dirty="0"/>
                </a:br>
                <a:endParaRPr lang="en-US" sz="1600" dirty="0"/>
              </a:p>
              <a:p>
                <a:pPr marL="285750" indent="-285750">
                  <a:buFont typeface="Arial" panose="020B0604020202020204" pitchFamily="34" charset="0"/>
                  <a:buChar char="•"/>
                </a:pPr>
                <a:r>
                  <a:rPr lang="en-US" sz="1600" dirty="0"/>
                  <a:t>The principle of the algorithm is to find latent variables </a:t>
                </a:r>
                <a14:m>
                  <m:oMath xmlns:m="http://schemas.openxmlformats.org/officeDocument/2006/math">
                    <m:sSub>
                      <m:sSubPr>
                        <m:ctrlPr>
                          <a:rPr lang="en-US" sz="1600" i="1" smtClean="0">
                            <a:latin typeface="Cambria Math" panose="02040503050406030204" pitchFamily="18" charset="0"/>
                          </a:rPr>
                        </m:ctrlPr>
                      </m:sSubPr>
                      <m:e>
                        <m:r>
                          <a:rPr lang="fr-FR" sz="1600" b="0" i="1" smtClean="0">
                            <a:latin typeface="Cambria Math" panose="02040503050406030204" pitchFamily="18" charset="0"/>
                          </a:rPr>
                          <m:t>𝑐</m:t>
                        </m:r>
                      </m:e>
                      <m:sub>
                        <m:r>
                          <a:rPr lang="fr-FR" sz="1600" b="0" i="1" smtClean="0">
                            <a:latin typeface="Cambria Math" panose="02040503050406030204" pitchFamily="18" charset="0"/>
                          </a:rPr>
                          <m:t>𝑘</m:t>
                        </m:r>
                      </m:sub>
                    </m:sSub>
                  </m:oMath>
                </a14:m>
                <a:r>
                  <a:rPr lang="en-US" sz="1600" dirty="0"/>
                  <a:t> which maximizes the criterion </a:t>
                </a:r>
                <a14:m>
                  <m:oMath xmlns:m="http://schemas.openxmlformats.org/officeDocument/2006/math">
                    <m:r>
                      <a:rPr lang="fr-FR" sz="1600" b="0" i="1" smtClean="0">
                        <a:latin typeface="Cambria Math" panose="02040503050406030204" pitchFamily="18" charset="0"/>
                      </a:rPr>
                      <m:t>𝑇</m:t>
                    </m:r>
                    <m:r>
                      <a:rPr lang="fr-FR" sz="1600" b="0" i="1" smtClean="0">
                        <a:latin typeface="Cambria Math" panose="02040503050406030204" pitchFamily="18" charset="0"/>
                      </a:rPr>
                      <m:t>= </m:t>
                    </m:r>
                    <m:nary>
                      <m:naryPr>
                        <m:chr m:val="∑"/>
                        <m:ctrlPr>
                          <a:rPr lang="fr-FR" sz="1600" b="0" i="1" smtClean="0">
                            <a:latin typeface="Cambria Math" panose="02040503050406030204" pitchFamily="18" charset="0"/>
                          </a:rPr>
                        </m:ctrlPr>
                      </m:naryPr>
                      <m:sub>
                        <m:r>
                          <m:rPr>
                            <m:brk m:alnAt="23"/>
                          </m:rPr>
                          <a:rPr lang="fr-FR" sz="1600" b="0" i="1" smtClean="0">
                            <a:latin typeface="Cambria Math" panose="02040503050406030204" pitchFamily="18" charset="0"/>
                          </a:rPr>
                          <m:t>𝑘</m:t>
                        </m:r>
                        <m:r>
                          <a:rPr lang="fr-FR" sz="1600" b="0" i="1" smtClean="0">
                            <a:latin typeface="Cambria Math" panose="02040503050406030204" pitchFamily="18" charset="0"/>
                          </a:rPr>
                          <m:t>=1</m:t>
                        </m:r>
                      </m:sub>
                      <m:sup>
                        <m:r>
                          <a:rPr lang="fr-FR" sz="1600" b="0" i="1" smtClean="0">
                            <a:latin typeface="Cambria Math" panose="02040503050406030204" pitchFamily="18" charset="0"/>
                          </a:rPr>
                          <m:t>𝐾</m:t>
                        </m:r>
                      </m:sup>
                      <m:e>
                        <m:nary>
                          <m:naryPr>
                            <m:chr m:val="∑"/>
                            <m:ctrlPr>
                              <a:rPr lang="fr-FR" sz="1600" b="0" i="1" smtClean="0">
                                <a:latin typeface="Cambria Math" panose="02040503050406030204" pitchFamily="18" charset="0"/>
                              </a:rPr>
                            </m:ctrlPr>
                          </m:naryPr>
                          <m:sub>
                            <m:r>
                              <m:rPr>
                                <m:brk m:alnAt="23"/>
                              </m:rPr>
                              <a:rPr lang="fr-FR" sz="1600" b="0" i="1" smtClean="0">
                                <a:latin typeface="Cambria Math" panose="02040503050406030204" pitchFamily="18" charset="0"/>
                              </a:rPr>
                              <m:t>𝑗</m:t>
                            </m:r>
                            <m:r>
                              <a:rPr lang="fr-FR" sz="1600" b="0" i="1" smtClean="0">
                                <a:latin typeface="Cambria Math" panose="02040503050406030204" pitchFamily="18" charset="0"/>
                              </a:rPr>
                              <m:t>=1</m:t>
                            </m:r>
                          </m:sub>
                          <m:sup>
                            <m:r>
                              <a:rPr lang="fr-FR" sz="1600" b="0" i="1" smtClean="0">
                                <a:latin typeface="Cambria Math" panose="02040503050406030204" pitchFamily="18" charset="0"/>
                              </a:rPr>
                              <m:t>𝑝</m:t>
                            </m:r>
                          </m:sup>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𝛿</m:t>
                                </m:r>
                              </m:e>
                              <m:sub>
                                <m:r>
                                  <a:rPr lang="fr-FR" sz="1600" b="0" i="1" smtClean="0">
                                    <a:latin typeface="Cambria Math" panose="02040503050406030204" pitchFamily="18" charset="0"/>
                                  </a:rPr>
                                  <m:t>𝑘𝑗</m:t>
                                </m:r>
                              </m:sub>
                            </m:sSub>
                            <m:sSup>
                              <m:sSupPr>
                                <m:ctrlPr>
                                  <a:rPr lang="fr-FR" sz="1600" b="0" i="1" smtClean="0">
                                    <a:latin typeface="Cambria Math" panose="02040503050406030204" pitchFamily="18" charset="0"/>
                                  </a:rPr>
                                </m:ctrlPr>
                              </m:sSupPr>
                              <m:e>
                                <m:r>
                                  <a:rPr lang="fr-FR" sz="1600" b="0" i="1" smtClean="0">
                                    <a:latin typeface="Cambria Math" panose="02040503050406030204" pitchFamily="18" charset="0"/>
                                  </a:rPr>
                                  <m:t>𝑐𝑜𝑣</m:t>
                                </m:r>
                              </m:e>
                              <m:sup>
                                <m:r>
                                  <a:rPr lang="fr-FR" sz="1600" b="0" i="1" smtClean="0">
                                    <a:latin typeface="Cambria Math" panose="02040503050406030204" pitchFamily="18" charset="0"/>
                                  </a:rPr>
                                  <m:t>2</m:t>
                                </m:r>
                              </m:sup>
                            </m:sSup>
                            <m:r>
                              <a:rPr lang="fr-FR" sz="1600" b="0" i="1" smtClean="0">
                                <a:latin typeface="Cambria Math" panose="02040503050406030204" pitchFamily="18" charset="0"/>
                              </a:rPr>
                              <m:t>(</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𝑗</m:t>
                                </m:r>
                              </m:sub>
                            </m:sSub>
                            <m:r>
                              <a:rPr lang="fr-FR" sz="1600" b="0" i="1" smtClean="0">
                                <a:latin typeface="Cambria Math" panose="02040503050406030204" pitchFamily="18" charset="0"/>
                              </a:rPr>
                              <m:t>, </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𝑐</m:t>
                                </m:r>
                              </m:e>
                              <m:sub>
                                <m:r>
                                  <a:rPr lang="fr-FR" sz="1600" b="0" i="1" smtClean="0">
                                    <a:latin typeface="Cambria Math" panose="02040503050406030204" pitchFamily="18" charset="0"/>
                                  </a:rPr>
                                  <m:t>𝑘</m:t>
                                </m:r>
                              </m:sub>
                            </m:sSub>
                            <m:r>
                              <a:rPr lang="fr-FR" sz="1600" b="0" i="1" smtClean="0">
                                <a:latin typeface="Cambria Math" panose="02040503050406030204" pitchFamily="18" charset="0"/>
                              </a:rPr>
                              <m:t>)</m:t>
                            </m:r>
                          </m:e>
                        </m:nary>
                      </m:e>
                    </m:nary>
                  </m:oMath>
                </a14:m>
                <a:r>
                  <a:rPr lang="en-US" sz="1600" dirty="0"/>
                  <a:t> with </a:t>
                </a:r>
                <a14:m>
                  <m:oMath xmlns:m="http://schemas.openxmlformats.org/officeDocument/2006/math">
                    <m:sSub>
                      <m:sSubPr>
                        <m:ctrlPr>
                          <a:rPr lang="en-US" sz="1600" i="1" smtClean="0">
                            <a:latin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𝛿</m:t>
                        </m:r>
                      </m:e>
                      <m:sub>
                        <m:r>
                          <a:rPr lang="fr-FR" sz="1600" b="0" i="1" smtClean="0">
                            <a:latin typeface="Cambria Math" panose="02040503050406030204" pitchFamily="18" charset="0"/>
                          </a:rPr>
                          <m:t>𝑘𝑗</m:t>
                        </m:r>
                      </m:sub>
                    </m:sSub>
                    <m:r>
                      <a:rPr lang="fr-FR" sz="1600" b="0" i="1" smtClean="0">
                        <a:latin typeface="Cambria Math" panose="02040503050406030204" pitchFamily="18" charset="0"/>
                      </a:rPr>
                      <m:t>=</m:t>
                    </m:r>
                    <m:d>
                      <m:dPr>
                        <m:begChr m:val="{"/>
                        <m:endChr m:val=""/>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r>
                              <a:rPr lang="fr-FR" sz="1600" b="0" i="1" smtClean="0">
                                <a:latin typeface="Cambria Math" panose="02040503050406030204" pitchFamily="18" charset="0"/>
                              </a:rPr>
                              <m:t>1 </m:t>
                            </m:r>
                            <m:r>
                              <m:rPr>
                                <m:sty m:val="p"/>
                              </m:rPr>
                              <a:rPr lang="fr-FR" sz="1600" b="0" i="0" smtClean="0">
                                <a:latin typeface="Cambria Math" panose="02040503050406030204" pitchFamily="18" charset="0"/>
                              </a:rPr>
                              <m:t>if</m:t>
                            </m:r>
                            <m:r>
                              <a:rPr lang="fr-FR" sz="1600" b="0" i="0" smtClean="0">
                                <a:latin typeface="Cambria Math" panose="02040503050406030204" pitchFamily="18" charset="0"/>
                              </a:rPr>
                              <m:t> </m:t>
                            </m:r>
                            <m:sSub>
                              <m:sSubPr>
                                <m:ctrlPr>
                                  <a:rPr lang="fr-FR" sz="1600" i="1">
                                    <a:latin typeface="Cambria Math" panose="02040503050406030204" pitchFamily="18" charset="0"/>
                                  </a:rPr>
                                </m:ctrlPr>
                              </m:sSubPr>
                              <m:e>
                                <m:r>
                                  <a:rPr lang="fr-FR" sz="1600" i="1">
                                    <a:latin typeface="Cambria Math" panose="02040503050406030204" pitchFamily="18" charset="0"/>
                                  </a:rPr>
                                  <m:t>𝑋</m:t>
                                </m:r>
                              </m:e>
                              <m:sub>
                                <m:r>
                                  <a:rPr lang="fr-FR" sz="1600" i="1">
                                    <a:latin typeface="Cambria Math" panose="02040503050406030204" pitchFamily="18" charset="0"/>
                                  </a:rPr>
                                  <m:t>𝑗</m:t>
                                </m:r>
                              </m:sub>
                            </m:sSub>
                            <m:r>
                              <a:rPr lang="fr-FR" sz="1600" b="0" i="1" smtClean="0">
                                <a:latin typeface="Cambria Math" panose="02040503050406030204" pitchFamily="18" charset="0"/>
                              </a:rPr>
                              <m:t> </m:t>
                            </m:r>
                            <m:r>
                              <m:rPr>
                                <m:sty m:val="p"/>
                              </m:rPr>
                              <a:rPr lang="fr-FR" sz="1600" b="0" i="0" smtClean="0">
                                <a:latin typeface="Cambria Math" panose="02040503050406030204" pitchFamily="18" charset="0"/>
                              </a:rPr>
                              <m:t>belong</m:t>
                            </m:r>
                            <m:r>
                              <a:rPr lang="fr-FR" sz="1600" b="0" i="0" smtClean="0">
                                <a:latin typeface="Cambria Math" panose="02040503050406030204" pitchFamily="18" charset="0"/>
                              </a:rPr>
                              <m:t> </m:t>
                            </m:r>
                            <m:r>
                              <m:rPr>
                                <m:sty m:val="p"/>
                              </m:rPr>
                              <a:rPr lang="fr-FR" sz="1600" b="0" i="0" smtClean="0">
                                <a:latin typeface="Cambria Math" panose="02040503050406030204" pitchFamily="18" charset="0"/>
                              </a:rPr>
                              <m:t>to</m:t>
                            </m:r>
                            <m:r>
                              <a:rPr lang="fr-FR" sz="1600" b="0" i="0" smtClean="0">
                                <a:latin typeface="Cambria Math" panose="02040503050406030204" pitchFamily="18" charset="0"/>
                              </a:rPr>
                              <m:t> </m:t>
                            </m:r>
                            <m:r>
                              <m:rPr>
                                <m:sty m:val="p"/>
                              </m:rPr>
                              <a:rPr lang="fr-FR" sz="1600" b="0" i="0" smtClean="0">
                                <a:latin typeface="Cambria Math" panose="02040503050406030204" pitchFamily="18" charset="0"/>
                              </a:rPr>
                              <m:t>cluster</m:t>
                            </m:r>
                            <m:r>
                              <a:rPr lang="fr-FR" sz="1600" b="0" i="0" smtClean="0">
                                <a:latin typeface="Cambria Math" panose="02040503050406030204" pitchFamily="18" charset="0"/>
                              </a:rPr>
                              <m:t> </m:t>
                            </m:r>
                            <m:r>
                              <a:rPr lang="fr-FR" sz="1600" b="0" i="1" smtClean="0">
                                <a:latin typeface="Cambria Math" panose="02040503050406030204" pitchFamily="18" charset="0"/>
                              </a:rPr>
                              <m:t>𝑘</m:t>
                            </m:r>
                          </m:e>
                          <m:e>
                            <m:r>
                              <a:rPr lang="fr-FR" sz="1600" b="0" i="1" smtClean="0">
                                <a:latin typeface="Cambria Math" panose="02040503050406030204" pitchFamily="18" charset="0"/>
                              </a:rPr>
                              <m:t>0 </m:t>
                            </m:r>
                            <m:r>
                              <m:rPr>
                                <m:sty m:val="p"/>
                              </m:rPr>
                              <a:rPr lang="fr-FR" sz="1600" b="0" i="0" smtClean="0">
                                <a:latin typeface="Cambria Math" panose="02040503050406030204" pitchFamily="18" charset="0"/>
                              </a:rPr>
                              <m:t>elsewhere</m:t>
                            </m:r>
                          </m:e>
                        </m:eqArr>
                      </m:e>
                    </m:d>
                  </m:oMath>
                </a14:m>
                <a:endParaRPr lang="en-US" sz="1600" dirty="0"/>
              </a:p>
              <a:p>
                <a:pPr marL="285750" indent="-285750">
                  <a:buFont typeface="Arial" panose="020B0604020202020204" pitchFamily="34" charset="0"/>
                  <a:buChar char="•"/>
                </a:pPr>
                <a:endParaRPr lang="fr-FR" sz="1600" dirty="0"/>
              </a:p>
              <a:p>
                <a:pPr marL="285750" indent="-285750">
                  <a:buFont typeface="Arial" panose="020B0604020202020204" pitchFamily="34" charset="0"/>
                  <a:buChar char="•"/>
                </a:pPr>
                <a:r>
                  <a:rPr lang="fr-FR" sz="1600" dirty="0"/>
                  <a:t>The </a:t>
                </a:r>
                <a:r>
                  <a:rPr lang="fr-FR" sz="1600" dirty="0" err="1"/>
                  <a:t>problem</a:t>
                </a:r>
                <a:r>
                  <a:rPr lang="fr-FR" sz="1600" dirty="0"/>
                  <a:t> </a:t>
                </a:r>
                <a:r>
                  <a:rPr lang="fr-FR" sz="1600" dirty="0" err="1"/>
                  <a:t>is</a:t>
                </a:r>
                <a:r>
                  <a:rPr lang="fr-FR" sz="1600" dirty="0"/>
                  <a:t> </a:t>
                </a:r>
                <a:r>
                  <a:rPr lang="fr-FR" sz="1600" dirty="0" err="1"/>
                  <a:t>that</a:t>
                </a:r>
                <a:r>
                  <a:rPr lang="fr-FR" sz="1600" dirty="0"/>
                  <a:t> </a:t>
                </a:r>
                <a:r>
                  <a:rPr lang="fr-FR" sz="1600" dirty="0" err="1"/>
                  <a:t>we</a:t>
                </a:r>
                <a:r>
                  <a:rPr lang="fr-FR" sz="1600" dirty="0"/>
                  <a:t> have to know the </a:t>
                </a:r>
                <a:r>
                  <a:rPr lang="fr-FR" sz="1600" dirty="0" err="1"/>
                  <a:t>number</a:t>
                </a:r>
                <a:r>
                  <a:rPr lang="fr-FR" sz="1600" dirty="0"/>
                  <a:t> ok clusters K in </a:t>
                </a:r>
                <a:r>
                  <a:rPr lang="fr-FR" sz="1600" dirty="0" err="1"/>
                  <a:t>advance</a:t>
                </a:r>
                <a:r>
                  <a:rPr lang="fr-FR" sz="1600" dirty="0"/>
                  <a:t>. It </a:t>
                </a:r>
                <a:r>
                  <a:rPr lang="fr-FR" sz="1600" dirty="0" err="1"/>
                  <a:t>exists</a:t>
                </a:r>
                <a:r>
                  <a:rPr lang="fr-FR" sz="1600" dirty="0"/>
                  <a:t> a </a:t>
                </a:r>
                <a:r>
                  <a:rPr lang="fr-FR" sz="1600" dirty="0" err="1"/>
                  <a:t>method</a:t>
                </a:r>
                <a:r>
                  <a:rPr lang="fr-FR" sz="1600" dirty="0"/>
                  <a:t> to </a:t>
                </a:r>
                <a:r>
                  <a:rPr lang="fr-FR" sz="1600" dirty="0" err="1"/>
                  <a:t>determine</a:t>
                </a:r>
                <a:r>
                  <a:rPr lang="fr-FR" sz="1600" dirty="0"/>
                  <a:t> </a:t>
                </a:r>
                <a:r>
                  <a:rPr lang="fr-FR" sz="1600" dirty="0" err="1"/>
                  <a:t>it</a:t>
                </a:r>
                <a:r>
                  <a:rPr lang="fr-FR" sz="1600" dirty="0"/>
                  <a:t>: </a:t>
                </a:r>
                <a:br>
                  <a:rPr lang="fr-FR" sz="1600" dirty="0"/>
                </a:br>
                <a:r>
                  <a:rPr lang="fr-FR" sz="1600" dirty="0"/>
                  <a:t> </a:t>
                </a:r>
              </a:p>
            </p:txBody>
          </p:sp>
        </mc:Choice>
        <mc:Fallback xmlns="">
          <p:sp>
            <p:nvSpPr>
              <p:cNvPr id="8" name="ZoneTexte 7">
                <a:extLst>
                  <a:ext uri="{FF2B5EF4-FFF2-40B4-BE49-F238E27FC236}">
                    <a16:creationId xmlns:a16="http://schemas.microsoft.com/office/drawing/2014/main" id="{E46AB018-0C81-43C0-9830-E35560594028}"/>
                  </a:ext>
                </a:extLst>
              </p:cNvPr>
              <p:cNvSpPr txBox="1">
                <a:spLocks noRot="1" noChangeAspect="1" noMove="1" noResize="1" noEditPoints="1" noAdjustHandles="1" noChangeArrowheads="1" noChangeShapeType="1" noTextEdit="1"/>
              </p:cNvSpPr>
              <p:nvPr/>
            </p:nvSpPr>
            <p:spPr>
              <a:xfrm>
                <a:off x="330200" y="519074"/>
                <a:ext cx="11311467" cy="2422138"/>
              </a:xfrm>
              <a:prstGeom prst="rect">
                <a:avLst/>
              </a:prstGeom>
              <a:blipFill>
                <a:blip r:embed="rId3"/>
                <a:stretch>
                  <a:fillRect l="-216" t="-756" r="-700"/>
                </a:stretch>
              </a:blipFill>
            </p:spPr>
            <p:txBody>
              <a:bodyPr/>
              <a:lstStyle/>
              <a:p>
                <a:r>
                  <a:rPr lang="fr-FR">
                    <a:noFill/>
                  </a:rPr>
                  <a:t> </a:t>
                </a:r>
              </a:p>
            </p:txBody>
          </p:sp>
        </mc:Fallback>
      </mc:AlternateContent>
      <p:grpSp>
        <p:nvGrpSpPr>
          <p:cNvPr id="22" name="Groupe 21">
            <a:extLst>
              <a:ext uri="{FF2B5EF4-FFF2-40B4-BE49-F238E27FC236}">
                <a16:creationId xmlns:a16="http://schemas.microsoft.com/office/drawing/2014/main" id="{55CD5FBD-B3B6-4C9A-B4B7-792BE4263AD7}"/>
              </a:ext>
            </a:extLst>
          </p:cNvPr>
          <p:cNvGrpSpPr/>
          <p:nvPr/>
        </p:nvGrpSpPr>
        <p:grpSpPr>
          <a:xfrm>
            <a:off x="2904067" y="2917216"/>
            <a:ext cx="2700866" cy="1929190"/>
            <a:chOff x="2785533" y="2845405"/>
            <a:chExt cx="2700866" cy="1929190"/>
          </a:xfrm>
        </p:grpSpPr>
        <p:pic>
          <p:nvPicPr>
            <p:cNvPr id="13" name="Image 12">
              <a:extLst>
                <a:ext uri="{FF2B5EF4-FFF2-40B4-BE49-F238E27FC236}">
                  <a16:creationId xmlns:a16="http://schemas.microsoft.com/office/drawing/2014/main" id="{22173F75-81B8-41EF-B242-CFACE87ED7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85533" y="2845405"/>
              <a:ext cx="2700866" cy="1929190"/>
            </a:xfrm>
            <a:prstGeom prst="rect">
              <a:avLst/>
            </a:prstGeom>
          </p:spPr>
        </p:pic>
        <p:sp>
          <p:nvSpPr>
            <p:cNvPr id="16" name="Ellipse 15">
              <a:extLst>
                <a:ext uri="{FF2B5EF4-FFF2-40B4-BE49-F238E27FC236}">
                  <a16:creationId xmlns:a16="http://schemas.microsoft.com/office/drawing/2014/main" id="{1BB03001-36E5-4C30-9A62-2C419361FFC6}"/>
                </a:ext>
              </a:extLst>
            </p:cNvPr>
            <p:cNvSpPr/>
            <p:nvPr/>
          </p:nvSpPr>
          <p:spPr>
            <a:xfrm>
              <a:off x="4411133" y="3657600"/>
              <a:ext cx="304800" cy="3048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1" name="Groupe 20">
            <a:extLst>
              <a:ext uri="{FF2B5EF4-FFF2-40B4-BE49-F238E27FC236}">
                <a16:creationId xmlns:a16="http://schemas.microsoft.com/office/drawing/2014/main" id="{34867D58-3FEE-4B10-AFCA-72D3F5804FD9}"/>
              </a:ext>
            </a:extLst>
          </p:cNvPr>
          <p:cNvGrpSpPr/>
          <p:nvPr/>
        </p:nvGrpSpPr>
        <p:grpSpPr>
          <a:xfrm>
            <a:off x="5985933" y="3443153"/>
            <a:ext cx="2954867" cy="836640"/>
            <a:chOff x="3759200" y="2973360"/>
            <a:chExt cx="2954867" cy="836640"/>
          </a:xfrm>
          <a:solidFill>
            <a:srgbClr val="FFFACC"/>
          </a:solidFill>
        </p:grpSpPr>
        <p:sp>
          <p:nvSpPr>
            <p:cNvPr id="19" name="Rectangle : carré corné 18">
              <a:extLst>
                <a:ext uri="{FF2B5EF4-FFF2-40B4-BE49-F238E27FC236}">
                  <a16:creationId xmlns:a16="http://schemas.microsoft.com/office/drawing/2014/main" id="{54AE1FF9-A4E1-46D9-B86A-AD12F0467DB9}"/>
                </a:ext>
              </a:extLst>
            </p:cNvPr>
            <p:cNvSpPr/>
            <p:nvPr/>
          </p:nvSpPr>
          <p:spPr>
            <a:xfrm>
              <a:off x="3759200" y="2973360"/>
              <a:ext cx="2954867" cy="836640"/>
            </a:xfrm>
            <a:prstGeom prst="foldedCorner">
              <a:avLst/>
            </a:prstGeom>
            <a:grp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C782A323-5007-4BB3-85B6-981E5F45F8AC}"/>
                </a:ext>
              </a:extLst>
            </p:cNvPr>
            <p:cNvSpPr txBox="1"/>
            <p:nvPr/>
          </p:nvSpPr>
          <p:spPr>
            <a:xfrm>
              <a:off x="3886200" y="3008155"/>
              <a:ext cx="2700866" cy="769441"/>
            </a:xfrm>
            <a:prstGeom prst="rect">
              <a:avLst/>
            </a:prstGeom>
            <a:grpFill/>
          </p:spPr>
          <p:txBody>
            <a:bodyPr wrap="square" rtlCol="0">
              <a:spAutoFit/>
            </a:bodyPr>
            <a:lstStyle/>
            <a:p>
              <a:r>
                <a:rPr lang="fr-FR" sz="1100" dirty="0"/>
                <a:t>The K </a:t>
              </a:r>
              <a:r>
                <a:rPr lang="fr-FR" sz="1100" dirty="0" err="1"/>
                <a:t>chosen</a:t>
              </a:r>
              <a:r>
                <a:rPr lang="fr-FR" sz="1100" dirty="0"/>
                <a:t> </a:t>
              </a:r>
              <a:r>
                <a:rPr lang="fr-FR" sz="1100" dirty="0" err="1"/>
                <a:t>is</a:t>
              </a:r>
              <a:r>
                <a:rPr lang="fr-FR" sz="1100" dirty="0"/>
                <a:t> the one for </a:t>
              </a:r>
              <a:r>
                <a:rPr lang="fr-FR" sz="1100" dirty="0" err="1"/>
                <a:t>which</a:t>
              </a:r>
              <a:r>
                <a:rPr lang="fr-FR" sz="1100" dirty="0"/>
                <a:t> the </a:t>
              </a:r>
              <a:r>
                <a:rPr lang="fr-FR" sz="1100" dirty="0" err="1"/>
                <a:t>increase</a:t>
              </a:r>
              <a:r>
                <a:rPr lang="fr-FR" sz="1100" dirty="0"/>
                <a:t> of the </a:t>
              </a:r>
              <a:r>
                <a:rPr lang="fr-FR" sz="1100" dirty="0" err="1"/>
                <a:t>criterion</a:t>
              </a:r>
              <a:r>
                <a:rPr lang="fr-FR" sz="1100" dirty="0"/>
                <a:t> T </a:t>
              </a:r>
              <a:r>
                <a:rPr lang="fr-FR" sz="1100" dirty="0" err="1"/>
                <a:t>is</a:t>
              </a:r>
              <a:r>
                <a:rPr lang="fr-FR" sz="1100" dirty="0"/>
                <a:t> maximum (</a:t>
              </a:r>
              <a:r>
                <a:rPr lang="fr-FR" sz="1100" dirty="0" err="1"/>
                <a:t>except</a:t>
              </a:r>
              <a:r>
                <a:rPr lang="fr-FR" sz="1100" dirty="0"/>
                <a:t> to K = 1). </a:t>
              </a:r>
              <a:r>
                <a:rPr lang="fr-FR" sz="1100" dirty="0" err="1"/>
                <a:t>Here</a:t>
              </a:r>
              <a:r>
                <a:rPr lang="fr-FR" sz="1100" dirty="0"/>
                <a:t> </a:t>
              </a:r>
              <a:r>
                <a:rPr lang="fr-FR" sz="1100" dirty="0" err="1"/>
                <a:t>we</a:t>
              </a:r>
              <a:r>
                <a:rPr lang="fr-FR" sz="1100" dirty="0"/>
                <a:t> </a:t>
              </a:r>
              <a:r>
                <a:rPr lang="fr-FR" sz="1100" dirty="0" err="1"/>
                <a:t>choose</a:t>
              </a:r>
              <a:r>
                <a:rPr lang="fr-FR" sz="1100" dirty="0"/>
                <a:t> K = 3 clusters. </a:t>
              </a:r>
            </a:p>
          </p:txBody>
        </p:sp>
      </p:grpSp>
      <p:pic>
        <p:nvPicPr>
          <p:cNvPr id="25" name="Image 24">
            <a:extLst>
              <a:ext uri="{FF2B5EF4-FFF2-40B4-BE49-F238E27FC236}">
                <a16:creationId xmlns:a16="http://schemas.microsoft.com/office/drawing/2014/main" id="{A8E28135-CD08-4427-9307-5291D8B462D1}"/>
              </a:ext>
            </a:extLst>
          </p:cNvPr>
          <p:cNvPicPr>
            <a:picLocks noChangeAspect="1"/>
          </p:cNvPicPr>
          <p:nvPr/>
        </p:nvPicPr>
        <p:blipFill>
          <a:blip r:embed="rId5"/>
          <a:stretch>
            <a:fillRect/>
          </a:stretch>
        </p:blipFill>
        <p:spPr>
          <a:xfrm>
            <a:off x="10026492" y="1730143"/>
            <a:ext cx="1996175" cy="1508920"/>
          </a:xfrm>
          <a:prstGeom prst="rect">
            <a:avLst/>
          </a:prstGeom>
        </p:spPr>
      </p:pic>
      <p:pic>
        <p:nvPicPr>
          <p:cNvPr id="29" name="Image 28">
            <a:extLst>
              <a:ext uri="{FF2B5EF4-FFF2-40B4-BE49-F238E27FC236}">
                <a16:creationId xmlns:a16="http://schemas.microsoft.com/office/drawing/2014/main" id="{4DB4E343-8ECB-4DC0-A0A6-BF24EADFA229}"/>
              </a:ext>
            </a:extLst>
          </p:cNvPr>
          <p:cNvPicPr>
            <a:picLocks noChangeAspect="1"/>
          </p:cNvPicPr>
          <p:nvPr/>
        </p:nvPicPr>
        <p:blipFill>
          <a:blip r:embed="rId6"/>
          <a:stretch>
            <a:fillRect/>
          </a:stretch>
        </p:blipFill>
        <p:spPr>
          <a:xfrm>
            <a:off x="402167" y="5348347"/>
            <a:ext cx="2798233" cy="728112"/>
          </a:xfrm>
          <a:prstGeom prst="rect">
            <a:avLst/>
          </a:prstGeom>
        </p:spPr>
      </p:pic>
      <p:cxnSp>
        <p:nvCxnSpPr>
          <p:cNvPr id="36" name="Connecteur droit avec flèche 35">
            <a:extLst>
              <a:ext uri="{FF2B5EF4-FFF2-40B4-BE49-F238E27FC236}">
                <a16:creationId xmlns:a16="http://schemas.microsoft.com/office/drawing/2014/main" id="{DB8E35B5-10FA-428B-8A9D-685E198DAEE7}"/>
              </a:ext>
            </a:extLst>
          </p:cNvPr>
          <p:cNvCxnSpPr>
            <a:cxnSpLocks/>
          </p:cNvCxnSpPr>
          <p:nvPr/>
        </p:nvCxnSpPr>
        <p:spPr>
          <a:xfrm>
            <a:off x="3200400" y="5712268"/>
            <a:ext cx="1329267" cy="1"/>
          </a:xfrm>
          <a:prstGeom prst="straightConnector1">
            <a:avLst/>
          </a:prstGeom>
          <a:noFill/>
          <a:ln w="9525" cap="flat" cmpd="sng" algn="ctr">
            <a:solidFill>
              <a:srgbClr val="00AC8C">
                <a:shade val="95000"/>
                <a:satMod val="105000"/>
              </a:srgbClr>
            </a:solidFill>
            <a:prstDash val="solid"/>
            <a:tailEnd type="triangle"/>
          </a:ln>
          <a:effectLst/>
        </p:spPr>
      </p:cxnSp>
      <p:pic>
        <p:nvPicPr>
          <p:cNvPr id="39" name="Image 38">
            <a:extLst>
              <a:ext uri="{FF2B5EF4-FFF2-40B4-BE49-F238E27FC236}">
                <a16:creationId xmlns:a16="http://schemas.microsoft.com/office/drawing/2014/main" id="{85E70324-434D-492D-A1D7-D334E45724E5}"/>
              </a:ext>
            </a:extLst>
          </p:cNvPr>
          <p:cNvPicPr>
            <a:picLocks noChangeAspect="1"/>
          </p:cNvPicPr>
          <p:nvPr/>
        </p:nvPicPr>
        <p:blipFill>
          <a:blip r:embed="rId7"/>
          <a:stretch>
            <a:fillRect/>
          </a:stretch>
        </p:blipFill>
        <p:spPr>
          <a:xfrm>
            <a:off x="4529667" y="5348347"/>
            <a:ext cx="2654300" cy="826083"/>
          </a:xfrm>
          <a:prstGeom prst="rect">
            <a:avLst/>
          </a:prstGeom>
        </p:spPr>
      </p:pic>
      <p:sp>
        <p:nvSpPr>
          <p:cNvPr id="40" name="ZoneTexte 39">
            <a:extLst>
              <a:ext uri="{FF2B5EF4-FFF2-40B4-BE49-F238E27FC236}">
                <a16:creationId xmlns:a16="http://schemas.microsoft.com/office/drawing/2014/main" id="{7AE185F8-3E21-4800-ADF4-6C9EDDD77489}"/>
              </a:ext>
            </a:extLst>
          </p:cNvPr>
          <p:cNvSpPr txBox="1"/>
          <p:nvPr/>
        </p:nvSpPr>
        <p:spPr>
          <a:xfrm>
            <a:off x="3352800" y="5909732"/>
            <a:ext cx="973667" cy="646331"/>
          </a:xfrm>
          <a:prstGeom prst="rect">
            <a:avLst/>
          </a:prstGeom>
          <a:noFill/>
          <a:ln>
            <a:solidFill>
              <a:schemeClr val="tx1"/>
            </a:solidFill>
          </a:ln>
        </p:spPr>
        <p:txBody>
          <a:bodyPr wrap="square" rtlCol="0">
            <a:spAutoFit/>
          </a:bodyPr>
          <a:lstStyle/>
          <a:p>
            <a:pPr algn="ctr"/>
            <a:r>
              <a:rPr lang="fr-FR" sz="900" dirty="0"/>
              <a:t>Clustering of variables </a:t>
            </a:r>
            <a:r>
              <a:rPr lang="fr-FR" sz="900" dirty="0" err="1"/>
              <a:t>around</a:t>
            </a:r>
            <a:r>
              <a:rPr lang="fr-FR" sz="900" dirty="0"/>
              <a:t> latent component</a:t>
            </a:r>
          </a:p>
        </p:txBody>
      </p:sp>
      <p:cxnSp>
        <p:nvCxnSpPr>
          <p:cNvPr id="41" name="Connecteur droit avec flèche 40">
            <a:extLst>
              <a:ext uri="{FF2B5EF4-FFF2-40B4-BE49-F238E27FC236}">
                <a16:creationId xmlns:a16="http://schemas.microsoft.com/office/drawing/2014/main" id="{104EB808-E2ED-4F83-9CB0-8871991007B3}"/>
              </a:ext>
            </a:extLst>
          </p:cNvPr>
          <p:cNvCxnSpPr>
            <a:cxnSpLocks/>
          </p:cNvCxnSpPr>
          <p:nvPr/>
        </p:nvCxnSpPr>
        <p:spPr>
          <a:xfrm>
            <a:off x="7183967" y="5712268"/>
            <a:ext cx="1329267" cy="1"/>
          </a:xfrm>
          <a:prstGeom prst="straightConnector1">
            <a:avLst/>
          </a:prstGeom>
          <a:noFill/>
          <a:ln w="9525" cap="flat" cmpd="sng" algn="ctr">
            <a:solidFill>
              <a:srgbClr val="00AC8C">
                <a:shade val="95000"/>
                <a:satMod val="105000"/>
              </a:srgbClr>
            </a:solidFill>
            <a:prstDash val="solid"/>
            <a:tailEnd type="triangle"/>
          </a:ln>
          <a:effectLst/>
        </p:spPr>
      </p:cxnSp>
      <p:pic>
        <p:nvPicPr>
          <p:cNvPr id="42" name="Image 41">
            <a:extLst>
              <a:ext uri="{FF2B5EF4-FFF2-40B4-BE49-F238E27FC236}">
                <a16:creationId xmlns:a16="http://schemas.microsoft.com/office/drawing/2014/main" id="{610742D1-012D-45E6-9962-3A7E49357C3A}"/>
              </a:ext>
            </a:extLst>
          </p:cNvPr>
          <p:cNvPicPr>
            <a:picLocks noChangeAspect="1"/>
          </p:cNvPicPr>
          <p:nvPr/>
        </p:nvPicPr>
        <p:blipFill>
          <a:blip r:embed="rId8"/>
          <a:stretch>
            <a:fillRect/>
          </a:stretch>
        </p:blipFill>
        <p:spPr>
          <a:xfrm>
            <a:off x="8513234" y="5131243"/>
            <a:ext cx="2305050" cy="1162050"/>
          </a:xfrm>
          <a:prstGeom prst="rect">
            <a:avLst/>
          </a:prstGeom>
        </p:spPr>
      </p:pic>
      <p:sp>
        <p:nvSpPr>
          <p:cNvPr id="43" name="ZoneTexte 42">
            <a:extLst>
              <a:ext uri="{FF2B5EF4-FFF2-40B4-BE49-F238E27FC236}">
                <a16:creationId xmlns:a16="http://schemas.microsoft.com/office/drawing/2014/main" id="{287DF664-D03D-43CA-AC85-A80138C4B35E}"/>
              </a:ext>
            </a:extLst>
          </p:cNvPr>
          <p:cNvSpPr txBox="1"/>
          <p:nvPr/>
        </p:nvSpPr>
        <p:spPr>
          <a:xfrm>
            <a:off x="7361766" y="5937995"/>
            <a:ext cx="973667" cy="646331"/>
          </a:xfrm>
          <a:prstGeom prst="rect">
            <a:avLst/>
          </a:prstGeom>
          <a:noFill/>
          <a:ln>
            <a:solidFill>
              <a:schemeClr val="tx1"/>
            </a:solidFill>
          </a:ln>
        </p:spPr>
        <p:txBody>
          <a:bodyPr wrap="square" rtlCol="0">
            <a:spAutoFit/>
          </a:bodyPr>
          <a:lstStyle/>
          <a:p>
            <a:pPr algn="ctr"/>
            <a:r>
              <a:rPr lang="fr-FR" sz="900" dirty="0" err="1"/>
              <a:t>We</a:t>
            </a:r>
            <a:r>
              <a:rPr lang="fr-FR" sz="900" dirty="0"/>
              <a:t> </a:t>
            </a:r>
            <a:r>
              <a:rPr lang="fr-FR" sz="900" dirty="0" err="1"/>
              <a:t>keep</a:t>
            </a:r>
            <a:r>
              <a:rPr lang="fr-FR" sz="900" dirty="0"/>
              <a:t> </a:t>
            </a:r>
            <a:r>
              <a:rPr lang="fr-FR" sz="900" dirty="0" err="1"/>
              <a:t>only</a:t>
            </a:r>
            <a:r>
              <a:rPr lang="fr-FR" sz="900" dirty="0"/>
              <a:t> variables </a:t>
            </a:r>
            <a:r>
              <a:rPr lang="fr-FR" sz="900" dirty="0" err="1"/>
              <a:t>which</a:t>
            </a:r>
            <a:r>
              <a:rPr lang="fr-FR" sz="900" dirty="0"/>
              <a:t> are the </a:t>
            </a:r>
            <a:r>
              <a:rPr lang="fr-FR" sz="900" dirty="0" err="1"/>
              <a:t>most</a:t>
            </a:r>
            <a:r>
              <a:rPr lang="fr-FR" sz="900" dirty="0"/>
              <a:t> relevant for us</a:t>
            </a:r>
          </a:p>
        </p:txBody>
      </p:sp>
      <p:sp>
        <p:nvSpPr>
          <p:cNvPr id="44" name="ZoneTexte 43">
            <a:extLst>
              <a:ext uri="{FF2B5EF4-FFF2-40B4-BE49-F238E27FC236}">
                <a16:creationId xmlns:a16="http://schemas.microsoft.com/office/drawing/2014/main" id="{AD34AB48-2285-4112-A825-D8D15A138599}"/>
              </a:ext>
            </a:extLst>
          </p:cNvPr>
          <p:cNvSpPr txBox="1"/>
          <p:nvPr/>
        </p:nvSpPr>
        <p:spPr>
          <a:xfrm>
            <a:off x="397933" y="4943488"/>
            <a:ext cx="2201334" cy="307777"/>
          </a:xfrm>
          <a:prstGeom prst="rect">
            <a:avLst/>
          </a:prstGeom>
          <a:noFill/>
        </p:spPr>
        <p:txBody>
          <a:bodyPr wrap="square" rtlCol="0">
            <a:spAutoFit/>
          </a:bodyPr>
          <a:lstStyle/>
          <a:p>
            <a:r>
              <a:rPr lang="fr-FR" sz="1400" dirty="0"/>
              <a:t>For </a:t>
            </a:r>
            <a:r>
              <a:rPr lang="fr-FR" sz="1400" dirty="0" err="1"/>
              <a:t>each</a:t>
            </a:r>
            <a:r>
              <a:rPr lang="fr-FR" sz="1400" dirty="0"/>
              <a:t> block </a:t>
            </a:r>
            <a:r>
              <a:rPr lang="fr-FR" sz="1400" dirty="0" err="1"/>
              <a:t>independtly</a:t>
            </a:r>
            <a:r>
              <a:rPr lang="fr-FR" sz="1400" dirty="0"/>
              <a:t>:</a:t>
            </a:r>
          </a:p>
        </p:txBody>
      </p:sp>
      <p:sp>
        <p:nvSpPr>
          <p:cNvPr id="45" name="Rectangle 44">
            <a:extLst>
              <a:ext uri="{FF2B5EF4-FFF2-40B4-BE49-F238E27FC236}">
                <a16:creationId xmlns:a16="http://schemas.microsoft.com/office/drawing/2014/main" id="{87D044FD-464E-43E5-AA2C-08FA0A4EE270}"/>
              </a:ext>
            </a:extLst>
          </p:cNvPr>
          <p:cNvSpPr/>
          <p:nvPr/>
        </p:nvSpPr>
        <p:spPr>
          <a:xfrm>
            <a:off x="8009467" y="1267982"/>
            <a:ext cx="2675466" cy="351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 name="Connecteur droit avec flèche 2">
            <a:extLst>
              <a:ext uri="{FF2B5EF4-FFF2-40B4-BE49-F238E27FC236}">
                <a16:creationId xmlns:a16="http://schemas.microsoft.com/office/drawing/2014/main" id="{CB4164AC-BDD2-448A-962C-11F3EF2A9D4B}"/>
              </a:ext>
            </a:extLst>
          </p:cNvPr>
          <p:cNvCxnSpPr/>
          <p:nvPr/>
        </p:nvCxnSpPr>
        <p:spPr>
          <a:xfrm>
            <a:off x="4453467" y="3881811"/>
            <a:ext cx="0" cy="29949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13190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569C1422-F534-4F82-9CDB-68E65C3B5403}"/>
              </a:ext>
            </a:extLst>
          </p:cNvPr>
          <p:cNvPicPr>
            <a:picLocks noChangeAspect="1"/>
          </p:cNvPicPr>
          <p:nvPr/>
        </p:nvPicPr>
        <p:blipFill>
          <a:blip r:embed="rId3"/>
          <a:stretch>
            <a:fillRect/>
          </a:stretch>
        </p:blipFill>
        <p:spPr>
          <a:xfrm>
            <a:off x="6951677" y="639321"/>
            <a:ext cx="5240322" cy="2965499"/>
          </a:xfrm>
          <a:prstGeom prst="rect">
            <a:avLst/>
          </a:prstGeom>
        </p:spPr>
      </p:pic>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err="1"/>
              <a:t>Generalized</a:t>
            </a:r>
            <a:r>
              <a:rPr lang="fr-FR" sz="2800" dirty="0"/>
              <a:t> </a:t>
            </a:r>
            <a:r>
              <a:rPr lang="fr-FR" sz="2800" dirty="0" err="1"/>
              <a:t>structured</a:t>
            </a:r>
            <a:r>
              <a:rPr lang="fr-FR" sz="2800" dirty="0"/>
              <a:t> component </a:t>
            </a:r>
            <a:r>
              <a:rPr lang="fr-FR" sz="2800" dirty="0" err="1"/>
              <a:t>analysis</a:t>
            </a:r>
            <a:r>
              <a:rPr lang="fr-FR" sz="2800" dirty="0"/>
              <a:t> (GSCA)</a:t>
            </a:r>
            <a:r>
              <a:rPr lang="fr-FR" sz="2800" baseline="30000" dirty="0"/>
              <a:t>3</a:t>
            </a:r>
          </a:p>
        </p:txBody>
      </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1BA99191-B606-4EBE-8403-A898E492C95F}"/>
                  </a:ext>
                </a:extLst>
              </p:cNvPr>
              <p:cNvSpPr txBox="1"/>
              <p:nvPr/>
            </p:nvSpPr>
            <p:spPr>
              <a:xfrm>
                <a:off x="97008" y="711200"/>
                <a:ext cx="6854670" cy="4103303"/>
              </a:xfrm>
              <a:prstGeom prst="rect">
                <a:avLst/>
              </a:prstGeom>
              <a:noFill/>
            </p:spPr>
            <p:txBody>
              <a:bodyPr wrap="square" rtlCol="0">
                <a:spAutoFit/>
              </a:bodyPr>
              <a:lstStyle/>
              <a:p>
                <a:pPr marL="285750" indent="-285750">
                  <a:buFont typeface="Arial" panose="020B0604020202020204" pitchFamily="34" charset="0"/>
                  <a:buChar char="•"/>
                </a:pPr>
                <a:r>
                  <a:rPr lang="fr-FR" sz="1600" u="sng" dirty="0"/>
                  <a:t>Notations:</a:t>
                </a:r>
                <a:r>
                  <a:rPr lang="fr-FR" sz="1600" dirty="0"/>
                  <a:t> </a:t>
                </a:r>
                <a14:m>
                  <m:oMath xmlns:m="http://schemas.openxmlformats.org/officeDocument/2006/math">
                    <m:r>
                      <a:rPr lang="fr-FR" sz="1600" b="0" i="1" smtClean="0">
                        <a:latin typeface="Cambria Math" panose="02040503050406030204" pitchFamily="18" charset="0"/>
                      </a:rPr>
                      <m:t>𝑋</m:t>
                    </m:r>
                    <m:r>
                      <a:rPr lang="fr-FR" sz="1600" b="0" i="1" smtClean="0">
                        <a:latin typeface="Cambria Math" panose="02040503050406030204" pitchFamily="18" charset="0"/>
                      </a:rPr>
                      <m:t>=[</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1</m:t>
                        </m:r>
                      </m:sub>
                    </m:sSub>
                    <m:r>
                      <a:rPr lang="fr-FR" sz="1600" b="0" i="1" smtClean="0">
                        <a:latin typeface="Cambria Math" panose="02040503050406030204" pitchFamily="18" charset="0"/>
                      </a:rPr>
                      <m:t>|…|</m:t>
                    </m:r>
                    <m:sSub>
                      <m:sSubPr>
                        <m:ctrlPr>
                          <a:rPr lang="fr-FR" sz="1600" i="1">
                            <a:latin typeface="Cambria Math" panose="02040503050406030204" pitchFamily="18" charset="0"/>
                          </a:rPr>
                        </m:ctrlPr>
                      </m:sSubPr>
                      <m:e>
                        <m:r>
                          <a:rPr lang="fr-FR" sz="1600" i="1">
                            <a:latin typeface="Cambria Math" panose="02040503050406030204" pitchFamily="18" charset="0"/>
                          </a:rPr>
                          <m:t>𝑋</m:t>
                        </m:r>
                      </m:e>
                      <m:sub>
                        <m:r>
                          <a:rPr lang="fr-FR" sz="1600" b="0" i="1" smtClean="0">
                            <a:latin typeface="Cambria Math" panose="02040503050406030204" pitchFamily="18" charset="0"/>
                          </a:rPr>
                          <m:t>𝐾</m:t>
                        </m:r>
                      </m:sub>
                    </m:sSub>
                    <m:r>
                      <a:rPr lang="fr-FR" sz="1600" b="0" i="1" smtClean="0">
                        <a:latin typeface="Cambria Math" panose="02040503050406030204" pitchFamily="18" charset="0"/>
                      </a:rPr>
                      <m:t>]</m:t>
                    </m:r>
                  </m:oMath>
                </a14:m>
                <a:r>
                  <a:rPr lang="fr-FR" sz="1600" dirty="0"/>
                  <a:t> the matrix of K blocks of fPC1 scores, </a:t>
                </a:r>
                <a:r>
                  <a:rPr lang="fr-FR" sz="1600" dirty="0" err="1"/>
                  <a:t>each</a:t>
                </a:r>
                <a:r>
                  <a:rPr lang="fr-FR" sz="1600" dirty="0"/>
                  <a:t> of size </a:t>
                </a:r>
                <a14:m>
                  <m:oMath xmlns:m="http://schemas.openxmlformats.org/officeDocument/2006/math">
                    <m:r>
                      <a:rPr lang="fr-FR" sz="1600" b="0" i="1" smtClean="0">
                        <a:latin typeface="Cambria Math" panose="02040503050406030204" pitchFamily="18" charset="0"/>
                      </a:rPr>
                      <m:t>𝑛</m:t>
                    </m:r>
                    <m:r>
                      <a:rPr lang="fr-FR" sz="1600" b="0" i="1" smtClean="0">
                        <a:latin typeface="Cambria Math" panose="02040503050406030204" pitchFamily="18" charset="0"/>
                      </a:rPr>
                      <m:t>∗</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𝑃</m:t>
                        </m:r>
                      </m:e>
                      <m:sub>
                        <m:r>
                          <a:rPr lang="fr-FR" sz="1600" b="0" i="1" smtClean="0">
                            <a:latin typeface="Cambria Math" panose="02040503050406030204" pitchFamily="18" charset="0"/>
                          </a:rPr>
                          <m:t>𝑘</m:t>
                        </m:r>
                      </m:sub>
                    </m:sSub>
                  </m:oMath>
                </a14:m>
                <a:r>
                  <a:rPr lang="fr-FR" sz="1600" dirty="0"/>
                  <a:t>, </a:t>
                </a:r>
                <a14:m>
                  <m:oMath xmlns:m="http://schemas.openxmlformats.org/officeDocument/2006/math">
                    <m:r>
                      <a:rPr lang="fr-FR" sz="1600" b="0" i="1" smtClean="0">
                        <a:latin typeface="Cambria Math" panose="02040503050406030204" pitchFamily="18" charset="0"/>
                      </a:rPr>
                      <m:t>𝑘</m:t>
                    </m:r>
                    <m:r>
                      <a:rPr lang="fr-FR" sz="1600" b="0" i="1" smtClean="0">
                        <a:latin typeface="Cambria Math" panose="02040503050406030204" pitchFamily="18" charset="0"/>
                        <a:ea typeface="Cambria Math" panose="02040503050406030204" pitchFamily="18" charset="0"/>
                      </a:rPr>
                      <m:t>∈</m:t>
                    </m:r>
                    <m:d>
                      <m:dPr>
                        <m:begChr m:val="⟦"/>
                        <m:endChr m:val="⟧"/>
                        <m:ctrlPr>
                          <a:rPr lang="fr-FR" sz="1600" b="0" i="1" smtClean="0">
                            <a:latin typeface="Cambria Math" panose="02040503050406030204" pitchFamily="18" charset="0"/>
                            <a:ea typeface="Cambria Math" panose="02040503050406030204" pitchFamily="18" charset="0"/>
                          </a:rPr>
                        </m:ctrlPr>
                      </m:dPr>
                      <m:e>
                        <m:r>
                          <a:rPr lang="fr-FR" sz="1600" b="0" i="1" smtClean="0">
                            <a:latin typeface="Cambria Math" panose="02040503050406030204" pitchFamily="18" charset="0"/>
                            <a:ea typeface="Cambria Math" panose="02040503050406030204" pitchFamily="18" charset="0"/>
                          </a:rPr>
                          <m:t>1,</m:t>
                        </m:r>
                        <m:r>
                          <a:rPr lang="fr-FR" sz="1600" b="0" i="1" smtClean="0">
                            <a:latin typeface="Cambria Math" panose="02040503050406030204" pitchFamily="18" charset="0"/>
                            <a:ea typeface="Cambria Math" panose="02040503050406030204" pitchFamily="18" charset="0"/>
                          </a:rPr>
                          <m:t>𝐾</m:t>
                        </m:r>
                      </m:e>
                    </m:d>
                    <m:r>
                      <a:rPr lang="fr-FR" sz="1600" b="0" i="1" smtClean="0">
                        <a:latin typeface="Cambria Math" panose="02040503050406030204" pitchFamily="18" charset="0"/>
                        <a:ea typeface="Cambria Math" panose="02040503050406030204" pitchFamily="18" charset="0"/>
                      </a:rPr>
                      <m:t>, </m:t>
                    </m:r>
                    <m:r>
                      <a:rPr lang="fr-FR" sz="1600" b="0" i="1" smtClean="0">
                        <a:latin typeface="Cambria Math" panose="02040503050406030204" pitchFamily="18" charset="0"/>
                        <a:ea typeface="Cambria Math" panose="02040503050406030204" pitchFamily="18" charset="0"/>
                      </a:rPr>
                      <m:t>𝑃</m:t>
                    </m:r>
                    <m:r>
                      <a:rPr lang="fr-FR" sz="1600" b="0" i="1" smtClean="0">
                        <a:latin typeface="Cambria Math" panose="02040503050406030204" pitchFamily="18" charset="0"/>
                        <a:ea typeface="Cambria Math" panose="02040503050406030204" pitchFamily="18" charset="0"/>
                      </a:rPr>
                      <m:t>=</m:t>
                    </m:r>
                    <m:nary>
                      <m:naryPr>
                        <m:chr m:val="∑"/>
                        <m:ctrlPr>
                          <a:rPr lang="fr-FR" sz="1600" b="0" i="1" smtClean="0">
                            <a:latin typeface="Cambria Math" panose="02040503050406030204" pitchFamily="18" charset="0"/>
                            <a:ea typeface="Cambria Math" panose="02040503050406030204" pitchFamily="18" charset="0"/>
                          </a:rPr>
                        </m:ctrlPr>
                      </m:naryPr>
                      <m:sub>
                        <m:r>
                          <m:rPr>
                            <m:brk m:alnAt="23"/>
                          </m:rPr>
                          <a:rPr lang="fr-FR" sz="1600" b="0" i="1" smtClean="0">
                            <a:latin typeface="Cambria Math" panose="02040503050406030204" pitchFamily="18" charset="0"/>
                            <a:ea typeface="Cambria Math" panose="02040503050406030204" pitchFamily="18" charset="0"/>
                          </a:rPr>
                          <m:t>𝑘</m:t>
                        </m:r>
                        <m:r>
                          <a:rPr lang="fr-FR" sz="1600" b="0" i="1" smtClean="0">
                            <a:latin typeface="Cambria Math" panose="02040503050406030204" pitchFamily="18" charset="0"/>
                            <a:ea typeface="Cambria Math" panose="02040503050406030204" pitchFamily="18" charset="0"/>
                          </a:rPr>
                          <m:t>=1</m:t>
                        </m:r>
                      </m:sub>
                      <m:sup>
                        <m:r>
                          <a:rPr lang="fr-FR" sz="1600" b="0" i="1" smtClean="0">
                            <a:latin typeface="Cambria Math" panose="02040503050406030204" pitchFamily="18" charset="0"/>
                            <a:ea typeface="Cambria Math" panose="02040503050406030204" pitchFamily="18" charset="0"/>
                          </a:rPr>
                          <m:t>𝐾</m:t>
                        </m:r>
                      </m:sup>
                      <m:e>
                        <m:sSub>
                          <m:sSubPr>
                            <m:ctrlPr>
                              <a:rPr lang="fr-FR" sz="1600" i="1">
                                <a:latin typeface="Cambria Math" panose="02040503050406030204" pitchFamily="18" charset="0"/>
                              </a:rPr>
                            </m:ctrlPr>
                          </m:sSubPr>
                          <m:e>
                            <m:r>
                              <a:rPr lang="fr-FR" sz="1600" i="1">
                                <a:latin typeface="Cambria Math" panose="02040503050406030204" pitchFamily="18" charset="0"/>
                              </a:rPr>
                              <m:t>𝑃</m:t>
                            </m:r>
                          </m:e>
                          <m:sub>
                            <m:r>
                              <a:rPr lang="fr-FR" sz="1600" i="1">
                                <a:latin typeface="Cambria Math" panose="02040503050406030204" pitchFamily="18" charset="0"/>
                              </a:rPr>
                              <m:t>𝑘</m:t>
                            </m:r>
                          </m:sub>
                        </m:sSub>
                      </m:e>
                    </m:nary>
                  </m:oMath>
                </a14:m>
                <a:r>
                  <a:rPr lang="fr-FR" sz="1600" dirty="0"/>
                  <a:t>. In </a:t>
                </a:r>
                <a:r>
                  <a:rPr lang="fr-FR" sz="1600" dirty="0" err="1"/>
                  <a:t>our</a:t>
                </a:r>
                <a:r>
                  <a:rPr lang="fr-FR" sz="1600" dirty="0"/>
                  <a:t> </a:t>
                </a:r>
                <a:r>
                  <a:rPr lang="fr-FR" sz="1600" dirty="0" err="1"/>
                  <a:t>example</a:t>
                </a:r>
                <a:r>
                  <a:rPr lang="fr-FR" sz="1600" dirty="0"/>
                  <a:t>, </a:t>
                </a:r>
                <a14:m>
                  <m:oMath xmlns:m="http://schemas.openxmlformats.org/officeDocument/2006/math">
                    <m:r>
                      <m:rPr>
                        <m:sty m:val="p"/>
                      </m:rPr>
                      <a:rPr lang="fr-FR" sz="1600" b="0" i="0" smtClean="0">
                        <a:latin typeface="Cambria Math" panose="02040503050406030204" pitchFamily="18" charset="0"/>
                      </a:rPr>
                      <m:t>K</m:t>
                    </m:r>
                    <m:r>
                      <a:rPr lang="fr-FR" sz="1600" b="0" i="0" smtClean="0">
                        <a:latin typeface="Cambria Math" panose="02040503050406030204" pitchFamily="18" charset="0"/>
                      </a:rPr>
                      <m:t>=5, </m:t>
                    </m:r>
                    <m:sSub>
                      <m:sSubPr>
                        <m:ctrlPr>
                          <a:rPr lang="fr-FR" sz="1600" i="1">
                            <a:latin typeface="Cambria Math" panose="02040503050406030204" pitchFamily="18" charset="0"/>
                          </a:rPr>
                        </m:ctrlPr>
                      </m:sSubPr>
                      <m:e>
                        <m:r>
                          <a:rPr lang="fr-FR" sz="1600" i="1">
                            <a:latin typeface="Cambria Math" panose="02040503050406030204" pitchFamily="18" charset="0"/>
                          </a:rPr>
                          <m:t>𝑃</m:t>
                        </m:r>
                      </m:e>
                      <m:sub>
                        <m:r>
                          <a:rPr lang="fr-FR" sz="1600" i="1">
                            <a:latin typeface="Cambria Math" panose="02040503050406030204" pitchFamily="18" charset="0"/>
                          </a:rPr>
                          <m:t>𝑘</m:t>
                        </m:r>
                      </m:sub>
                    </m:sSub>
                  </m:oMath>
                </a14:m>
                <a:r>
                  <a:rPr lang="fr-FR" sz="1600" dirty="0"/>
                  <a:t> </a:t>
                </a:r>
                <a:r>
                  <a:rPr lang="fr-FR" sz="1600" dirty="0" err="1"/>
                  <a:t>vary</a:t>
                </a:r>
                <a:r>
                  <a:rPr lang="fr-FR" sz="1600" dirty="0"/>
                  <a:t> </a:t>
                </a:r>
                <a:r>
                  <a:rPr lang="fr-FR" sz="1600" dirty="0" err="1"/>
                  <a:t>between</a:t>
                </a:r>
                <a:r>
                  <a:rPr lang="fr-FR" sz="1600" dirty="0"/>
                  <a:t> 1 (block Y) and 4 (block Animals). </a:t>
                </a:r>
                <a:br>
                  <a:rPr lang="fr-FR" sz="1600" dirty="0"/>
                </a:br>
                <a:r>
                  <a:rPr lang="fr-FR" sz="1600" dirty="0" err="1"/>
                  <a:t>Each</a:t>
                </a:r>
                <a:r>
                  <a:rPr lang="fr-FR" sz="1600" dirty="0"/>
                  <a:t> matrix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𝑘</m:t>
                        </m:r>
                      </m:sub>
                    </m:sSub>
                  </m:oMath>
                </a14:m>
                <a:r>
                  <a:rPr lang="fr-FR" sz="1600" dirty="0"/>
                  <a:t> </a:t>
                </a:r>
                <a:r>
                  <a:rPr lang="fr-FR" sz="1600" dirty="0" err="1"/>
                  <a:t>is</a:t>
                </a:r>
                <a:r>
                  <a:rPr lang="fr-FR" sz="1600" dirty="0"/>
                  <a:t> </a:t>
                </a:r>
                <a:r>
                  <a:rPr lang="fr-FR" sz="1600" dirty="0" err="1"/>
                  <a:t>summarized</a:t>
                </a:r>
                <a:r>
                  <a:rPr lang="fr-FR" sz="1600" dirty="0"/>
                  <a:t> by a latent variable </a:t>
                </a:r>
                <a14:m>
                  <m:oMath xmlns:m="http://schemas.openxmlformats.org/officeDocument/2006/math">
                    <m:sSub>
                      <m:sSubPr>
                        <m:ctrlPr>
                          <a:rPr lang="fr-FR" sz="1600" b="1" i="1" smtClean="0">
                            <a:latin typeface="Cambria Math" panose="02040503050406030204" pitchFamily="18" charset="0"/>
                          </a:rPr>
                        </m:ctrlPr>
                      </m:sSubPr>
                      <m:e>
                        <m:r>
                          <a:rPr lang="fr-FR" sz="1600" b="1" i="1" smtClean="0">
                            <a:latin typeface="Cambria Math" panose="02040503050406030204" pitchFamily="18" charset="0"/>
                          </a:rPr>
                          <m:t>𝒕</m:t>
                        </m:r>
                      </m:e>
                      <m:sub>
                        <m:r>
                          <a:rPr lang="fr-FR" sz="1600" b="1" i="1" smtClean="0">
                            <a:latin typeface="Cambria Math" panose="02040503050406030204" pitchFamily="18" charset="0"/>
                          </a:rPr>
                          <m:t>𝒌</m:t>
                        </m:r>
                      </m:sub>
                    </m:sSub>
                    <m:r>
                      <a:rPr lang="fr-FR" sz="1600" b="1" i="0" smtClean="0">
                        <a:latin typeface="Cambria Math" panose="02040503050406030204" pitchFamily="18" charset="0"/>
                      </a:rPr>
                      <m:t>= </m:t>
                    </m:r>
                    <m:sSub>
                      <m:sSubPr>
                        <m:ctrlPr>
                          <a:rPr lang="fr-FR" sz="1600" b="1" i="1" smtClean="0">
                            <a:latin typeface="Cambria Math" panose="02040503050406030204" pitchFamily="18" charset="0"/>
                          </a:rPr>
                        </m:ctrlPr>
                      </m:sSubPr>
                      <m:e>
                        <m:r>
                          <a:rPr lang="fr-FR" sz="1600" b="1" i="1" smtClean="0">
                            <a:latin typeface="Cambria Math" panose="02040503050406030204" pitchFamily="18" charset="0"/>
                          </a:rPr>
                          <m:t>𝑿</m:t>
                        </m:r>
                      </m:e>
                      <m:sub>
                        <m:r>
                          <a:rPr lang="fr-FR" sz="1600" b="1" i="1" smtClean="0">
                            <a:latin typeface="Cambria Math" panose="02040503050406030204" pitchFamily="18" charset="0"/>
                          </a:rPr>
                          <m:t>𝒌</m:t>
                        </m:r>
                      </m:sub>
                    </m:sSub>
                    <m:sSub>
                      <m:sSubPr>
                        <m:ctrlPr>
                          <a:rPr lang="fr-FR" sz="1600" b="1" i="1" smtClean="0">
                            <a:latin typeface="Cambria Math" panose="02040503050406030204" pitchFamily="18" charset="0"/>
                          </a:rPr>
                        </m:ctrlPr>
                      </m:sSubPr>
                      <m:e>
                        <m:r>
                          <a:rPr lang="fr-FR" sz="1600" b="1" i="1" smtClean="0">
                            <a:latin typeface="Cambria Math" panose="02040503050406030204" pitchFamily="18" charset="0"/>
                          </a:rPr>
                          <m:t>𝒘</m:t>
                        </m:r>
                      </m:e>
                      <m:sub>
                        <m:r>
                          <a:rPr lang="fr-FR" sz="1600" b="1" i="1" smtClean="0">
                            <a:latin typeface="Cambria Math" panose="02040503050406030204" pitchFamily="18" charset="0"/>
                          </a:rPr>
                          <m:t>𝒌</m:t>
                        </m:r>
                      </m:sub>
                    </m:sSub>
                  </m:oMath>
                </a14:m>
                <a:r>
                  <a:rPr lang="fr-FR" sz="1600" dirty="0"/>
                  <a:t> </a:t>
                </a:r>
                <a:r>
                  <a:rPr lang="fr-FR" sz="1600" dirty="0" err="1"/>
                  <a:t>with</a:t>
                </a:r>
                <a:r>
                  <a:rPr lang="fr-FR" sz="1600" dirty="0"/>
                  <a:t>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𝑤</m:t>
                        </m:r>
                      </m:e>
                      <m:sub>
                        <m:r>
                          <a:rPr lang="fr-FR" sz="1600" b="0" i="1" smtClean="0">
                            <a:latin typeface="Cambria Math" panose="02040503050406030204" pitchFamily="18" charset="0"/>
                          </a:rPr>
                          <m:t>𝑘</m:t>
                        </m:r>
                      </m:sub>
                    </m:sSub>
                  </m:oMath>
                </a14:m>
                <a:r>
                  <a:rPr lang="fr-FR" sz="1600" dirty="0"/>
                  <a:t> the </a:t>
                </a:r>
                <a:r>
                  <a:rPr lang="fr-FR" sz="1600" dirty="0" err="1"/>
                  <a:t>corresponding</a:t>
                </a:r>
                <a:r>
                  <a:rPr lang="fr-FR" sz="1600" dirty="0"/>
                  <a:t> </a:t>
                </a:r>
                <a:r>
                  <a:rPr lang="fr-FR" sz="1600" dirty="0" err="1"/>
                  <a:t>weight</a:t>
                </a:r>
                <a:r>
                  <a:rPr lang="fr-FR" sz="1600" dirty="0"/>
                  <a:t> of the block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𝑘</m:t>
                        </m:r>
                      </m:sub>
                    </m:sSub>
                  </m:oMath>
                </a14:m>
                <a:r>
                  <a:rPr lang="fr-FR" sz="1600" dirty="0"/>
                  <a:t>.</a:t>
                </a:r>
                <a:br>
                  <a:rPr lang="fr-FR" sz="1600" dirty="0"/>
                </a:br>
                <a:r>
                  <a:rPr lang="fr-FR" sz="1600" dirty="0"/>
                  <a:t>The model </a:t>
                </a:r>
                <a:r>
                  <a:rPr lang="fr-FR" sz="1600" dirty="0" err="1"/>
                  <a:t>is</a:t>
                </a:r>
                <a:r>
                  <a:rPr lang="fr-FR" sz="1600" dirty="0"/>
                  <a:t> </a:t>
                </a:r>
                <a:r>
                  <a:rPr lang="fr-FR" sz="1600" dirty="0" err="1"/>
                  <a:t>reflective</a:t>
                </a:r>
                <a:r>
                  <a:rPr lang="fr-FR" sz="1600" dirty="0"/>
                  <a:t>, </a:t>
                </a:r>
                <a:r>
                  <a:rPr lang="fr-FR" sz="1600" dirty="0" err="1"/>
                  <a:t>it</a:t>
                </a:r>
                <a:r>
                  <a:rPr lang="fr-FR" sz="1600" dirty="0"/>
                  <a:t> </a:t>
                </a:r>
                <a:r>
                  <a:rPr lang="fr-FR" sz="1600" dirty="0" err="1"/>
                  <a:t>means</a:t>
                </a:r>
                <a:r>
                  <a:rPr lang="fr-FR" sz="1600" dirty="0"/>
                  <a:t> </a:t>
                </a:r>
                <a:r>
                  <a:rPr lang="fr-FR" sz="1600" dirty="0" err="1"/>
                  <a:t>that</a:t>
                </a:r>
                <a:r>
                  <a:rPr lang="fr-FR" sz="1600" dirty="0"/>
                  <a:t> the latent variables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𝑡</m:t>
                        </m:r>
                      </m:e>
                      <m:sub>
                        <m:r>
                          <a:rPr lang="fr-FR" sz="1600" b="0" i="1" smtClean="0">
                            <a:latin typeface="Cambria Math" panose="02040503050406030204" pitchFamily="18" charset="0"/>
                          </a:rPr>
                          <m:t>𝑘</m:t>
                        </m:r>
                      </m:sub>
                    </m:sSub>
                  </m:oMath>
                </a14:m>
                <a:r>
                  <a:rPr lang="fr-FR" sz="1600" dirty="0"/>
                  <a:t> are </a:t>
                </a:r>
                <a:r>
                  <a:rPr lang="fr-FR" sz="1600" dirty="0" err="1"/>
                  <a:t>also</a:t>
                </a:r>
                <a:r>
                  <a:rPr lang="fr-FR" sz="1600" dirty="0"/>
                  <a:t> </a:t>
                </a:r>
                <a:r>
                  <a:rPr lang="fr-FR" sz="1600" dirty="0" err="1"/>
                  <a:t>predictors</a:t>
                </a:r>
                <a:r>
                  <a:rPr lang="fr-FR" sz="1600" dirty="0"/>
                  <a:t> of fPC1: </a:t>
                </a:r>
                <a14:m>
                  <m:oMath xmlns:m="http://schemas.openxmlformats.org/officeDocument/2006/math">
                    <m:sSub>
                      <m:sSubPr>
                        <m:ctrlPr>
                          <a:rPr lang="fr-FR" sz="1600" b="1" i="1" smtClean="0">
                            <a:latin typeface="Cambria Math" panose="02040503050406030204" pitchFamily="18" charset="0"/>
                          </a:rPr>
                        </m:ctrlPr>
                      </m:sSubPr>
                      <m:e>
                        <m:r>
                          <a:rPr lang="fr-FR" sz="1600" b="1" i="1" smtClean="0">
                            <a:latin typeface="Cambria Math" panose="02040503050406030204" pitchFamily="18" charset="0"/>
                          </a:rPr>
                          <m:t>𝑿</m:t>
                        </m:r>
                      </m:e>
                      <m:sub>
                        <m:r>
                          <a:rPr lang="fr-FR" sz="1600" b="1" i="1" smtClean="0">
                            <a:latin typeface="Cambria Math" panose="02040503050406030204" pitchFamily="18" charset="0"/>
                          </a:rPr>
                          <m:t>𝒌</m:t>
                        </m:r>
                      </m:sub>
                    </m:sSub>
                    <m:r>
                      <a:rPr lang="fr-FR" sz="1600" b="1" i="1" smtClean="0">
                        <a:latin typeface="Cambria Math" panose="02040503050406030204" pitchFamily="18" charset="0"/>
                      </a:rPr>
                      <m:t>=</m:t>
                    </m:r>
                    <m:sSub>
                      <m:sSubPr>
                        <m:ctrlPr>
                          <a:rPr lang="fr-FR" sz="1600" b="1" i="1" smtClean="0">
                            <a:latin typeface="Cambria Math" panose="02040503050406030204" pitchFamily="18" charset="0"/>
                          </a:rPr>
                        </m:ctrlPr>
                      </m:sSubPr>
                      <m:e>
                        <m:r>
                          <a:rPr lang="fr-FR" sz="1600" b="1" i="1" smtClean="0">
                            <a:latin typeface="Cambria Math" panose="02040503050406030204" pitchFamily="18" charset="0"/>
                          </a:rPr>
                          <m:t>𝒕</m:t>
                        </m:r>
                      </m:e>
                      <m:sub>
                        <m:r>
                          <a:rPr lang="fr-FR" sz="1600" b="1" i="1" smtClean="0">
                            <a:latin typeface="Cambria Math" panose="02040503050406030204" pitchFamily="18" charset="0"/>
                          </a:rPr>
                          <m:t>𝒌</m:t>
                        </m:r>
                      </m:sub>
                    </m:sSub>
                    <m:sSub>
                      <m:sSubPr>
                        <m:ctrlPr>
                          <a:rPr lang="fr-FR" sz="1600" b="1" i="1" smtClean="0">
                            <a:latin typeface="Cambria Math" panose="02040503050406030204" pitchFamily="18" charset="0"/>
                          </a:rPr>
                        </m:ctrlPr>
                      </m:sSubPr>
                      <m:e>
                        <m:r>
                          <a:rPr lang="fr-FR" sz="1600" b="1" i="1" smtClean="0">
                            <a:latin typeface="Cambria Math" panose="02040503050406030204" pitchFamily="18" charset="0"/>
                          </a:rPr>
                          <m:t>𝒄</m:t>
                        </m:r>
                      </m:e>
                      <m:sub>
                        <m:r>
                          <a:rPr lang="fr-FR" sz="1600" b="1" i="1" smtClean="0">
                            <a:latin typeface="Cambria Math" panose="02040503050406030204" pitchFamily="18" charset="0"/>
                          </a:rPr>
                          <m:t>𝒌</m:t>
                        </m:r>
                      </m:sub>
                    </m:sSub>
                  </m:oMath>
                </a14:m>
                <a:r>
                  <a:rPr lang="fr-FR" sz="1600" b="1" dirty="0"/>
                  <a:t>.</a:t>
                </a:r>
                <a:br>
                  <a:rPr lang="fr-FR" sz="1600" b="1" dirty="0"/>
                </a:br>
                <a:endParaRPr lang="fr-FR" sz="1600" b="1" dirty="0"/>
              </a:p>
              <a:p>
                <a:pPr marL="285750" indent="-285750">
                  <a:buFont typeface="Arial" panose="020B0604020202020204" pitchFamily="34" charset="0"/>
                  <a:buChar char="•"/>
                </a:pPr>
                <a:r>
                  <a:rPr lang="fr-FR" sz="1600" u="sng" dirty="0"/>
                  <a:t>Assumptions:</a:t>
                </a:r>
                <a:r>
                  <a:rPr lang="fr-FR" sz="1600" dirty="0"/>
                  <a:t> The blocks </a:t>
                </a:r>
                <a14:m>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𝑋</m:t>
                        </m:r>
                      </m:e>
                      <m:sub>
                        <m:r>
                          <a:rPr lang="fr-FR" sz="1600" b="0" i="1" smtClean="0">
                            <a:latin typeface="Cambria Math" panose="02040503050406030204" pitchFamily="18" charset="0"/>
                          </a:rPr>
                          <m:t>𝑘</m:t>
                        </m:r>
                      </m:sub>
                    </m:sSub>
                  </m:oMath>
                </a14:m>
                <a:r>
                  <a:rPr lang="fr-FR" sz="1600" dirty="0"/>
                  <a:t> are </a:t>
                </a:r>
                <a:r>
                  <a:rPr lang="fr-FR" sz="1600" dirty="0" err="1"/>
                  <a:t>supposed</a:t>
                </a:r>
                <a:r>
                  <a:rPr lang="fr-FR" sz="1600" dirty="0"/>
                  <a:t> to </a:t>
                </a:r>
                <a:r>
                  <a:rPr lang="fr-FR" sz="1600" dirty="0" err="1"/>
                  <a:t>be</a:t>
                </a:r>
                <a:r>
                  <a:rPr lang="fr-FR" sz="1600" dirty="0"/>
                  <a:t> </a:t>
                </a:r>
                <a:r>
                  <a:rPr lang="fr-FR" sz="1600" dirty="0" err="1"/>
                  <a:t>unidimensional</a:t>
                </a:r>
                <a:r>
                  <a:rPr lang="fr-FR" sz="1600" dirty="0"/>
                  <a:t>, </a:t>
                </a:r>
                <a:r>
                  <a:rPr lang="fr-FR" sz="1600" dirty="0" err="1"/>
                  <a:t>columnwise-centered</a:t>
                </a:r>
                <a:r>
                  <a:rPr lang="fr-FR" sz="1600" dirty="0"/>
                  <a:t> and </a:t>
                </a:r>
                <a:r>
                  <a:rPr lang="fr-FR" sz="1600" dirty="0" err="1"/>
                  <a:t>scales</a:t>
                </a:r>
                <a:r>
                  <a:rPr lang="fr-FR" sz="1600" dirty="0"/>
                  <a:t> to unit variance. No NA</a:t>
                </a:r>
                <a:br>
                  <a:rPr lang="fr-FR" sz="1600" dirty="0"/>
                </a:br>
                <a:endParaRPr lang="fr-FR" sz="1600" dirty="0"/>
              </a:p>
              <a:p>
                <a:pPr marL="285750" indent="-285750">
                  <a:buFont typeface="Arial" panose="020B0604020202020204" pitchFamily="34" charset="0"/>
                  <a:buChar char="•"/>
                </a:pPr>
                <a:r>
                  <a:rPr lang="fr-FR" sz="1600" u="sng" dirty="0" err="1"/>
                  <a:t>Regression</a:t>
                </a:r>
                <a:r>
                  <a:rPr lang="fr-FR" sz="1600" u="sng" dirty="0"/>
                  <a:t> </a:t>
                </a:r>
                <a:r>
                  <a:rPr lang="fr-FR" sz="1600" u="sng" dirty="0" err="1"/>
                  <a:t>models</a:t>
                </a:r>
                <a:r>
                  <a:rPr lang="fr-FR" sz="1600" u="sng" dirty="0"/>
                  <a:t> </a:t>
                </a:r>
                <a:r>
                  <a:rPr lang="fr-FR" sz="1600" u="sng" dirty="0" err="1"/>
                  <a:t>considered</a:t>
                </a:r>
                <a:r>
                  <a:rPr lang="fr-FR" sz="1600" u="sng" dirty="0"/>
                  <a:t>:</a:t>
                </a:r>
                <a:r>
                  <a:rPr lang="fr-FR" sz="1600" dirty="0"/>
                  <a:t> </a:t>
                </a:r>
                <a:r>
                  <a:rPr lang="fr-FR" sz="1800" dirty="0">
                    <a:effectLst/>
                    <a:latin typeface="Calibri" panose="020F0502020204030204" pitchFamily="34" charset="0"/>
                    <a:ea typeface="Calibri" panose="020F0502020204030204" pitchFamily="34" charset="0"/>
                    <a:cs typeface="Times New Roman" panose="02020603050405020304" pitchFamily="18" charset="0"/>
                  </a:rPr>
                  <a:t>(</a:t>
                </a:r>
                <a:r>
                  <a:rPr lang="fr-FR" sz="1800" b="1" dirty="0">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1</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3</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4</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a:effectLst/>
                    <a:latin typeface="Calibri" panose="020F0502020204030204" pitchFamily="34" charset="0"/>
                    <a:ea typeface="Calibri" panose="020F0502020204030204" pitchFamily="34" charset="0"/>
                  </a:rPr>
                  <a:t>→</a:t>
                </a:r>
                <a:r>
                  <a:rPr lang="fr-FR" sz="1800" b="1" dirty="0">
                    <a:effectLst/>
                    <a:latin typeface="Calibri" panose="020F0502020204030204" pitchFamily="34" charset="0"/>
                    <a:ea typeface="Calibri" panose="020F0502020204030204" pitchFamily="34" charset="0"/>
                    <a:cs typeface="Times New Roman" panose="02020603050405020304" pitchFamily="18" charset="0"/>
                  </a:rPr>
                  <a:t> </a:t>
                </a:r>
                <a:r>
                  <a:rPr lang="fr-FR" sz="1800" b="1" dirty="0" err="1">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err="1">
                    <a:effectLst/>
                    <a:latin typeface="Calibri" panose="020F0502020204030204" pitchFamily="34" charset="0"/>
                    <a:ea typeface="Calibri" panose="020F0502020204030204" pitchFamily="34" charset="0"/>
                    <a:cs typeface="Times New Roman" panose="02020603050405020304" pitchFamily="18" charset="0"/>
                  </a:rPr>
                  <a:t>y</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3</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4</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a:effectLst/>
                    <a:latin typeface="Calibri" panose="020F0502020204030204" pitchFamily="34" charset="0"/>
                    <a:ea typeface="Calibri" panose="020F0502020204030204" pitchFamily="34" charset="0"/>
                  </a:rPr>
                  <a:t>→</a:t>
                </a:r>
                <a:r>
                  <a:rPr lang="fr-FR" sz="1800" b="1" dirty="0">
                    <a:effectLst/>
                    <a:latin typeface="Calibri" panose="020F0502020204030204" pitchFamily="34" charset="0"/>
                    <a:ea typeface="Calibri" panose="020F0502020204030204" pitchFamily="34" charset="0"/>
                    <a:cs typeface="Times New Roman" panose="02020603050405020304" pitchFamily="18" charset="0"/>
                  </a:rPr>
                  <a:t> 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1</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3</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4</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a:effectLst/>
                    <a:latin typeface="Calibri" panose="020F0502020204030204" pitchFamily="34" charset="0"/>
                    <a:ea typeface="Calibri" panose="020F0502020204030204" pitchFamily="34" charset="0"/>
                  </a:rPr>
                  <a:t>→</a:t>
                </a:r>
                <a:r>
                  <a:rPr lang="fr-FR" sz="1800" b="1" dirty="0">
                    <a:effectLst/>
                    <a:latin typeface="Calibri" panose="020F0502020204030204" pitchFamily="34" charset="0"/>
                    <a:ea typeface="Calibri" panose="020F0502020204030204" pitchFamily="34" charset="0"/>
                    <a:cs typeface="Times New Roman" panose="02020603050405020304" pitchFamily="18" charset="0"/>
                  </a:rPr>
                  <a:t> 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3</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a:effectLst/>
                    <a:latin typeface="Calibri" panose="020F0502020204030204" pitchFamily="34" charset="0"/>
                    <a:ea typeface="Calibri" panose="020F0502020204030204" pitchFamily="34" charset="0"/>
                  </a:rPr>
                  <a:t>→</a:t>
                </a:r>
                <a:r>
                  <a:rPr lang="fr-FR" sz="1800" b="1" dirty="0">
                    <a:effectLst/>
                    <a:latin typeface="Calibri" panose="020F0502020204030204" pitchFamily="34" charset="0"/>
                    <a:ea typeface="Calibri" panose="020F0502020204030204" pitchFamily="34" charset="0"/>
                    <a:cs typeface="Times New Roman" panose="02020603050405020304" pitchFamily="18" charset="0"/>
                  </a:rPr>
                  <a:t> 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4</a:t>
                </a:r>
                <a:r>
                  <a:rPr lang="fr-FR" sz="1800" dirty="0">
                    <a:effectLst/>
                    <a:latin typeface="Calibri" panose="020F0502020204030204" pitchFamily="34" charset="0"/>
                    <a:ea typeface="Calibri" panose="020F0502020204030204" pitchFamily="34" charset="0"/>
                    <a:cs typeface="Times New Roman" panose="02020603050405020304" pitchFamily="18" charset="0"/>
                  </a:rPr>
                  <a:t> and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b="1" dirty="0">
                    <a:effectLst/>
                    <a:latin typeface="Calibri" panose="020F0502020204030204" pitchFamily="34" charset="0"/>
                    <a:ea typeface="Calibri" panose="020F0502020204030204" pitchFamily="34" charset="0"/>
                    <a:cs typeface="Times New Roman" panose="02020603050405020304" pitchFamily="18" charset="0"/>
                  </a:rPr>
                  <a:t>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4</a:t>
                </a: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a:effectLst/>
                    <a:latin typeface="Calibri" panose="020F0502020204030204" pitchFamily="34" charset="0"/>
                    <a:ea typeface="Calibri" panose="020F0502020204030204" pitchFamily="34" charset="0"/>
                  </a:rPr>
                  <a:t>→</a:t>
                </a:r>
                <a:r>
                  <a:rPr lang="fr-FR" sz="1800" b="1" dirty="0">
                    <a:effectLst/>
                    <a:latin typeface="Calibri" panose="020F0502020204030204" pitchFamily="34" charset="0"/>
                    <a:ea typeface="Calibri" panose="020F0502020204030204" pitchFamily="34" charset="0"/>
                    <a:cs typeface="Times New Roman" panose="02020603050405020304" pitchFamily="18" charset="0"/>
                  </a:rPr>
                  <a:t> t</a:t>
                </a:r>
                <a:r>
                  <a:rPr lang="fr-FR" sz="1800" b="1" baseline="-25000" dirty="0">
                    <a:effectLst/>
                    <a:latin typeface="Calibri" panose="020F0502020204030204" pitchFamily="34" charset="0"/>
                    <a:ea typeface="Calibri" panose="020F0502020204030204" pitchFamily="34" charset="0"/>
                    <a:cs typeface="Times New Roman" panose="02020603050405020304" pitchFamily="18" charset="0"/>
                  </a:rPr>
                  <a:t>3.</a:t>
                </a:r>
                <a:br>
                  <a:rPr lang="fr-FR" sz="1600" b="1" u="sng" baseline="-25000" dirty="0">
                    <a:effectLst/>
                    <a:latin typeface="Calibri" panose="020F0502020204030204" pitchFamily="34" charset="0"/>
                    <a:ea typeface="Calibri" panose="020F0502020204030204" pitchFamily="34" charset="0"/>
                    <a:cs typeface="Times New Roman" panose="02020603050405020304" pitchFamily="18" charset="0"/>
                  </a:rPr>
                </a:br>
                <a:r>
                  <a:rPr lang="fr-FR" sz="2400" baseline="-25000" dirty="0">
                    <a:effectLst/>
                    <a:latin typeface="Calibri" panose="020F0502020204030204" pitchFamily="34" charset="0"/>
                    <a:ea typeface="Calibri" panose="020F0502020204030204" pitchFamily="34" charset="0"/>
                    <a:cs typeface="Times New Roman" panose="02020603050405020304" pitchFamily="18" charset="0"/>
                  </a:rPr>
                  <a:t>Solutions are </a:t>
                </a:r>
                <a:r>
                  <a:rPr lang="fr-FR" sz="2400" baseline="-25000" dirty="0" err="1">
                    <a:effectLst/>
                    <a:latin typeface="Calibri" panose="020F0502020204030204" pitchFamily="34" charset="0"/>
                    <a:ea typeface="Calibri" panose="020F0502020204030204" pitchFamily="34" charset="0"/>
                    <a:cs typeface="Times New Roman" panose="02020603050405020304" pitchFamily="18" charset="0"/>
                  </a:rPr>
                  <a:t>obtained</a:t>
                </a:r>
                <a:r>
                  <a:rPr lang="fr-FR" sz="2400" baseline="-25000" dirty="0">
                    <a:effectLst/>
                    <a:latin typeface="Calibri" panose="020F0502020204030204" pitchFamily="34" charset="0"/>
                    <a:ea typeface="Calibri" panose="020F0502020204030204" pitchFamily="34" charset="0"/>
                    <a:cs typeface="Times New Roman" panose="02020603050405020304" pitchFamily="18" charset="0"/>
                  </a:rPr>
                  <a:t> by an </a:t>
                </a:r>
                <a:r>
                  <a:rPr lang="fr-FR" sz="2400" baseline="-25000" dirty="0" err="1">
                    <a:effectLst/>
                    <a:latin typeface="Calibri" panose="020F0502020204030204" pitchFamily="34" charset="0"/>
                    <a:ea typeface="Calibri" panose="020F0502020204030204" pitchFamily="34" charset="0"/>
                    <a:cs typeface="Times New Roman" panose="02020603050405020304" pitchFamily="18" charset="0"/>
                  </a:rPr>
                  <a:t>Alternating</a:t>
                </a:r>
                <a:r>
                  <a:rPr lang="fr-FR" sz="2400" baseline="-25000" dirty="0">
                    <a:effectLst/>
                    <a:latin typeface="Calibri" panose="020F0502020204030204" pitchFamily="34" charset="0"/>
                    <a:ea typeface="Calibri" panose="020F0502020204030204" pitchFamily="34" charset="0"/>
                    <a:cs typeface="Times New Roman" panose="02020603050405020304" pitchFamily="18" charset="0"/>
                  </a:rPr>
                  <a:t> Least square </a:t>
                </a:r>
                <a:r>
                  <a:rPr lang="fr-FR" sz="2400" baseline="-25000" dirty="0" err="1">
                    <a:effectLst/>
                    <a:latin typeface="Calibri" panose="020F0502020204030204" pitchFamily="34" charset="0"/>
                    <a:ea typeface="Calibri" panose="020F0502020204030204" pitchFamily="34" charset="0"/>
                    <a:cs typeface="Times New Roman" panose="02020603050405020304" pitchFamily="18" charset="0"/>
                  </a:rPr>
                  <a:t>Algorithm</a:t>
                </a:r>
                <a:r>
                  <a:rPr lang="fr-FR" sz="2400" baseline="-25000" dirty="0">
                    <a:effectLst/>
                    <a:latin typeface="Calibri" panose="020F0502020204030204" pitchFamily="34" charset="0"/>
                    <a:ea typeface="Calibri" panose="020F0502020204030204" pitchFamily="34" charset="0"/>
                    <a:cs typeface="Times New Roman" panose="02020603050405020304" pitchFamily="18" charset="0"/>
                  </a:rPr>
                  <a:t>. Once Path Coefficients </a:t>
                </a:r>
                <a:r>
                  <a:rPr lang="fr-FR" sz="2400" baseline="-25000" dirty="0" err="1">
                    <a:effectLst/>
                    <a:latin typeface="Calibri" panose="020F0502020204030204" pitchFamily="34" charset="0"/>
                    <a:ea typeface="Calibri" panose="020F0502020204030204" pitchFamily="34" charset="0"/>
                    <a:cs typeface="Times New Roman" panose="02020603050405020304" pitchFamily="18" charset="0"/>
                  </a:rPr>
                  <a:t>estimated</a:t>
                </a:r>
                <a:r>
                  <a:rPr lang="fr-FR" sz="2400" baseline="-25000" dirty="0">
                    <a:effectLst/>
                    <a:latin typeface="Calibri" panose="020F0502020204030204" pitchFamily="34" charset="0"/>
                    <a:ea typeface="Calibri" panose="020F0502020204030204" pitchFamily="34" charset="0"/>
                    <a:cs typeface="Times New Roman" panose="02020603050405020304" pitchFamily="18" charset="0"/>
                  </a:rPr>
                  <a:t>, </a:t>
                </a:r>
                <a:r>
                  <a:rPr lang="fr-FR" sz="2400" baseline="-25000" dirty="0" err="1">
                    <a:effectLst/>
                    <a:latin typeface="Calibri" panose="020F0502020204030204" pitchFamily="34" charset="0"/>
                    <a:ea typeface="Calibri" panose="020F0502020204030204" pitchFamily="34" charset="0"/>
                    <a:cs typeface="Times New Roman" panose="02020603050405020304" pitchFamily="18" charset="0"/>
                  </a:rPr>
                  <a:t>those</a:t>
                </a:r>
                <a:r>
                  <a:rPr lang="fr-FR" sz="2400" baseline="-25000" dirty="0">
                    <a:effectLst/>
                    <a:latin typeface="Calibri" panose="020F0502020204030204" pitchFamily="34" charset="0"/>
                    <a:ea typeface="Calibri" panose="020F0502020204030204" pitchFamily="34" charset="0"/>
                    <a:cs typeface="Times New Roman" panose="02020603050405020304" pitchFamily="18" charset="0"/>
                  </a:rPr>
                  <a:t> </a:t>
                </a:r>
                <a:r>
                  <a:rPr lang="fr-FR" sz="2400" baseline="-25000" dirty="0" err="1">
                    <a:effectLst/>
                    <a:latin typeface="Calibri" panose="020F0502020204030204" pitchFamily="34" charset="0"/>
                    <a:ea typeface="Calibri" panose="020F0502020204030204" pitchFamily="34" charset="0"/>
                    <a:cs typeface="Times New Roman" panose="02020603050405020304" pitchFamily="18" charset="0"/>
                  </a:rPr>
                  <a:t>who</a:t>
                </a:r>
                <a:r>
                  <a:rPr lang="fr-FR" sz="2400" baseline="-25000" dirty="0">
                    <a:effectLst/>
                    <a:latin typeface="Calibri" panose="020F0502020204030204" pitchFamily="34" charset="0"/>
                    <a:ea typeface="Calibri" panose="020F0502020204030204" pitchFamily="34" charset="0"/>
                    <a:cs typeface="Times New Roman" panose="02020603050405020304" pitchFamily="18" charset="0"/>
                  </a:rPr>
                  <a:t> are close to 0 are </a:t>
                </a:r>
                <a:r>
                  <a:rPr lang="fr-FR" sz="2400" baseline="-25000" dirty="0" err="1">
                    <a:effectLst/>
                    <a:latin typeface="Calibri" panose="020F0502020204030204" pitchFamily="34" charset="0"/>
                    <a:ea typeface="Calibri" panose="020F0502020204030204" pitchFamily="34" charset="0"/>
                    <a:cs typeface="Times New Roman" panose="02020603050405020304" pitchFamily="18" charset="0"/>
                  </a:rPr>
                  <a:t>eliminated</a:t>
                </a:r>
                <a:r>
                  <a:rPr lang="fr-FR" sz="2400" baseline="-25000" dirty="0">
                    <a:effectLst/>
                    <a:latin typeface="Calibri" panose="020F0502020204030204" pitchFamily="34" charset="0"/>
                    <a:ea typeface="Calibri" panose="020F0502020204030204" pitchFamily="34" charset="0"/>
                    <a:cs typeface="Times New Roman" panose="02020603050405020304" pitchFamily="18" charset="0"/>
                  </a:rPr>
                  <a:t> and a new model </a:t>
                </a:r>
                <a:r>
                  <a:rPr lang="fr-FR" sz="2400" baseline="-25000" dirty="0" err="1">
                    <a:effectLst/>
                    <a:latin typeface="Calibri" panose="020F0502020204030204" pitchFamily="34" charset="0"/>
                    <a:ea typeface="Calibri" panose="020F0502020204030204" pitchFamily="34" charset="0"/>
                    <a:cs typeface="Times New Roman" panose="02020603050405020304" pitchFamily="18" charset="0"/>
                  </a:rPr>
                  <a:t>is</a:t>
                </a:r>
                <a:r>
                  <a:rPr lang="fr-FR" sz="2400" baseline="-25000" dirty="0">
                    <a:effectLst/>
                    <a:latin typeface="Calibri" panose="020F0502020204030204" pitchFamily="34" charset="0"/>
                    <a:ea typeface="Calibri" panose="020F0502020204030204" pitchFamily="34" charset="0"/>
                    <a:cs typeface="Times New Roman" panose="02020603050405020304" pitchFamily="18" charset="0"/>
                  </a:rPr>
                  <a:t> </a:t>
                </a:r>
                <a:r>
                  <a:rPr lang="fr-FR" sz="2400" baseline="-25000" dirty="0" err="1">
                    <a:effectLst/>
                    <a:latin typeface="Calibri" panose="020F0502020204030204" pitchFamily="34" charset="0"/>
                    <a:ea typeface="Calibri" panose="020F0502020204030204" pitchFamily="34" charset="0"/>
                    <a:cs typeface="Times New Roman" panose="02020603050405020304" pitchFamily="18" charset="0"/>
                  </a:rPr>
                  <a:t>recomputed</a:t>
                </a:r>
                <a:r>
                  <a:rPr lang="fr-FR" sz="2400" baseline="-25000" dirty="0">
                    <a:effectLst/>
                    <a:latin typeface="Calibri" panose="020F0502020204030204" pitchFamily="34" charset="0"/>
                    <a:ea typeface="Calibri" panose="020F0502020204030204" pitchFamily="34" charset="0"/>
                    <a:cs typeface="Times New Roman" panose="02020603050405020304" pitchFamily="18" charset="0"/>
                  </a:rPr>
                  <a:t> </a:t>
                </a:r>
                <a:r>
                  <a:rPr lang="fr-FR" sz="2400" baseline="-25000" dirty="0" err="1">
                    <a:effectLst/>
                    <a:latin typeface="Calibri" panose="020F0502020204030204" pitchFamily="34" charset="0"/>
                    <a:ea typeface="Calibri" panose="020F0502020204030204" pitchFamily="34" charset="0"/>
                    <a:cs typeface="Times New Roman" panose="02020603050405020304" pitchFamily="18" charset="0"/>
                  </a:rPr>
                  <a:t>without</a:t>
                </a:r>
                <a:r>
                  <a:rPr lang="fr-FR" sz="2400" baseline="-25000" dirty="0">
                    <a:effectLst/>
                    <a:latin typeface="Calibri" panose="020F0502020204030204" pitchFamily="34" charset="0"/>
                    <a:ea typeface="Calibri" panose="020F0502020204030204" pitchFamily="34" charset="0"/>
                    <a:cs typeface="Times New Roman" panose="02020603050405020304" pitchFamily="18" charset="0"/>
                  </a:rPr>
                  <a:t> </a:t>
                </a:r>
                <a:r>
                  <a:rPr lang="fr-FR" sz="2400" baseline="-25000" dirty="0" err="1">
                    <a:effectLst/>
                    <a:latin typeface="Calibri" panose="020F0502020204030204" pitchFamily="34" charset="0"/>
                    <a:ea typeface="Calibri" panose="020F0502020204030204" pitchFamily="34" charset="0"/>
                    <a:cs typeface="Times New Roman" panose="02020603050405020304" pitchFamily="18" charset="0"/>
                  </a:rPr>
                  <a:t>these</a:t>
                </a:r>
                <a:r>
                  <a:rPr lang="fr-FR" sz="2400" baseline="-25000" dirty="0">
                    <a:effectLst/>
                    <a:latin typeface="Calibri" panose="020F0502020204030204" pitchFamily="34" charset="0"/>
                    <a:ea typeface="Calibri" panose="020F0502020204030204" pitchFamily="34" charset="0"/>
                    <a:cs typeface="Times New Roman" panose="02020603050405020304" pitchFamily="18" charset="0"/>
                  </a:rPr>
                  <a:t> links.</a:t>
                </a:r>
              </a:p>
            </p:txBody>
          </p:sp>
        </mc:Choice>
        <mc:Fallback xmlns="">
          <p:sp>
            <p:nvSpPr>
              <p:cNvPr id="3" name="ZoneTexte 2">
                <a:extLst>
                  <a:ext uri="{FF2B5EF4-FFF2-40B4-BE49-F238E27FC236}">
                    <a16:creationId xmlns:a16="http://schemas.microsoft.com/office/drawing/2014/main" id="{1BA99191-B606-4EBE-8403-A898E492C95F}"/>
                  </a:ext>
                </a:extLst>
              </p:cNvPr>
              <p:cNvSpPr txBox="1">
                <a:spLocks noRot="1" noChangeAspect="1" noMove="1" noResize="1" noEditPoints="1" noAdjustHandles="1" noChangeArrowheads="1" noChangeShapeType="1" noTextEdit="1"/>
              </p:cNvSpPr>
              <p:nvPr/>
            </p:nvSpPr>
            <p:spPr>
              <a:xfrm>
                <a:off x="97008" y="711200"/>
                <a:ext cx="6854670" cy="4103303"/>
              </a:xfrm>
              <a:prstGeom prst="rect">
                <a:avLst/>
              </a:prstGeom>
              <a:blipFill>
                <a:blip r:embed="rId4"/>
                <a:stretch>
                  <a:fillRect l="-356" t="-2823" r="-534" b="-282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A19FF511-AECD-4F4E-BB61-E22031342C38}"/>
                  </a:ext>
                </a:extLst>
              </p:cNvPr>
              <p:cNvSpPr txBox="1"/>
              <p:nvPr/>
            </p:nvSpPr>
            <p:spPr>
              <a:xfrm>
                <a:off x="97008" y="4953000"/>
                <a:ext cx="6710192" cy="1408334"/>
              </a:xfrm>
              <a:prstGeom prst="rect">
                <a:avLst/>
              </a:prstGeom>
              <a:noFill/>
            </p:spPr>
            <p:txBody>
              <a:bodyPr wrap="square" rtlCol="0">
                <a:spAutoFit/>
              </a:bodyPr>
              <a:lstStyle/>
              <a:p>
                <a:pPr marL="285750" indent="-285750">
                  <a:buFont typeface="Arial" panose="020B0604020202020204" pitchFamily="34" charset="0"/>
                  <a:buChar char="•"/>
                </a:pPr>
                <a:r>
                  <a:rPr lang="fr-FR" sz="1600" u="sng" dirty="0"/>
                  <a:t>Regression coefficients </a:t>
                </a:r>
                <a:r>
                  <a:rPr lang="fr-FR" sz="1600" u="sng" dirty="0" err="1"/>
                  <a:t>betwenn</a:t>
                </a:r>
                <a:r>
                  <a:rPr lang="fr-FR" sz="1600" u="sng" dirty="0"/>
                  <a:t> fPC1:</a:t>
                </a:r>
                <a:r>
                  <a:rPr lang="fr-FR" sz="1600" dirty="0"/>
                  <a:t> It </a:t>
                </a:r>
                <a:r>
                  <a:rPr lang="fr-FR" sz="1600" dirty="0" err="1"/>
                  <a:t>is</a:t>
                </a:r>
                <a:r>
                  <a:rPr lang="fr-FR" sz="1600" dirty="0"/>
                  <a:t> possible to </a:t>
                </a:r>
                <a:r>
                  <a:rPr lang="fr-FR" sz="1600" dirty="0" err="1"/>
                  <a:t>calculate</a:t>
                </a:r>
                <a:r>
                  <a:rPr lang="fr-FR" sz="1600" dirty="0"/>
                  <a:t> </a:t>
                </a:r>
                <a:r>
                  <a:rPr lang="fr-FR" sz="1600" dirty="0" err="1"/>
                  <a:t>regression</a:t>
                </a:r>
                <a:r>
                  <a:rPr lang="fr-FR" sz="1600" dirty="0"/>
                  <a:t> coefficients </a:t>
                </a:r>
                <a:r>
                  <a:rPr lang="fr-FR" sz="1600" dirty="0" err="1"/>
                  <a:t>between</a:t>
                </a:r>
                <a:r>
                  <a:rPr lang="fr-FR" sz="1600" dirty="0"/>
                  <a:t> fPC1 </a:t>
                </a:r>
                <a:r>
                  <a:rPr lang="fr-FR" sz="1600" dirty="0" err="1"/>
                  <a:t>from</a:t>
                </a:r>
                <a:r>
                  <a:rPr lang="fr-FR" sz="1600" dirty="0"/>
                  <a:t> a block i and fPC1 </a:t>
                </a:r>
                <a:r>
                  <a:rPr lang="fr-FR" sz="1600" dirty="0" err="1"/>
                  <a:t>from</a:t>
                </a:r>
                <a:r>
                  <a:rPr lang="fr-FR" sz="1600" dirty="0"/>
                  <a:t> </a:t>
                </a:r>
                <a:r>
                  <a:rPr lang="fr-FR" sz="1600" dirty="0" err="1"/>
                  <a:t>another</a:t>
                </a:r>
                <a:r>
                  <a:rPr lang="fr-FR" sz="1600" dirty="0"/>
                  <a:t> block j. For </a:t>
                </a:r>
                <a:r>
                  <a:rPr lang="fr-FR" sz="1600" dirty="0" err="1"/>
                  <a:t>that</a:t>
                </a:r>
                <a:r>
                  <a:rPr lang="fr-FR" sz="1600" dirty="0"/>
                  <a:t> </a:t>
                </a:r>
                <a:r>
                  <a:rPr lang="fr-FR" sz="1600" dirty="0" err="1"/>
                  <a:t>we</a:t>
                </a:r>
                <a:r>
                  <a:rPr lang="fr-FR" sz="1600" dirty="0"/>
                  <a:t> can </a:t>
                </a:r>
                <a:r>
                  <a:rPr lang="fr-FR" sz="1600" dirty="0" err="1"/>
                  <a:t>apply</a:t>
                </a:r>
                <a:r>
                  <a:rPr lang="fr-FR" sz="1600" dirty="0"/>
                  <a:t> </a:t>
                </a:r>
                <a:r>
                  <a:rPr lang="fr-FR" sz="1600" dirty="0" err="1"/>
                  <a:t>this</a:t>
                </a:r>
                <a:r>
                  <a:rPr lang="fr-FR" sz="1600" dirty="0"/>
                  <a:t> formula</a:t>
                </a:r>
                <a:r>
                  <a:rPr lang="fr-FR" sz="1600" baseline="30000" dirty="0"/>
                  <a:t>4</a:t>
                </a:r>
                <a:r>
                  <a:rPr lang="fr-FR" sz="1600" dirty="0"/>
                  <a:t>:</a:t>
                </a:r>
                <a:br>
                  <a:rPr lang="fr-FR" sz="1600" dirty="0"/>
                </a:br>
                <a:br>
                  <a:rPr lang="fr-FR" sz="1600" u="sng" dirty="0"/>
                </a:br>
                <a14:m>
                  <m:oMath xmlns:m="http://schemas.openxmlformats.org/officeDocument/2006/math">
                    <m:sSub>
                      <m:sSubPr>
                        <m:ctrlPr>
                          <a:rPr lang="fr-FR" sz="1600" i="1" smtClean="0">
                            <a:latin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𝛽</m:t>
                        </m:r>
                      </m:e>
                      <m:sub>
                        <m:r>
                          <a:rPr lang="fr-FR" sz="1600" b="0" i="1" smtClean="0">
                            <a:latin typeface="Cambria Math" panose="02040503050406030204" pitchFamily="18" charset="0"/>
                          </a:rPr>
                          <m:t>𝑖𝑗</m:t>
                        </m:r>
                      </m:sub>
                    </m:sSub>
                    <m:r>
                      <a:rPr lang="fr-FR" sz="1600" b="0" i="1" smtClean="0">
                        <a:latin typeface="Cambria Math" panose="02040503050406030204" pitchFamily="18" charset="0"/>
                      </a:rPr>
                      <m:t>= </m:t>
                    </m:r>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𝑏</m:t>
                        </m:r>
                      </m:e>
                      <m:sub>
                        <m:r>
                          <a:rPr lang="fr-FR" sz="1600" b="0" i="1" smtClean="0">
                            <a:latin typeface="Cambria Math" panose="02040503050406030204" pitchFamily="18" charset="0"/>
                          </a:rPr>
                          <m:t>𝑖𝑗</m:t>
                        </m:r>
                      </m:sub>
                    </m:sSub>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𝑤</m:t>
                        </m:r>
                      </m:e>
                      <m:sub>
                        <m:r>
                          <a:rPr lang="fr-FR" sz="1600" b="0" i="1" smtClean="0">
                            <a:latin typeface="Cambria Math" panose="02040503050406030204" pitchFamily="18" charset="0"/>
                          </a:rPr>
                          <m:t>𝑖</m:t>
                        </m:r>
                      </m:sub>
                    </m:sSub>
                    <m:sSubSup>
                      <m:sSubSupPr>
                        <m:ctrlPr>
                          <a:rPr lang="fr-FR" sz="1600" b="0" i="1" smtClean="0">
                            <a:latin typeface="Cambria Math" panose="02040503050406030204" pitchFamily="18" charset="0"/>
                          </a:rPr>
                        </m:ctrlPr>
                      </m:sSubSupPr>
                      <m:e>
                        <m:r>
                          <a:rPr lang="fr-FR" sz="1600" b="0" i="1" smtClean="0">
                            <a:latin typeface="Cambria Math" panose="02040503050406030204" pitchFamily="18" charset="0"/>
                          </a:rPr>
                          <m:t>𝑐</m:t>
                        </m:r>
                      </m:e>
                      <m:sub>
                        <m:r>
                          <a:rPr lang="fr-FR" sz="1600" b="0" i="1" smtClean="0">
                            <a:latin typeface="Cambria Math" panose="02040503050406030204" pitchFamily="18" charset="0"/>
                          </a:rPr>
                          <m:t>𝑗</m:t>
                        </m:r>
                      </m:sub>
                      <m:sup>
                        <m:r>
                          <a:rPr lang="fr-FR" sz="1600" b="0" i="1" smtClean="0">
                            <a:latin typeface="Cambria Math" panose="02040503050406030204" pitchFamily="18" charset="0"/>
                          </a:rPr>
                          <m:t>𝑇</m:t>
                        </m:r>
                      </m:sup>
                    </m:sSubSup>
                  </m:oMath>
                </a14:m>
                <a:endParaRPr lang="fr-FR" sz="1600" dirty="0"/>
              </a:p>
            </p:txBody>
          </p:sp>
        </mc:Choice>
        <mc:Fallback xmlns="">
          <p:sp>
            <p:nvSpPr>
              <p:cNvPr id="72" name="ZoneTexte 71">
                <a:extLst>
                  <a:ext uri="{FF2B5EF4-FFF2-40B4-BE49-F238E27FC236}">
                    <a16:creationId xmlns:a16="http://schemas.microsoft.com/office/drawing/2014/main" id="{A19FF511-AECD-4F4E-BB61-E22031342C38}"/>
                  </a:ext>
                </a:extLst>
              </p:cNvPr>
              <p:cNvSpPr txBox="1">
                <a:spLocks noRot="1" noChangeAspect="1" noMove="1" noResize="1" noEditPoints="1" noAdjustHandles="1" noChangeArrowheads="1" noChangeShapeType="1" noTextEdit="1"/>
              </p:cNvSpPr>
              <p:nvPr/>
            </p:nvSpPr>
            <p:spPr>
              <a:xfrm>
                <a:off x="97008" y="4953000"/>
                <a:ext cx="6710192" cy="1408334"/>
              </a:xfrm>
              <a:prstGeom prst="rect">
                <a:avLst/>
              </a:prstGeom>
              <a:blipFill>
                <a:blip r:embed="rId5"/>
                <a:stretch>
                  <a:fillRect l="-363" t="-1299" r="-272"/>
                </a:stretch>
              </a:blipFill>
            </p:spPr>
            <p:txBody>
              <a:bodyPr/>
              <a:lstStyle/>
              <a:p>
                <a:r>
                  <a:rPr lang="fr-FR">
                    <a:noFill/>
                  </a:rPr>
                  <a:t> </a:t>
                </a:r>
              </a:p>
            </p:txBody>
          </p:sp>
        </mc:Fallback>
      </mc:AlternateContent>
      <p:sp>
        <p:nvSpPr>
          <p:cNvPr id="73" name="Rectangle 72">
            <a:extLst>
              <a:ext uri="{FF2B5EF4-FFF2-40B4-BE49-F238E27FC236}">
                <a16:creationId xmlns:a16="http://schemas.microsoft.com/office/drawing/2014/main" id="{63B01D91-D991-4D20-BB40-8D9913CBA989}"/>
              </a:ext>
            </a:extLst>
          </p:cNvPr>
          <p:cNvSpPr/>
          <p:nvPr/>
        </p:nvSpPr>
        <p:spPr>
          <a:xfrm>
            <a:off x="2531533" y="5901267"/>
            <a:ext cx="1481667" cy="460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ZoneTexte 73">
            <a:extLst>
              <a:ext uri="{FF2B5EF4-FFF2-40B4-BE49-F238E27FC236}">
                <a16:creationId xmlns:a16="http://schemas.microsoft.com/office/drawing/2014/main" id="{2F4A2769-8D0D-4FD0-93C5-3C465C8E1732}"/>
              </a:ext>
            </a:extLst>
          </p:cNvPr>
          <p:cNvSpPr txBox="1"/>
          <p:nvPr/>
        </p:nvSpPr>
        <p:spPr>
          <a:xfrm>
            <a:off x="7302772" y="4315418"/>
            <a:ext cx="4538133" cy="1815882"/>
          </a:xfrm>
          <a:prstGeom prst="rect">
            <a:avLst/>
          </a:prstGeom>
          <a:solidFill>
            <a:srgbClr val="FFFACC"/>
          </a:solidFill>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fr-FR" sz="1600" u="sng" dirty="0"/>
              <a:t>FIT </a:t>
            </a:r>
            <a:r>
              <a:rPr lang="fr-FR" sz="1600" u="sng" dirty="0" err="1"/>
              <a:t>measures</a:t>
            </a:r>
            <a:endParaRPr lang="fr-FR" sz="1600" u="sng" dirty="0"/>
          </a:p>
          <a:p>
            <a:pPr marL="285750" indent="-285750">
              <a:buFont typeface="Arial" panose="020B0604020202020204" pitchFamily="34" charset="0"/>
              <a:buChar char="•"/>
            </a:pPr>
            <a:r>
              <a:rPr lang="fr-FR" sz="1600" u="sng" dirty="0"/>
              <a:t>FIT:</a:t>
            </a:r>
            <a:r>
              <a:rPr lang="fr-FR" sz="1600" dirty="0"/>
              <a:t> global FIT of the model (R2 </a:t>
            </a:r>
            <a:r>
              <a:rPr lang="fr-FR" sz="1600" dirty="0" err="1"/>
              <a:t>equivalent</a:t>
            </a:r>
            <a:r>
              <a:rPr lang="fr-FR" sz="1600" dirty="0"/>
              <a:t>)</a:t>
            </a:r>
          </a:p>
          <a:p>
            <a:pPr marL="285750" indent="-285750">
              <a:buFont typeface="Arial" panose="020B0604020202020204" pitchFamily="34" charset="0"/>
              <a:buChar char="•"/>
            </a:pPr>
            <a:r>
              <a:rPr lang="fr-FR" sz="1600" u="sng" dirty="0"/>
              <a:t>AFIT:</a:t>
            </a:r>
            <a:r>
              <a:rPr lang="fr-FR" sz="1600" baseline="30000" dirty="0"/>
              <a:t> </a:t>
            </a:r>
            <a:r>
              <a:rPr lang="fr-FR" sz="1600" dirty="0" err="1"/>
              <a:t>adjusted</a:t>
            </a:r>
            <a:r>
              <a:rPr lang="fr-FR" sz="1600" dirty="0"/>
              <a:t> FIT</a:t>
            </a:r>
          </a:p>
          <a:p>
            <a:pPr marL="285750" indent="-285750">
              <a:buFont typeface="Arial" panose="020B0604020202020204" pitchFamily="34" charset="0"/>
              <a:buChar char="•"/>
            </a:pPr>
            <a:r>
              <a:rPr lang="fr-FR" sz="1600" u="sng" dirty="0"/>
              <a:t>FIT M:</a:t>
            </a:r>
            <a:r>
              <a:rPr lang="fr-FR" sz="1600" dirty="0"/>
              <a:t> FIT of the </a:t>
            </a:r>
            <a:r>
              <a:rPr lang="fr-FR" sz="1600" dirty="0" err="1"/>
              <a:t>measurement</a:t>
            </a:r>
            <a:r>
              <a:rPr lang="fr-FR" sz="1600" dirty="0"/>
              <a:t> model (</a:t>
            </a:r>
            <a:r>
              <a:rPr lang="fr-FR" sz="1600" dirty="0" err="1"/>
              <a:t>from</a:t>
            </a:r>
            <a:r>
              <a:rPr lang="fr-FR" sz="1600" dirty="0"/>
              <a:t> latent variables to original fPC1).</a:t>
            </a:r>
          </a:p>
          <a:p>
            <a:pPr marL="285750" indent="-285750">
              <a:buFont typeface="Arial" panose="020B0604020202020204" pitchFamily="34" charset="0"/>
              <a:buChar char="•"/>
            </a:pPr>
            <a:r>
              <a:rPr lang="fr-FR" sz="1600" u="sng" dirty="0"/>
              <a:t>FIT S:</a:t>
            </a:r>
            <a:r>
              <a:rPr lang="fr-FR" sz="1600" dirty="0"/>
              <a:t> FIT of the structural model (</a:t>
            </a:r>
            <a:r>
              <a:rPr lang="fr-FR" sz="1600" dirty="0" err="1"/>
              <a:t>between</a:t>
            </a:r>
            <a:r>
              <a:rPr lang="fr-FR" sz="1600" dirty="0"/>
              <a:t> latent variables</a:t>
            </a:r>
          </a:p>
        </p:txBody>
      </p:sp>
    </p:spTree>
    <p:extLst>
      <p:ext uri="{BB962C8B-B14F-4D97-AF65-F5344CB8AC3E}">
        <p14:creationId xmlns:p14="http://schemas.microsoft.com/office/powerpoint/2010/main" val="1087076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ED82FD38-7D6B-4DC8-9FB6-E36A2700EE57}"/>
              </a:ext>
            </a:extLst>
          </p:cNvPr>
          <p:cNvSpPr>
            <a:spLocks noGrp="1"/>
          </p:cNvSpPr>
          <p:nvPr>
            <p:ph type="title"/>
          </p:nvPr>
        </p:nvSpPr>
        <p:spPr>
          <a:xfrm>
            <a:off x="479999" y="984000"/>
            <a:ext cx="11232000" cy="5395200"/>
          </a:xfrm>
        </p:spPr>
        <p:txBody>
          <a:bodyPr/>
          <a:lstStyle/>
          <a:p>
            <a:r>
              <a:rPr lang="fr-FR" sz="5333" dirty="0" err="1"/>
              <a:t>Results</a:t>
            </a:r>
            <a:endParaRPr lang="fr-FR" sz="5333" dirty="0"/>
          </a:p>
        </p:txBody>
      </p:sp>
    </p:spTree>
    <p:extLst>
      <p:ext uri="{BB962C8B-B14F-4D97-AF65-F5344CB8AC3E}">
        <p14:creationId xmlns:p14="http://schemas.microsoft.com/office/powerpoint/2010/main" val="1915617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a:t>fPC1 </a:t>
            </a:r>
            <a:r>
              <a:rPr lang="fr-FR" sz="2800" dirty="0" err="1"/>
              <a:t>interpretation</a:t>
            </a:r>
            <a:r>
              <a:rPr lang="fr-FR" sz="2800" dirty="0"/>
              <a:t> of </a:t>
            </a:r>
            <a:r>
              <a:rPr lang="fr-FR" sz="2800" dirty="0" err="1"/>
              <a:t>retained</a:t>
            </a:r>
            <a:r>
              <a:rPr lang="fr-FR" sz="2800" dirty="0"/>
              <a:t> variable</a:t>
            </a:r>
            <a:endParaRPr lang="fr-FR" dirty="0"/>
          </a:p>
        </p:txBody>
      </p:sp>
      <p:sp>
        <p:nvSpPr>
          <p:cNvPr id="2" name="ZoneTexte 1">
            <a:extLst>
              <a:ext uri="{FF2B5EF4-FFF2-40B4-BE49-F238E27FC236}">
                <a16:creationId xmlns:a16="http://schemas.microsoft.com/office/drawing/2014/main" id="{2126A8F8-27A3-411A-B855-21472B4CBE80}"/>
              </a:ext>
            </a:extLst>
          </p:cNvPr>
          <p:cNvSpPr txBox="1"/>
          <p:nvPr/>
        </p:nvSpPr>
        <p:spPr>
          <a:xfrm>
            <a:off x="812800" y="1769534"/>
            <a:ext cx="9177866" cy="369332"/>
          </a:xfrm>
          <a:prstGeom prst="rect">
            <a:avLst/>
          </a:prstGeom>
          <a:noFill/>
        </p:spPr>
        <p:txBody>
          <a:bodyPr wrap="square" rtlCol="0">
            <a:spAutoFit/>
          </a:bodyPr>
          <a:lstStyle/>
          <a:p>
            <a:pPr marL="285750" indent="-285750">
              <a:buFont typeface="Arial" panose="020B0604020202020204" pitchFamily="34" charset="0"/>
              <a:buChar char="•"/>
            </a:pPr>
            <a:endParaRPr lang="fr-FR" dirty="0"/>
          </a:p>
        </p:txBody>
      </p:sp>
      <p:pic>
        <p:nvPicPr>
          <p:cNvPr id="5" name="Image 4">
            <a:extLst>
              <a:ext uri="{FF2B5EF4-FFF2-40B4-BE49-F238E27FC236}">
                <a16:creationId xmlns:a16="http://schemas.microsoft.com/office/drawing/2014/main" id="{EA343796-DC16-4E7F-B642-893C444B8DC3}"/>
              </a:ext>
            </a:extLst>
          </p:cNvPr>
          <p:cNvPicPr>
            <a:picLocks noChangeAspect="1"/>
          </p:cNvPicPr>
          <p:nvPr/>
        </p:nvPicPr>
        <p:blipFill>
          <a:blip r:embed="rId3"/>
          <a:stretch>
            <a:fillRect/>
          </a:stretch>
        </p:blipFill>
        <p:spPr>
          <a:xfrm>
            <a:off x="0" y="619742"/>
            <a:ext cx="5719899" cy="4575918"/>
          </a:xfrm>
          <a:prstGeom prst="rect">
            <a:avLst/>
          </a:prstGeom>
        </p:spPr>
      </p:pic>
      <p:sp>
        <p:nvSpPr>
          <p:cNvPr id="7" name="ZoneTexte 6">
            <a:extLst>
              <a:ext uri="{FF2B5EF4-FFF2-40B4-BE49-F238E27FC236}">
                <a16:creationId xmlns:a16="http://schemas.microsoft.com/office/drawing/2014/main" id="{727CF907-F272-4F51-9FB3-84CC8F4795B9}"/>
              </a:ext>
            </a:extLst>
          </p:cNvPr>
          <p:cNvSpPr txBox="1"/>
          <p:nvPr/>
        </p:nvSpPr>
        <p:spPr>
          <a:xfrm>
            <a:off x="215670" y="5076737"/>
            <a:ext cx="5288558" cy="1569660"/>
          </a:xfrm>
          <a:prstGeom prst="rect">
            <a:avLst/>
          </a:prstGeom>
          <a:solidFill>
            <a:schemeClr val="accent1">
              <a:lumMod val="20000"/>
              <a:lumOff val="80000"/>
            </a:schemeClr>
          </a:solidFill>
          <a:ln>
            <a:solidFill>
              <a:schemeClr val="accent1"/>
            </a:solidFill>
          </a:ln>
        </p:spPr>
        <p:txBody>
          <a:bodyPr wrap="square" rtlCol="0">
            <a:spAutoFit/>
          </a:bodyPr>
          <a:lstStyle/>
          <a:p>
            <a:pPr marL="285750" indent="-285750">
              <a:buFont typeface="Arial" panose="020B0604020202020204" pitchFamily="34" charset="0"/>
              <a:buChar char="•"/>
            </a:pPr>
            <a:r>
              <a:rPr lang="fr-FR" sz="1600" dirty="0"/>
              <a:t>fPC1 </a:t>
            </a:r>
            <a:r>
              <a:rPr lang="fr-FR" sz="1600" dirty="0" err="1"/>
              <a:t>represents</a:t>
            </a:r>
            <a:r>
              <a:rPr lang="fr-FR" sz="1600" dirty="0"/>
              <a:t> the global </a:t>
            </a:r>
            <a:r>
              <a:rPr lang="fr-FR" sz="1600" dirty="0" err="1"/>
              <a:t>intensity</a:t>
            </a:r>
            <a:r>
              <a:rPr lang="fr-FR" sz="1600" dirty="0"/>
              <a:t> of </a:t>
            </a:r>
            <a:r>
              <a:rPr lang="fr-FR" sz="1600" dirty="0" err="1"/>
              <a:t>antimicrobial</a:t>
            </a:r>
            <a:r>
              <a:rPr lang="fr-FR" sz="1600" dirty="0"/>
              <a:t> </a:t>
            </a:r>
            <a:r>
              <a:rPr lang="fr-FR" sz="1600" dirty="0" err="1"/>
              <a:t>consumption</a:t>
            </a:r>
            <a:r>
              <a:rPr lang="fr-FR" sz="1600" dirty="0"/>
              <a:t> over the time </a:t>
            </a:r>
            <a:r>
              <a:rPr lang="fr-FR" sz="1600" dirty="0">
                <a:sym typeface="Wingdings" panose="05000000000000000000" pitchFamily="2" charset="2"/>
              </a:rPr>
              <a:t> PACA and Occitanie have a lot of </a:t>
            </a:r>
            <a:r>
              <a:rPr lang="fr-FR" sz="1600" dirty="0" err="1">
                <a:sym typeface="Wingdings" panose="05000000000000000000" pitchFamily="2" charset="2"/>
              </a:rPr>
              <a:t>consumption</a:t>
            </a:r>
            <a:r>
              <a:rPr lang="fr-FR" sz="1600" dirty="0">
                <a:sym typeface="Wingdings" panose="05000000000000000000" pitchFamily="2" charset="2"/>
              </a:rPr>
              <a:t> of fluoroquinolone in </a:t>
            </a:r>
            <a:r>
              <a:rPr lang="fr-FR" sz="1600" dirty="0" err="1">
                <a:sym typeface="Wingdings" panose="05000000000000000000" pitchFamily="2" charset="2"/>
              </a:rPr>
              <a:t>primary</a:t>
            </a:r>
            <a:r>
              <a:rPr lang="fr-FR" sz="1600" dirty="0">
                <a:sym typeface="Wingdings" panose="05000000000000000000" pitchFamily="2" charset="2"/>
              </a:rPr>
              <a:t> care setting </a:t>
            </a:r>
            <a:r>
              <a:rPr lang="fr-FR" sz="1600" dirty="0" err="1">
                <a:sym typeface="Wingdings" panose="05000000000000000000" pitchFamily="2" charset="2"/>
              </a:rPr>
              <a:t>whereas</a:t>
            </a:r>
            <a:r>
              <a:rPr lang="fr-FR" sz="1600" dirty="0">
                <a:sym typeface="Wingdings" panose="05000000000000000000" pitchFamily="2" charset="2"/>
              </a:rPr>
              <a:t> Bretagne and Pays de la Loire have few </a:t>
            </a:r>
            <a:r>
              <a:rPr lang="fr-FR" sz="1600" dirty="0" err="1">
                <a:sym typeface="Wingdings" panose="05000000000000000000" pitchFamily="2" charset="2"/>
              </a:rPr>
              <a:t>consumption</a:t>
            </a:r>
            <a:r>
              <a:rPr lang="fr-FR" sz="1600" dirty="0">
                <a:sym typeface="Wingdings" panose="05000000000000000000" pitchFamily="2" charset="2"/>
              </a:rPr>
              <a:t>.</a:t>
            </a:r>
            <a:endParaRPr lang="fr-FR" sz="1600" dirty="0"/>
          </a:p>
        </p:txBody>
      </p:sp>
      <p:pic>
        <p:nvPicPr>
          <p:cNvPr id="9" name="Image 8">
            <a:extLst>
              <a:ext uri="{FF2B5EF4-FFF2-40B4-BE49-F238E27FC236}">
                <a16:creationId xmlns:a16="http://schemas.microsoft.com/office/drawing/2014/main" id="{A9C09DE4-C70F-4142-9B20-FF104F7A6C51}"/>
              </a:ext>
            </a:extLst>
          </p:cNvPr>
          <p:cNvPicPr>
            <a:picLocks noChangeAspect="1"/>
          </p:cNvPicPr>
          <p:nvPr/>
        </p:nvPicPr>
        <p:blipFill>
          <a:blip r:embed="rId4"/>
          <a:stretch>
            <a:fillRect/>
          </a:stretch>
        </p:blipFill>
        <p:spPr>
          <a:xfrm>
            <a:off x="5922519" y="1051936"/>
            <a:ext cx="5869181" cy="5449532"/>
          </a:xfrm>
          <a:prstGeom prst="rect">
            <a:avLst/>
          </a:prstGeom>
        </p:spPr>
      </p:pic>
    </p:spTree>
    <p:extLst>
      <p:ext uri="{BB962C8B-B14F-4D97-AF65-F5344CB8AC3E}">
        <p14:creationId xmlns:p14="http://schemas.microsoft.com/office/powerpoint/2010/main" val="3915950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a:t>Final model</a:t>
            </a:r>
            <a:endParaRPr lang="fr-FR" dirty="0"/>
          </a:p>
        </p:txBody>
      </p:sp>
      <p:sp>
        <p:nvSpPr>
          <p:cNvPr id="2" name="ZoneTexte 1">
            <a:extLst>
              <a:ext uri="{FF2B5EF4-FFF2-40B4-BE49-F238E27FC236}">
                <a16:creationId xmlns:a16="http://schemas.microsoft.com/office/drawing/2014/main" id="{2126A8F8-27A3-411A-B855-21472B4CBE80}"/>
              </a:ext>
            </a:extLst>
          </p:cNvPr>
          <p:cNvSpPr txBox="1"/>
          <p:nvPr/>
        </p:nvSpPr>
        <p:spPr>
          <a:xfrm>
            <a:off x="812800" y="1769534"/>
            <a:ext cx="9177866" cy="369332"/>
          </a:xfrm>
          <a:prstGeom prst="rect">
            <a:avLst/>
          </a:prstGeom>
          <a:noFill/>
        </p:spPr>
        <p:txBody>
          <a:bodyPr wrap="square" rtlCol="0">
            <a:spAutoFit/>
          </a:bodyPr>
          <a:lstStyle/>
          <a:p>
            <a:pPr marL="285750" indent="-285750">
              <a:buFont typeface="Arial" panose="020B0604020202020204" pitchFamily="34" charset="0"/>
              <a:buChar char="•"/>
            </a:pPr>
            <a:endParaRPr lang="fr-FR" dirty="0"/>
          </a:p>
        </p:txBody>
      </p:sp>
      <p:pic>
        <p:nvPicPr>
          <p:cNvPr id="6" name="Image 5">
            <a:extLst>
              <a:ext uri="{FF2B5EF4-FFF2-40B4-BE49-F238E27FC236}">
                <a16:creationId xmlns:a16="http://schemas.microsoft.com/office/drawing/2014/main" id="{66E3D8DE-770F-4E1B-B84E-56A904C50D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2" y="445694"/>
            <a:ext cx="7315215" cy="5486411"/>
          </a:xfrm>
          <a:prstGeom prst="rect">
            <a:avLst/>
          </a:prstGeom>
        </p:spPr>
      </p:pic>
      <p:sp>
        <p:nvSpPr>
          <p:cNvPr id="5" name="ZoneTexte 4">
            <a:extLst>
              <a:ext uri="{FF2B5EF4-FFF2-40B4-BE49-F238E27FC236}">
                <a16:creationId xmlns:a16="http://schemas.microsoft.com/office/drawing/2014/main" id="{194D1D2C-D5E0-4CA5-977F-4A8BB6DCD024}"/>
              </a:ext>
            </a:extLst>
          </p:cNvPr>
          <p:cNvSpPr txBox="1"/>
          <p:nvPr/>
        </p:nvSpPr>
        <p:spPr>
          <a:xfrm>
            <a:off x="7306491" y="872745"/>
            <a:ext cx="4622319" cy="550920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fr-FR" sz="1600" u="sng" dirty="0" err="1"/>
              <a:t>Interpretation</a:t>
            </a:r>
            <a:br>
              <a:rPr lang="fr-FR" sz="1600" u="sng" dirty="0"/>
            </a:br>
            <a:endParaRPr lang="fr-FR" sz="1600" u="sng" dirty="0"/>
          </a:p>
          <a:p>
            <a:pPr marL="285750" indent="-285750">
              <a:buFont typeface="Arial" panose="020B0604020202020204" pitchFamily="34" charset="0"/>
              <a:buChar char="•"/>
            </a:pPr>
            <a:r>
              <a:rPr lang="fr-FR" sz="1600" dirty="0"/>
              <a:t>AMC </a:t>
            </a:r>
            <a:r>
              <a:rPr lang="fr-FR" sz="1600" dirty="0" err="1"/>
              <a:t>doesn’t</a:t>
            </a:r>
            <a:r>
              <a:rPr lang="fr-FR" sz="1600" dirty="0"/>
              <a:t> </a:t>
            </a:r>
            <a:r>
              <a:rPr lang="fr-FR" sz="1600" dirty="0" err="1"/>
              <a:t>explain</a:t>
            </a:r>
            <a:r>
              <a:rPr lang="fr-FR" sz="1600" dirty="0"/>
              <a:t> </a:t>
            </a:r>
            <a:r>
              <a:rPr lang="fr-FR" sz="1600" dirty="0" err="1"/>
              <a:t>very</a:t>
            </a:r>
            <a:r>
              <a:rPr lang="fr-FR" sz="1600" dirty="0"/>
              <a:t> </a:t>
            </a:r>
            <a:r>
              <a:rPr lang="fr-FR" sz="1600" dirty="0" err="1"/>
              <a:t>well</a:t>
            </a:r>
            <a:r>
              <a:rPr lang="fr-FR" sz="1600" dirty="0"/>
              <a:t> AMR, </a:t>
            </a:r>
            <a:r>
              <a:rPr lang="fr-FR" sz="1600" b="1" dirty="0" err="1"/>
              <a:t>it’s</a:t>
            </a:r>
            <a:r>
              <a:rPr lang="fr-FR" sz="1600" b="1" dirty="0"/>
              <a:t> more the </a:t>
            </a:r>
            <a:r>
              <a:rPr lang="fr-FR" sz="1600" b="1" dirty="0" err="1"/>
              <a:t>humans</a:t>
            </a:r>
            <a:r>
              <a:rPr lang="fr-FR" sz="1600" b="1" dirty="0"/>
              <a:t> block </a:t>
            </a:r>
            <a:r>
              <a:rPr lang="fr-FR" sz="1600" b="1" dirty="0" err="1"/>
              <a:t>which</a:t>
            </a:r>
            <a:r>
              <a:rPr lang="fr-FR" sz="1600" b="1" dirty="0"/>
              <a:t> </a:t>
            </a:r>
            <a:r>
              <a:rPr lang="fr-FR" sz="1600" b="1" dirty="0" err="1"/>
              <a:t>explain</a:t>
            </a:r>
            <a:r>
              <a:rPr lang="fr-FR" sz="1600" b="1" dirty="0"/>
              <a:t> </a:t>
            </a:r>
            <a:r>
              <a:rPr lang="fr-FR" sz="1600" b="1" dirty="0" err="1"/>
              <a:t>it</a:t>
            </a:r>
            <a:r>
              <a:rPr lang="fr-FR" sz="1600" b="1" dirty="0"/>
              <a:t> </a:t>
            </a:r>
            <a:r>
              <a:rPr lang="fr-FR" sz="1600" b="1" dirty="0" err="1"/>
              <a:t>well</a:t>
            </a:r>
            <a:r>
              <a:rPr lang="fr-FR" sz="1600" dirty="0"/>
              <a:t>. Indeed if in a </a:t>
            </a:r>
            <a:r>
              <a:rPr lang="fr-FR" sz="1600" dirty="0" err="1"/>
              <a:t>considered</a:t>
            </a:r>
            <a:r>
              <a:rPr lang="fr-FR" sz="1600" dirty="0"/>
              <a:t> </a:t>
            </a:r>
            <a:r>
              <a:rPr lang="fr-FR" sz="1600" dirty="0" err="1"/>
              <a:t>region</a:t>
            </a:r>
            <a:r>
              <a:rPr lang="fr-FR" sz="1600" dirty="0"/>
              <a:t>, </a:t>
            </a:r>
            <a:r>
              <a:rPr lang="fr-FR" sz="1600" dirty="0" err="1"/>
              <a:t>there</a:t>
            </a:r>
            <a:r>
              <a:rPr lang="fr-FR" sz="1600" dirty="0"/>
              <a:t> are a lot of </a:t>
            </a:r>
            <a:r>
              <a:rPr lang="fr-FR" sz="1600" dirty="0" err="1"/>
              <a:t>doctors</a:t>
            </a:r>
            <a:r>
              <a:rPr lang="fr-FR" sz="1600" dirty="0"/>
              <a:t> and people </a:t>
            </a:r>
            <a:r>
              <a:rPr lang="fr-FR" sz="1600" dirty="0" err="1"/>
              <a:t>doesn’t</a:t>
            </a:r>
            <a:r>
              <a:rPr lang="fr-FR" sz="1600" dirty="0"/>
              <a:t> trust in public institutions, </a:t>
            </a:r>
            <a:r>
              <a:rPr lang="fr-FR" sz="1600" dirty="0" err="1"/>
              <a:t>then</a:t>
            </a:r>
            <a:r>
              <a:rPr lang="fr-FR" sz="1600" dirty="0"/>
              <a:t> the </a:t>
            </a:r>
            <a:r>
              <a:rPr lang="fr-FR" sz="1600" dirty="0" err="1"/>
              <a:t>resistance</a:t>
            </a:r>
            <a:r>
              <a:rPr lang="fr-FR" sz="1600" dirty="0"/>
              <a:t> </a:t>
            </a:r>
            <a:r>
              <a:rPr lang="fr-FR" sz="1600" dirty="0" err="1"/>
              <a:t>is</a:t>
            </a:r>
            <a:r>
              <a:rPr lang="fr-FR" sz="1600" dirty="0"/>
              <a:t> high. In addition, </a:t>
            </a:r>
            <a:r>
              <a:rPr lang="fr-FR" sz="1600" dirty="0" err="1"/>
              <a:t>this</a:t>
            </a:r>
            <a:r>
              <a:rPr lang="fr-FR" sz="1600" dirty="0"/>
              <a:t> </a:t>
            </a:r>
            <a:r>
              <a:rPr lang="fr-FR" sz="1600" dirty="0" err="1"/>
              <a:t>humans</a:t>
            </a:r>
            <a:r>
              <a:rPr lang="fr-FR" sz="1600" dirty="0"/>
              <a:t> block have a </a:t>
            </a:r>
            <a:r>
              <a:rPr lang="fr-FR" sz="1600" dirty="0" err="1"/>
              <a:t>negative</a:t>
            </a:r>
            <a:r>
              <a:rPr lang="fr-FR" sz="1600" dirty="0"/>
              <a:t> </a:t>
            </a:r>
            <a:r>
              <a:rPr lang="fr-FR" sz="1600" dirty="0" err="1"/>
              <a:t>effect</a:t>
            </a:r>
            <a:r>
              <a:rPr lang="fr-FR" sz="1600" dirty="0"/>
              <a:t> on AMC.</a:t>
            </a:r>
            <a:br>
              <a:rPr lang="fr-FR" sz="1600" dirty="0"/>
            </a:br>
            <a:endParaRPr lang="fr-FR" sz="1600" dirty="0"/>
          </a:p>
          <a:p>
            <a:pPr marL="285750" indent="-285750">
              <a:buFont typeface="Arial" panose="020B0604020202020204" pitchFamily="34" charset="0"/>
              <a:buChar char="•"/>
            </a:pPr>
            <a:r>
              <a:rPr lang="fr-FR" sz="1600" b="1" dirty="0" err="1"/>
              <a:t>Environment</a:t>
            </a:r>
            <a:r>
              <a:rPr lang="fr-FR" sz="1600" b="1" dirty="0"/>
              <a:t> block has a positive </a:t>
            </a:r>
            <a:r>
              <a:rPr lang="fr-FR" sz="1600" b="1" dirty="0" err="1"/>
              <a:t>effect</a:t>
            </a:r>
            <a:r>
              <a:rPr lang="fr-FR" sz="1600" b="1" dirty="0"/>
              <a:t> on AMC and </a:t>
            </a:r>
            <a:r>
              <a:rPr lang="fr-FR" sz="1600" b="1" dirty="0" err="1"/>
              <a:t>humans</a:t>
            </a:r>
            <a:r>
              <a:rPr lang="fr-FR" sz="1600" b="1" dirty="0"/>
              <a:t> blocks but a </a:t>
            </a:r>
            <a:r>
              <a:rPr lang="fr-FR" sz="1600" b="1" dirty="0" err="1"/>
              <a:t>negative</a:t>
            </a:r>
            <a:r>
              <a:rPr lang="fr-FR" sz="1600" b="1" dirty="0"/>
              <a:t> </a:t>
            </a:r>
            <a:r>
              <a:rPr lang="fr-FR" sz="1600" b="1" dirty="0" err="1"/>
              <a:t>effect</a:t>
            </a:r>
            <a:r>
              <a:rPr lang="fr-FR" sz="1600" b="1" dirty="0"/>
              <a:t> on </a:t>
            </a:r>
            <a:r>
              <a:rPr lang="fr-FR" sz="1600" b="1" dirty="0" err="1"/>
              <a:t>animals</a:t>
            </a:r>
            <a:r>
              <a:rPr lang="fr-FR" sz="1600" b="1" dirty="0"/>
              <a:t> block</a:t>
            </a:r>
            <a:r>
              <a:rPr lang="fr-FR" sz="1600" dirty="0"/>
              <a:t>. That </a:t>
            </a:r>
            <a:r>
              <a:rPr lang="fr-FR" sz="1600" dirty="0" err="1"/>
              <a:t>is</a:t>
            </a:r>
            <a:r>
              <a:rPr lang="fr-FR" sz="1600" dirty="0"/>
              <a:t> </a:t>
            </a:r>
            <a:r>
              <a:rPr lang="fr-FR" sz="1600" dirty="0" err="1"/>
              <a:t>correlated</a:t>
            </a:r>
            <a:r>
              <a:rPr lang="fr-FR" sz="1600" dirty="0"/>
              <a:t> to </a:t>
            </a:r>
            <a:r>
              <a:rPr lang="fr-FR" sz="1600" dirty="0" err="1"/>
              <a:t>urbanism</a:t>
            </a:r>
            <a:r>
              <a:rPr lang="fr-FR" sz="1600" dirty="0"/>
              <a:t>/</a:t>
            </a:r>
            <a:r>
              <a:rPr lang="fr-FR" sz="1600" dirty="0" err="1"/>
              <a:t>rurality</a:t>
            </a:r>
            <a:r>
              <a:rPr lang="fr-FR" sz="1600" dirty="0"/>
              <a:t>.</a:t>
            </a:r>
            <a:br>
              <a:rPr lang="fr-FR" sz="1600" dirty="0"/>
            </a:br>
            <a:endParaRPr lang="fr-FR" sz="1600" dirty="0"/>
          </a:p>
          <a:p>
            <a:pPr marL="285750" indent="-285750">
              <a:buFont typeface="Arial" panose="020B0604020202020204" pitchFamily="34" charset="0"/>
              <a:buChar char="•"/>
            </a:pPr>
            <a:r>
              <a:rPr lang="fr-FR" sz="1600" b="1" dirty="0"/>
              <a:t>Limit</a:t>
            </a:r>
            <a:r>
              <a:rPr lang="fr-FR" sz="1600" dirty="0"/>
              <a:t>: </a:t>
            </a:r>
            <a:r>
              <a:rPr lang="fr-FR" sz="1600" dirty="0" err="1"/>
              <a:t>bootstrap</a:t>
            </a:r>
            <a:r>
              <a:rPr lang="fr-FR" sz="1600" dirty="0"/>
              <a:t> confidence </a:t>
            </a:r>
            <a:r>
              <a:rPr lang="fr-FR" sz="1600" dirty="0" err="1"/>
              <a:t>intervals</a:t>
            </a:r>
            <a:r>
              <a:rPr lang="fr-FR" sz="1600" dirty="0"/>
              <a:t> are not </a:t>
            </a:r>
            <a:r>
              <a:rPr lang="fr-FR" sz="1600" dirty="0" err="1"/>
              <a:t>represeneted</a:t>
            </a:r>
            <a:r>
              <a:rPr lang="fr-FR" sz="1600" dirty="0"/>
              <a:t> in </a:t>
            </a:r>
            <a:r>
              <a:rPr lang="fr-FR" sz="1600" dirty="0" err="1"/>
              <a:t>this</a:t>
            </a:r>
            <a:r>
              <a:rPr lang="fr-FR" sz="1600" dirty="0"/>
              <a:t> graph but </a:t>
            </a:r>
            <a:r>
              <a:rPr lang="fr-FR" sz="1600" dirty="0" err="1"/>
              <a:t>they</a:t>
            </a:r>
            <a:r>
              <a:rPr lang="fr-FR" sz="1600" dirty="0"/>
              <a:t> are </a:t>
            </a:r>
            <a:r>
              <a:rPr lang="fr-FR" sz="1600" dirty="0" err="1"/>
              <a:t>very</a:t>
            </a:r>
            <a:r>
              <a:rPr lang="fr-FR" sz="1600" dirty="0"/>
              <a:t> high, </a:t>
            </a:r>
            <a:r>
              <a:rPr lang="fr-FR" sz="1600" dirty="0" err="1"/>
              <a:t>it’s</a:t>
            </a:r>
            <a:r>
              <a:rPr lang="fr-FR" sz="1600" dirty="0"/>
              <a:t> </a:t>
            </a:r>
            <a:r>
              <a:rPr lang="fr-FR" sz="1600" dirty="0" err="1"/>
              <a:t>because</a:t>
            </a:r>
            <a:r>
              <a:rPr lang="fr-FR" sz="1600" dirty="0"/>
              <a:t> of the </a:t>
            </a:r>
            <a:r>
              <a:rPr lang="fr-FR" sz="1600" dirty="0" err="1"/>
              <a:t>sample</a:t>
            </a:r>
            <a:r>
              <a:rPr lang="fr-FR" sz="1600" dirty="0"/>
              <a:t> size (n = 12 </a:t>
            </a:r>
            <a:r>
              <a:rPr lang="fr-FR" sz="1600" dirty="0" err="1"/>
              <a:t>regions</a:t>
            </a:r>
            <a:r>
              <a:rPr lang="fr-FR" sz="1600" dirty="0"/>
              <a:t>). </a:t>
            </a:r>
            <a:r>
              <a:rPr lang="fr-FR" sz="1600" dirty="0" err="1"/>
              <a:t>Some</a:t>
            </a:r>
            <a:r>
              <a:rPr lang="fr-FR" sz="1600" dirty="0"/>
              <a:t> variables are </a:t>
            </a:r>
            <a:r>
              <a:rPr lang="fr-FR" sz="1600" dirty="0" err="1"/>
              <a:t>probably</a:t>
            </a:r>
            <a:r>
              <a:rPr lang="fr-FR" sz="1600" dirty="0"/>
              <a:t> </a:t>
            </a:r>
            <a:r>
              <a:rPr lang="fr-FR" sz="1600" dirty="0" err="1"/>
              <a:t>correlated</a:t>
            </a:r>
            <a:r>
              <a:rPr lang="fr-FR" sz="1600" dirty="0"/>
              <a:t> to variables not </a:t>
            </a:r>
            <a:r>
              <a:rPr lang="fr-FR" sz="1600" dirty="0" err="1"/>
              <a:t>selected</a:t>
            </a:r>
            <a:r>
              <a:rPr lang="fr-FR" sz="1600" dirty="0"/>
              <a:t> by CLV </a:t>
            </a:r>
            <a:r>
              <a:rPr lang="fr-FR" sz="1600" dirty="0" err="1"/>
              <a:t>algorithm</a:t>
            </a:r>
            <a:r>
              <a:rPr lang="fr-FR" sz="1600" dirty="0"/>
              <a:t>.</a:t>
            </a:r>
          </a:p>
        </p:txBody>
      </p:sp>
      <p:sp>
        <p:nvSpPr>
          <p:cNvPr id="7" name="Rectangle 6">
            <a:extLst>
              <a:ext uri="{FF2B5EF4-FFF2-40B4-BE49-F238E27FC236}">
                <a16:creationId xmlns:a16="http://schemas.microsoft.com/office/drawing/2014/main" id="{FEF2CFA3-F078-4B86-9A79-9000EC70FFE2}"/>
              </a:ext>
            </a:extLst>
          </p:cNvPr>
          <p:cNvSpPr/>
          <p:nvPr/>
        </p:nvSpPr>
        <p:spPr>
          <a:xfrm>
            <a:off x="2755457" y="590306"/>
            <a:ext cx="1786855" cy="3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245254C-A8A9-46BB-ABA9-7DB41C180A47}"/>
              </a:ext>
            </a:extLst>
          </p:cNvPr>
          <p:cNvSpPr txBox="1"/>
          <p:nvPr/>
        </p:nvSpPr>
        <p:spPr>
          <a:xfrm>
            <a:off x="2931139" y="5779573"/>
            <a:ext cx="1611173" cy="646331"/>
          </a:xfrm>
          <a:prstGeom prst="rect">
            <a:avLst/>
          </a:prstGeom>
          <a:solidFill>
            <a:srgbClr val="00BF7D"/>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marL="171450" indent="-171450">
              <a:buFont typeface="Arial" panose="020B0604020202020204" pitchFamily="34" charset="0"/>
              <a:buChar char="•"/>
            </a:pPr>
            <a:r>
              <a:rPr lang="fr-FR" sz="1200" dirty="0"/>
              <a:t>AFIT: 0.54</a:t>
            </a:r>
          </a:p>
          <a:p>
            <a:pPr marL="171450" indent="-171450">
              <a:buFont typeface="Arial" panose="020B0604020202020204" pitchFamily="34" charset="0"/>
              <a:buChar char="•"/>
            </a:pPr>
            <a:r>
              <a:rPr lang="fr-FR" sz="1200" dirty="0"/>
              <a:t>FIT_M: 0.59</a:t>
            </a:r>
          </a:p>
          <a:p>
            <a:pPr marL="171450" indent="-171450">
              <a:buFont typeface="Arial" panose="020B0604020202020204" pitchFamily="34" charset="0"/>
              <a:buChar char="•"/>
            </a:pPr>
            <a:r>
              <a:rPr lang="fr-FR" sz="1200" dirty="0"/>
              <a:t>FIT_S: 0.8</a:t>
            </a:r>
          </a:p>
        </p:txBody>
      </p:sp>
    </p:spTree>
    <p:extLst>
      <p:ext uri="{BB962C8B-B14F-4D97-AF65-F5344CB8AC3E}">
        <p14:creationId xmlns:p14="http://schemas.microsoft.com/office/powerpoint/2010/main" val="494321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err="1"/>
              <a:t>Scatterplot</a:t>
            </a:r>
            <a:r>
              <a:rPr lang="fr-FR" sz="2800" dirty="0"/>
              <a:t> of latent variables</a:t>
            </a:r>
            <a:endParaRPr lang="fr-FR" dirty="0"/>
          </a:p>
        </p:txBody>
      </p:sp>
      <p:sp>
        <p:nvSpPr>
          <p:cNvPr id="2" name="ZoneTexte 1">
            <a:extLst>
              <a:ext uri="{FF2B5EF4-FFF2-40B4-BE49-F238E27FC236}">
                <a16:creationId xmlns:a16="http://schemas.microsoft.com/office/drawing/2014/main" id="{2126A8F8-27A3-411A-B855-21472B4CBE80}"/>
              </a:ext>
            </a:extLst>
          </p:cNvPr>
          <p:cNvSpPr txBox="1"/>
          <p:nvPr/>
        </p:nvSpPr>
        <p:spPr>
          <a:xfrm>
            <a:off x="812800" y="1769534"/>
            <a:ext cx="9177866" cy="369332"/>
          </a:xfrm>
          <a:prstGeom prst="rect">
            <a:avLst/>
          </a:prstGeom>
          <a:noFill/>
        </p:spPr>
        <p:txBody>
          <a:bodyPr wrap="square" rtlCol="0">
            <a:spAutoFit/>
          </a:bodyPr>
          <a:lstStyle/>
          <a:p>
            <a:pPr marL="285750" indent="-285750">
              <a:buFont typeface="Arial" panose="020B0604020202020204" pitchFamily="34" charset="0"/>
              <a:buChar char="•"/>
            </a:pPr>
            <a:endParaRPr lang="fr-FR" dirty="0"/>
          </a:p>
        </p:txBody>
      </p:sp>
      <p:sp>
        <p:nvSpPr>
          <p:cNvPr id="7" name="Rectangle 6">
            <a:extLst>
              <a:ext uri="{FF2B5EF4-FFF2-40B4-BE49-F238E27FC236}">
                <a16:creationId xmlns:a16="http://schemas.microsoft.com/office/drawing/2014/main" id="{FEF2CFA3-F078-4B86-9A79-9000EC70FFE2}"/>
              </a:ext>
            </a:extLst>
          </p:cNvPr>
          <p:cNvSpPr/>
          <p:nvPr/>
        </p:nvSpPr>
        <p:spPr>
          <a:xfrm>
            <a:off x="2801923" y="1155680"/>
            <a:ext cx="1786855" cy="3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9E924A05-BD80-4DE0-8974-C52C10CF7372}"/>
              </a:ext>
            </a:extLst>
          </p:cNvPr>
          <p:cNvPicPr>
            <a:picLocks noChangeAspect="1"/>
          </p:cNvPicPr>
          <p:nvPr/>
        </p:nvPicPr>
        <p:blipFill>
          <a:blip r:embed="rId3"/>
          <a:stretch>
            <a:fillRect/>
          </a:stretch>
        </p:blipFill>
        <p:spPr>
          <a:xfrm>
            <a:off x="0" y="590226"/>
            <a:ext cx="7088697" cy="6076026"/>
          </a:xfrm>
          <a:prstGeom prst="rect">
            <a:avLst/>
          </a:prstGeom>
        </p:spPr>
      </p:pic>
      <p:sp>
        <p:nvSpPr>
          <p:cNvPr id="8" name="ZoneTexte 7">
            <a:extLst>
              <a:ext uri="{FF2B5EF4-FFF2-40B4-BE49-F238E27FC236}">
                <a16:creationId xmlns:a16="http://schemas.microsoft.com/office/drawing/2014/main" id="{B2AF931F-0D3A-4606-8EE8-1B0E9F85A9A5}"/>
              </a:ext>
            </a:extLst>
          </p:cNvPr>
          <p:cNvSpPr txBox="1"/>
          <p:nvPr/>
        </p:nvSpPr>
        <p:spPr>
          <a:xfrm>
            <a:off x="7390701" y="1155680"/>
            <a:ext cx="4622319" cy="4524315"/>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fr-FR" sz="1600" u="sng" dirty="0" err="1"/>
              <a:t>Interpretation</a:t>
            </a:r>
            <a:br>
              <a:rPr lang="fr-FR" sz="1600" u="sng" dirty="0"/>
            </a:br>
            <a:endParaRPr lang="fr-FR" sz="1600" u="sng" dirty="0"/>
          </a:p>
          <a:p>
            <a:pPr marL="285750" indent="-285750">
              <a:buFont typeface="Arial" panose="020B0604020202020204" pitchFamily="34" charset="0"/>
              <a:buChar char="•"/>
            </a:pPr>
            <a:r>
              <a:rPr lang="fr-FR" sz="1600" dirty="0"/>
              <a:t>The positive relation </a:t>
            </a:r>
            <a:r>
              <a:rPr lang="fr-FR" sz="1600" dirty="0" err="1"/>
              <a:t>between</a:t>
            </a:r>
            <a:r>
              <a:rPr lang="fr-FR" sz="1600" dirty="0"/>
              <a:t> Y block and </a:t>
            </a:r>
            <a:r>
              <a:rPr lang="fr-FR" sz="1600" dirty="0" err="1"/>
              <a:t>Humans</a:t>
            </a:r>
            <a:r>
              <a:rPr lang="fr-FR" sz="1600" dirty="0"/>
              <a:t> block </a:t>
            </a:r>
            <a:r>
              <a:rPr lang="fr-FR" sz="1600" dirty="0" err="1"/>
              <a:t>is</a:t>
            </a:r>
            <a:r>
              <a:rPr lang="fr-FR" sz="1600" dirty="0"/>
              <a:t> </a:t>
            </a:r>
            <a:r>
              <a:rPr lang="fr-FR" sz="1600" dirty="0" err="1"/>
              <a:t>characterized</a:t>
            </a:r>
            <a:r>
              <a:rPr lang="fr-FR" sz="1600" dirty="0"/>
              <a:t> by PACA </a:t>
            </a:r>
            <a:r>
              <a:rPr lang="fr-FR" sz="1600" dirty="0" err="1"/>
              <a:t>which</a:t>
            </a:r>
            <a:r>
              <a:rPr lang="fr-FR" sz="1600" dirty="0"/>
              <a:t> has a lot of </a:t>
            </a:r>
            <a:r>
              <a:rPr lang="fr-FR" sz="1600" dirty="0" err="1"/>
              <a:t>doctors</a:t>
            </a:r>
            <a:r>
              <a:rPr lang="fr-FR" sz="1600" dirty="0"/>
              <a:t> per population and few trust in institutions, </a:t>
            </a:r>
            <a:r>
              <a:rPr lang="fr-FR" sz="1600" dirty="0" err="1"/>
              <a:t>this</a:t>
            </a:r>
            <a:r>
              <a:rPr lang="fr-FR" sz="1600" dirty="0"/>
              <a:t> </a:t>
            </a:r>
            <a:r>
              <a:rPr lang="fr-FR" sz="1600" dirty="0" err="1"/>
              <a:t>region</a:t>
            </a:r>
            <a:r>
              <a:rPr lang="fr-FR" sz="1600" dirty="0"/>
              <a:t> has a lot of </a:t>
            </a:r>
            <a:r>
              <a:rPr lang="fr-FR" sz="1600" dirty="0" err="1"/>
              <a:t>resistance</a:t>
            </a:r>
            <a:r>
              <a:rPr lang="fr-FR" sz="1600" dirty="0"/>
              <a:t>.</a:t>
            </a:r>
            <a:br>
              <a:rPr lang="fr-FR" sz="1600" dirty="0"/>
            </a:br>
            <a:endParaRPr lang="fr-FR" sz="1600" dirty="0"/>
          </a:p>
          <a:p>
            <a:pPr marL="285750" indent="-285750">
              <a:buFont typeface="Arial" panose="020B0604020202020204" pitchFamily="34" charset="0"/>
              <a:buChar char="•"/>
            </a:pPr>
            <a:r>
              <a:rPr lang="fr-FR" sz="1600" dirty="0" err="1"/>
              <a:t>Some</a:t>
            </a:r>
            <a:r>
              <a:rPr lang="fr-FR" sz="1600" dirty="0"/>
              <a:t> </a:t>
            </a:r>
            <a:r>
              <a:rPr lang="fr-FR" sz="1600" dirty="0" err="1"/>
              <a:t>regions</a:t>
            </a:r>
            <a:r>
              <a:rPr lang="fr-FR" sz="1600" dirty="0"/>
              <a:t> have an high AMC </a:t>
            </a:r>
            <a:r>
              <a:rPr lang="fr-FR" sz="1600" dirty="0" err="1"/>
              <a:t>level</a:t>
            </a:r>
            <a:r>
              <a:rPr lang="fr-FR" sz="1600" dirty="0"/>
              <a:t> but few </a:t>
            </a:r>
            <a:r>
              <a:rPr lang="fr-FR" sz="1600" dirty="0" err="1"/>
              <a:t>resistance</a:t>
            </a:r>
            <a:r>
              <a:rPr lang="fr-FR" sz="1600" dirty="0"/>
              <a:t>: Grand-Est, Occitanie, Nouvelle-Aquitaine.</a:t>
            </a:r>
            <a:br>
              <a:rPr lang="fr-FR" sz="1600" dirty="0"/>
            </a:br>
            <a:endParaRPr lang="fr-FR" sz="1600" dirty="0"/>
          </a:p>
          <a:p>
            <a:pPr marL="285750" indent="-285750">
              <a:buFont typeface="Arial" panose="020B0604020202020204" pitchFamily="34" charset="0"/>
              <a:buChar char="•"/>
            </a:pPr>
            <a:r>
              <a:rPr lang="fr-FR" sz="1600" dirty="0"/>
              <a:t>PACA and </a:t>
            </a:r>
            <a:r>
              <a:rPr lang="fr-FR" sz="1600" dirty="0" err="1"/>
              <a:t>sometimes</a:t>
            </a:r>
            <a:r>
              <a:rPr lang="fr-FR" sz="1600" dirty="0"/>
              <a:t> IDF </a:t>
            </a:r>
            <a:r>
              <a:rPr lang="fr-FR" sz="1600" dirty="0" err="1"/>
              <a:t>could</a:t>
            </a:r>
            <a:r>
              <a:rPr lang="fr-FR" sz="1600" dirty="0"/>
              <a:t> </a:t>
            </a:r>
            <a:r>
              <a:rPr lang="fr-FR" sz="1600" dirty="0" err="1"/>
              <a:t>be</a:t>
            </a:r>
            <a:r>
              <a:rPr lang="fr-FR" sz="1600" dirty="0"/>
              <a:t> </a:t>
            </a:r>
            <a:r>
              <a:rPr lang="fr-FR" sz="1600" dirty="0" err="1"/>
              <a:t>considered</a:t>
            </a:r>
            <a:r>
              <a:rPr lang="fr-FR" sz="1600" dirty="0"/>
              <a:t> as </a:t>
            </a:r>
            <a:r>
              <a:rPr lang="fr-FR" sz="1600" dirty="0" err="1"/>
              <a:t>atypical</a:t>
            </a:r>
            <a:r>
              <a:rPr lang="fr-FR" sz="1600" dirty="0"/>
              <a:t> </a:t>
            </a:r>
            <a:r>
              <a:rPr lang="fr-FR" sz="1600" dirty="0" err="1"/>
              <a:t>regions</a:t>
            </a:r>
            <a:r>
              <a:rPr lang="fr-FR" sz="1600" dirty="0"/>
              <a:t> and have </a:t>
            </a:r>
            <a:r>
              <a:rPr lang="fr-FR" sz="1600" dirty="0" err="1"/>
              <a:t>some</a:t>
            </a:r>
            <a:r>
              <a:rPr lang="fr-FR" sz="1600" dirty="0"/>
              <a:t> values </a:t>
            </a:r>
            <a:r>
              <a:rPr lang="fr-FR" sz="1600" dirty="0" err="1"/>
              <a:t>very</a:t>
            </a:r>
            <a:r>
              <a:rPr lang="fr-FR" sz="1600" dirty="0"/>
              <a:t> </a:t>
            </a:r>
            <a:r>
              <a:rPr lang="fr-FR" sz="1600" dirty="0" err="1"/>
              <a:t>different</a:t>
            </a:r>
            <a:r>
              <a:rPr lang="fr-FR" sz="1600" dirty="0"/>
              <a:t> </a:t>
            </a:r>
            <a:r>
              <a:rPr lang="fr-FR" sz="1600" dirty="0" err="1"/>
              <a:t>compared</a:t>
            </a:r>
            <a:r>
              <a:rPr lang="fr-FR" sz="1600" dirty="0"/>
              <a:t> to </a:t>
            </a:r>
            <a:r>
              <a:rPr lang="fr-FR" sz="1600" dirty="0" err="1"/>
              <a:t>other</a:t>
            </a:r>
            <a:r>
              <a:rPr lang="fr-FR" sz="1600" dirty="0"/>
              <a:t> </a:t>
            </a:r>
            <a:r>
              <a:rPr lang="fr-FR" sz="1600" dirty="0" err="1"/>
              <a:t>regions</a:t>
            </a:r>
            <a:r>
              <a:rPr lang="fr-FR" sz="1600" dirty="0"/>
              <a:t> and can drive the values of </a:t>
            </a:r>
            <a:r>
              <a:rPr lang="fr-FR" sz="1600" dirty="0" err="1"/>
              <a:t>path</a:t>
            </a:r>
            <a:r>
              <a:rPr lang="fr-FR" sz="1600" dirty="0"/>
              <a:t> coefficients. The </a:t>
            </a:r>
            <a:r>
              <a:rPr lang="fr-FR" sz="1600" dirty="0" err="1"/>
              <a:t>sample</a:t>
            </a:r>
            <a:r>
              <a:rPr lang="fr-FR" sz="1600" dirty="0"/>
              <a:t> size </a:t>
            </a:r>
            <a:r>
              <a:rPr lang="fr-FR" sz="1600" dirty="0" err="1"/>
              <a:t>is</a:t>
            </a:r>
            <a:r>
              <a:rPr lang="fr-FR" sz="1600" dirty="0"/>
              <a:t> </a:t>
            </a:r>
            <a:r>
              <a:rPr lang="fr-FR" sz="1600" dirty="0" err="1"/>
              <a:t>also</a:t>
            </a:r>
            <a:r>
              <a:rPr lang="fr-FR" sz="1600" dirty="0"/>
              <a:t> a limitation.</a:t>
            </a:r>
          </a:p>
        </p:txBody>
      </p:sp>
    </p:spTree>
    <p:extLst>
      <p:ext uri="{BB962C8B-B14F-4D97-AF65-F5344CB8AC3E}">
        <p14:creationId xmlns:p14="http://schemas.microsoft.com/office/powerpoint/2010/main" val="3761762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err="1"/>
              <a:t>Regression</a:t>
            </a:r>
            <a:r>
              <a:rPr lang="fr-FR" sz="2800" dirty="0"/>
              <a:t> coefficients </a:t>
            </a:r>
            <a:r>
              <a:rPr lang="fr-FR" sz="2800" dirty="0" err="1"/>
              <a:t>between</a:t>
            </a:r>
            <a:r>
              <a:rPr lang="fr-FR" sz="2800" dirty="0"/>
              <a:t> fPC1 scores</a:t>
            </a:r>
            <a:endParaRPr lang="fr-FR" dirty="0"/>
          </a:p>
        </p:txBody>
      </p:sp>
      <p:sp>
        <p:nvSpPr>
          <p:cNvPr id="7" name="Rectangle 6">
            <a:extLst>
              <a:ext uri="{FF2B5EF4-FFF2-40B4-BE49-F238E27FC236}">
                <a16:creationId xmlns:a16="http://schemas.microsoft.com/office/drawing/2014/main" id="{FEF2CFA3-F078-4B86-9A79-9000EC70FFE2}"/>
              </a:ext>
            </a:extLst>
          </p:cNvPr>
          <p:cNvSpPr/>
          <p:nvPr/>
        </p:nvSpPr>
        <p:spPr>
          <a:xfrm>
            <a:off x="2801923" y="1155680"/>
            <a:ext cx="1786855" cy="3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a:extLst>
              <a:ext uri="{FF2B5EF4-FFF2-40B4-BE49-F238E27FC236}">
                <a16:creationId xmlns:a16="http://schemas.microsoft.com/office/drawing/2014/main" id="{BF540235-74D0-4276-99EF-61D27AC1E33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 y="1061424"/>
            <a:ext cx="7122791" cy="5087706"/>
          </a:xfrm>
          <a:prstGeom prst="rect">
            <a:avLst/>
          </a:prstGeom>
        </p:spPr>
      </p:pic>
      <p:sp>
        <p:nvSpPr>
          <p:cNvPr id="11" name="ZoneTexte 10">
            <a:extLst>
              <a:ext uri="{FF2B5EF4-FFF2-40B4-BE49-F238E27FC236}">
                <a16:creationId xmlns:a16="http://schemas.microsoft.com/office/drawing/2014/main" id="{559D0489-D7FA-4B4B-B2E9-59A978539891}"/>
              </a:ext>
            </a:extLst>
          </p:cNvPr>
          <p:cNvSpPr txBox="1"/>
          <p:nvPr/>
        </p:nvSpPr>
        <p:spPr>
          <a:xfrm>
            <a:off x="7078917" y="850677"/>
            <a:ext cx="4622319" cy="550920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fr-FR" sz="1600" u="sng" dirty="0" err="1"/>
              <a:t>Interpretation</a:t>
            </a:r>
            <a:br>
              <a:rPr lang="fr-FR" sz="1600" u="sng" dirty="0"/>
            </a:br>
            <a:endParaRPr lang="fr-FR" sz="1600" u="sng" dirty="0"/>
          </a:p>
          <a:p>
            <a:pPr marL="285750" indent="-285750">
              <a:buFont typeface="Arial" panose="020B0604020202020204" pitchFamily="34" charset="0"/>
              <a:buChar char="•"/>
            </a:pPr>
            <a:r>
              <a:rPr lang="fr-FR" sz="1600" u="sng" dirty="0"/>
              <a:t>Example</a:t>
            </a:r>
            <a:r>
              <a:rPr lang="fr-FR" sz="1600" dirty="0"/>
              <a:t>: </a:t>
            </a:r>
            <a:r>
              <a:rPr lang="fr-FR" sz="1600" dirty="0" err="1"/>
              <a:t>AMR_ville_FQ_R</a:t>
            </a:r>
            <a:r>
              <a:rPr lang="fr-FR" sz="1600" dirty="0"/>
              <a:t> = 0.56*</a:t>
            </a:r>
            <a:r>
              <a:rPr lang="fr-FR" sz="1600" dirty="0" err="1"/>
              <a:t>medecin_hab</a:t>
            </a:r>
            <a:r>
              <a:rPr lang="fr-FR" sz="1600" dirty="0"/>
              <a:t> – 0.51 </a:t>
            </a:r>
            <a:r>
              <a:rPr lang="fr-FR" sz="1600" dirty="0" err="1"/>
              <a:t>EQI_st</a:t>
            </a:r>
            <a:r>
              <a:rPr lang="fr-FR" sz="1600" dirty="0"/>
              <a:t> + 0.06 </a:t>
            </a:r>
            <a:r>
              <a:rPr lang="fr-FR" sz="1600" dirty="0" err="1"/>
              <a:t>log_AMC_ES_FQ</a:t>
            </a:r>
            <a:r>
              <a:rPr lang="fr-FR" sz="1600" dirty="0"/>
              <a:t> + 0.07 </a:t>
            </a:r>
            <a:r>
              <a:rPr lang="fr-FR" sz="1600" dirty="0" err="1"/>
              <a:t>log_AMC_ville</a:t>
            </a:r>
            <a:r>
              <a:rPr lang="fr-FR" sz="1600" dirty="0"/>
              <a:t> _FQ</a:t>
            </a:r>
            <a:br>
              <a:rPr lang="fr-FR" sz="1600" dirty="0"/>
            </a:br>
            <a:endParaRPr lang="fr-FR" sz="1600" dirty="0"/>
          </a:p>
          <a:p>
            <a:pPr marL="285750" indent="-285750">
              <a:buFont typeface="Arial" panose="020B0604020202020204" pitchFamily="34" charset="0"/>
              <a:buChar char="•"/>
            </a:pPr>
            <a:r>
              <a:rPr lang="fr-FR" sz="1600" b="1" dirty="0" err="1"/>
              <a:t>It’s</a:t>
            </a:r>
            <a:r>
              <a:rPr lang="fr-FR" sz="1600" b="1" dirty="0"/>
              <a:t> </a:t>
            </a:r>
            <a:r>
              <a:rPr lang="fr-FR" sz="1600" b="1" dirty="0" err="1"/>
              <a:t>low</a:t>
            </a:r>
            <a:r>
              <a:rPr lang="fr-FR" sz="1600" b="1" dirty="0"/>
              <a:t> EQI and high </a:t>
            </a:r>
            <a:r>
              <a:rPr lang="fr-FR" sz="1600" b="1" dirty="0" err="1"/>
              <a:t>number</a:t>
            </a:r>
            <a:r>
              <a:rPr lang="fr-FR" sz="1600" b="1" dirty="0"/>
              <a:t> of </a:t>
            </a:r>
            <a:r>
              <a:rPr lang="fr-FR" sz="1600" b="1" dirty="0" err="1"/>
              <a:t>doctors</a:t>
            </a:r>
            <a:r>
              <a:rPr lang="fr-FR" sz="1600" b="1" dirty="0"/>
              <a:t> per population </a:t>
            </a:r>
            <a:r>
              <a:rPr lang="fr-FR" sz="1600" b="1" dirty="0" err="1"/>
              <a:t>which</a:t>
            </a:r>
            <a:r>
              <a:rPr lang="fr-FR" sz="1600" b="1" dirty="0"/>
              <a:t> </a:t>
            </a:r>
            <a:r>
              <a:rPr lang="fr-FR" sz="1600" b="1" dirty="0" err="1"/>
              <a:t>explain</a:t>
            </a:r>
            <a:r>
              <a:rPr lang="fr-FR" sz="1600" b="1" dirty="0"/>
              <a:t> the </a:t>
            </a:r>
            <a:r>
              <a:rPr lang="fr-FR" sz="1600" b="1" dirty="0" err="1"/>
              <a:t>most</a:t>
            </a:r>
            <a:r>
              <a:rPr lang="fr-FR" sz="1600" b="1" dirty="0"/>
              <a:t> the </a:t>
            </a:r>
            <a:r>
              <a:rPr lang="fr-FR" sz="1600" b="1" dirty="0" err="1"/>
              <a:t>regional</a:t>
            </a:r>
            <a:r>
              <a:rPr lang="fr-FR" sz="1600" b="1" dirty="0"/>
              <a:t> </a:t>
            </a:r>
            <a:r>
              <a:rPr lang="fr-FR" sz="1600" b="1" dirty="0" err="1"/>
              <a:t>resistance</a:t>
            </a:r>
            <a:r>
              <a:rPr lang="fr-FR" sz="1600" b="1" dirty="0"/>
              <a:t> of fluoroquinolone in </a:t>
            </a:r>
            <a:r>
              <a:rPr lang="fr-FR" sz="1600" b="1" dirty="0" err="1"/>
              <a:t>primary</a:t>
            </a:r>
            <a:r>
              <a:rPr lang="fr-FR" sz="1600" b="1" dirty="0"/>
              <a:t> care setting</a:t>
            </a:r>
            <a:r>
              <a:rPr lang="fr-FR" sz="1600" dirty="0"/>
              <a:t>.</a:t>
            </a:r>
            <a:br>
              <a:rPr lang="fr-FR" sz="1600" dirty="0"/>
            </a:br>
            <a:endParaRPr lang="fr-FR" sz="1600" dirty="0"/>
          </a:p>
          <a:p>
            <a:pPr marL="285750" indent="-285750">
              <a:buFont typeface="Arial" panose="020B0604020202020204" pitchFamily="34" charset="0"/>
              <a:buChar char="•"/>
            </a:pPr>
            <a:r>
              <a:rPr lang="fr-FR" sz="1600" dirty="0"/>
              <a:t>The </a:t>
            </a:r>
            <a:r>
              <a:rPr lang="fr-FR" sz="1600" dirty="0" err="1"/>
              <a:t>consumption</a:t>
            </a:r>
            <a:r>
              <a:rPr lang="fr-FR" sz="1600" dirty="0"/>
              <a:t> of FQ in </a:t>
            </a:r>
            <a:r>
              <a:rPr lang="fr-FR" sz="1600" dirty="0" err="1"/>
              <a:t>hospitals</a:t>
            </a:r>
            <a:r>
              <a:rPr lang="fr-FR" sz="1600" dirty="0"/>
              <a:t> and </a:t>
            </a:r>
            <a:r>
              <a:rPr lang="fr-FR" sz="1600" dirty="0" err="1"/>
              <a:t>primary</a:t>
            </a:r>
            <a:r>
              <a:rPr lang="fr-FR" sz="1600" dirty="0"/>
              <a:t> care setting are </a:t>
            </a:r>
            <a:r>
              <a:rPr lang="fr-FR" sz="1600" dirty="0" err="1"/>
              <a:t>positively</a:t>
            </a:r>
            <a:r>
              <a:rPr lang="fr-FR" sz="1600" dirty="0"/>
              <a:t> </a:t>
            </a:r>
            <a:r>
              <a:rPr lang="fr-FR" sz="1600" dirty="0" err="1"/>
              <a:t>explained</a:t>
            </a:r>
            <a:r>
              <a:rPr lang="fr-FR" sz="1600" dirty="0"/>
              <a:t> by </a:t>
            </a:r>
            <a:r>
              <a:rPr lang="fr-FR" sz="1600" dirty="0" err="1"/>
              <a:t>polution</a:t>
            </a:r>
            <a:r>
              <a:rPr lang="fr-FR" sz="1600" dirty="0"/>
              <a:t> of the air (PM 2.5) and the use of climatisation (</a:t>
            </a:r>
            <a:r>
              <a:rPr lang="fr-FR" sz="1600" dirty="0" err="1"/>
              <a:t>dju_refroi</a:t>
            </a:r>
            <a:r>
              <a:rPr lang="fr-FR" sz="1600" dirty="0"/>
              <a:t>). </a:t>
            </a:r>
            <a:r>
              <a:rPr lang="fr-FR" sz="1600" dirty="0" err="1"/>
              <a:t>These</a:t>
            </a:r>
            <a:r>
              <a:rPr lang="fr-FR" sz="1600" dirty="0"/>
              <a:t> </a:t>
            </a:r>
            <a:r>
              <a:rPr lang="fr-FR" sz="1600" dirty="0" err="1"/>
              <a:t>two</a:t>
            </a:r>
            <a:r>
              <a:rPr lang="fr-FR" sz="1600" dirty="0"/>
              <a:t> variables are </a:t>
            </a:r>
            <a:r>
              <a:rPr lang="fr-FR" sz="1600" dirty="0" err="1"/>
              <a:t>also</a:t>
            </a:r>
            <a:r>
              <a:rPr lang="fr-FR" sz="1600" dirty="0"/>
              <a:t> </a:t>
            </a:r>
            <a:r>
              <a:rPr lang="fr-FR" sz="1600" dirty="0" err="1"/>
              <a:t>well</a:t>
            </a:r>
            <a:r>
              <a:rPr lang="fr-FR" sz="1600" dirty="0"/>
              <a:t> </a:t>
            </a:r>
            <a:r>
              <a:rPr lang="fr-FR" sz="1600" dirty="0" err="1"/>
              <a:t>explained</a:t>
            </a:r>
            <a:r>
              <a:rPr lang="fr-FR" sz="1600" dirty="0"/>
              <a:t> by variables of the </a:t>
            </a:r>
            <a:r>
              <a:rPr lang="fr-FR" sz="1600" dirty="0" err="1"/>
              <a:t>Humans</a:t>
            </a:r>
            <a:r>
              <a:rPr lang="fr-FR" sz="1600" dirty="0"/>
              <a:t> block</a:t>
            </a:r>
            <a:br>
              <a:rPr lang="fr-FR" sz="1600" dirty="0"/>
            </a:br>
            <a:endParaRPr lang="fr-FR" sz="1600" dirty="0"/>
          </a:p>
          <a:p>
            <a:pPr marL="285750" indent="-285750">
              <a:buFont typeface="Arial" panose="020B0604020202020204" pitchFamily="34" charset="0"/>
              <a:buChar char="•"/>
            </a:pPr>
            <a:r>
              <a:rPr lang="fr-FR" sz="1600" dirty="0"/>
              <a:t>FQ </a:t>
            </a:r>
            <a:r>
              <a:rPr lang="fr-FR" sz="1600" dirty="0" err="1"/>
              <a:t>resistance</a:t>
            </a:r>
            <a:r>
              <a:rPr lang="fr-FR" sz="1600" dirty="0"/>
              <a:t> in pets </a:t>
            </a:r>
            <a:r>
              <a:rPr lang="fr-FR" sz="1600" dirty="0" err="1"/>
              <a:t>is</a:t>
            </a:r>
            <a:r>
              <a:rPr lang="fr-FR" sz="1600" dirty="0"/>
              <a:t> </a:t>
            </a:r>
            <a:r>
              <a:rPr lang="fr-FR" sz="1600" dirty="0" err="1"/>
              <a:t>also</a:t>
            </a:r>
            <a:r>
              <a:rPr lang="fr-FR" sz="1600" dirty="0"/>
              <a:t> </a:t>
            </a:r>
            <a:r>
              <a:rPr lang="fr-FR" sz="1600" dirty="0" err="1"/>
              <a:t>chracterized</a:t>
            </a:r>
            <a:r>
              <a:rPr lang="fr-FR" sz="1600" dirty="0"/>
              <a:t> by a lot of </a:t>
            </a:r>
            <a:r>
              <a:rPr lang="fr-FR" sz="1600" dirty="0" err="1"/>
              <a:t>doctors</a:t>
            </a:r>
            <a:r>
              <a:rPr lang="fr-FR" sz="1600" dirty="0"/>
              <a:t> per population (</a:t>
            </a:r>
            <a:r>
              <a:rPr lang="fr-FR" sz="1600" dirty="0" err="1"/>
              <a:t>surprisingly</a:t>
            </a:r>
            <a:r>
              <a:rPr lang="fr-FR" sz="1600" dirty="0"/>
              <a:t> not </a:t>
            </a:r>
            <a:r>
              <a:rPr lang="fr-FR" sz="1600" dirty="0" err="1"/>
              <a:t>vet</a:t>
            </a:r>
            <a:r>
              <a:rPr lang="fr-FR" sz="1600" dirty="0"/>
              <a:t>) and </a:t>
            </a:r>
            <a:r>
              <a:rPr lang="fr-FR" sz="1600" dirty="0" err="1"/>
              <a:t>low</a:t>
            </a:r>
            <a:r>
              <a:rPr lang="fr-FR" sz="1600" dirty="0"/>
              <a:t> EQI. </a:t>
            </a:r>
          </a:p>
        </p:txBody>
      </p:sp>
    </p:spTree>
    <p:extLst>
      <p:ext uri="{BB962C8B-B14F-4D97-AF65-F5344CB8AC3E}">
        <p14:creationId xmlns:p14="http://schemas.microsoft.com/office/powerpoint/2010/main" val="2571842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ED82FD38-7D6B-4DC8-9FB6-E36A2700EE57}"/>
              </a:ext>
            </a:extLst>
          </p:cNvPr>
          <p:cNvSpPr>
            <a:spLocks noGrp="1"/>
          </p:cNvSpPr>
          <p:nvPr>
            <p:ph type="title"/>
          </p:nvPr>
        </p:nvSpPr>
        <p:spPr>
          <a:xfrm>
            <a:off x="479999" y="984000"/>
            <a:ext cx="11232000" cy="5395200"/>
          </a:xfrm>
        </p:spPr>
        <p:txBody>
          <a:bodyPr/>
          <a:lstStyle/>
          <a:p>
            <a:r>
              <a:rPr lang="fr-FR" sz="5333" dirty="0"/>
              <a:t>Conclusion and perspectives</a:t>
            </a:r>
          </a:p>
        </p:txBody>
      </p:sp>
    </p:spTree>
    <p:extLst>
      <p:ext uri="{BB962C8B-B14F-4D97-AF65-F5344CB8AC3E}">
        <p14:creationId xmlns:p14="http://schemas.microsoft.com/office/powerpoint/2010/main" val="385702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a:t>Conclusion</a:t>
            </a:r>
            <a:endParaRPr lang="fr-FR" dirty="0"/>
          </a:p>
        </p:txBody>
      </p:sp>
      <p:sp>
        <p:nvSpPr>
          <p:cNvPr id="2" name="ZoneTexte 1">
            <a:extLst>
              <a:ext uri="{FF2B5EF4-FFF2-40B4-BE49-F238E27FC236}">
                <a16:creationId xmlns:a16="http://schemas.microsoft.com/office/drawing/2014/main" id="{2126A8F8-27A3-411A-B855-21472B4CBE80}"/>
              </a:ext>
            </a:extLst>
          </p:cNvPr>
          <p:cNvSpPr txBox="1"/>
          <p:nvPr/>
        </p:nvSpPr>
        <p:spPr>
          <a:xfrm>
            <a:off x="812800" y="1769534"/>
            <a:ext cx="9177866" cy="369332"/>
          </a:xfrm>
          <a:prstGeom prst="rect">
            <a:avLst/>
          </a:prstGeom>
          <a:noFill/>
        </p:spPr>
        <p:txBody>
          <a:bodyPr wrap="square" rtlCol="0">
            <a:spAutoFit/>
          </a:bodyPr>
          <a:lstStyle/>
          <a:p>
            <a:pPr marL="285750" indent="-285750">
              <a:buFont typeface="Arial" panose="020B0604020202020204" pitchFamily="34" charset="0"/>
              <a:buChar char="•"/>
            </a:pPr>
            <a:endParaRPr lang="fr-FR" dirty="0"/>
          </a:p>
        </p:txBody>
      </p:sp>
      <p:sp>
        <p:nvSpPr>
          <p:cNvPr id="3" name="ZoneTexte 2">
            <a:extLst>
              <a:ext uri="{FF2B5EF4-FFF2-40B4-BE49-F238E27FC236}">
                <a16:creationId xmlns:a16="http://schemas.microsoft.com/office/drawing/2014/main" id="{94E2E6DA-CA2F-425A-AEB1-C142A65F9518}"/>
              </a:ext>
            </a:extLst>
          </p:cNvPr>
          <p:cNvSpPr txBox="1"/>
          <p:nvPr/>
        </p:nvSpPr>
        <p:spPr>
          <a:xfrm>
            <a:off x="578841" y="1023457"/>
            <a:ext cx="10335236" cy="5078313"/>
          </a:xfrm>
          <a:prstGeom prst="rect">
            <a:avLst/>
          </a:prstGeom>
          <a:solidFill>
            <a:schemeClr val="accent6">
              <a:lumMod val="20000"/>
              <a:lumOff val="80000"/>
            </a:schemeClr>
          </a:solidFill>
          <a:ln>
            <a:solidFill>
              <a:schemeClr val="accent1"/>
            </a:solidFill>
          </a:ln>
        </p:spPr>
        <p:txBody>
          <a:bodyPr wrap="square" rtlCol="0">
            <a:spAutoFit/>
          </a:bodyPr>
          <a:lstStyle/>
          <a:p>
            <a:pPr marL="285750" indent="-285750">
              <a:buFont typeface="Arial" panose="020B0604020202020204" pitchFamily="34" charset="0"/>
              <a:buChar char="•"/>
            </a:pPr>
            <a:r>
              <a:rPr lang="fr-FR" b="1" dirty="0" err="1"/>
              <a:t>fPCA</a:t>
            </a:r>
            <a:r>
              <a:rPr lang="fr-FR" dirty="0"/>
              <a:t> </a:t>
            </a:r>
            <a:r>
              <a:rPr lang="fr-FR" dirty="0" err="1"/>
              <a:t>allows</a:t>
            </a:r>
            <a:r>
              <a:rPr lang="fr-FR" dirty="0"/>
              <a:t> us to go </a:t>
            </a:r>
            <a:r>
              <a:rPr lang="fr-FR" dirty="0" err="1"/>
              <a:t>from</a:t>
            </a:r>
            <a:r>
              <a:rPr lang="fr-FR" dirty="0"/>
              <a:t> a </a:t>
            </a:r>
            <a:r>
              <a:rPr lang="fr-FR" dirty="0" err="1"/>
              <a:t>functional</a:t>
            </a:r>
            <a:r>
              <a:rPr lang="fr-FR" dirty="0"/>
              <a:t> variable to a principal component score, </a:t>
            </a:r>
            <a:r>
              <a:rPr lang="fr-FR" dirty="0" err="1"/>
              <a:t>which</a:t>
            </a:r>
            <a:r>
              <a:rPr lang="fr-FR" dirty="0"/>
              <a:t> permit us </a:t>
            </a:r>
            <a:r>
              <a:rPr lang="fr-FR" b="1" dirty="0"/>
              <a:t>to </a:t>
            </a:r>
            <a:r>
              <a:rPr lang="fr-FR" b="1" dirty="0" err="1"/>
              <a:t>summarize</a:t>
            </a:r>
            <a:r>
              <a:rPr lang="fr-FR" b="1" dirty="0"/>
              <a:t> the temporal dimension of a variable and to </a:t>
            </a:r>
            <a:r>
              <a:rPr lang="fr-FR" b="1" dirty="0" err="1"/>
              <a:t>obtain</a:t>
            </a:r>
            <a:r>
              <a:rPr lang="fr-FR" b="1" dirty="0"/>
              <a:t> </a:t>
            </a:r>
            <a:r>
              <a:rPr lang="fr-FR" b="1" dirty="0" err="1"/>
              <a:t>independent</a:t>
            </a:r>
            <a:r>
              <a:rPr lang="fr-FR" b="1" dirty="0"/>
              <a:t> observations.</a:t>
            </a:r>
            <a:br>
              <a:rPr lang="fr-FR" b="1" dirty="0"/>
            </a:br>
            <a:endParaRPr lang="fr-FR" b="1" dirty="0"/>
          </a:p>
          <a:p>
            <a:pPr marL="285750" indent="-285750">
              <a:buFont typeface="Arial" panose="020B0604020202020204" pitchFamily="34" charset="0"/>
              <a:buChar char="•"/>
            </a:pPr>
            <a:r>
              <a:rPr lang="fr-FR" b="1" dirty="0" err="1"/>
              <a:t>Then</a:t>
            </a:r>
            <a:r>
              <a:rPr lang="fr-FR" b="1" dirty="0"/>
              <a:t> the use of GSCA </a:t>
            </a:r>
            <a:r>
              <a:rPr lang="fr-FR" b="1" dirty="0" err="1"/>
              <a:t>permits</a:t>
            </a:r>
            <a:r>
              <a:rPr lang="fr-FR" b="1" dirty="0"/>
              <a:t> us to explore </a:t>
            </a:r>
            <a:r>
              <a:rPr lang="fr-FR" b="1" dirty="0" err="1"/>
              <a:t>relational</a:t>
            </a:r>
            <a:r>
              <a:rPr lang="fr-FR" b="1" dirty="0"/>
              <a:t> links </a:t>
            </a:r>
            <a:r>
              <a:rPr lang="fr-FR" b="1" dirty="0" err="1"/>
              <a:t>between</a:t>
            </a:r>
            <a:r>
              <a:rPr lang="fr-FR" b="1" dirty="0"/>
              <a:t> blocks and to </a:t>
            </a:r>
            <a:r>
              <a:rPr lang="fr-FR" b="1" dirty="0" err="1"/>
              <a:t>consider</a:t>
            </a:r>
            <a:r>
              <a:rPr lang="fr-FR" b="1" dirty="0"/>
              <a:t> </a:t>
            </a:r>
            <a:r>
              <a:rPr lang="fr-FR" b="1" dirty="0" err="1"/>
              <a:t>several</a:t>
            </a:r>
            <a:r>
              <a:rPr lang="fr-FR" b="1" dirty="0"/>
              <a:t> </a:t>
            </a:r>
            <a:r>
              <a:rPr lang="fr-FR" b="1" dirty="0" err="1"/>
              <a:t>statistical</a:t>
            </a:r>
            <a:r>
              <a:rPr lang="fr-FR" b="1" dirty="0"/>
              <a:t> </a:t>
            </a:r>
            <a:r>
              <a:rPr lang="fr-FR" b="1" dirty="0" err="1"/>
              <a:t>models</a:t>
            </a:r>
            <a:r>
              <a:rPr lang="fr-FR" dirty="0"/>
              <a:t>: a main one (</a:t>
            </a:r>
            <a:r>
              <a:rPr lang="fr-FR" dirty="0" err="1"/>
              <a:t>with</a:t>
            </a:r>
            <a:r>
              <a:rPr lang="fr-FR" dirty="0"/>
              <a:t> Y = </a:t>
            </a:r>
            <a:r>
              <a:rPr lang="fr-FR" dirty="0" err="1"/>
              <a:t>AMR_ville_FQ_R</a:t>
            </a:r>
            <a:r>
              <a:rPr lang="fr-FR" dirty="0"/>
              <a:t> as </a:t>
            </a:r>
            <a:r>
              <a:rPr lang="fr-FR" dirty="0" err="1"/>
              <a:t>response</a:t>
            </a:r>
            <a:r>
              <a:rPr lang="fr-FR" dirty="0"/>
              <a:t> variable) and </a:t>
            </a:r>
            <a:r>
              <a:rPr lang="fr-FR" dirty="0" err="1"/>
              <a:t>submodels</a:t>
            </a:r>
            <a:r>
              <a:rPr lang="fr-FR" dirty="0"/>
              <a:t>. </a:t>
            </a:r>
            <a:r>
              <a:rPr lang="fr-FR" dirty="0" err="1"/>
              <a:t>It’s</a:t>
            </a:r>
            <a:r>
              <a:rPr lang="fr-FR" dirty="0"/>
              <a:t> </a:t>
            </a:r>
            <a:r>
              <a:rPr lang="fr-FR" dirty="0" err="1"/>
              <a:t>ideal</a:t>
            </a:r>
            <a:r>
              <a:rPr lang="fr-FR" dirty="0"/>
              <a:t> for </a:t>
            </a:r>
            <a:r>
              <a:rPr lang="fr-FR" dirty="0" err="1"/>
              <a:t>taking</a:t>
            </a:r>
            <a:r>
              <a:rPr lang="fr-FR" dirty="0"/>
              <a:t> </a:t>
            </a:r>
            <a:r>
              <a:rPr lang="fr-FR" dirty="0" err="1"/>
              <a:t>into</a:t>
            </a:r>
            <a:r>
              <a:rPr lang="fr-FR" dirty="0"/>
              <a:t> </a:t>
            </a:r>
            <a:r>
              <a:rPr lang="fr-FR" dirty="0" err="1"/>
              <a:t>account</a:t>
            </a:r>
            <a:r>
              <a:rPr lang="fr-FR" dirty="0"/>
              <a:t> the One </a:t>
            </a:r>
            <a:r>
              <a:rPr lang="fr-FR" dirty="0" err="1"/>
              <a:t>Health</a:t>
            </a:r>
            <a:r>
              <a:rPr lang="fr-FR" dirty="0"/>
              <a:t> dimension of </a:t>
            </a:r>
            <a:r>
              <a:rPr lang="fr-FR" dirty="0" err="1"/>
              <a:t>our</a:t>
            </a:r>
            <a:r>
              <a:rPr lang="fr-FR" dirty="0"/>
              <a:t> </a:t>
            </a:r>
            <a:r>
              <a:rPr lang="fr-FR" dirty="0" err="1"/>
              <a:t>problem</a:t>
            </a:r>
            <a:r>
              <a:rPr lang="fr-FR" dirty="0"/>
              <a:t>.</a:t>
            </a:r>
            <a:br>
              <a:rPr lang="fr-FR" dirty="0"/>
            </a:br>
            <a:endParaRPr lang="fr-FR" dirty="0"/>
          </a:p>
          <a:p>
            <a:pPr marL="285750" indent="-285750">
              <a:buFont typeface="Arial" panose="020B0604020202020204" pitchFamily="34" charset="0"/>
              <a:buChar char="•"/>
            </a:pPr>
            <a:r>
              <a:rPr lang="fr-FR" dirty="0"/>
              <a:t>The </a:t>
            </a:r>
            <a:r>
              <a:rPr lang="fr-FR" dirty="0" err="1"/>
              <a:t>resistance</a:t>
            </a:r>
            <a:r>
              <a:rPr lang="fr-FR" dirty="0"/>
              <a:t> of Fluoroquinolone in </a:t>
            </a:r>
            <a:r>
              <a:rPr lang="fr-FR" dirty="0" err="1"/>
              <a:t>primary</a:t>
            </a:r>
            <a:r>
              <a:rPr lang="fr-FR" dirty="0"/>
              <a:t> care setting </a:t>
            </a:r>
            <a:r>
              <a:rPr lang="fr-FR" dirty="0" err="1"/>
              <a:t>is</a:t>
            </a:r>
            <a:r>
              <a:rPr lang="fr-FR" dirty="0"/>
              <a:t> </a:t>
            </a:r>
            <a:r>
              <a:rPr lang="fr-FR" dirty="0" err="1"/>
              <a:t>surprisingly</a:t>
            </a:r>
            <a:r>
              <a:rPr lang="fr-FR" dirty="0"/>
              <a:t> </a:t>
            </a:r>
            <a:r>
              <a:rPr lang="fr-FR" dirty="0" err="1"/>
              <a:t>mainly</a:t>
            </a:r>
            <a:r>
              <a:rPr lang="fr-FR" dirty="0"/>
              <a:t> </a:t>
            </a:r>
            <a:r>
              <a:rPr lang="fr-FR" dirty="0" err="1"/>
              <a:t>explained</a:t>
            </a:r>
            <a:r>
              <a:rPr lang="fr-FR" dirty="0"/>
              <a:t> by the </a:t>
            </a:r>
            <a:r>
              <a:rPr lang="fr-FR" dirty="0" err="1"/>
              <a:t>humans</a:t>
            </a:r>
            <a:r>
              <a:rPr lang="fr-FR" dirty="0"/>
              <a:t> block more </a:t>
            </a:r>
            <a:r>
              <a:rPr lang="fr-FR" dirty="0" err="1"/>
              <a:t>than</a:t>
            </a:r>
            <a:r>
              <a:rPr lang="fr-FR" dirty="0"/>
              <a:t> the </a:t>
            </a:r>
            <a:r>
              <a:rPr lang="fr-FR" dirty="0" err="1"/>
              <a:t>animicrobial</a:t>
            </a:r>
            <a:r>
              <a:rPr lang="fr-FR" dirty="0"/>
              <a:t> </a:t>
            </a:r>
            <a:r>
              <a:rPr lang="fr-FR" dirty="0" err="1"/>
              <a:t>consumption</a:t>
            </a:r>
            <a:r>
              <a:rPr lang="fr-FR" dirty="0"/>
              <a:t> of Fluoroquinolone. </a:t>
            </a:r>
            <a:r>
              <a:rPr lang="fr-FR" b="1" dirty="0"/>
              <a:t>Indeed, a </a:t>
            </a:r>
            <a:r>
              <a:rPr lang="fr-FR" b="1" dirty="0" err="1"/>
              <a:t>low</a:t>
            </a:r>
            <a:r>
              <a:rPr lang="fr-FR" b="1" dirty="0"/>
              <a:t> EQI, and a high </a:t>
            </a:r>
            <a:r>
              <a:rPr lang="fr-FR" b="1" dirty="0" err="1"/>
              <a:t>level</a:t>
            </a:r>
            <a:r>
              <a:rPr lang="fr-FR" b="1" dirty="0"/>
              <a:t> of </a:t>
            </a:r>
            <a:r>
              <a:rPr lang="fr-FR" b="1" dirty="0" err="1"/>
              <a:t>doctors</a:t>
            </a:r>
            <a:r>
              <a:rPr lang="fr-FR" b="1" dirty="0"/>
              <a:t> per population </a:t>
            </a:r>
            <a:r>
              <a:rPr lang="fr-FR" b="1" dirty="0" err="1"/>
              <a:t>is</a:t>
            </a:r>
            <a:r>
              <a:rPr lang="fr-FR" b="1" dirty="0"/>
              <a:t> </a:t>
            </a:r>
            <a:r>
              <a:rPr lang="fr-FR" b="1" dirty="0" err="1"/>
              <a:t>associated</a:t>
            </a:r>
            <a:r>
              <a:rPr lang="fr-FR" b="1" dirty="0"/>
              <a:t> </a:t>
            </a:r>
            <a:r>
              <a:rPr lang="fr-FR" b="1" dirty="0" err="1"/>
              <a:t>with</a:t>
            </a:r>
            <a:r>
              <a:rPr lang="fr-FR" b="1" dirty="0"/>
              <a:t> a high </a:t>
            </a:r>
            <a:r>
              <a:rPr lang="fr-FR" b="1" dirty="0" err="1"/>
              <a:t>level</a:t>
            </a:r>
            <a:r>
              <a:rPr lang="fr-FR" b="1" dirty="0"/>
              <a:t> of fluoroquinolone </a:t>
            </a:r>
            <a:r>
              <a:rPr lang="fr-FR" b="1" dirty="0" err="1"/>
              <a:t>resistance</a:t>
            </a:r>
            <a:r>
              <a:rPr lang="fr-FR" b="1" dirty="0"/>
              <a:t> at the </a:t>
            </a:r>
            <a:r>
              <a:rPr lang="fr-FR" b="1" dirty="0" err="1"/>
              <a:t>regional</a:t>
            </a:r>
            <a:r>
              <a:rPr lang="fr-FR" b="1" dirty="0"/>
              <a:t> </a:t>
            </a:r>
            <a:r>
              <a:rPr lang="fr-FR" b="1" dirty="0" err="1"/>
              <a:t>scale</a:t>
            </a:r>
            <a:r>
              <a:rPr lang="fr-FR" b="1" dirty="0"/>
              <a:t>.</a:t>
            </a:r>
            <a:br>
              <a:rPr lang="fr-FR" b="1" dirty="0"/>
            </a:br>
            <a:endParaRPr lang="fr-FR" b="1" dirty="0"/>
          </a:p>
          <a:p>
            <a:pPr marL="285750" indent="-285750">
              <a:buFont typeface="Arial" panose="020B0604020202020204" pitchFamily="34" charset="0"/>
              <a:buChar char="•"/>
            </a:pPr>
            <a:r>
              <a:rPr lang="fr-FR" dirty="0"/>
              <a:t> </a:t>
            </a:r>
            <a:r>
              <a:rPr lang="fr-FR" dirty="0" err="1"/>
              <a:t>Environment</a:t>
            </a:r>
            <a:r>
              <a:rPr lang="fr-FR" dirty="0"/>
              <a:t> block </a:t>
            </a:r>
            <a:r>
              <a:rPr lang="fr-FR" dirty="0" err="1"/>
              <a:t>is</a:t>
            </a:r>
            <a:r>
              <a:rPr lang="fr-FR" dirty="0"/>
              <a:t> </a:t>
            </a:r>
            <a:r>
              <a:rPr lang="fr-FR" dirty="0" err="1"/>
              <a:t>characterized</a:t>
            </a:r>
            <a:r>
              <a:rPr lang="fr-FR" dirty="0"/>
              <a:t> by pollution, Animals block </a:t>
            </a:r>
            <a:r>
              <a:rPr lang="fr-FR" dirty="0" err="1"/>
              <a:t>mainly</a:t>
            </a:r>
            <a:r>
              <a:rPr lang="fr-FR" dirty="0"/>
              <a:t> by </a:t>
            </a:r>
            <a:r>
              <a:rPr lang="fr-FR" dirty="0" err="1"/>
              <a:t>livestock</a:t>
            </a:r>
            <a:r>
              <a:rPr lang="fr-FR" dirty="0"/>
              <a:t> </a:t>
            </a:r>
            <a:r>
              <a:rPr lang="fr-FR" dirty="0" err="1"/>
              <a:t>density</a:t>
            </a:r>
            <a:r>
              <a:rPr lang="fr-FR" dirty="0"/>
              <a:t>. </a:t>
            </a:r>
            <a:r>
              <a:rPr lang="fr-FR" b="1" dirty="0"/>
              <a:t>The </a:t>
            </a:r>
            <a:r>
              <a:rPr lang="fr-FR" b="1" dirty="0" err="1"/>
              <a:t>common</a:t>
            </a:r>
            <a:r>
              <a:rPr lang="fr-FR" b="1" dirty="0"/>
              <a:t> point of the </a:t>
            </a:r>
            <a:r>
              <a:rPr lang="fr-FR" b="1" dirty="0" err="1"/>
              <a:t>three</a:t>
            </a:r>
            <a:r>
              <a:rPr lang="fr-FR" b="1" dirty="0"/>
              <a:t> One </a:t>
            </a:r>
            <a:r>
              <a:rPr lang="fr-FR" b="1" dirty="0" err="1"/>
              <a:t>Health</a:t>
            </a:r>
            <a:r>
              <a:rPr lang="fr-FR" b="1" dirty="0"/>
              <a:t> blocks </a:t>
            </a:r>
            <a:r>
              <a:rPr lang="fr-FR" b="1" dirty="0" err="1"/>
              <a:t>is</a:t>
            </a:r>
            <a:r>
              <a:rPr lang="fr-FR" b="1" dirty="0"/>
              <a:t> the </a:t>
            </a:r>
            <a:r>
              <a:rPr lang="fr-FR" b="1" dirty="0" err="1"/>
              <a:t>urban</a:t>
            </a:r>
            <a:r>
              <a:rPr lang="fr-FR" b="1" dirty="0"/>
              <a:t>/rural </a:t>
            </a:r>
            <a:r>
              <a:rPr lang="fr-FR" b="1" dirty="0" err="1"/>
              <a:t>characteristic</a:t>
            </a:r>
            <a:r>
              <a:rPr lang="fr-FR" b="1" dirty="0"/>
              <a:t> of the </a:t>
            </a:r>
            <a:r>
              <a:rPr lang="fr-FR" b="1" dirty="0" err="1"/>
              <a:t>region</a:t>
            </a:r>
            <a:r>
              <a:rPr lang="fr-FR" b="1" dirty="0"/>
              <a:t>.</a:t>
            </a:r>
            <a:r>
              <a:rPr lang="fr-FR" dirty="0"/>
              <a:t>  There are more </a:t>
            </a:r>
            <a:r>
              <a:rPr lang="fr-FR" dirty="0" err="1"/>
              <a:t>resistance</a:t>
            </a:r>
            <a:r>
              <a:rPr lang="fr-FR" dirty="0"/>
              <a:t> in </a:t>
            </a:r>
            <a:r>
              <a:rPr lang="fr-FR" dirty="0" err="1"/>
              <a:t>urban</a:t>
            </a:r>
            <a:r>
              <a:rPr lang="fr-FR" dirty="0"/>
              <a:t> </a:t>
            </a:r>
            <a:r>
              <a:rPr lang="fr-FR" dirty="0" err="1"/>
              <a:t>regions</a:t>
            </a:r>
            <a:r>
              <a:rPr lang="fr-FR" dirty="0"/>
              <a:t>.</a:t>
            </a:r>
          </a:p>
          <a:p>
            <a:pPr marL="285750" indent="-285750">
              <a:buFont typeface="Arial" panose="020B0604020202020204" pitchFamily="34" charset="0"/>
              <a:buChar char="•"/>
            </a:pPr>
            <a:endParaRPr lang="fr-FR" dirty="0"/>
          </a:p>
        </p:txBody>
      </p:sp>
    </p:spTree>
    <p:extLst>
      <p:ext uri="{BB962C8B-B14F-4D97-AF65-F5344CB8AC3E}">
        <p14:creationId xmlns:p14="http://schemas.microsoft.com/office/powerpoint/2010/main" val="3618515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a:t>Limits and perspective</a:t>
            </a:r>
            <a:endParaRPr lang="fr-FR" dirty="0"/>
          </a:p>
        </p:txBody>
      </p:sp>
      <p:sp>
        <p:nvSpPr>
          <p:cNvPr id="2" name="ZoneTexte 1">
            <a:extLst>
              <a:ext uri="{FF2B5EF4-FFF2-40B4-BE49-F238E27FC236}">
                <a16:creationId xmlns:a16="http://schemas.microsoft.com/office/drawing/2014/main" id="{2126A8F8-27A3-411A-B855-21472B4CBE80}"/>
              </a:ext>
            </a:extLst>
          </p:cNvPr>
          <p:cNvSpPr txBox="1"/>
          <p:nvPr/>
        </p:nvSpPr>
        <p:spPr>
          <a:xfrm>
            <a:off x="812800" y="1769534"/>
            <a:ext cx="9177866" cy="369332"/>
          </a:xfrm>
          <a:prstGeom prst="rect">
            <a:avLst/>
          </a:prstGeom>
          <a:noFill/>
        </p:spPr>
        <p:txBody>
          <a:bodyPr wrap="square" rtlCol="0">
            <a:spAutoFit/>
          </a:bodyPr>
          <a:lstStyle/>
          <a:p>
            <a:pPr marL="285750" indent="-285750">
              <a:buFont typeface="Arial" panose="020B0604020202020204" pitchFamily="34" charset="0"/>
              <a:buChar char="•"/>
            </a:pPr>
            <a:endParaRPr lang="fr-FR" dirty="0"/>
          </a:p>
        </p:txBody>
      </p:sp>
      <p:sp>
        <p:nvSpPr>
          <p:cNvPr id="3" name="ZoneTexte 2">
            <a:extLst>
              <a:ext uri="{FF2B5EF4-FFF2-40B4-BE49-F238E27FC236}">
                <a16:creationId xmlns:a16="http://schemas.microsoft.com/office/drawing/2014/main" id="{94E2E6DA-CA2F-425A-AEB1-C142A65F9518}"/>
              </a:ext>
            </a:extLst>
          </p:cNvPr>
          <p:cNvSpPr txBox="1"/>
          <p:nvPr/>
        </p:nvSpPr>
        <p:spPr>
          <a:xfrm>
            <a:off x="629175" y="1351508"/>
            <a:ext cx="10335236" cy="4154984"/>
          </a:xfrm>
          <a:prstGeom prst="rect">
            <a:avLst/>
          </a:prstGeom>
          <a:solidFill>
            <a:schemeClr val="accent6">
              <a:lumMod val="20000"/>
              <a:lumOff val="80000"/>
            </a:schemeClr>
          </a:solidFill>
          <a:ln>
            <a:solidFill>
              <a:schemeClr val="accent1"/>
            </a:solidFill>
          </a:ln>
        </p:spPr>
        <p:txBody>
          <a:bodyPr wrap="square" rtlCol="0">
            <a:spAutoFit/>
          </a:bodyPr>
          <a:lstStyle/>
          <a:p>
            <a:pPr marL="285750" indent="-285750">
              <a:buFont typeface="Arial" panose="020B0604020202020204" pitchFamily="34" charset="0"/>
              <a:buChar char="•"/>
            </a:pPr>
            <a:r>
              <a:rPr lang="fr-FR" b="1" dirty="0"/>
              <a:t>The </a:t>
            </a:r>
            <a:r>
              <a:rPr lang="fr-FR" b="1" dirty="0" err="1"/>
              <a:t>sample</a:t>
            </a:r>
            <a:r>
              <a:rPr lang="fr-FR" b="1" dirty="0"/>
              <a:t> size </a:t>
            </a:r>
            <a:r>
              <a:rPr lang="fr-FR" b="1" dirty="0" err="1"/>
              <a:t>is</a:t>
            </a:r>
            <a:r>
              <a:rPr lang="fr-FR" b="1" dirty="0"/>
              <a:t> </a:t>
            </a:r>
            <a:r>
              <a:rPr lang="fr-FR" b="1" dirty="0" err="1"/>
              <a:t>low</a:t>
            </a:r>
            <a:r>
              <a:rPr lang="fr-FR" b="1" dirty="0"/>
              <a:t> (n=12 </a:t>
            </a:r>
            <a:r>
              <a:rPr lang="fr-FR" b="1" dirty="0" err="1"/>
              <a:t>regions</a:t>
            </a:r>
            <a:r>
              <a:rPr lang="fr-FR" b="1" dirty="0"/>
              <a:t>)</a:t>
            </a:r>
            <a:r>
              <a:rPr lang="fr-FR" dirty="0"/>
              <a:t>. This </a:t>
            </a:r>
            <a:r>
              <a:rPr lang="fr-FR" dirty="0" err="1"/>
              <a:t>is</a:t>
            </a:r>
            <a:r>
              <a:rPr lang="fr-FR" dirty="0"/>
              <a:t> the main </a:t>
            </a:r>
            <a:r>
              <a:rPr lang="fr-FR" dirty="0" err="1"/>
              <a:t>limit</a:t>
            </a:r>
            <a:r>
              <a:rPr lang="fr-FR" dirty="0"/>
              <a:t> </a:t>
            </a:r>
            <a:r>
              <a:rPr lang="fr-FR" dirty="0" err="1"/>
              <a:t>because</a:t>
            </a:r>
            <a:r>
              <a:rPr lang="fr-FR" dirty="0"/>
              <a:t> a </a:t>
            </a:r>
            <a:r>
              <a:rPr lang="fr-FR" dirty="0" err="1"/>
              <a:t>consequence</a:t>
            </a:r>
            <a:r>
              <a:rPr lang="fr-FR" dirty="0"/>
              <a:t> of </a:t>
            </a:r>
            <a:r>
              <a:rPr lang="fr-FR" dirty="0" err="1"/>
              <a:t>that</a:t>
            </a:r>
            <a:r>
              <a:rPr lang="fr-FR" dirty="0"/>
              <a:t> </a:t>
            </a:r>
            <a:r>
              <a:rPr lang="fr-FR" dirty="0" err="1"/>
              <a:t>is</a:t>
            </a:r>
            <a:r>
              <a:rPr lang="fr-FR" dirty="0"/>
              <a:t> </a:t>
            </a:r>
            <a:r>
              <a:rPr lang="fr-FR" dirty="0" err="1"/>
              <a:t>that</a:t>
            </a:r>
            <a:r>
              <a:rPr lang="fr-FR" dirty="0"/>
              <a:t> the estimation of model </a:t>
            </a:r>
            <a:r>
              <a:rPr lang="fr-FR" dirty="0" err="1"/>
              <a:t>parameters</a:t>
            </a:r>
            <a:r>
              <a:rPr lang="fr-FR" dirty="0"/>
              <a:t> are not stable. An </a:t>
            </a:r>
            <a:r>
              <a:rPr lang="fr-FR" dirty="0" err="1"/>
              <a:t>idea</a:t>
            </a:r>
            <a:r>
              <a:rPr lang="fr-FR" dirty="0"/>
              <a:t> </a:t>
            </a:r>
            <a:r>
              <a:rPr lang="fr-FR" dirty="0" err="1"/>
              <a:t>would</a:t>
            </a:r>
            <a:r>
              <a:rPr lang="fr-FR" dirty="0"/>
              <a:t> </a:t>
            </a:r>
            <a:r>
              <a:rPr lang="fr-FR" dirty="0" err="1"/>
              <a:t>be</a:t>
            </a:r>
            <a:r>
              <a:rPr lang="fr-FR" dirty="0"/>
              <a:t> to </a:t>
            </a:r>
            <a:r>
              <a:rPr lang="fr-FR" dirty="0" err="1"/>
              <a:t>work</a:t>
            </a:r>
            <a:r>
              <a:rPr lang="fr-FR" dirty="0"/>
              <a:t> at the </a:t>
            </a:r>
            <a:r>
              <a:rPr lang="fr-FR" dirty="0" err="1"/>
              <a:t>departmental</a:t>
            </a:r>
            <a:r>
              <a:rPr lang="fr-FR" dirty="0"/>
              <a:t> </a:t>
            </a:r>
            <a:r>
              <a:rPr lang="fr-FR" dirty="0" err="1"/>
              <a:t>scale</a:t>
            </a:r>
            <a:r>
              <a:rPr lang="fr-FR" dirty="0"/>
              <a:t> </a:t>
            </a:r>
            <a:r>
              <a:rPr lang="fr-FR" dirty="0" err="1"/>
              <a:t>instead</a:t>
            </a:r>
            <a:r>
              <a:rPr lang="fr-FR" dirty="0"/>
              <a:t> of </a:t>
            </a:r>
            <a:r>
              <a:rPr lang="fr-FR" dirty="0" err="1"/>
              <a:t>regional</a:t>
            </a:r>
            <a:r>
              <a:rPr lang="fr-FR" dirty="0"/>
              <a:t> </a:t>
            </a:r>
            <a:r>
              <a:rPr lang="fr-FR" dirty="0" err="1"/>
              <a:t>scale</a:t>
            </a:r>
            <a:r>
              <a:rPr lang="fr-FR" dirty="0"/>
              <a:t> but </a:t>
            </a:r>
            <a:r>
              <a:rPr lang="fr-FR" dirty="0" err="1"/>
              <a:t>it’s</a:t>
            </a:r>
            <a:r>
              <a:rPr lang="fr-FR" dirty="0"/>
              <a:t> </a:t>
            </a:r>
            <a:r>
              <a:rPr lang="fr-FR" dirty="0" err="1"/>
              <a:t>difficult</a:t>
            </a:r>
            <a:r>
              <a:rPr lang="fr-FR" dirty="0"/>
              <a:t> </a:t>
            </a:r>
            <a:r>
              <a:rPr lang="fr-FR" dirty="0" err="1"/>
              <a:t>because</a:t>
            </a:r>
            <a:r>
              <a:rPr lang="fr-FR" dirty="0"/>
              <a:t> </a:t>
            </a:r>
            <a:r>
              <a:rPr lang="fr-FR" dirty="0" err="1"/>
              <a:t>there</a:t>
            </a:r>
            <a:r>
              <a:rPr lang="fr-FR" dirty="0"/>
              <a:t> </a:t>
            </a:r>
            <a:r>
              <a:rPr lang="fr-FR" dirty="0" err="1"/>
              <a:t>is</a:t>
            </a:r>
            <a:r>
              <a:rPr lang="fr-FR" dirty="0"/>
              <a:t> no </a:t>
            </a:r>
            <a:r>
              <a:rPr lang="fr-FR" dirty="0" err="1"/>
              <a:t>enough</a:t>
            </a:r>
            <a:r>
              <a:rPr lang="fr-FR" dirty="0"/>
              <a:t> data of AMC and AMR at </a:t>
            </a:r>
            <a:r>
              <a:rPr lang="fr-FR" dirty="0" err="1"/>
              <a:t>departmental</a:t>
            </a:r>
            <a:r>
              <a:rPr lang="fr-FR" dirty="0"/>
              <a:t> </a:t>
            </a:r>
            <a:r>
              <a:rPr lang="fr-FR" dirty="0" err="1"/>
              <a:t>scale</a:t>
            </a:r>
            <a:r>
              <a:rPr lang="fr-FR" dirty="0"/>
              <a:t>.</a:t>
            </a:r>
            <a:br>
              <a:rPr lang="fr-FR" dirty="0"/>
            </a:br>
            <a:endParaRPr lang="fr-FR" dirty="0"/>
          </a:p>
          <a:p>
            <a:pPr marL="285750" indent="-285750">
              <a:buFont typeface="Arial" panose="020B0604020202020204" pitchFamily="34" charset="0"/>
              <a:buChar char="•"/>
            </a:pPr>
            <a:r>
              <a:rPr lang="fr-FR" dirty="0"/>
              <a:t> </a:t>
            </a:r>
            <a:r>
              <a:rPr lang="fr-FR" dirty="0" err="1"/>
              <a:t>We</a:t>
            </a:r>
            <a:r>
              <a:rPr lang="fr-FR" dirty="0"/>
              <a:t> </a:t>
            </a:r>
            <a:r>
              <a:rPr lang="fr-FR" dirty="0" err="1"/>
              <a:t>summarized</a:t>
            </a:r>
            <a:r>
              <a:rPr lang="fr-FR" dirty="0"/>
              <a:t> </a:t>
            </a:r>
            <a:r>
              <a:rPr lang="fr-FR" dirty="0" err="1"/>
              <a:t>functional</a:t>
            </a:r>
            <a:r>
              <a:rPr lang="fr-FR" dirty="0"/>
              <a:t> variables </a:t>
            </a:r>
            <a:r>
              <a:rPr lang="fr-FR" dirty="0" err="1"/>
              <a:t>with</a:t>
            </a:r>
            <a:r>
              <a:rPr lang="fr-FR" dirty="0"/>
              <a:t> </a:t>
            </a:r>
            <a:r>
              <a:rPr lang="fr-FR" b="1" dirty="0" err="1"/>
              <a:t>only</a:t>
            </a:r>
            <a:r>
              <a:rPr lang="fr-FR" b="1" dirty="0"/>
              <a:t> one principal component score</a:t>
            </a:r>
            <a:r>
              <a:rPr lang="fr-FR" dirty="0"/>
              <a:t>. </a:t>
            </a:r>
            <a:r>
              <a:rPr lang="fr-FR" dirty="0" err="1"/>
              <a:t>Generally</a:t>
            </a:r>
            <a:r>
              <a:rPr lang="fr-FR" dirty="0"/>
              <a:t> </a:t>
            </a:r>
            <a:r>
              <a:rPr lang="fr-FR" dirty="0" err="1"/>
              <a:t>this</a:t>
            </a:r>
            <a:r>
              <a:rPr lang="fr-FR" dirty="0"/>
              <a:t> fPC1 </a:t>
            </a:r>
            <a:r>
              <a:rPr lang="fr-FR" dirty="0" err="1"/>
              <a:t>summarizes</a:t>
            </a:r>
            <a:r>
              <a:rPr lang="fr-FR" dirty="0"/>
              <a:t> </a:t>
            </a:r>
            <a:r>
              <a:rPr lang="fr-FR" dirty="0" err="1"/>
              <a:t>mean</a:t>
            </a:r>
            <a:r>
              <a:rPr lang="fr-FR" dirty="0"/>
              <a:t> </a:t>
            </a:r>
            <a:r>
              <a:rPr lang="fr-FR" dirty="0" err="1"/>
              <a:t>differences</a:t>
            </a:r>
            <a:r>
              <a:rPr lang="fr-FR" dirty="0"/>
              <a:t> over the time </a:t>
            </a:r>
            <a:r>
              <a:rPr lang="fr-FR" dirty="0" err="1"/>
              <a:t>between</a:t>
            </a:r>
            <a:r>
              <a:rPr lang="fr-FR" dirty="0"/>
              <a:t> </a:t>
            </a:r>
            <a:r>
              <a:rPr lang="fr-FR" dirty="0" err="1"/>
              <a:t>regions</a:t>
            </a:r>
            <a:r>
              <a:rPr lang="fr-FR" dirty="0"/>
              <a:t> but not </a:t>
            </a:r>
            <a:r>
              <a:rPr lang="fr-FR" dirty="0" err="1"/>
              <a:t>some</a:t>
            </a:r>
            <a:r>
              <a:rPr lang="fr-FR" dirty="0"/>
              <a:t> noises at </a:t>
            </a:r>
            <a:r>
              <a:rPr lang="fr-FR" dirty="0" err="1"/>
              <a:t>some</a:t>
            </a:r>
            <a:r>
              <a:rPr lang="fr-FR" dirty="0"/>
              <a:t> </a:t>
            </a:r>
            <a:r>
              <a:rPr lang="fr-FR" dirty="0" err="1"/>
              <a:t>years</a:t>
            </a:r>
            <a:r>
              <a:rPr lang="fr-FR" dirty="0"/>
              <a:t> </a:t>
            </a:r>
            <a:r>
              <a:rPr lang="fr-FR" dirty="0" err="1"/>
              <a:t>which</a:t>
            </a:r>
            <a:r>
              <a:rPr lang="fr-FR" dirty="0"/>
              <a:t> </a:t>
            </a:r>
            <a:r>
              <a:rPr lang="fr-FR" dirty="0" err="1"/>
              <a:t>could</a:t>
            </a:r>
            <a:r>
              <a:rPr lang="fr-FR" dirty="0"/>
              <a:t> </a:t>
            </a:r>
            <a:r>
              <a:rPr lang="fr-FR" dirty="0" err="1"/>
              <a:t>be</a:t>
            </a:r>
            <a:r>
              <a:rPr lang="fr-FR" dirty="0"/>
              <a:t> </a:t>
            </a:r>
            <a:r>
              <a:rPr lang="fr-FR" dirty="0" err="1"/>
              <a:t>interesting</a:t>
            </a:r>
            <a:r>
              <a:rPr lang="fr-FR" dirty="0"/>
              <a:t> to </a:t>
            </a:r>
            <a:r>
              <a:rPr lang="fr-FR" dirty="0" err="1"/>
              <a:t>consider</a:t>
            </a:r>
            <a:r>
              <a:rPr lang="fr-FR" dirty="0"/>
              <a:t> in </a:t>
            </a:r>
            <a:r>
              <a:rPr lang="fr-FR" dirty="0" err="1"/>
              <a:t>our</a:t>
            </a:r>
            <a:r>
              <a:rPr lang="fr-FR" dirty="0"/>
              <a:t> </a:t>
            </a:r>
            <a:r>
              <a:rPr lang="fr-FR" dirty="0" err="1"/>
              <a:t>analysis</a:t>
            </a:r>
            <a:r>
              <a:rPr lang="fr-FR" dirty="0"/>
              <a:t>. </a:t>
            </a:r>
            <a:r>
              <a:rPr lang="fr-FR" b="1" dirty="0"/>
              <a:t>A perspective </a:t>
            </a:r>
            <a:r>
              <a:rPr lang="fr-FR" b="1" dirty="0" err="1"/>
              <a:t>could</a:t>
            </a:r>
            <a:r>
              <a:rPr lang="fr-FR" b="1" dirty="0"/>
              <a:t> </a:t>
            </a:r>
            <a:r>
              <a:rPr lang="fr-FR" b="1" dirty="0" err="1"/>
              <a:t>be</a:t>
            </a:r>
            <a:r>
              <a:rPr lang="fr-FR" b="1" dirty="0"/>
              <a:t> to use </a:t>
            </a:r>
            <a:r>
              <a:rPr lang="fr-FR" b="1" dirty="0" err="1"/>
              <a:t>Three-way</a:t>
            </a:r>
            <a:r>
              <a:rPr lang="fr-FR" b="1" dirty="0"/>
              <a:t> GSCA</a:t>
            </a:r>
            <a:r>
              <a:rPr lang="fr-FR" b="1" baseline="30000" dirty="0"/>
              <a:t>5</a:t>
            </a:r>
            <a:r>
              <a:rPr lang="fr-FR" b="1" dirty="0"/>
              <a:t> </a:t>
            </a:r>
            <a:r>
              <a:rPr lang="fr-FR" b="1" dirty="0" err="1"/>
              <a:t>with</a:t>
            </a:r>
            <a:r>
              <a:rPr lang="fr-FR" b="1" dirty="0"/>
              <a:t> more </a:t>
            </a:r>
            <a:r>
              <a:rPr lang="fr-FR" b="1" dirty="0" err="1"/>
              <a:t>than</a:t>
            </a:r>
            <a:r>
              <a:rPr lang="fr-FR" b="1" dirty="0"/>
              <a:t> one principal component.</a:t>
            </a:r>
            <a:br>
              <a:rPr lang="fr-FR" dirty="0"/>
            </a:br>
            <a:endParaRPr lang="fr-FR" baseline="30000" dirty="0"/>
          </a:p>
          <a:p>
            <a:pPr marL="285750" indent="-285750">
              <a:buFont typeface="Arial" panose="020B0604020202020204" pitchFamily="34" charset="0"/>
              <a:buChar char="•"/>
            </a:pPr>
            <a:r>
              <a:rPr lang="fr-FR" b="1" dirty="0"/>
              <a:t>The final goal of </a:t>
            </a:r>
            <a:r>
              <a:rPr lang="fr-FR" b="1" dirty="0" err="1"/>
              <a:t>our</a:t>
            </a:r>
            <a:r>
              <a:rPr lang="fr-FR" b="1" dirty="0"/>
              <a:t> </a:t>
            </a:r>
            <a:r>
              <a:rPr lang="fr-FR" b="1" dirty="0" err="1"/>
              <a:t>work</a:t>
            </a:r>
            <a:r>
              <a:rPr lang="fr-FR" b="1" dirty="0"/>
              <a:t> </a:t>
            </a:r>
            <a:r>
              <a:rPr lang="fr-FR" b="1" dirty="0" err="1"/>
              <a:t>would</a:t>
            </a:r>
            <a:r>
              <a:rPr lang="fr-FR" b="1" dirty="0"/>
              <a:t> </a:t>
            </a:r>
            <a:r>
              <a:rPr lang="fr-FR" b="1" dirty="0" err="1"/>
              <a:t>be</a:t>
            </a:r>
            <a:r>
              <a:rPr lang="fr-FR" b="1" dirty="0"/>
              <a:t> to </a:t>
            </a:r>
            <a:r>
              <a:rPr lang="fr-FR" b="1" dirty="0" err="1"/>
              <a:t>perform</a:t>
            </a:r>
            <a:r>
              <a:rPr lang="fr-FR" b="1" dirty="0"/>
              <a:t> </a:t>
            </a:r>
            <a:r>
              <a:rPr lang="fr-FR" b="1" dirty="0" err="1"/>
              <a:t>functional</a:t>
            </a:r>
            <a:r>
              <a:rPr lang="fr-FR" b="1" dirty="0"/>
              <a:t> GSCA</a:t>
            </a:r>
            <a:r>
              <a:rPr lang="fr-FR" b="1" baseline="30000" dirty="0"/>
              <a:t>6</a:t>
            </a:r>
            <a:r>
              <a:rPr lang="fr-FR" b="1" dirty="0"/>
              <a:t> </a:t>
            </a:r>
            <a:r>
              <a:rPr lang="fr-FR" b="1" dirty="0" err="1"/>
              <a:t>directly</a:t>
            </a:r>
            <a:r>
              <a:rPr lang="fr-FR" b="1" dirty="0"/>
              <a:t> to </a:t>
            </a:r>
            <a:r>
              <a:rPr lang="fr-FR" b="1" dirty="0" err="1"/>
              <a:t>functionnal</a:t>
            </a:r>
            <a:r>
              <a:rPr lang="fr-FR" b="1" dirty="0"/>
              <a:t> variable</a:t>
            </a:r>
            <a:r>
              <a:rPr lang="fr-FR" dirty="0"/>
              <a:t> </a:t>
            </a:r>
            <a:r>
              <a:rPr lang="fr-FR" dirty="0" err="1"/>
              <a:t>without</a:t>
            </a:r>
            <a:r>
              <a:rPr lang="fr-FR" dirty="0"/>
              <a:t> </a:t>
            </a:r>
            <a:r>
              <a:rPr lang="fr-FR" dirty="0" err="1"/>
              <a:t>doing</a:t>
            </a:r>
            <a:r>
              <a:rPr lang="fr-FR" dirty="0"/>
              <a:t> </a:t>
            </a:r>
            <a:r>
              <a:rPr lang="fr-FR" dirty="0" err="1"/>
              <a:t>any</a:t>
            </a:r>
            <a:r>
              <a:rPr lang="fr-FR" dirty="0"/>
              <a:t> </a:t>
            </a:r>
            <a:r>
              <a:rPr lang="fr-FR" dirty="0" err="1"/>
              <a:t>fPCA</a:t>
            </a:r>
            <a:r>
              <a:rPr lang="fr-FR" dirty="0"/>
              <a:t>.</a:t>
            </a:r>
            <a:br>
              <a:rPr lang="fr-FR" dirty="0"/>
            </a:br>
            <a:endParaRPr lang="fr-FR" dirty="0"/>
          </a:p>
          <a:p>
            <a:pPr marL="285750" indent="-285750">
              <a:buFont typeface="Arial" panose="020B0604020202020204" pitchFamily="34" charset="0"/>
              <a:buChar char="•"/>
            </a:pPr>
            <a:r>
              <a:rPr lang="fr-FR" dirty="0"/>
              <a:t>The relations </a:t>
            </a:r>
            <a:r>
              <a:rPr lang="fr-FR" dirty="0" err="1"/>
              <a:t>observed</a:t>
            </a:r>
            <a:r>
              <a:rPr lang="fr-FR" dirty="0"/>
              <a:t> are </a:t>
            </a:r>
            <a:r>
              <a:rPr lang="fr-FR" dirty="0" err="1"/>
              <a:t>interesting</a:t>
            </a:r>
            <a:r>
              <a:rPr lang="fr-FR" dirty="0"/>
              <a:t> but </a:t>
            </a:r>
            <a:r>
              <a:rPr lang="fr-FR" b="1" dirty="0" err="1"/>
              <a:t>should</a:t>
            </a:r>
            <a:r>
              <a:rPr lang="fr-FR" b="1" dirty="0"/>
              <a:t> </a:t>
            </a:r>
            <a:r>
              <a:rPr lang="fr-FR" b="1" dirty="0" err="1"/>
              <a:t>be</a:t>
            </a:r>
            <a:r>
              <a:rPr lang="fr-FR" b="1" dirty="0"/>
              <a:t> </a:t>
            </a:r>
            <a:r>
              <a:rPr lang="fr-FR" b="1" dirty="0" err="1"/>
              <a:t>consider</a:t>
            </a:r>
            <a:r>
              <a:rPr lang="fr-FR" b="1" dirty="0"/>
              <a:t> </a:t>
            </a:r>
            <a:r>
              <a:rPr lang="fr-FR" b="1" dirty="0" err="1"/>
              <a:t>regarding</a:t>
            </a:r>
            <a:r>
              <a:rPr lang="fr-FR" b="1" dirty="0"/>
              <a:t> </a:t>
            </a:r>
            <a:r>
              <a:rPr lang="fr-FR" b="1" dirty="0" err="1"/>
              <a:t>their</a:t>
            </a:r>
            <a:r>
              <a:rPr lang="fr-FR" b="1" dirty="0"/>
              <a:t> </a:t>
            </a:r>
            <a:r>
              <a:rPr lang="fr-FR" b="1" dirty="0" err="1"/>
              <a:t>correlation</a:t>
            </a:r>
            <a:r>
              <a:rPr lang="fr-FR" b="1" dirty="0"/>
              <a:t> </a:t>
            </a:r>
            <a:r>
              <a:rPr lang="fr-FR" b="1" dirty="0" err="1"/>
              <a:t>with</a:t>
            </a:r>
            <a:r>
              <a:rPr lang="fr-FR" b="1" dirty="0"/>
              <a:t> </a:t>
            </a:r>
            <a:r>
              <a:rPr lang="fr-FR" b="1" dirty="0" err="1"/>
              <a:t>other</a:t>
            </a:r>
            <a:r>
              <a:rPr lang="fr-FR" b="1" dirty="0"/>
              <a:t> variables</a:t>
            </a:r>
            <a:r>
              <a:rPr lang="fr-FR" dirty="0"/>
              <a:t> not </a:t>
            </a:r>
            <a:r>
              <a:rPr lang="fr-FR" dirty="0" err="1"/>
              <a:t>selected</a:t>
            </a:r>
            <a:r>
              <a:rPr lang="fr-FR" dirty="0"/>
              <a:t> by the clustering of variables </a:t>
            </a:r>
            <a:r>
              <a:rPr lang="fr-FR" dirty="0" err="1"/>
              <a:t>method</a:t>
            </a:r>
            <a:r>
              <a:rPr lang="fr-FR" dirty="0"/>
              <a:t>.</a:t>
            </a:r>
          </a:p>
        </p:txBody>
      </p:sp>
    </p:spTree>
    <p:extLst>
      <p:ext uri="{BB962C8B-B14F-4D97-AF65-F5344CB8AC3E}">
        <p14:creationId xmlns:p14="http://schemas.microsoft.com/office/powerpoint/2010/main" val="1935726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1D8B1B96-4344-41EC-BB3F-025E941480CE}"/>
              </a:ext>
            </a:extLst>
          </p:cNvPr>
          <p:cNvSpPr txBox="1"/>
          <p:nvPr/>
        </p:nvSpPr>
        <p:spPr>
          <a:xfrm>
            <a:off x="97008" y="-4146"/>
            <a:ext cx="9766659" cy="523220"/>
          </a:xfrm>
          <a:prstGeom prst="rect">
            <a:avLst/>
          </a:prstGeom>
          <a:noFill/>
        </p:spPr>
        <p:txBody>
          <a:bodyPr wrap="square" rtlCol="0">
            <a:spAutoFit/>
          </a:bodyPr>
          <a:lstStyle/>
          <a:p>
            <a:r>
              <a:rPr lang="fr-FR" sz="2800" dirty="0" err="1"/>
              <a:t>References</a:t>
            </a:r>
            <a:endParaRPr lang="fr-FR" dirty="0"/>
          </a:p>
        </p:txBody>
      </p:sp>
      <p:sp>
        <p:nvSpPr>
          <p:cNvPr id="2" name="ZoneTexte 1">
            <a:extLst>
              <a:ext uri="{FF2B5EF4-FFF2-40B4-BE49-F238E27FC236}">
                <a16:creationId xmlns:a16="http://schemas.microsoft.com/office/drawing/2014/main" id="{2126A8F8-27A3-411A-B855-21472B4CBE80}"/>
              </a:ext>
            </a:extLst>
          </p:cNvPr>
          <p:cNvSpPr txBox="1"/>
          <p:nvPr/>
        </p:nvSpPr>
        <p:spPr>
          <a:xfrm>
            <a:off x="812800" y="1769534"/>
            <a:ext cx="9177866" cy="369332"/>
          </a:xfrm>
          <a:prstGeom prst="rect">
            <a:avLst/>
          </a:prstGeom>
          <a:noFill/>
        </p:spPr>
        <p:txBody>
          <a:bodyPr wrap="square" rtlCol="0">
            <a:spAutoFit/>
          </a:bodyPr>
          <a:lstStyle/>
          <a:p>
            <a:pPr marL="285750" indent="-285750">
              <a:buFont typeface="Arial" panose="020B0604020202020204" pitchFamily="34" charset="0"/>
              <a:buChar char="•"/>
            </a:pPr>
            <a:endParaRPr lang="fr-FR" dirty="0"/>
          </a:p>
        </p:txBody>
      </p:sp>
      <p:sp>
        <p:nvSpPr>
          <p:cNvPr id="6" name="ZoneTexte 5">
            <a:extLst>
              <a:ext uri="{FF2B5EF4-FFF2-40B4-BE49-F238E27FC236}">
                <a16:creationId xmlns:a16="http://schemas.microsoft.com/office/drawing/2014/main" id="{B3BAB974-85B4-471C-A7CB-82CA9FB46432}"/>
              </a:ext>
            </a:extLst>
          </p:cNvPr>
          <p:cNvSpPr txBox="1"/>
          <p:nvPr/>
        </p:nvSpPr>
        <p:spPr>
          <a:xfrm>
            <a:off x="465667" y="1083733"/>
            <a:ext cx="10803466" cy="2585323"/>
          </a:xfrm>
          <a:prstGeom prst="rect">
            <a:avLst/>
          </a:prstGeom>
          <a:noFill/>
        </p:spPr>
        <p:txBody>
          <a:bodyPr wrap="square" rtlCol="0">
            <a:spAutoFit/>
          </a:bodyPr>
          <a:lstStyle/>
          <a:p>
            <a:pPr marL="342900" indent="-342900">
              <a:buFont typeface="+mj-lt"/>
              <a:buAutoNum type="arabi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Ramsey, J. O. and Silverman, B. W. (2005).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Functional Data Analysis</a:t>
            </a:r>
            <a:r>
              <a:rPr lang="en-US" sz="1800" dirty="0">
                <a:effectLst/>
                <a:latin typeface="Calibri" panose="020F0502020204030204" pitchFamily="34" charset="0"/>
                <a:ea typeface="Calibri" panose="020F0502020204030204" pitchFamily="34" charset="0"/>
                <a:cs typeface="Times New Roman" panose="02020603050405020304" pitchFamily="18" charset="0"/>
              </a:rPr>
              <a:t>, Chapter 8.</a:t>
            </a:r>
          </a:p>
          <a:p>
            <a:pPr marL="342900" indent="-342900">
              <a:buFont typeface="+mj-lt"/>
              <a:buAutoNum type="arabicPeriod"/>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Vigneau</a:t>
            </a:r>
            <a:r>
              <a:rPr lang="en-US" sz="1800" dirty="0">
                <a:effectLst/>
                <a:latin typeface="Calibri" panose="020F0502020204030204" pitchFamily="34" charset="0"/>
                <a:ea typeface="Calibri" panose="020F0502020204030204" pitchFamily="34" charset="0"/>
                <a:cs typeface="Times New Roman" panose="02020603050405020304" pitchFamily="18" charset="0"/>
              </a:rPr>
              <a:t>, E., &amp;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Qannari</a:t>
            </a:r>
            <a:r>
              <a:rPr lang="en-US" sz="1800" dirty="0">
                <a:effectLst/>
                <a:latin typeface="Calibri" panose="020F0502020204030204" pitchFamily="34" charset="0"/>
                <a:ea typeface="Calibri" panose="020F0502020204030204" pitchFamily="34" charset="0"/>
                <a:cs typeface="Times New Roman" panose="02020603050405020304" pitchFamily="18" charset="0"/>
              </a:rPr>
              <a:t>, E. M. (2003).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Clustering of Variables Around Latent Components</a:t>
            </a:r>
            <a:r>
              <a:rPr lang="en-US" sz="1800" dirty="0">
                <a:effectLst/>
                <a:latin typeface="Calibri" panose="020F0502020204030204" pitchFamily="34" charset="0"/>
                <a:ea typeface="Calibri" panose="020F0502020204030204" pitchFamily="34" charset="0"/>
                <a:cs typeface="Times New Roman" panose="02020603050405020304" pitchFamily="18" charset="0"/>
              </a:rPr>
              <a:t>. Communications in Statistics - Simulation and Computation, 32(4), 1131–1150.</a:t>
            </a:r>
          </a:p>
          <a:p>
            <a:pPr marL="342900" indent="-342900">
              <a:buFont typeface="+mj-lt"/>
              <a:buAutoNum type="arabi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Hwang H.,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Takane</a:t>
            </a:r>
            <a:r>
              <a:rPr lang="en-US" sz="1800" dirty="0">
                <a:effectLst/>
                <a:latin typeface="Calibri" panose="020F0502020204030204" pitchFamily="34" charset="0"/>
                <a:ea typeface="Calibri" panose="020F0502020204030204" pitchFamily="34" charset="0"/>
                <a:cs typeface="Times New Roman" panose="02020603050405020304" pitchFamily="18" charset="0"/>
              </a:rPr>
              <a:t> Y. (2004).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Generalized Structured Component Analysis</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1800" dirty="0" err="1">
                <a:effectLst/>
                <a:latin typeface="Calibri" panose="020F0502020204030204" pitchFamily="34" charset="0"/>
                <a:ea typeface="Calibri" panose="020F0502020204030204" pitchFamily="34" charset="0"/>
                <a:cs typeface="Times New Roman" panose="02020603050405020304" pitchFamily="18" charset="0"/>
              </a:rPr>
              <a:t>Psychometrika</a:t>
            </a:r>
            <a:r>
              <a:rPr lang="fr-FR" sz="1800" dirty="0">
                <a:effectLst/>
                <a:latin typeface="Calibri" panose="020F0502020204030204" pitchFamily="34" charset="0"/>
                <a:ea typeface="Calibri" panose="020F0502020204030204" pitchFamily="34" charset="0"/>
                <a:cs typeface="Times New Roman" panose="02020603050405020304" pitchFamily="18" charset="0"/>
              </a:rPr>
              <a:t> Vol.69, No. 1, 81–99.</a:t>
            </a:r>
          </a:p>
          <a:p>
            <a:pPr marL="342900" indent="-342900">
              <a:buFont typeface="+mj-lt"/>
              <a:buAutoNum type="arabicPeriod"/>
            </a:pPr>
            <a:r>
              <a:rPr lang="fr-FR" dirty="0" err="1">
                <a:latin typeface="Calibri" panose="020F0502020204030204" pitchFamily="34" charset="0"/>
                <a:ea typeface="Calibri" panose="020F0502020204030204" pitchFamily="34" charset="0"/>
                <a:cs typeface="Times New Roman" panose="02020603050405020304" pitchFamily="18" charset="0"/>
              </a:rPr>
              <a:t>Bougeard</a:t>
            </a:r>
            <a:r>
              <a:rPr lang="fr-FR" dirty="0">
                <a:latin typeface="Calibri" panose="020F0502020204030204" pitchFamily="34" charset="0"/>
                <a:ea typeface="Calibri" panose="020F0502020204030204" pitchFamily="34" charset="0"/>
                <a:cs typeface="Times New Roman" panose="02020603050405020304" pitchFamily="18" charset="0"/>
              </a:rPr>
              <a:t> S., Hanafi M. (2023). </a:t>
            </a:r>
            <a:r>
              <a:rPr lang="en-US" i="1" dirty="0">
                <a:latin typeface="Calibri" panose="020F0502020204030204" pitchFamily="34" charset="0"/>
                <a:ea typeface="Calibri" panose="020F0502020204030204" pitchFamily="34" charset="0"/>
                <a:cs typeface="Calibri" panose="020F0502020204030204" pitchFamily="34" charset="0"/>
              </a:rPr>
              <a:t>Prediction model for multiblock data with or without intermediate blocks. Estimation by PLS Path Modeling.</a:t>
            </a:r>
          </a:p>
          <a:p>
            <a:pPr marL="342900" indent="-342900">
              <a:buFont typeface="+mj-lt"/>
              <a:buAutoNum type="arabicPeriod"/>
            </a:pPr>
            <a:r>
              <a:rPr lang="fr-FR" dirty="0">
                <a:latin typeface="Calibri" panose="020F0502020204030204" pitchFamily="34" charset="0"/>
                <a:ea typeface="Calibri" panose="020F0502020204030204" pitchFamily="34" charset="0"/>
                <a:cs typeface="Calibri" panose="020F0502020204030204" pitchFamily="34" charset="0"/>
              </a:rPr>
              <a:t>Choi J. Y., Hwang H. (2018). </a:t>
            </a:r>
            <a:r>
              <a:rPr lang="en-US" i="1" dirty="0">
                <a:latin typeface="Calibri" panose="020F0502020204030204" pitchFamily="34" charset="0"/>
                <a:ea typeface="Calibri" panose="020F0502020204030204" pitchFamily="34" charset="0"/>
                <a:cs typeface="Calibri" panose="020F0502020204030204" pitchFamily="34" charset="0"/>
              </a:rPr>
              <a:t>Three-Way Generalized Structured Component Analysis.</a:t>
            </a:r>
          </a:p>
          <a:p>
            <a:pPr marL="342900" indent="-342900">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Suk H. W., Hwang H. (2016). </a:t>
            </a:r>
            <a:r>
              <a:rPr lang="en-US" i="1" dirty="0">
                <a:latin typeface="Calibri" panose="020F0502020204030204" pitchFamily="34" charset="0"/>
                <a:ea typeface="Calibri" panose="020F0502020204030204" pitchFamily="34" charset="0"/>
                <a:cs typeface="Calibri" panose="020F0502020204030204" pitchFamily="34" charset="0"/>
              </a:rPr>
              <a:t>Functional Generalized Structured Component Analysis. </a:t>
            </a:r>
            <a:r>
              <a:rPr lang="en-US" dirty="0">
                <a:latin typeface="Calibri" panose="020F0502020204030204" pitchFamily="34" charset="0"/>
                <a:ea typeface="Calibri" panose="020F0502020204030204" pitchFamily="34" charset="0"/>
                <a:cs typeface="Calibri" panose="020F0502020204030204" pitchFamily="34" charset="0"/>
              </a:rPr>
              <a:t>Psychometrika </a:t>
            </a:r>
            <a:endParaRPr lang="en-US" i="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mj-lt"/>
              <a:buAutoNum type="arabicPeriod"/>
            </a:pPr>
            <a:endParaRPr lang="fr-F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438227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PÉRATEURS">
  <a:themeElements>
    <a:clrScheme name="ANSES">
      <a:dk1>
        <a:srgbClr val="000000"/>
      </a:dk1>
      <a:lt1>
        <a:srgbClr val="FFFFFF"/>
      </a:lt1>
      <a:dk2>
        <a:srgbClr val="FF9940"/>
      </a:dk2>
      <a:lt2>
        <a:srgbClr val="5770BE"/>
      </a:lt2>
      <a:accent1>
        <a:srgbClr val="FFE800"/>
      </a:accent1>
      <a:accent2>
        <a:srgbClr val="00AC8C"/>
      </a:accent2>
      <a:accent3>
        <a:srgbClr val="E1000F"/>
      </a:accent3>
      <a:accent4>
        <a:srgbClr val="FF9940"/>
      </a:accent4>
      <a:accent5>
        <a:srgbClr val="5770BE"/>
      </a:accent5>
      <a:accent6>
        <a:srgbClr val="FFE800"/>
      </a:accent6>
      <a:hlink>
        <a:srgbClr val="000000"/>
      </a:hlink>
      <a:folHlink>
        <a:srgbClr val="000000"/>
      </a:folHlink>
    </a:clrScheme>
    <a:fontScheme name="GOUVERNEMENT PPT">
      <a:majorFont>
        <a:latin typeface="Marianne"/>
        <a:ea typeface=""/>
        <a:cs typeface=""/>
      </a:majorFont>
      <a:minorFont>
        <a:latin typeface="Mariann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PÉRATEURS">
  <a:themeElements>
    <a:clrScheme name="ANSES">
      <a:dk1>
        <a:srgbClr val="000000"/>
      </a:dk1>
      <a:lt1>
        <a:srgbClr val="FFFFFF"/>
      </a:lt1>
      <a:dk2>
        <a:srgbClr val="FF9940"/>
      </a:dk2>
      <a:lt2>
        <a:srgbClr val="5770BE"/>
      </a:lt2>
      <a:accent1>
        <a:srgbClr val="FFE800"/>
      </a:accent1>
      <a:accent2>
        <a:srgbClr val="00AC8C"/>
      </a:accent2>
      <a:accent3>
        <a:srgbClr val="E1000F"/>
      </a:accent3>
      <a:accent4>
        <a:srgbClr val="FF9940"/>
      </a:accent4>
      <a:accent5>
        <a:srgbClr val="5770BE"/>
      </a:accent5>
      <a:accent6>
        <a:srgbClr val="FFE800"/>
      </a:accent6>
      <a:hlink>
        <a:srgbClr val="000000"/>
      </a:hlink>
      <a:folHlink>
        <a:srgbClr val="000000"/>
      </a:folHlink>
    </a:clrScheme>
    <a:fontScheme name="GOUVERNEMENT PPT">
      <a:majorFont>
        <a:latin typeface="Marianne"/>
        <a:ea typeface=""/>
        <a:cs typeface=""/>
      </a:majorFont>
      <a:minorFont>
        <a:latin typeface="Mariann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2305</TotalTime>
  <Words>2987</Words>
  <Application>Microsoft Office PowerPoint</Application>
  <PresentationFormat>Grand écran</PresentationFormat>
  <Paragraphs>224</Paragraphs>
  <Slides>20</Slides>
  <Notes>15</Notes>
  <HiddenSlides>0</HiddenSlides>
  <MMClips>0</MMClips>
  <ScaleCrop>false</ScaleCrop>
  <HeadingPairs>
    <vt:vector size="6" baseType="variant">
      <vt:variant>
        <vt:lpstr>Polices utilisées</vt:lpstr>
      </vt:variant>
      <vt:variant>
        <vt:i4>6</vt:i4>
      </vt:variant>
      <vt:variant>
        <vt:lpstr>Thème</vt:lpstr>
      </vt:variant>
      <vt:variant>
        <vt:i4>3</vt:i4>
      </vt:variant>
      <vt:variant>
        <vt:lpstr>Titres des diapositives</vt:lpstr>
      </vt:variant>
      <vt:variant>
        <vt:i4>20</vt:i4>
      </vt:variant>
    </vt:vector>
  </HeadingPairs>
  <TitlesOfParts>
    <vt:vector size="29" baseType="lpstr">
      <vt:lpstr>Arial</vt:lpstr>
      <vt:lpstr>Calibri</vt:lpstr>
      <vt:lpstr>Calibri Light</vt:lpstr>
      <vt:lpstr>Cambria Math</vt:lpstr>
      <vt:lpstr>Gill Sans MT</vt:lpstr>
      <vt:lpstr>Marianne</vt:lpstr>
      <vt:lpstr>Thème Office</vt:lpstr>
      <vt:lpstr>1_OPÉRATEURS</vt:lpstr>
      <vt:lpstr>OPÉRATEURS</vt:lpstr>
      <vt:lpstr>Présentation PowerPoint</vt:lpstr>
      <vt:lpstr>Introduction</vt:lpstr>
      <vt:lpstr>Présentation PowerPoint</vt:lpstr>
      <vt:lpstr>Présentation PowerPoint</vt:lpstr>
      <vt:lpstr>Présentation PowerPoint</vt:lpstr>
      <vt:lpstr>Methods</vt:lpstr>
      <vt:lpstr>Présentation PowerPoint</vt:lpstr>
      <vt:lpstr>Présentation PowerPoint</vt:lpstr>
      <vt:lpstr>Présentation PowerPoint</vt:lpstr>
      <vt:lpstr>Présentation PowerPoint</vt:lpstr>
      <vt:lpstr>Présentation PowerPoint</vt:lpstr>
      <vt:lpstr>Results</vt:lpstr>
      <vt:lpstr>Présentation PowerPoint</vt:lpstr>
      <vt:lpstr>Présentation PowerPoint</vt:lpstr>
      <vt:lpstr>Présentation PowerPoint</vt:lpstr>
      <vt:lpstr>Présentation PowerPoint</vt:lpstr>
      <vt:lpstr>Conclusion and perspectives</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MARTET Gaspard</dc:creator>
  <cp:lastModifiedBy>MARTET Gaspard</cp:lastModifiedBy>
  <cp:revision>98</cp:revision>
  <dcterms:created xsi:type="dcterms:W3CDTF">2026-07-15T12:59:48Z</dcterms:created>
  <dcterms:modified xsi:type="dcterms:W3CDTF">2026-08-19T15:43:38Z</dcterms:modified>
</cp:coreProperties>
</file>